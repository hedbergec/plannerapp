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72" r:id="rId8"/>
    <p:sldId id="269" r:id="rId9"/>
    <p:sldId id="271" r:id="rId10"/>
    <p:sldId id="273" r:id="rId11"/>
    <p:sldId id="274" r:id="rId12"/>
    <p:sldId id="276" r:id="rId13"/>
    <p:sldId id="277" r:id="rId14"/>
    <p:sldId id="293" r:id="rId15"/>
    <p:sldId id="294" r:id="rId16"/>
    <p:sldId id="295" r:id="rId17"/>
    <p:sldId id="281" r:id="rId18"/>
    <p:sldId id="280" r:id="rId19"/>
    <p:sldId id="296" r:id="rId20"/>
    <p:sldId id="297" r:id="rId21"/>
    <p:sldId id="298" r:id="rId22"/>
    <p:sldId id="284" r:id="rId23"/>
    <p:sldId id="285" r:id="rId24"/>
    <p:sldId id="287" r:id="rId25"/>
    <p:sldId id="288" r:id="rId26"/>
    <p:sldId id="300" r:id="rId27"/>
    <p:sldId id="29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5" autoAdjust="0"/>
    <p:restoredTop sz="94660"/>
  </p:normalViewPr>
  <p:slideViewPr>
    <p:cSldViewPr snapToGrid="0">
      <p:cViewPr varScale="1">
        <p:scale>
          <a:sx n="98" d="100"/>
          <a:sy n="98" d="100"/>
        </p:scale>
        <p:origin x="60" y="1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BFB10-109E-4CE3-937A-2CA05A6FA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06F61-2F9E-45B1-BFC3-E8EDAFD87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5FD9E-24C9-4010-8A90-C5EDDCF2B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BEC17-66CD-43A1-AE6F-13E3027D0648}" type="datetimeFigureOut">
              <a:rPr lang="en-US" smtClean="0"/>
              <a:t>7/3/2021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DDA11-2B4D-4B78-9BE7-AC5C44B28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E95CE-33BD-4263-BC28-3FA975825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DDEB-718B-4B0B-AD15-2A7F3B427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16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96ECC-02F8-48E3-974D-DEE303207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6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E1C29-771A-4B22-BDCB-E92AE6638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spcBef>
                <a:spcPts val="0"/>
              </a:spcBef>
              <a:defRPr sz="2000"/>
            </a:lvl1pPr>
            <a:lvl2pPr>
              <a:spcBef>
                <a:spcPts val="0"/>
              </a:spcBef>
              <a:defRPr sz="2000"/>
            </a:lvl2pPr>
            <a:lvl3pPr>
              <a:spcBef>
                <a:spcPts val="0"/>
              </a:spcBef>
              <a:defRPr sz="2000"/>
            </a:lvl3pPr>
            <a:lvl4pPr>
              <a:spcBef>
                <a:spcPts val="0"/>
              </a:spcBef>
              <a:defRPr sz="2000"/>
            </a:lvl4pPr>
            <a:lvl5pPr>
              <a:spcBef>
                <a:spcPts val="0"/>
              </a:spcBef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654E4-D722-4422-8ABA-399DA26D6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BEC17-66CD-43A1-AE6F-13E3027D0648}" type="datetimeFigureOut">
              <a:rPr lang="en-US" smtClean="0"/>
              <a:t>7/3/2021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E0E7F-BAF5-4456-8984-2F73C223D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2209B-11B9-4E89-908F-3FDBF7B8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DDEB-718B-4B0B-AD15-2A7F3B427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1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1F256-14A1-459A-A5AE-594F6EC27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EE7FD-F511-441E-8433-B9677EA97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6CC2A-E63A-432A-8999-23AC26DB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BEC17-66CD-43A1-AE6F-13E3027D0648}" type="datetimeFigureOut">
              <a:rPr lang="en-US" smtClean="0"/>
              <a:t>7/3/2021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4114-6FD0-4EF8-AFBF-770D1B3D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4BD2F-2237-42A2-8189-84B75028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DDEB-718B-4B0B-AD15-2A7F3B427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231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E48CA-43C4-413C-A0EA-9E7C60559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FD229-49D8-4B3A-9714-77B0D74D6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E667C-8AD5-40EC-B198-61250B403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4740F-22C9-425E-B069-9F0FB25B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BEC17-66CD-43A1-AE6F-13E3027D0648}" type="datetimeFigureOut">
              <a:rPr lang="en-US" smtClean="0"/>
              <a:t>7/3/2021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785A7-D739-4C21-B839-01986DD34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CD150-E6C5-42F4-995C-7F347102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DDEB-718B-4B0B-AD15-2A7F3B427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13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BC41C-AC1E-45AD-B797-24267DC64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6C2AF-1DD2-4C58-8FCC-EEF7357D7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918B5-F88E-4537-8A2A-302DD6B2E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86183-7C00-4240-A35A-389FC024C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083B9D-E2FC-4A55-9B6C-067548AA4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5B2730-2AF3-4F51-993A-924A52AE5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BEC17-66CD-43A1-AE6F-13E3027D0648}" type="datetimeFigureOut">
              <a:rPr lang="en-US" smtClean="0"/>
              <a:t>7/3/2021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F7BD6B-048F-4F36-B3D5-65E384437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ED6EC-24E1-410B-9889-3F3AA3891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DDEB-718B-4B0B-AD15-2A7F3B427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62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75110-DA81-4E67-B932-6A459FEE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0489F-21F2-44CD-B1EE-266CD07C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BEC17-66CD-43A1-AE6F-13E3027D0648}" type="datetimeFigureOut">
              <a:rPr lang="en-US" smtClean="0"/>
              <a:t>7/3/2021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55C17-033F-44BA-9299-0AC969BA0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8DEF9-EED3-4040-9A8B-23F2FE360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DDEB-718B-4B0B-AD15-2A7F3B427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42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F52D10-BEF0-47D3-8AE1-8FFDEDFEE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BEC17-66CD-43A1-AE6F-13E3027D0648}" type="datetimeFigureOut">
              <a:rPr lang="en-US" smtClean="0"/>
              <a:t>7/3/2021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9395F4-FD3F-4841-86C3-84A4795D5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F77A-267D-49B4-A90D-E539B4F85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DDEB-718B-4B0B-AD15-2A7F3B427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4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B804E-D0FA-4087-9D27-496406DF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9FE51-C54D-4889-85DA-4EBFD0EF2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9A4EB-8E10-40FA-A8CE-19FF71A80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5CBF7-E28C-4953-8341-E7CE8004C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BEC17-66CD-43A1-AE6F-13E3027D0648}" type="datetimeFigureOut">
              <a:rPr lang="en-US" smtClean="0"/>
              <a:t>7/3/2021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4CEF6-9F26-4D0F-98AB-1B0DFFCD7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035EE-7A8F-448E-BBC5-749E47FC8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DDEB-718B-4B0B-AD15-2A7F3B427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721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0E59-0E2E-46E9-A894-0418A6EA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E3C29E-92A6-43E9-A649-CB2858A337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621C9D-C64F-442F-99FA-8B174FDC0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D750E-3CF5-4970-8097-138DA3CD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BEC17-66CD-43A1-AE6F-13E3027D0648}" type="datetimeFigureOut">
              <a:rPr lang="en-US" smtClean="0"/>
              <a:t>7/3/2021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F70CA-C389-4C03-88FB-E36FBAAEA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37149-B1B5-4CBB-8578-080D5AA5B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DDEB-718B-4B0B-AD15-2A7F3B427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30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E693C-3739-4568-BFF3-1919F3E2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B7429-5BCB-4793-B007-65D973116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47B82-110C-41B9-9307-A08F5111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BEC17-66CD-43A1-AE6F-13E3027D0648}" type="datetimeFigureOut">
              <a:rPr lang="en-US" smtClean="0"/>
              <a:t>7/3/2021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FD507-2D16-46F5-9D25-D891A3095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1DF2B-3155-490E-82D4-D483E80B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DDEB-718B-4B0B-AD15-2A7F3B427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91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6FF62E-5DDD-4DBA-9CB6-E49248B94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F68332-85B0-4B98-8580-A2659F818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3A683-7078-4DCF-BEE8-74F9B56C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BEC17-66CD-43A1-AE6F-13E3027D0648}" type="datetimeFigureOut">
              <a:rPr lang="en-US" smtClean="0"/>
              <a:t>7/3/2021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6B190-7F91-40BE-AC4B-37D33F2A0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AF4E9-680C-42CD-B3F9-6E3DA8671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DDEB-718B-4B0B-AD15-2A7F3B427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80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F660A9-8F41-4FBD-8B97-F795EBB35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C31A6-A85C-4A8E-90F7-95DE9502B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930C5-602E-4CB7-BD62-99D0A1EC5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BEC17-66CD-43A1-AE6F-13E3027D0648}" type="datetimeFigureOut">
              <a:rPr lang="en-US" smtClean="0"/>
              <a:t>7/3/2021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D1093-FAE2-41E9-96A4-AB71311CD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0983C-35CE-4C79-ADC5-D752FD5FC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9DDEB-718B-4B0B-AD15-2A7F3B427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14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6ACCD-D887-4A45-B5B5-33A310CA09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b="1" dirty="0"/>
              <a:t>Randomized Block Designs </a:t>
            </a:r>
            <a:br>
              <a:rPr lang="en-US" sz="4000" b="1" dirty="0"/>
            </a:br>
            <a:r>
              <a:rPr lang="en-US" sz="4000" b="1" dirty="0"/>
              <a:t>Assigning Clusters Within Blocks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0DA1F-2193-489E-85B3-86682592E7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Larry V. Hedges</a:t>
            </a:r>
          </a:p>
          <a:p>
            <a:r>
              <a:rPr lang="en-US" dirty="0"/>
              <a:t>Northwestern University</a:t>
            </a:r>
          </a:p>
          <a:p>
            <a:r>
              <a:rPr lang="en-US" sz="1400" dirty="0"/>
              <a:t>Presented at the NSF Institute on Improving the Design of Evaluation studies in STEM Education Research, July 21, 2021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08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F1F6-1C98-4EC2-A5C2-5BA1B2DE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45" y="365125"/>
            <a:ext cx="11145329" cy="1325563"/>
          </a:xfrm>
        </p:spPr>
        <p:txBody>
          <a:bodyPr/>
          <a:lstStyle/>
          <a:p>
            <a:r>
              <a:rPr lang="en-US" dirty="0"/>
              <a:t>Definition of Randomized Block Designs Assigning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63459-49AD-49BF-90C9-0272B4B48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Sometimes the sample comes in blocks, but it is not possible to assign individuals to treatments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reasons might be conceptual, practical, or political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Conceptual:</a:t>
            </a:r>
            <a:r>
              <a:rPr lang="en-US" dirty="0"/>
              <a:t> The intervention is a “whole class” intervention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Practical:</a:t>
            </a:r>
            <a:r>
              <a:rPr lang="en-US" dirty="0"/>
              <a:t> It is too hard for different students to receive different treatments in the same classroom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Political:</a:t>
            </a:r>
            <a:r>
              <a:rPr lang="en-US" dirty="0"/>
              <a:t> One treatment seems more desirable, parents  or students will never agree to being randomized within a class (i.e., their children not getting the desirable treatment their peers get)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151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7C8B-7208-465E-BF18-A46B8F92F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109" y="365125"/>
            <a:ext cx="10990053" cy="1325563"/>
          </a:xfrm>
        </p:spPr>
        <p:txBody>
          <a:bodyPr/>
          <a:lstStyle/>
          <a:p>
            <a:r>
              <a:rPr lang="en-US" dirty="0"/>
              <a:t>Definition of Randomized Block Designs Assigning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0A5C6-5C28-4E2B-9638-1616086F2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Sometimes this design is called the “multisite cluster randomized trial” because clusters are assigned to treatments withing sites</a:t>
            </a:r>
          </a:p>
        </p:txBody>
      </p:sp>
    </p:spTree>
    <p:extLst>
      <p:ext uri="{BB962C8B-B14F-4D97-AF65-F5344CB8AC3E}">
        <p14:creationId xmlns:p14="http://schemas.microsoft.com/office/powerpoint/2010/main" val="1558928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19540-ADF1-48EC-8A0D-92E07F2BE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2D63C-07B2-408D-916E-8E2645D5F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0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5C40-F18F-468B-9097-207591A7B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Statistical Model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F89E80-6DEE-41DB-A2AC-94E6977BDB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Suppose we assign the same number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/>
                  <a:t> of individuals to each treatment group within each block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Let 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the outcome measurement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student in </a:t>
                </a:r>
                <a:r>
                  <a:rPr lang="en-US" dirty="0">
                    <a:ea typeface="Calibri" panose="020F0502020204030204" pitchFamily="34" charset="0"/>
                  </a:rPr>
                  <a:t>the </a:t>
                </a:r>
                <a:r>
                  <a:rPr lang="en-US" i="1" dirty="0" err="1">
                    <a:ea typeface="Calibri" panose="020F0502020204030204" pitchFamily="34" charset="0"/>
                  </a:rPr>
                  <a:t>j</a:t>
                </a:r>
                <a:r>
                  <a:rPr lang="en-US" baseline="30000" dirty="0" err="1">
                    <a:ea typeface="Calibri" panose="020F0502020204030204" pitchFamily="34" charset="0"/>
                  </a:rPr>
                  <a:t>th</a:t>
                </a:r>
                <a:r>
                  <a:rPr lang="en-US" dirty="0">
                    <a:ea typeface="Calibri" panose="020F0502020204030204" pitchFamily="34" charset="0"/>
                  </a:rPr>
                  <a:t> cluster in the </a:t>
                </a:r>
                <a:r>
                  <a:rPr lang="en-US" i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r>
                  <a:rPr lang="en-US" i="1" baseline="30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ea typeface="Calibri" panose="020F0502020204030204" pitchFamily="34" charset="0"/>
                  </a:rPr>
                  <a:t> block receiving 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b="0" i="1" baseline="300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𝑡h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treatment </a:t>
                </a:r>
                <a:r>
                  <a:rPr lang="en-US" dirty="0">
                    <a:ea typeface="Calibri" panose="020F0502020204030204" pitchFamily="34" charset="0"/>
                  </a:rPr>
                  <a:t>be denoted </a:t>
                </a:r>
                <a:r>
                  <a:rPr lang="en-US" i="1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</a:t>
                </a:r>
                <a:r>
                  <a:rPr lang="en-US" i="1" baseline="-25000" dirty="0" err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ijkl</a:t>
                </a:r>
                <a:r>
                  <a:rPr lang="en-US" dirty="0">
                    <a:ea typeface="Calibri" panose="020F0502020204030204" pitchFamily="34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:r>
                  <a:rPr lang="en-US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1</a:t>
                </a:r>
                <a:r>
                  <a:rPr lang="en-US" dirty="0">
                    <a:ea typeface="Times New Roman" panose="02020603050405020304" pitchFamily="18" charset="0"/>
                  </a:rPr>
                  <a:t> implies treatment and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2 </a:t>
                </a:r>
                <a:r>
                  <a:rPr lang="en-US" dirty="0">
                    <a:ea typeface="Times New Roman" panose="02020603050405020304" pitchFamily="18" charset="0"/>
                  </a:rPr>
                  <a:t>implies control)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The structural model is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effectLst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+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β</m:t>
                    </m:r>
                    <m:r>
                      <a:rPr lang="en-US" b="0" i="1" baseline="-250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baseline="-250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 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a:rPr lang="en-US" b="0" i="1" baseline="-250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𝑗𝑘</m:t>
                        </m:r>
                        <m:r>
                          <a:rPr lang="en-US" b="0" i="1" baseline="-250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+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1, 2;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=1, …,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1, …,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=1, …,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i="1" baseline="-25000" dirty="0"/>
              </a:p>
              <a:p>
                <a:pPr marL="0" indent="0">
                  <a:buNone/>
                </a:pPr>
                <a:r>
                  <a:rPr lang="en-US" dirty="0"/>
                  <a:t>This structural model has a new element: the effect</a:t>
                </a:r>
                <a14:m>
                  <m:oMath xmlns:m="http://schemas.openxmlformats.org/officeDocument/2006/math">
                    <m:r>
                      <a:rPr lang="en-US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cs typeface="Times New Roman" panose="02020603050405020304" pitchFamily="18" charset="0"/>
                  </a:rPr>
                  <a:t>of clusters within blocks</a:t>
                </a:r>
                <a:endParaRPr lang="en-US" baseline="-250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block effect </a:t>
                </a:r>
                <a14:m>
                  <m:oMath xmlns:m="http://schemas.openxmlformats.org/officeDocument/2006/math">
                    <m:r>
                      <a:rPr lang="el-G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b="0" i="1" baseline="-250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reflects how different each block is, on the average from the others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interaction effect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dirty="0"/>
                  <a:t> reflects how different the treatment effect in the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baseline="30000" dirty="0" err="1"/>
                  <a:t>th</a:t>
                </a:r>
                <a:r>
                  <a:rPr lang="en-US" dirty="0"/>
                  <a:t> block is from the average treatment effect across all blocks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F89E80-6DEE-41DB-A2AC-94E6977BDB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0399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5C40-F18F-468B-9097-207591A7B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Statistical Model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F89E80-6DEE-41DB-A2AC-94E6977BDB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“usual” stochastic specification for the randomized block design has same four parts as that for the cluster randomized design: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457200" indent="-457200">
                  <a:buAutoNum type="arabicPeriod"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US" dirty="0"/>
                  <a:t> are independent of one another, </a:t>
                </a:r>
              </a:p>
              <a:p>
                <a:pPr marL="457200" indent="-457200">
                  <a:buAutoNum type="arabicPeriod"/>
                </a:pPr>
                <a:endParaRPr lang="en-US" dirty="0"/>
              </a:p>
              <a:p>
                <a:pPr marL="457200" indent="-457200">
                  <a:buAutoNum type="arabicPeriod"/>
                </a:pPr>
                <a:r>
                  <a:rPr lang="en-US" dirty="0"/>
                  <a:t>The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US" dirty="0"/>
                  <a:t>are normally distributed, and </a:t>
                </a:r>
              </a:p>
              <a:p>
                <a:pPr marL="457200" indent="-457200">
                  <a:buAutoNum type="arabicPeriod"/>
                </a:pPr>
                <a:endParaRPr lang="en-US" dirty="0"/>
              </a:p>
              <a:p>
                <a:pPr marL="457200" indent="-457200">
                  <a:buAutoNum type="arabicPeriod"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𝑗𝑘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/>
                  <a:t>have the same variance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𝜎</a:t>
                </a:r>
                <a:r>
                  <a:rPr lang="el-GR" i="1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ε</a:t>
                </a:r>
                <a:r>
                  <a:rPr lang="en-US" i="1" baseline="30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pPr marL="457200" indent="-457200">
                  <a:buAutoNum type="arabicPeriod"/>
                </a:pPr>
                <a:endParaRPr lang="en-US" i="1" baseline="30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AutoNum type="arabicPeriod"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l-GR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b="0" i="1" baseline="-250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are random and have the same variance </a:t>
                </a:r>
                <a:r>
                  <a:rPr lang="el-GR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</a:t>
                </a:r>
                <a:r>
                  <a:rPr lang="en-US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AutoNum type="arabicPeriod"/>
                </a:pPr>
                <a:endParaRPr lang="en-US" i="1" baseline="30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As in the case of the individually randomized design, the only part that matters much is that the observations are independent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F89E80-6DEE-41DB-A2AC-94E6977BDB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932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805F-1962-473B-94F8-5626AFF4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Given the Model for the Blocks-Fixed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EE8C0-239B-4618-AE6F-CC7EDFD05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two different statistical models for this design: One assumes blocks have fixed effects, the other assumes that blocks have random effects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blocks-fixed analysis is more appropriate for initial field trials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analysis limits its inferences to the blocks that were observed in the study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093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768E-9636-4303-B51C-96BA798FC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Size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2E2702-2B37-4BE2-BD46-AB8B6D0132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treatment effect size parameter (note the Greek letter </a:t>
                </a:r>
                <a:r>
                  <a:rPr lang="el-GR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dirty="0"/>
                  <a:t>is the standardized mean difference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400050" algn="l"/>
                    <a:tab pos="457200" algn="l"/>
                  </a:tabLst>
                </a:pPr>
                <a:endParaRPr lang="en-US" dirty="0"/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400050" algn="l"/>
                    <a:tab pos="457200" algn="l"/>
                  </a:tabLst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𝜖</m:t>
                            </m:r>
                          </m:sub>
                        </m:sSub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corresponds the treatment group mean minus the control group mean divided by the within-group standard deviation  (sometimes called Cohen’s </a:t>
                </a:r>
                <a:r>
                  <a:rPr lang="en-US" b="1" dirty="0"/>
                  <a:t>d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looks like the same effect size used in the individually randomized design, but it is subtly different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Here the residual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US" dirty="0"/>
                  <a:t> does not include block effects (or interaction effects)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the data came from multiple blocks which were ignored in the individually randomized design, the residual in the individually randomized design would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β</m:t>
                    </m:r>
                    <m:r>
                      <a:rPr lang="en-US" b="0" i="1" baseline="-250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baseline="-250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Thus, the residuals in this  design are generally “smaller” than those in the individually randomized design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2E2702-2B37-4BE2-BD46-AB8B6D0132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0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377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3243-FBFA-4C22-AB92-C26884140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Significance of the Treatment Effect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584E42-A6E7-4A68-A83A-F30C09C7A1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Let 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●●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cs typeface="Times New Roman" panose="02020603050405020304" pitchFamily="18" charset="0"/>
                  </a:rPr>
                  <a:t>and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●●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cs typeface="Times New Roman" panose="02020603050405020304" pitchFamily="18" charset="0"/>
                  </a:rPr>
                  <a:t>be the 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means of the treatment and comparison groups, respectively</a:t>
                </a:r>
              </a:p>
              <a:p>
                <a:pPr marL="0" indent="0">
                  <a:buNone/>
                </a:pPr>
                <a:endParaRPr lang="en-US" dirty="0"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Then the treatment effect </a:t>
                </a:r>
                <a:r>
                  <a:rPr lang="en-US" dirty="0">
                    <a:ea typeface="Calibri" panose="020F0502020204030204" pitchFamily="34" charset="0"/>
                  </a:rPr>
                  <a:t>e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stimate (the estimate of  </a:t>
                </a:r>
                <a:r>
                  <a:rPr lang="el-GR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α</a:t>
                </a:r>
                <a:r>
                  <a:rPr lang="en-US" i="1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>
                    <a:effectLst/>
                    <a:ea typeface="Calibri" panose="020F0502020204030204" pitchFamily="34" charset="0"/>
                  </a:rPr>
                  <a:t>–  </a:t>
                </a:r>
                <a:r>
                  <a:rPr lang="el-GR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α</a:t>
                </a:r>
                <a:r>
                  <a:rPr lang="en-US" i="1" baseline="-25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) </a:t>
                </a:r>
                <a:r>
                  <a:rPr lang="en-US" dirty="0">
                    <a:ea typeface="Calibri" panose="020F0502020204030204" pitchFamily="34" charset="0"/>
                  </a:rPr>
                  <a:t>i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s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= Y</a:t>
                </a:r>
                <a:r>
                  <a:rPr 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1●●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2●●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457200" algn="l"/>
                  </a:tabLst>
                </a:pPr>
                <a:r>
                  <a:rPr lang="en-US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The test statistic used for testing if the treatment effect is non-zero is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457200" algn="l"/>
                  </a:tabLst>
                </a:pP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457200" algn="l"/>
                  </a:tabLst>
                </a:pPr>
                <a:r>
                  <a:rPr lang="en-US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𝑆𝐸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is the standard error </a:t>
                </a:r>
                <a:r>
                  <a:rPr lang="en-US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of the treatment effect estimate </a:t>
                </a:r>
                <a:r>
                  <a:rPr lang="en-US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defined (in the balanced case) by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457200" algn="l"/>
                  </a:tabLst>
                </a:pPr>
                <a:endParaRPr lang="en-US" dirty="0"/>
              </a:p>
              <a:p>
                <a:pPr marL="0" indent="0">
                  <a:lnSpc>
                    <a:spcPct val="107000"/>
                  </a:lnSpc>
                  <a:buNone/>
                  <a:tabLst>
                    <a:tab pos="457200" algn="l"/>
                  </a:tabLst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r>
                  <a:rPr lang="en-US" dirty="0"/>
                  <a:t>If the true treatment effect is zero, then the statistic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/>
                  <a:t> has the </a:t>
                </a:r>
                <a:r>
                  <a:rPr lang="en-US" i="1" dirty="0"/>
                  <a:t>t</a:t>
                </a:r>
                <a:r>
                  <a:rPr lang="en-US" dirty="0"/>
                  <a:t>-distribution with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2) </a:t>
                </a:r>
                <a:r>
                  <a:rPr lang="en-US" dirty="0"/>
                  <a:t>degrees of freedom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584E42-A6E7-4A68-A83A-F30C09C7A1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BBB4335-AD23-47D7-BBBA-119FAB9F14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014658"/>
              </p:ext>
            </p:extLst>
          </p:nvPr>
        </p:nvGraphicFramePr>
        <p:xfrm>
          <a:off x="1273175" y="3884613"/>
          <a:ext cx="4445000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84400" imgH="685800" progId="Equation.DSMT4">
                  <p:embed/>
                </p:oleObj>
              </mc:Choice>
              <mc:Fallback>
                <p:oleObj name="Equation" r:id="rId3" imgW="2984400" imgH="6858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BBB4335-AD23-47D7-BBBA-119FAB9F14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73175" y="3884613"/>
                        <a:ext cx="4445000" cy="1020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0943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DDD1C-7BD7-4D4F-8A8C-6E7FD7AD7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Significance of the Treatment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875A3-B830-4964-8487-DE6D6E901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significance testing process involves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Picking a significance level (this is up to you, but 0.05 is conventional)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Computing the value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/>
              <a:t> from the data 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Obtaining the critical value of the </a:t>
            </a:r>
            <a:r>
              <a:rPr lang="en-US" i="1" dirty="0"/>
              <a:t>t</a:t>
            </a:r>
            <a:r>
              <a:rPr lang="en-US" dirty="0"/>
              <a:t>-distribution with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2)</a:t>
            </a:r>
            <a:r>
              <a:rPr lang="en-US" dirty="0"/>
              <a:t> degrees of freedom (which will be about 2 for the for all but the smallest degrees of freedom)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Reject the null hypothesis of no treatment effect (in other words conclude that the treatment effect is significant) if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dirty="0"/>
              <a:t> exceeds the critical value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could also use software that computes the “exact </a:t>
            </a:r>
            <a:r>
              <a:rPr lang="en-US" i="1" dirty="0"/>
              <a:t>p</a:t>
            </a:r>
            <a:r>
              <a:rPr lang="en-US" dirty="0"/>
              <a:t>-value.”  In that method, conclude that the treatment effect is significant if the two-tailed </a:t>
            </a:r>
            <a:r>
              <a:rPr lang="en-US" i="1" dirty="0"/>
              <a:t>p</a:t>
            </a:r>
            <a:r>
              <a:rPr lang="en-US" dirty="0"/>
              <a:t>-value is less than 0.05</a:t>
            </a:r>
          </a:p>
        </p:txBody>
      </p:sp>
    </p:spTree>
    <p:extLst>
      <p:ext uri="{BB962C8B-B14F-4D97-AF65-F5344CB8AC3E}">
        <p14:creationId xmlns:p14="http://schemas.microsoft.com/office/powerpoint/2010/main" val="4029669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7FEF7-4104-427E-BA62-C14073D0E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Sensitivity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AD494-1A1A-41DD-AB7C-55E32D9F8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Recall that design sensitivity can be described in any one of three related ways: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Statistical power</a:t>
            </a:r>
          </a:p>
          <a:p>
            <a:pPr marL="457200" indent="-457200">
              <a:buAutoNum type="arabicPeriod"/>
            </a:pPr>
            <a:r>
              <a:rPr lang="en-US" dirty="0"/>
              <a:t>Precision (standard error) of the estimated treatment effect</a:t>
            </a:r>
          </a:p>
          <a:p>
            <a:pPr marL="457200" indent="-457200">
              <a:buAutoNum type="arabicPeriod"/>
            </a:pPr>
            <a:r>
              <a:rPr lang="en-US" dirty="0"/>
              <a:t>The minimum detectable effect size (MDES)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will discuss  design sensitivity mainly through MDES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As a practical matter, design sensitivity for randomized block designs assigning clusters is limited primarily by the number of clusters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/>
              <a:t>) per block and the feasible number of blocks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assume in this workshop that the number of blocks (schools) available is limited to 5 – 10 , rarely as many as 20, so that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/>
              <a:t> = 5 – 10 is about the maximum number of clusters that are feasible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also assume that the number of clusters (classrooms) per school is likely to be at most 5 – 6, so that the number of clusters per treatment condition is no more than 2 – 3</a:t>
            </a:r>
          </a:p>
        </p:txBody>
      </p:sp>
    </p:spTree>
    <p:extLst>
      <p:ext uri="{BB962C8B-B14F-4D97-AF65-F5344CB8AC3E}">
        <p14:creationId xmlns:p14="http://schemas.microsoft.com/office/powerpoint/2010/main" val="2233800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B444-4B1C-4776-BAB7-6CF106EE8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MDES in Randomized Block Designs Assigning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A231F-3A93-403F-B001-7D4610B06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randomized block designs assigning clusters, MDES depends  on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1. The significance level (0.05 is a very strong convention)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The power level desired (0.8 is a strong convention)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eriod" startAt="3"/>
            </a:pPr>
            <a:r>
              <a:rPr lang="en-US" dirty="0"/>
              <a:t>The number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/>
              <a:t> of blocks</a:t>
            </a:r>
          </a:p>
          <a:p>
            <a:pPr marL="457200" indent="-457200">
              <a:buAutoNum type="arabicPeriod" startAt="3"/>
            </a:pPr>
            <a:endParaRPr lang="en-US" dirty="0"/>
          </a:p>
          <a:p>
            <a:pPr marL="457200" indent="-457200">
              <a:buAutoNum type="arabicPeriod" startAt="3"/>
            </a:pPr>
            <a:r>
              <a:rPr lang="en-US" dirty="0"/>
              <a:t>The number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/>
              <a:t> of clusters per block assigned to each treatment</a:t>
            </a:r>
          </a:p>
          <a:p>
            <a:pPr marL="457200" indent="-457200">
              <a:buAutoNum type="arabicPeriod" startAt="3"/>
            </a:pPr>
            <a:endParaRPr lang="en-US" dirty="0"/>
          </a:p>
          <a:p>
            <a:pPr marL="457200" indent="-457200">
              <a:buAutoNum type="arabicPeriod" startAt="3"/>
            </a:pPr>
            <a:r>
              <a:rPr lang="en-US" dirty="0"/>
              <a:t>The number of individuals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/>
              <a:t>within each cluster</a:t>
            </a:r>
          </a:p>
          <a:p>
            <a:pPr marL="457200" indent="-457200">
              <a:buAutoNum type="arabicPeriod" startAt="3"/>
            </a:pPr>
            <a:endParaRPr lang="en-US" dirty="0"/>
          </a:p>
          <a:p>
            <a:pPr marL="457200" indent="-457200">
              <a:buAutoNum type="arabicPeriod" startAt="3"/>
            </a:pPr>
            <a:r>
              <a:rPr lang="en-US" dirty="0"/>
              <a:t>The within-block intraclass correlation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</a:p>
          <a:p>
            <a:pPr marL="457200" indent="-457200">
              <a:buAutoNum type="arabicPeriod" startAt="3"/>
            </a:pPr>
            <a:endParaRPr lang="en-US" i="1" dirty="0"/>
          </a:p>
          <a:p>
            <a:pPr marL="457200" indent="-457200">
              <a:buAutoNum type="arabicPeriod" startAt="3"/>
            </a:pPr>
            <a:r>
              <a:rPr lang="en-US" dirty="0"/>
              <a:t>The covariate outcome correlation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/>
              <a:t> is covariates are used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006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6030A-9CE2-4561-930C-D694DED51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MDES in Randomized Block Designs Assigning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EE2F6-8D82-4F9D-ABD4-9EE89641D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MDES depends </a:t>
            </a:r>
            <a:r>
              <a:rPr lang="en-US" b="1" i="1" dirty="0"/>
              <a:t>strongly</a:t>
            </a:r>
            <a:r>
              <a:rPr lang="en-US" dirty="0"/>
              <a:t> on the number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/>
              <a:t> of blocks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MDES depends </a:t>
            </a:r>
            <a:r>
              <a:rPr lang="en-US" b="1" i="1" dirty="0"/>
              <a:t>strongly</a:t>
            </a:r>
            <a:r>
              <a:rPr lang="en-US" dirty="0"/>
              <a:t> on the number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/>
              <a:t> of clusters assigned to each treatment within blocks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MDES depends </a:t>
            </a:r>
            <a:r>
              <a:rPr lang="en-US" b="1" i="1" dirty="0"/>
              <a:t>weakly</a:t>
            </a:r>
            <a:r>
              <a:rPr lang="en-US" dirty="0"/>
              <a:t> on the number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/>
              <a:t> of individuals in each cluster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Moreover, there is a point of diminishing returns in increasing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/>
              <a:t>, MDES decreases less rapidly until it reaches an asymptote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MDES tends to some positive value even when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∞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Thus, total sample size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mpn</a:t>
            </a:r>
            <a:r>
              <a:rPr lang="en-US" dirty="0"/>
              <a:t> is a poor guide to design sensitivity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remember that design sensitivity also depends 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dirty="0"/>
              <a:t>, so understanding MDES in randomized block designs assigning clusters is a complex business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515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9775-3069-4849-9256-A778A648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Graphical Representation of MDES as  Function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B8B719-65FB-4797-A8F1-1B40EE4FC97D}"/>
              </a:ext>
            </a:extLst>
          </p:cNvPr>
          <p:cNvSpPr txBox="1"/>
          <p:nvPr/>
        </p:nvSpPr>
        <p:spPr>
          <a:xfrm flipH="1">
            <a:off x="7089649" y="2703443"/>
            <a:ext cx="42641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figures have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0.05</a:t>
            </a:r>
            <a:r>
              <a:rPr lang="en-US" dirty="0">
                <a:cs typeface="Times New Roman" panose="02020603050405020304" pitchFamily="18" charset="0"/>
              </a:rPr>
              <a:t> 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endParaRPr lang="en-US" dirty="0"/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  <a:r>
              <a:rPr lang="en-US" dirty="0"/>
              <a:t> (solid line)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12</a:t>
            </a:r>
            <a:r>
              <a:rPr lang="en-US" dirty="0"/>
              <a:t> (dashed line)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15</a:t>
            </a:r>
            <a:r>
              <a:rPr lang="en-US" dirty="0"/>
              <a:t> (dotted line)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20</a:t>
            </a:r>
            <a:r>
              <a:rPr lang="en-US" dirty="0"/>
              <a:t> (dashed and dotted line)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7D7C233-6428-497B-BFA0-D8035214D57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3889" y="1890475"/>
            <a:ext cx="4264152" cy="43513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D662FF4-86FD-4C24-82B9-90CF4E82C376}"/>
              </a:ext>
            </a:extLst>
          </p:cNvPr>
          <p:cNvSpPr/>
          <p:nvPr/>
        </p:nvSpPr>
        <p:spPr>
          <a:xfrm>
            <a:off x="3469532" y="1433209"/>
            <a:ext cx="9144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25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B8D02-30AE-4092-BECC-DE147E3FE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Graphical Representation of MDES as  Function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F5726C-A37C-41CC-AC36-BC6F4F9FADF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9583" y="1786714"/>
            <a:ext cx="4264152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5A7131-F5A2-4B62-9999-160428C8516D}"/>
              </a:ext>
            </a:extLst>
          </p:cNvPr>
          <p:cNvSpPr txBox="1"/>
          <p:nvPr/>
        </p:nvSpPr>
        <p:spPr>
          <a:xfrm>
            <a:off x="6919608" y="3099881"/>
            <a:ext cx="44812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figures have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0.05</a:t>
            </a:r>
            <a:r>
              <a:rPr lang="en-US" dirty="0">
                <a:cs typeface="Times New Roman" panose="02020603050405020304" pitchFamily="18" charset="0"/>
              </a:rPr>
              <a:t> 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endParaRPr lang="en-US" dirty="0"/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  <a:r>
              <a:rPr lang="en-US" dirty="0"/>
              <a:t> (solid line)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12</a:t>
            </a:r>
            <a:r>
              <a:rPr lang="en-US" dirty="0"/>
              <a:t> (dashed line)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15</a:t>
            </a:r>
            <a:r>
              <a:rPr lang="en-US" dirty="0"/>
              <a:t> (dotted line)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20</a:t>
            </a:r>
            <a:r>
              <a:rPr lang="en-US" dirty="0"/>
              <a:t> (dashed and dotted line)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67E293-D9A6-41E5-AC0C-AC0DD9A40127}"/>
              </a:ext>
            </a:extLst>
          </p:cNvPr>
          <p:cNvSpPr/>
          <p:nvPr/>
        </p:nvSpPr>
        <p:spPr>
          <a:xfrm>
            <a:off x="3469532" y="1433209"/>
            <a:ext cx="9144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48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2878F-4E78-4C6C-88A9-694A4FBD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Graphical Representation of MDES as  Function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308785-7AE5-4962-908B-C74B9D581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7688" y="1812654"/>
            <a:ext cx="5487944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060829-95A9-487D-AEC8-80628BDA0F49}"/>
              </a:ext>
            </a:extLst>
          </p:cNvPr>
          <p:cNvSpPr txBox="1"/>
          <p:nvPr/>
        </p:nvSpPr>
        <p:spPr>
          <a:xfrm>
            <a:off x="7775642" y="2775625"/>
            <a:ext cx="33655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figures have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0.05</a:t>
            </a:r>
            <a:r>
              <a:rPr lang="en-US" dirty="0">
                <a:cs typeface="Times New Roman" panose="02020603050405020304" pitchFamily="18" charset="0"/>
              </a:rPr>
              <a:t> 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endParaRPr lang="en-US" dirty="0"/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r>
              <a:rPr lang="en-US" dirty="0"/>
              <a:t> (solid line)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7</a:t>
            </a:r>
            <a:r>
              <a:rPr lang="en-US" dirty="0"/>
              <a:t> (dashed line)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10</a:t>
            </a:r>
            <a:r>
              <a:rPr lang="en-US" dirty="0"/>
              <a:t>(dotted line)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FC1703-625B-452F-8057-F277DE52763B}"/>
              </a:ext>
            </a:extLst>
          </p:cNvPr>
          <p:cNvSpPr/>
          <p:nvPr/>
        </p:nvSpPr>
        <p:spPr>
          <a:xfrm>
            <a:off x="3398196" y="1812654"/>
            <a:ext cx="914400" cy="619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9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38EAB-1DDE-484C-96B9-DEAD2BAA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MDES in this Design Depends on </a:t>
            </a:r>
            <a:r>
              <a:rPr lang="el-GR" sz="360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27CF3-5CF2-444F-90E2-FF290A377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 in simple cluster randomized designs, design sensitivity depends on </a:t>
            </a:r>
            <a:r>
              <a:rPr lang="el-GR" sz="200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dirty="0">
                <a:cs typeface="Times New Roman" panose="02020603050405020304" pitchFamily="18" charset="0"/>
              </a:rPr>
              <a:t> because of the nature of two stage sampling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Recall the design effect idea.  This design involves a two-stage cluster sample. Within each block.  The fact that it is a cluster sample imposes a design effect involving </a:t>
            </a:r>
            <a:r>
              <a:rPr lang="el-GR" sz="200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dirty="0"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One way of talking about this is that </a:t>
            </a:r>
            <a:r>
              <a:rPr lang="el-GR" sz="200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dirty="0">
                <a:cs typeface="Times New Roman" panose="02020603050405020304" pitchFamily="18" charset="0"/>
              </a:rPr>
              <a:t> (along with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) determines the “effective sample size”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/>
              <a:t>The effective sample size in this design is somewhere between the number of clusters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lang="en-US" dirty="0"/>
              <a:t> and the total sample size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mpn</a:t>
            </a:r>
            <a:r>
              <a:rPr lang="en-US" dirty="0"/>
              <a:t>,  determined by the values of </a:t>
            </a:r>
            <a:r>
              <a:rPr lang="el-GR" sz="200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dirty="0">
                <a:cs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Effective sample size is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DAA802F-7A58-4BD9-B43B-74A619FBBE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36768"/>
              </p:ext>
            </p:extLst>
          </p:nvPr>
        </p:nvGraphicFramePr>
        <p:xfrm>
          <a:off x="1227138" y="5154613"/>
          <a:ext cx="67818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48040" imgH="622080" progId="Equation.DSMT4">
                  <p:embed/>
                </p:oleObj>
              </mc:Choice>
              <mc:Fallback>
                <p:oleObj name="Equation" r:id="rId2" imgW="3848040" imgH="6220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DAA802F-7A58-4BD9-B43B-74A619FBBE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27138" y="5154613"/>
                        <a:ext cx="6781800" cy="1098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7935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F5F7D-B65F-41C0-817C-FFB3FBEFD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Fundamental Problem of Research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D27D9-C38F-4425-AA28-3D563C515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fundamental problem of research design is how to plan a </a:t>
            </a:r>
            <a:r>
              <a:rPr lang="en-US" b="1" i="1" dirty="0"/>
              <a:t>feasible</a:t>
            </a:r>
            <a:r>
              <a:rPr lang="en-US" dirty="0"/>
              <a:t> design that is adequately sensitive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 have unlimited number of blocks or clusters, it is easy to get any design sensitivity you want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we usually have a severely limited number of both blocks and clusters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/>
              <a:t> = 5 – 10,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/>
              <a:t> =  1, 2, or 3)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the easiest case, then you simply use a table like the one presented previously or a software tool and find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/>
              <a:t> for your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n, p,</a:t>
            </a:r>
            <a:r>
              <a:rPr lang="en-US" dirty="0"/>
              <a:t> and </a:t>
            </a:r>
            <a:r>
              <a:rPr lang="el-GR" sz="200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ρ </a:t>
            </a:r>
            <a:r>
              <a:rPr lang="en-US" dirty="0"/>
              <a:t>that has an MDES that is smaller than the effect size you expect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Often, that number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/>
              <a:t> of blocks or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/>
              <a:t> of clusters is larger than the sample you believe you could get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What then?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114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0E85-71B6-4822-A1B6-03347D580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Strategies to Improve Design Sensitivity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97CAA-2632-47D3-AB27-33DB20956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Three strategies can be used to improve design sensitivity: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Matching clusters before random assignment (this strategy should probably </a:t>
            </a:r>
            <a:r>
              <a:rPr lang="en-US" b="1" i="1" dirty="0"/>
              <a:t>always</a:t>
            </a:r>
            <a:r>
              <a:rPr lang="en-US" dirty="0"/>
              <a:t> be used in initial field trials)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Increase cluster size  (but there are clear limits to class size)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Use of covariates  (but this is unlikely to help much if you have matched)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Unbalanced designs using more control clusters than treatment clusters 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/>
              <a:t> &gt;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146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2B78A-5B4B-40CC-8406-A4BF3F14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 of Clusters Before Random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8EC60-3CDB-40A7-B8A2-1C5377D85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sensitivity of randomized block designs assigning clusters can be increased substantially by matching clusters before random assignment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Matching clusters is easier than in cluster randomized designs because you only have to match within blocks before assignment (fewer items to match)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a covariate is available (pretest scores of last year’s achievement test scores) it is possible to “tailor” clusters so that they match very closely on the covariate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Tailoring would involve dropping individuals from clusters (from the experiment not literally removing them) so that the covariate scores on the clusters are close to identical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Because the intraclass correlation is measured on the </a:t>
            </a:r>
            <a:r>
              <a:rPr lang="en-US" b="1" i="1" dirty="0"/>
              <a:t>outcome</a:t>
            </a:r>
            <a:r>
              <a:rPr lang="en-US" dirty="0"/>
              <a:t>, this will not make the intraclass correlation zero even if the average covariate scores match exactly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 matching on the covariate will make the intraclass correlation small:  If the covariate-outcome correlation is 0.7, this can make the intraclass correlation </a:t>
            </a:r>
            <a:r>
              <a:rPr lang="el-GR" sz="200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sz="200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sz="200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0.05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462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0FD45-1C05-4909-B130-5BD3813BF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Increase Number of Clusters or Cluster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B6396-1101-4876-87FD-C943A5E21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clusters are classes, the number of clusters pre school is limited, but increasing the number of clusters greatly increases design sensitivity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Even increasing by one cluster per school can make a noticeable difference (even if that leads to on odd number of clusters per school and imbalance)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clusters are classes, it may not be possible to increase the cluster size (more students per class) very much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However, if the intraclass correlation is small, we saw that increasing cluster size (up to a point) will increase design sensitivity</a:t>
            </a:r>
          </a:p>
        </p:txBody>
      </p:sp>
    </p:spTree>
    <p:extLst>
      <p:ext uri="{BB962C8B-B14F-4D97-AF65-F5344CB8AC3E}">
        <p14:creationId xmlns:p14="http://schemas.microsoft.com/office/powerpoint/2010/main" val="2325244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3D4FE-0E85-4853-9279-699BF174E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Adding Covariates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6346A-5A26-4C74-A095-A48D1824B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Note: </a:t>
            </a:r>
            <a:r>
              <a:rPr lang="en-US" dirty="0"/>
              <a:t>If you matched clusters before random assignment, covariates will be less effective in increasing design sensitivity because </a:t>
            </a:r>
            <a:r>
              <a:rPr lang="en-US" i="1" dirty="0"/>
              <a:t>matching reduces the covariate-outcome correlation at the cluster level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538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62355-601A-4B12-930A-ED4E0C4B0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Effect of Covariates on MDES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9C2904-BF83-419B-93AE-00D92C05F0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Suppose that a covariate has correlation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dirty="0"/>
                  <a:t> with the outcome, then the MDES for  a design that uses that covariate will be smaller by a factor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dirty="0"/>
                  <a:t>  That is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MDES(with covariates)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≈</a:t>
                </a:r>
                <a:r>
                  <a:rPr lang="en-US" dirty="0"/>
                  <a:t> MDES(without covariates)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example, a covariate with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0.7 </a:t>
                </a:r>
                <a:r>
                  <a:rPr lang="en-US" dirty="0"/>
                  <a:t>will cut the MDES by about 29% because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0.7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≈ 0.71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Times New Roman" panose="02020603050405020304" pitchFamily="18" charset="0"/>
                  </a:rPr>
                  <a:t>A covariate with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0.5 </a:t>
                </a:r>
                <a:r>
                  <a:rPr lang="en-US" dirty="0">
                    <a:cs typeface="Times New Roman" panose="02020603050405020304" pitchFamily="18" charset="0"/>
                  </a:rPr>
                  <a:t>will cut the MDES by about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13% </a:t>
                </a:r>
                <a:r>
                  <a:rPr lang="en-US" dirty="0">
                    <a:cs typeface="Times New Roman" panose="02020603050405020304" pitchFamily="18" charset="0"/>
                  </a:rPr>
                  <a:t>because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0.5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≈ 0.87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Times New Roman" panose="02020603050405020304" pitchFamily="18" charset="0"/>
                  </a:rPr>
                  <a:t>If there is more than one covariate, the impact on MDES depends on the multiple correlation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dirty="0">
                    <a:cs typeface="Times New Roman" panose="02020603050405020304" pitchFamily="18" charset="0"/>
                  </a:rPr>
                  <a:t>, not the number of covariates (but there is usually little point in using more than one covariate) 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ERIC: This would be a good place for a slider showing how MDES changes with R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9C2904-BF83-419B-93AE-00D92C05F0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541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8878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B3AD7-2971-4135-BACA-0CD940351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Unbalanced Designs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75220A-C9BB-4F4C-B4BD-2C0B1102EF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Sometimes sample size is limited by the number of individuals that in the treatment group (e.g., due to limitations of costs of the treatment, staff for training, equipment or facilities)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 balanced design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p </a:t>
                </a:r>
                <a:r>
                  <a:rPr lang="en-US" dirty="0"/>
                  <a:t>is  the most sensitive design for a fixed total sample size                     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i="1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Times New Roman" panose="02020603050405020304" pitchFamily="18" charset="0"/>
                  </a:rPr>
                  <a:t>But if the total sample size can be increased by increasing the size of the control group (leading to an increase in total sample size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>
                    <a:cs typeface="Times New Roman" panose="02020603050405020304" pitchFamily="18" charset="0"/>
                  </a:rPr>
                  <a:t>), then sensitivity may be increased with an unbalanced design</a:t>
                </a:r>
              </a:p>
              <a:p>
                <a:pPr marL="0" indent="0">
                  <a:buNone/>
                </a:pPr>
                <a:endParaRPr lang="en-US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Times New Roman" panose="02020603050405020304" pitchFamily="18" charset="0"/>
                  </a:rPr>
                  <a:t>In this design, increasing control group sample size is achieved by increasing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dirty="0">
                    <a:cs typeface="Times New Roman" panose="02020603050405020304" pitchFamily="18" charset="0"/>
                  </a:rPr>
                  <a:t> so that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dirty="0">
                    <a:cs typeface="Times New Roman" panose="02020603050405020304" pitchFamily="18" charset="0"/>
                  </a:rPr>
                  <a:t> &gt;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dirty="0">
                    <a:cs typeface="Times New Roman" panose="02020603050405020304" pitchFamily="18" charset="0"/>
                  </a:rPr>
                  <a:t>(but remember that at least one of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dirty="0">
                    <a:cs typeface="Times New Roman" panose="02020603050405020304" pitchFamily="18" charset="0"/>
                  </a:rPr>
                  <a:t> or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>
                    <a:cs typeface="Times New Roman" panose="02020603050405020304" pitchFamily="18" charset="0"/>
                  </a:rPr>
                  <a:t> must be greater than 1)</a:t>
                </a:r>
              </a:p>
              <a:p>
                <a:pPr marL="0" indent="0">
                  <a:buNone/>
                </a:pPr>
                <a:endParaRPr lang="en-US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cs typeface="Times New Roman" panose="02020603050405020304" pitchFamily="18" charset="0"/>
                  </a:rPr>
                  <a:t>If the control group is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dirty="0">
                    <a:cs typeface="Times New Roman" panose="02020603050405020304" pitchFamily="18" charset="0"/>
                  </a:rPr>
                  <a:t> times as large as the treatment group, then the MDES is changed by a factor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den>
                        </m:f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cs typeface="Times New Roman" panose="02020603050405020304" pitchFamily="18" charset="0"/>
                  </a:rPr>
                  <a:t> or </a:t>
                </a:r>
              </a:p>
              <a:p>
                <a:pPr marL="0" indent="0">
                  <a:buNone/>
                </a:pPr>
                <a:r>
                  <a:rPr lang="en-US" dirty="0">
                    <a:cs typeface="Times New Roman" panose="02020603050405020304" pitchFamily="18" charset="0"/>
                  </a:rPr>
                  <a:t>	MDES(unbalanced)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≈</a:t>
                </a:r>
                <a:r>
                  <a:rPr lang="en-US" dirty="0">
                    <a:cs typeface="Times New Roman" panose="02020603050405020304" pitchFamily="18" charset="0"/>
                  </a:rPr>
                  <a:t> MDES(balanced)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den>
                        </m:f>
                      </m:e>
                    </m:rad>
                  </m:oMath>
                </a14:m>
                <a:endParaRPr lang="en-US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75220A-C9BB-4F4C-B4BD-2C0B1102EF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 r="-1101" b="-15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3862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19B81-2604-4041-8E14-C8BF0AC5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Unbalanced Designs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729D4-6A95-4F11-ADB0-93AD4051BF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highlight>
                      <a:srgbClr val="FFFF00"/>
                    </a:highlight>
                  </a:rPr>
                  <a:t>Eric: This would be a good place for an insert of how increasing </a:t>
                </a:r>
                <a:r>
                  <a:rPr lang="en-US" dirty="0" err="1">
                    <a:highlight>
                      <a:srgbClr val="FFFF00"/>
                    </a:highlight>
                  </a:rPr>
                  <a:t>p</a:t>
                </a:r>
                <a:r>
                  <a:rPr lang="en-US" baseline="30000" dirty="0" err="1">
                    <a:highlight>
                      <a:srgbClr val="FFFF00"/>
                    </a:highlight>
                  </a:rPr>
                  <a:t>C</a:t>
                </a:r>
                <a:r>
                  <a:rPr lang="en-US" baseline="30000" dirty="0">
                    <a:highlight>
                      <a:srgbClr val="FFFF00"/>
                    </a:highlight>
                  </a:rPr>
                  <a:t> </a:t>
                </a:r>
                <a:r>
                  <a:rPr lang="en-US" dirty="0">
                    <a:highlight>
                      <a:srgbClr val="FFFF00"/>
                    </a:highlight>
                  </a:rPr>
                  <a:t>(fixing </a:t>
                </a:r>
                <a:r>
                  <a:rPr lang="en-US" dirty="0" err="1">
                    <a:highlight>
                      <a:srgbClr val="FFFF00"/>
                    </a:highlight>
                  </a:rPr>
                  <a:t>p</a:t>
                </a:r>
                <a:r>
                  <a:rPr lang="en-US" baseline="30000" dirty="0" err="1">
                    <a:highlight>
                      <a:srgbClr val="FFFF00"/>
                    </a:highlight>
                  </a:rPr>
                  <a:t>T</a:t>
                </a:r>
                <a:r>
                  <a:rPr lang="en-US" dirty="0">
                    <a:highlight>
                      <a:srgbClr val="FFFF00"/>
                    </a:highlight>
                  </a:rPr>
                  <a:t>) deceases MDES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blocks are schools and clusters as classes, there  will usually be limits to how much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/>
                  <a:t> can be increased because there are only so many classes in a school  (e.g.,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</a:t>
                </a:r>
                <a:r>
                  <a:rPr lang="en-US" dirty="0">
                    <a:cs typeface="Times New Roman" panose="02020603050405020304" pitchFamily="18" charset="0"/>
                  </a:rPr>
                  <a:t>and</a:t>
                </a:r>
                <a:r>
                  <a:rPr lang="en-US" dirty="0"/>
                  <a:t>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</a:t>
                </a:r>
                <a:r>
                  <a:rPr lang="en-US" dirty="0"/>
                  <a:t>, or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1.5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Thus, the effect on MDES (design sensitivity) of increasing sample size of the control group are generally modest (except for the smallest treatment group sample sizes), but maybe necessary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effect of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</a:t>
                </a:r>
                <a:r>
                  <a:rPr lang="en-US" dirty="0">
                    <a:cs typeface="Times New Roman" panose="02020603050405020304" pitchFamily="18" charset="0"/>
                  </a:rPr>
                  <a:t>and</a:t>
                </a:r>
                <a:r>
                  <a:rPr lang="en-US" dirty="0"/>
                  <a:t>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</a:t>
                </a:r>
                <a:r>
                  <a:rPr lang="en-US" dirty="0"/>
                  <a:t> imbalance would be a factor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1+1.5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1.5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dirty="0"/>
                  <a:t> = 0.91 or a 9% reduction of MDES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729D4-6A95-4F11-ADB0-93AD4051BF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7864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4DA86-565C-4B00-9029-2CF183BCA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Graphical Representation of MDES as  Function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>for various values of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and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baseline="30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6E447-8DF7-433E-B837-E9D21B987AF3}"/>
              </a:ext>
            </a:extLst>
          </p:cNvPr>
          <p:cNvSpPr txBox="1"/>
          <p:nvPr/>
        </p:nvSpPr>
        <p:spPr>
          <a:xfrm>
            <a:off x="7302230" y="2762655"/>
            <a:ext cx="31604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all figures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0.05</a:t>
            </a:r>
          </a:p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</a:t>
            </a:r>
            <a:r>
              <a:rPr lang="en-US" dirty="0"/>
              <a:t>(solid line)</a:t>
            </a:r>
          </a:p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 </a:t>
            </a:r>
            <a:r>
              <a:rPr lang="en-US" dirty="0"/>
              <a:t>(dashed line)</a:t>
            </a:r>
          </a:p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</a:t>
            </a:r>
            <a:r>
              <a:rPr lang="en-US" dirty="0"/>
              <a:t>(dotted line)</a:t>
            </a:r>
          </a:p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 </a:t>
            </a:r>
            <a:r>
              <a:rPr lang="en-US" dirty="0"/>
              <a:t>(dash dotted line)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D55D658-20B2-452B-A603-165CABEEF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9573" y="1734834"/>
            <a:ext cx="5960580" cy="472608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3FB424-B659-4C3D-AEC2-357DAE0066AC}"/>
              </a:ext>
            </a:extLst>
          </p:cNvPr>
          <p:cNvSpPr/>
          <p:nvPr/>
        </p:nvSpPr>
        <p:spPr>
          <a:xfrm>
            <a:off x="3657600" y="1734834"/>
            <a:ext cx="9144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27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78EBB-AB35-4BE8-9C15-DD17D7169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MDES as a Function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/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/>
              <a:t> when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  <a:r>
              <a:rPr lang="en-US" dirty="0"/>
              <a:t>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</a:t>
            </a:r>
            <a:r>
              <a:rPr lang="el-GR" sz="360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sz="360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0.05</a:t>
            </a:r>
            <a:r>
              <a:rPr lang="en-US" dirty="0"/>
              <a:t>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E436D92-DD6C-4F0E-9E63-04A091A636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5588071"/>
              </p:ext>
            </p:extLst>
          </p:nvPr>
        </p:nvGraphicFramePr>
        <p:xfrm>
          <a:off x="1420238" y="1556426"/>
          <a:ext cx="9306076" cy="497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4008">
                  <a:extLst>
                    <a:ext uri="{9D8B030D-6E8A-4147-A177-3AD203B41FA5}">
                      <a16:colId xmlns:a16="http://schemas.microsoft.com/office/drawing/2014/main" val="3920293954"/>
                    </a:ext>
                  </a:extLst>
                </a:gridCol>
                <a:gridCol w="689339">
                  <a:extLst>
                    <a:ext uri="{9D8B030D-6E8A-4147-A177-3AD203B41FA5}">
                      <a16:colId xmlns:a16="http://schemas.microsoft.com/office/drawing/2014/main" val="2161348058"/>
                    </a:ext>
                  </a:extLst>
                </a:gridCol>
                <a:gridCol w="689339">
                  <a:extLst>
                    <a:ext uri="{9D8B030D-6E8A-4147-A177-3AD203B41FA5}">
                      <a16:colId xmlns:a16="http://schemas.microsoft.com/office/drawing/2014/main" val="3349135151"/>
                    </a:ext>
                  </a:extLst>
                </a:gridCol>
                <a:gridCol w="689339">
                  <a:extLst>
                    <a:ext uri="{9D8B030D-6E8A-4147-A177-3AD203B41FA5}">
                      <a16:colId xmlns:a16="http://schemas.microsoft.com/office/drawing/2014/main" val="1343773521"/>
                    </a:ext>
                  </a:extLst>
                </a:gridCol>
                <a:gridCol w="689339">
                  <a:extLst>
                    <a:ext uri="{9D8B030D-6E8A-4147-A177-3AD203B41FA5}">
                      <a16:colId xmlns:a16="http://schemas.microsoft.com/office/drawing/2014/main" val="3313615705"/>
                    </a:ext>
                  </a:extLst>
                </a:gridCol>
                <a:gridCol w="689339">
                  <a:extLst>
                    <a:ext uri="{9D8B030D-6E8A-4147-A177-3AD203B41FA5}">
                      <a16:colId xmlns:a16="http://schemas.microsoft.com/office/drawing/2014/main" val="3630266686"/>
                    </a:ext>
                  </a:extLst>
                </a:gridCol>
                <a:gridCol w="689339">
                  <a:extLst>
                    <a:ext uri="{9D8B030D-6E8A-4147-A177-3AD203B41FA5}">
                      <a16:colId xmlns:a16="http://schemas.microsoft.com/office/drawing/2014/main" val="849800213"/>
                    </a:ext>
                  </a:extLst>
                </a:gridCol>
                <a:gridCol w="689339">
                  <a:extLst>
                    <a:ext uri="{9D8B030D-6E8A-4147-A177-3AD203B41FA5}">
                      <a16:colId xmlns:a16="http://schemas.microsoft.com/office/drawing/2014/main" val="883541349"/>
                    </a:ext>
                  </a:extLst>
                </a:gridCol>
                <a:gridCol w="689339">
                  <a:extLst>
                    <a:ext uri="{9D8B030D-6E8A-4147-A177-3AD203B41FA5}">
                      <a16:colId xmlns:a16="http://schemas.microsoft.com/office/drawing/2014/main" val="1223958593"/>
                    </a:ext>
                  </a:extLst>
                </a:gridCol>
                <a:gridCol w="689339">
                  <a:extLst>
                    <a:ext uri="{9D8B030D-6E8A-4147-A177-3AD203B41FA5}">
                      <a16:colId xmlns:a16="http://schemas.microsoft.com/office/drawing/2014/main" val="2670442765"/>
                    </a:ext>
                  </a:extLst>
                </a:gridCol>
                <a:gridCol w="689339">
                  <a:extLst>
                    <a:ext uri="{9D8B030D-6E8A-4147-A177-3AD203B41FA5}">
                      <a16:colId xmlns:a16="http://schemas.microsoft.com/office/drawing/2014/main" val="4120278162"/>
                    </a:ext>
                  </a:extLst>
                </a:gridCol>
                <a:gridCol w="689339">
                  <a:extLst>
                    <a:ext uri="{9D8B030D-6E8A-4147-A177-3AD203B41FA5}">
                      <a16:colId xmlns:a16="http://schemas.microsoft.com/office/drawing/2014/main" val="2087246622"/>
                    </a:ext>
                  </a:extLst>
                </a:gridCol>
                <a:gridCol w="689339">
                  <a:extLst>
                    <a:ext uri="{9D8B030D-6E8A-4147-A177-3AD203B41FA5}">
                      <a16:colId xmlns:a16="http://schemas.microsoft.com/office/drawing/2014/main" val="1166207459"/>
                    </a:ext>
                  </a:extLst>
                </a:gridCol>
              </a:tblGrid>
              <a:tr h="295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 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 gridSpan="12">
                  <a:txBody>
                    <a:bodyPr/>
                    <a:lstStyle/>
                    <a:p>
                      <a:pPr algn="ctr" fontAlgn="b"/>
                      <a:r>
                        <a:rPr lang="en-US" sz="2000" i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2000" b="1" i="1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983062"/>
                  </a:ext>
                </a:extLst>
              </a:tr>
              <a:tr h="295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i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2000" b="1" i="1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12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13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14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15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16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17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18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19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20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174630"/>
                  </a:ext>
                </a:extLst>
              </a:tr>
              <a:tr h="295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1.86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1.81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1.76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1.72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1.68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1.65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1.62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1.59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1.57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1.55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1.53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1.45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23359444"/>
                  </a:ext>
                </a:extLst>
              </a:tr>
              <a:tr h="295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1.15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1.08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1.06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1.03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0.98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0.96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0.95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0.94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0.89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67293104"/>
                  </a:ext>
                </a:extLst>
              </a:tr>
              <a:tr h="295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0.88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0.85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0.83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0.81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0.79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0.78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0.76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0.75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0.74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0.73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0.72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0.68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1084204"/>
                  </a:ext>
                </a:extLst>
              </a:tr>
              <a:tr h="295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0.73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0.71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0.69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0.68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0.65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0.64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0.63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0.62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0.61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0.60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48352040"/>
                  </a:ext>
                </a:extLst>
              </a:tr>
              <a:tr h="295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0.64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0.62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0.61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1962386"/>
                  </a:ext>
                </a:extLst>
              </a:tr>
              <a:tr h="295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84365110"/>
                  </a:ext>
                </a:extLst>
              </a:tr>
              <a:tr h="295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33779239"/>
                  </a:ext>
                </a:extLst>
              </a:tr>
              <a:tr h="295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02445138"/>
                  </a:ext>
                </a:extLst>
              </a:tr>
              <a:tr h="295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97493074"/>
                  </a:ext>
                </a:extLst>
              </a:tr>
              <a:tr h="295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883895"/>
                  </a:ext>
                </a:extLst>
              </a:tr>
              <a:tr h="295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59038254"/>
                  </a:ext>
                </a:extLst>
              </a:tr>
              <a:tr h="295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75766078"/>
                  </a:ext>
                </a:extLst>
              </a:tr>
              <a:tr h="295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0.29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46246071"/>
                  </a:ext>
                </a:extLst>
              </a:tr>
              <a:tr h="2958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0.28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9573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160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2733</TotalTime>
  <Words>2715</Words>
  <Application>Microsoft Office PowerPoint</Application>
  <PresentationFormat>Widescreen</PresentationFormat>
  <Paragraphs>440</Paragraphs>
  <Slides>27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Times New Roman</vt:lpstr>
      <vt:lpstr>Office Theme</vt:lpstr>
      <vt:lpstr>MathType 7.0 Equation</vt:lpstr>
      <vt:lpstr>Randomized Block Designs  Assigning Clusters Within Blocks</vt:lpstr>
      <vt:lpstr>Definition of Randomized Block Designs Assigning Clusters</vt:lpstr>
      <vt:lpstr>Definition of Randomized Block Designs Assigning Clusters</vt:lpstr>
      <vt:lpstr>PowerPoint Presentation</vt:lpstr>
      <vt:lpstr>A Statistical Model </vt:lpstr>
      <vt:lpstr>A Statistical Model </vt:lpstr>
      <vt:lpstr>We Have Given the Model for the Blocks-Fixed Analysis</vt:lpstr>
      <vt:lpstr>Effect Size</vt:lpstr>
      <vt:lpstr>Testing the Significance of the Treatment Effect</vt:lpstr>
      <vt:lpstr>Testing the Significance of the Treatment Effect</vt:lpstr>
      <vt:lpstr>Design Sensitivity</vt:lpstr>
      <vt:lpstr>MDES in Randomized Block Designs Assigning Clusters</vt:lpstr>
      <vt:lpstr>MDES in Randomized Block Designs Assigning Clusters</vt:lpstr>
      <vt:lpstr>A Graphical Representation of MDES as  Function of m p = 2</vt:lpstr>
      <vt:lpstr>A Graphical Representation of MDES as  Function of m p = 3</vt:lpstr>
      <vt:lpstr>A Graphical Representation of MDES as  Function of n p = 2</vt:lpstr>
      <vt:lpstr>MDES in this Design Depends on ρ </vt:lpstr>
      <vt:lpstr>The Fundamental Problem of Research Design</vt:lpstr>
      <vt:lpstr>Three Strategies to Improve Design Sensitivity</vt:lpstr>
      <vt:lpstr>Matching of Clusters Before Random Assignment</vt:lpstr>
      <vt:lpstr>Increase Number of Clusters or Cluster Size</vt:lpstr>
      <vt:lpstr>Adding Covariates</vt:lpstr>
      <vt:lpstr>The Effect of Covariates on MDES</vt:lpstr>
      <vt:lpstr>Unbalanced Designs</vt:lpstr>
      <vt:lpstr>Unbalanced Designs</vt:lpstr>
      <vt:lpstr>A Graphical Representation of MDES as  Function of n for various values of pT and pC</vt:lpstr>
      <vt:lpstr>MDES as a Function of m and n when pT = 1, pC = 2  (ρ = 0.05)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Randomized Block Designs  Assigning Clusters Within Blocks</dc:title>
  <dc:creator>Larry Vernon Hedges</dc:creator>
  <cp:lastModifiedBy>Larry Vernon Hedges</cp:lastModifiedBy>
  <cp:revision>21</cp:revision>
  <dcterms:created xsi:type="dcterms:W3CDTF">2021-07-01T16:15:46Z</dcterms:created>
  <dcterms:modified xsi:type="dcterms:W3CDTF">2021-07-04T17:16:58Z</dcterms:modified>
</cp:coreProperties>
</file>