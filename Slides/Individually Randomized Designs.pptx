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3" r:id="rId18"/>
    <p:sldId id="274" r:id="rId19"/>
    <p:sldId id="272" r:id="rId20"/>
    <p:sldId id="275" r:id="rId21"/>
    <p:sldId id="276" r:id="rId22"/>
    <p:sldId id="277" r:id="rId23"/>
    <p:sldId id="279" r:id="rId24"/>
    <p:sldId id="281" r:id="rId25"/>
    <p:sldId id="278" r:id="rId26"/>
    <p:sldId id="280"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98" d="100"/>
          <a:sy n="98" d="100"/>
        </p:scale>
        <p:origin x="60" y="10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8ED086-A94D-410E-B5F9-96E6967BD548}"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B0AC7DDC-D4D6-46CA-B593-CAF6C566B796}">
      <dgm:prSet/>
      <dgm:spPr/>
      <dgm:t>
        <a:bodyPr/>
        <a:lstStyle/>
        <a:p>
          <a:r>
            <a:rPr lang="en-US" dirty="0"/>
            <a:t>Recall that statistical power is the chance that the statistical test will decide that the treatment effect is significant—it is the chance that the test will detect a nonzero effect if it exists</a:t>
          </a:r>
        </a:p>
      </dgm:t>
    </dgm:pt>
    <dgm:pt modelId="{13ED9483-9C86-4431-B0F3-19AE3AB89430}" type="parTrans" cxnId="{1CF02D15-F3AE-4298-A7EC-C6FE3268A085}">
      <dgm:prSet/>
      <dgm:spPr/>
      <dgm:t>
        <a:bodyPr/>
        <a:lstStyle/>
        <a:p>
          <a:endParaRPr lang="en-US"/>
        </a:p>
      </dgm:t>
    </dgm:pt>
    <dgm:pt modelId="{ACF6CA6F-241B-43CD-A069-69865A8C9427}" type="sibTrans" cxnId="{1CF02D15-F3AE-4298-A7EC-C6FE3268A085}">
      <dgm:prSet/>
      <dgm:spPr/>
      <dgm:t>
        <a:bodyPr/>
        <a:lstStyle/>
        <a:p>
          <a:endParaRPr lang="en-US"/>
        </a:p>
      </dgm:t>
    </dgm:pt>
    <dgm:pt modelId="{D8B91B7C-65C2-4D52-8AF4-31E2B6F96248}">
      <dgm:prSet/>
      <dgm:spPr/>
      <dgm:t>
        <a:bodyPr/>
        <a:lstStyle/>
        <a:p>
          <a:r>
            <a:rPr lang="en-US"/>
            <a:t>Statistical power depends on:</a:t>
          </a:r>
        </a:p>
      </dgm:t>
    </dgm:pt>
    <dgm:pt modelId="{C90F15A4-B95A-46EE-98F8-E696240CD1B4}" type="parTrans" cxnId="{45EDEE2F-8A7D-40CF-92AC-E35F64EFDBDD}">
      <dgm:prSet/>
      <dgm:spPr/>
      <dgm:t>
        <a:bodyPr/>
        <a:lstStyle/>
        <a:p>
          <a:endParaRPr lang="en-US"/>
        </a:p>
      </dgm:t>
    </dgm:pt>
    <dgm:pt modelId="{BE89A562-4350-4717-957D-47CE28483E33}" type="sibTrans" cxnId="{45EDEE2F-8A7D-40CF-92AC-E35F64EFDBDD}">
      <dgm:prSet/>
      <dgm:spPr/>
      <dgm:t>
        <a:bodyPr/>
        <a:lstStyle/>
        <a:p>
          <a:endParaRPr lang="en-US"/>
        </a:p>
      </dgm:t>
    </dgm:pt>
    <dgm:pt modelId="{B43E427E-F92D-47C5-A7B3-0E76A5A21815}">
      <dgm:prSet/>
      <dgm:spPr/>
      <dgm:t>
        <a:bodyPr/>
        <a:lstStyle/>
        <a:p>
          <a:r>
            <a:rPr lang="en-US"/>
            <a:t>The significance level (0.05 is a very strong convention)</a:t>
          </a:r>
        </a:p>
      </dgm:t>
    </dgm:pt>
    <dgm:pt modelId="{15F6A380-7749-41C8-90C5-8CADCB552F2A}" type="parTrans" cxnId="{1DC29EC9-76BB-48D8-A244-5748FB0337FA}">
      <dgm:prSet/>
      <dgm:spPr/>
      <dgm:t>
        <a:bodyPr/>
        <a:lstStyle/>
        <a:p>
          <a:endParaRPr lang="en-US"/>
        </a:p>
      </dgm:t>
    </dgm:pt>
    <dgm:pt modelId="{537FCF53-11B2-4E27-98D2-1756B5BA29B5}" type="sibTrans" cxnId="{1DC29EC9-76BB-48D8-A244-5748FB0337FA}">
      <dgm:prSet/>
      <dgm:spPr/>
      <dgm:t>
        <a:bodyPr/>
        <a:lstStyle/>
        <a:p>
          <a:endParaRPr lang="en-US"/>
        </a:p>
      </dgm:t>
    </dgm:pt>
    <dgm:pt modelId="{C6991466-06C6-4456-980B-2F175D258FEF}">
      <dgm:prSet/>
      <dgm:spPr/>
      <dgm:t>
        <a:bodyPr/>
        <a:lstStyle/>
        <a:p>
          <a:r>
            <a:rPr lang="en-US"/>
            <a:t>The type of design</a:t>
          </a:r>
        </a:p>
      </dgm:t>
    </dgm:pt>
    <dgm:pt modelId="{D7B4527A-6AA0-46A1-B174-63622B7C0901}" type="parTrans" cxnId="{39401413-EA5D-4F8E-860A-AE8A55B0C2CF}">
      <dgm:prSet/>
      <dgm:spPr/>
      <dgm:t>
        <a:bodyPr/>
        <a:lstStyle/>
        <a:p>
          <a:endParaRPr lang="en-US"/>
        </a:p>
      </dgm:t>
    </dgm:pt>
    <dgm:pt modelId="{CE7E5211-D673-4274-AA63-A769FF25C575}" type="sibTrans" cxnId="{39401413-EA5D-4F8E-860A-AE8A55B0C2CF}">
      <dgm:prSet/>
      <dgm:spPr/>
      <dgm:t>
        <a:bodyPr/>
        <a:lstStyle/>
        <a:p>
          <a:endParaRPr lang="en-US"/>
        </a:p>
      </dgm:t>
    </dgm:pt>
    <dgm:pt modelId="{5660E859-AA55-4BEF-A978-9C4438AC74DD}">
      <dgm:prSet/>
      <dgm:spPr/>
      <dgm:t>
        <a:bodyPr/>
        <a:lstStyle/>
        <a:p>
          <a:r>
            <a:rPr lang="en-US"/>
            <a:t>The sample size</a:t>
          </a:r>
          <a:r>
            <a:rPr lang="en-US" b="1"/>
            <a:t>s</a:t>
          </a:r>
          <a:endParaRPr lang="en-US"/>
        </a:p>
      </dgm:t>
    </dgm:pt>
    <dgm:pt modelId="{D6BCB134-5782-4C64-93C8-7CB7D2053553}" type="parTrans" cxnId="{EF260F55-788C-492B-9282-7B957CB52F64}">
      <dgm:prSet/>
      <dgm:spPr/>
      <dgm:t>
        <a:bodyPr/>
        <a:lstStyle/>
        <a:p>
          <a:endParaRPr lang="en-US"/>
        </a:p>
      </dgm:t>
    </dgm:pt>
    <dgm:pt modelId="{7A291D68-B8FD-4C87-A9FF-EC639D9E6889}" type="sibTrans" cxnId="{EF260F55-788C-492B-9282-7B957CB52F64}">
      <dgm:prSet/>
      <dgm:spPr/>
      <dgm:t>
        <a:bodyPr/>
        <a:lstStyle/>
        <a:p>
          <a:endParaRPr lang="en-US"/>
        </a:p>
      </dgm:t>
    </dgm:pt>
    <dgm:pt modelId="{3A2C3496-02BA-4B3D-AF8B-801CA5664B51}">
      <dgm:prSet/>
      <dgm:spPr/>
      <dgm:t>
        <a:bodyPr/>
        <a:lstStyle/>
        <a:p>
          <a:r>
            <a:rPr lang="en-US"/>
            <a:t>The effect sizes</a:t>
          </a:r>
        </a:p>
      </dgm:t>
    </dgm:pt>
    <dgm:pt modelId="{C502831B-CCD8-48C2-B961-9971DADF81C1}" type="parTrans" cxnId="{23CEB8E6-993E-4634-811B-0D444EC490B3}">
      <dgm:prSet/>
      <dgm:spPr/>
      <dgm:t>
        <a:bodyPr/>
        <a:lstStyle/>
        <a:p>
          <a:endParaRPr lang="en-US"/>
        </a:p>
      </dgm:t>
    </dgm:pt>
    <dgm:pt modelId="{45CA5886-FF16-477E-AC9C-E406DB7C1F0B}" type="sibTrans" cxnId="{23CEB8E6-993E-4634-811B-0D444EC490B3}">
      <dgm:prSet/>
      <dgm:spPr/>
      <dgm:t>
        <a:bodyPr/>
        <a:lstStyle/>
        <a:p>
          <a:endParaRPr lang="en-US"/>
        </a:p>
      </dgm:t>
    </dgm:pt>
    <dgm:pt modelId="{D78508FE-0726-4864-AEAA-572EE9AAEEFD}">
      <dgm:prSet/>
      <dgm:spPr/>
      <dgm:t>
        <a:bodyPr/>
        <a:lstStyle/>
        <a:p>
          <a:r>
            <a:rPr lang="en-US"/>
            <a:t>In some designs, there are other design parameters</a:t>
          </a:r>
        </a:p>
      </dgm:t>
    </dgm:pt>
    <dgm:pt modelId="{FF75FE54-E628-4ED1-8B32-F207C41F83D0}" type="parTrans" cxnId="{B35448A9-AFF3-45CF-9ED4-15C19479F85A}">
      <dgm:prSet/>
      <dgm:spPr/>
      <dgm:t>
        <a:bodyPr/>
        <a:lstStyle/>
        <a:p>
          <a:endParaRPr lang="en-US"/>
        </a:p>
      </dgm:t>
    </dgm:pt>
    <dgm:pt modelId="{2AD31F2A-907F-44D9-BC02-483581690F31}" type="sibTrans" cxnId="{B35448A9-AFF3-45CF-9ED4-15C19479F85A}">
      <dgm:prSet/>
      <dgm:spPr/>
      <dgm:t>
        <a:bodyPr/>
        <a:lstStyle/>
        <a:p>
          <a:endParaRPr lang="en-US"/>
        </a:p>
      </dgm:t>
    </dgm:pt>
    <dgm:pt modelId="{AFDEBAF7-6505-472F-9849-516C2D8FEF5D}">
      <dgm:prSet/>
      <dgm:spPr/>
      <dgm:t>
        <a:bodyPr/>
        <a:lstStyle/>
        <a:p>
          <a:r>
            <a:rPr lang="en-US" dirty="0"/>
            <a:t>A strong convention is that power of 0.8 (80%) is adequate for planning designs</a:t>
          </a:r>
        </a:p>
      </dgm:t>
    </dgm:pt>
    <dgm:pt modelId="{43C10059-CFCF-47D5-9215-8B621C9A4916}" type="parTrans" cxnId="{5F93D593-02D2-4D7A-8F32-5FE6500577F1}">
      <dgm:prSet/>
      <dgm:spPr/>
      <dgm:t>
        <a:bodyPr/>
        <a:lstStyle/>
        <a:p>
          <a:endParaRPr lang="en-US"/>
        </a:p>
      </dgm:t>
    </dgm:pt>
    <dgm:pt modelId="{AFB1E470-8D5B-40AF-AA31-57E88DF35F2C}" type="sibTrans" cxnId="{5F93D593-02D2-4D7A-8F32-5FE6500577F1}">
      <dgm:prSet/>
      <dgm:spPr/>
      <dgm:t>
        <a:bodyPr/>
        <a:lstStyle/>
        <a:p>
          <a:endParaRPr lang="en-US"/>
        </a:p>
      </dgm:t>
    </dgm:pt>
    <dgm:pt modelId="{1D04A3A2-D316-41BB-AB08-3DF97B0BE1AD}" type="pres">
      <dgm:prSet presAssocID="{098ED086-A94D-410E-B5F9-96E6967BD548}" presName="vert0" presStyleCnt="0">
        <dgm:presLayoutVars>
          <dgm:dir/>
          <dgm:animOne val="branch"/>
          <dgm:animLvl val="lvl"/>
        </dgm:presLayoutVars>
      </dgm:prSet>
      <dgm:spPr/>
    </dgm:pt>
    <dgm:pt modelId="{AE1644FE-DD78-4956-8B84-66BB5D97EB18}" type="pres">
      <dgm:prSet presAssocID="{B0AC7DDC-D4D6-46CA-B593-CAF6C566B796}" presName="thickLine" presStyleLbl="alignNode1" presStyleIdx="0" presStyleCnt="3"/>
      <dgm:spPr/>
    </dgm:pt>
    <dgm:pt modelId="{C34D67CA-82CC-4CB2-9017-9E7361EA3677}" type="pres">
      <dgm:prSet presAssocID="{B0AC7DDC-D4D6-46CA-B593-CAF6C566B796}" presName="horz1" presStyleCnt="0"/>
      <dgm:spPr/>
    </dgm:pt>
    <dgm:pt modelId="{BD8B6C31-414F-4A40-8BCB-07940ED19DB8}" type="pres">
      <dgm:prSet presAssocID="{B0AC7DDC-D4D6-46CA-B593-CAF6C566B796}" presName="tx1" presStyleLbl="revTx" presStyleIdx="0" presStyleCnt="8" custScaleX="495508"/>
      <dgm:spPr/>
    </dgm:pt>
    <dgm:pt modelId="{801844E5-AD7A-4675-891B-4C16F892A1F0}" type="pres">
      <dgm:prSet presAssocID="{B0AC7DDC-D4D6-46CA-B593-CAF6C566B796}" presName="vert1" presStyleCnt="0"/>
      <dgm:spPr/>
    </dgm:pt>
    <dgm:pt modelId="{091B9A10-E470-49E6-B524-B1D2AA762F23}" type="pres">
      <dgm:prSet presAssocID="{D8B91B7C-65C2-4D52-8AF4-31E2B6F96248}" presName="thickLine" presStyleLbl="alignNode1" presStyleIdx="1" presStyleCnt="3"/>
      <dgm:spPr/>
    </dgm:pt>
    <dgm:pt modelId="{B0CEFE0D-1645-4826-9148-1A99C81A63D0}" type="pres">
      <dgm:prSet presAssocID="{D8B91B7C-65C2-4D52-8AF4-31E2B6F96248}" presName="horz1" presStyleCnt="0"/>
      <dgm:spPr/>
    </dgm:pt>
    <dgm:pt modelId="{5EC3E597-C33E-4B4B-9E78-AF5E44FC234C}" type="pres">
      <dgm:prSet presAssocID="{D8B91B7C-65C2-4D52-8AF4-31E2B6F96248}" presName="tx1" presStyleLbl="revTx" presStyleIdx="1" presStyleCnt="8"/>
      <dgm:spPr/>
    </dgm:pt>
    <dgm:pt modelId="{58F14AD2-B6E9-4FE4-9389-3F5B19EC3BAD}" type="pres">
      <dgm:prSet presAssocID="{D8B91B7C-65C2-4D52-8AF4-31E2B6F96248}" presName="vert1" presStyleCnt="0"/>
      <dgm:spPr/>
    </dgm:pt>
    <dgm:pt modelId="{596E1FFE-91ED-4BA2-95BC-FE5F97A54F97}" type="pres">
      <dgm:prSet presAssocID="{B43E427E-F92D-47C5-A7B3-0E76A5A21815}" presName="vertSpace2a" presStyleCnt="0"/>
      <dgm:spPr/>
    </dgm:pt>
    <dgm:pt modelId="{67F8E4D9-51D7-4A22-A81E-B54EAB8C6C53}" type="pres">
      <dgm:prSet presAssocID="{B43E427E-F92D-47C5-A7B3-0E76A5A21815}" presName="horz2" presStyleCnt="0"/>
      <dgm:spPr/>
    </dgm:pt>
    <dgm:pt modelId="{39F1784E-B76E-4DF4-B874-E07534EF312F}" type="pres">
      <dgm:prSet presAssocID="{B43E427E-F92D-47C5-A7B3-0E76A5A21815}" presName="horzSpace2" presStyleCnt="0"/>
      <dgm:spPr/>
    </dgm:pt>
    <dgm:pt modelId="{BE59F859-2895-4417-B53A-C6269B63FBD1}" type="pres">
      <dgm:prSet presAssocID="{B43E427E-F92D-47C5-A7B3-0E76A5A21815}" presName="tx2" presStyleLbl="revTx" presStyleIdx="2" presStyleCnt="8"/>
      <dgm:spPr/>
    </dgm:pt>
    <dgm:pt modelId="{E80CF621-91B3-4C7D-B6CE-8AB0BB73E3B6}" type="pres">
      <dgm:prSet presAssocID="{B43E427E-F92D-47C5-A7B3-0E76A5A21815}" presName="vert2" presStyleCnt="0"/>
      <dgm:spPr/>
    </dgm:pt>
    <dgm:pt modelId="{B17CFE86-7E6E-4C6F-B536-2A2FBBD3EA71}" type="pres">
      <dgm:prSet presAssocID="{B43E427E-F92D-47C5-A7B3-0E76A5A21815}" presName="thinLine2b" presStyleLbl="callout" presStyleIdx="0" presStyleCnt="5"/>
      <dgm:spPr/>
    </dgm:pt>
    <dgm:pt modelId="{43644AAF-FF04-4013-A8D7-300F63BD751F}" type="pres">
      <dgm:prSet presAssocID="{B43E427E-F92D-47C5-A7B3-0E76A5A21815}" presName="vertSpace2b" presStyleCnt="0"/>
      <dgm:spPr/>
    </dgm:pt>
    <dgm:pt modelId="{116B52AD-5BBD-4A9D-86EA-53A28C515B32}" type="pres">
      <dgm:prSet presAssocID="{C6991466-06C6-4456-980B-2F175D258FEF}" presName="horz2" presStyleCnt="0"/>
      <dgm:spPr/>
    </dgm:pt>
    <dgm:pt modelId="{3DC6486A-F9A1-4C52-8F53-ADEF68AA1BB4}" type="pres">
      <dgm:prSet presAssocID="{C6991466-06C6-4456-980B-2F175D258FEF}" presName="horzSpace2" presStyleCnt="0"/>
      <dgm:spPr/>
    </dgm:pt>
    <dgm:pt modelId="{4E44FAB2-EA50-411E-B08D-E3602A626FE8}" type="pres">
      <dgm:prSet presAssocID="{C6991466-06C6-4456-980B-2F175D258FEF}" presName="tx2" presStyleLbl="revTx" presStyleIdx="3" presStyleCnt="8"/>
      <dgm:spPr/>
    </dgm:pt>
    <dgm:pt modelId="{D9360296-BB3B-4F5D-8737-B5787B1615B9}" type="pres">
      <dgm:prSet presAssocID="{C6991466-06C6-4456-980B-2F175D258FEF}" presName="vert2" presStyleCnt="0"/>
      <dgm:spPr/>
    </dgm:pt>
    <dgm:pt modelId="{D13CD72A-CBAB-45EA-BCDB-BC72E87C3C7D}" type="pres">
      <dgm:prSet presAssocID="{C6991466-06C6-4456-980B-2F175D258FEF}" presName="thinLine2b" presStyleLbl="callout" presStyleIdx="1" presStyleCnt="5"/>
      <dgm:spPr/>
    </dgm:pt>
    <dgm:pt modelId="{8C669917-9720-430B-A204-3B9966613B19}" type="pres">
      <dgm:prSet presAssocID="{C6991466-06C6-4456-980B-2F175D258FEF}" presName="vertSpace2b" presStyleCnt="0"/>
      <dgm:spPr/>
    </dgm:pt>
    <dgm:pt modelId="{A3F52A85-C9D8-43E3-9984-F90CC41185FA}" type="pres">
      <dgm:prSet presAssocID="{5660E859-AA55-4BEF-A978-9C4438AC74DD}" presName="horz2" presStyleCnt="0"/>
      <dgm:spPr/>
    </dgm:pt>
    <dgm:pt modelId="{4181A065-F656-4060-B843-F037891121AA}" type="pres">
      <dgm:prSet presAssocID="{5660E859-AA55-4BEF-A978-9C4438AC74DD}" presName="horzSpace2" presStyleCnt="0"/>
      <dgm:spPr/>
    </dgm:pt>
    <dgm:pt modelId="{D2D87007-5E18-4FBC-AEDD-D5513CA363C2}" type="pres">
      <dgm:prSet presAssocID="{5660E859-AA55-4BEF-A978-9C4438AC74DD}" presName="tx2" presStyleLbl="revTx" presStyleIdx="4" presStyleCnt="8"/>
      <dgm:spPr/>
    </dgm:pt>
    <dgm:pt modelId="{68E7836F-56C6-4414-9086-21FBF680800E}" type="pres">
      <dgm:prSet presAssocID="{5660E859-AA55-4BEF-A978-9C4438AC74DD}" presName="vert2" presStyleCnt="0"/>
      <dgm:spPr/>
    </dgm:pt>
    <dgm:pt modelId="{2D7AEEA2-9B39-42FE-8991-D0A9A24447CC}" type="pres">
      <dgm:prSet presAssocID="{5660E859-AA55-4BEF-A978-9C4438AC74DD}" presName="thinLine2b" presStyleLbl="callout" presStyleIdx="2" presStyleCnt="5"/>
      <dgm:spPr/>
    </dgm:pt>
    <dgm:pt modelId="{222E29C7-41A7-4740-9255-1F1D860680F1}" type="pres">
      <dgm:prSet presAssocID="{5660E859-AA55-4BEF-A978-9C4438AC74DD}" presName="vertSpace2b" presStyleCnt="0"/>
      <dgm:spPr/>
    </dgm:pt>
    <dgm:pt modelId="{27DC77E3-4E22-4E0E-AC51-05161067ECDC}" type="pres">
      <dgm:prSet presAssocID="{3A2C3496-02BA-4B3D-AF8B-801CA5664B51}" presName="horz2" presStyleCnt="0"/>
      <dgm:spPr/>
    </dgm:pt>
    <dgm:pt modelId="{84CA44B8-DCF8-407C-ABD1-9BBB6D46FCEF}" type="pres">
      <dgm:prSet presAssocID="{3A2C3496-02BA-4B3D-AF8B-801CA5664B51}" presName="horzSpace2" presStyleCnt="0"/>
      <dgm:spPr/>
    </dgm:pt>
    <dgm:pt modelId="{AFAEA4E7-B35D-4CD8-AE4E-4C1EEA9CACB8}" type="pres">
      <dgm:prSet presAssocID="{3A2C3496-02BA-4B3D-AF8B-801CA5664B51}" presName="tx2" presStyleLbl="revTx" presStyleIdx="5" presStyleCnt="8"/>
      <dgm:spPr/>
    </dgm:pt>
    <dgm:pt modelId="{FE77E6FB-2C75-4D33-86E4-FC5D25D338C3}" type="pres">
      <dgm:prSet presAssocID="{3A2C3496-02BA-4B3D-AF8B-801CA5664B51}" presName="vert2" presStyleCnt="0"/>
      <dgm:spPr/>
    </dgm:pt>
    <dgm:pt modelId="{ADB43532-AB5B-4043-98FF-118608C55113}" type="pres">
      <dgm:prSet presAssocID="{3A2C3496-02BA-4B3D-AF8B-801CA5664B51}" presName="thinLine2b" presStyleLbl="callout" presStyleIdx="3" presStyleCnt="5"/>
      <dgm:spPr/>
    </dgm:pt>
    <dgm:pt modelId="{597D77B7-B911-45F7-8997-6922213B452F}" type="pres">
      <dgm:prSet presAssocID="{3A2C3496-02BA-4B3D-AF8B-801CA5664B51}" presName="vertSpace2b" presStyleCnt="0"/>
      <dgm:spPr/>
    </dgm:pt>
    <dgm:pt modelId="{3246210A-29AD-47AA-8B8F-4FCE5E5A4BF3}" type="pres">
      <dgm:prSet presAssocID="{D78508FE-0726-4864-AEAA-572EE9AAEEFD}" presName="horz2" presStyleCnt="0"/>
      <dgm:spPr/>
    </dgm:pt>
    <dgm:pt modelId="{A06B16EA-A4BF-4518-8F06-9439F0C166B8}" type="pres">
      <dgm:prSet presAssocID="{D78508FE-0726-4864-AEAA-572EE9AAEEFD}" presName="horzSpace2" presStyleCnt="0"/>
      <dgm:spPr/>
    </dgm:pt>
    <dgm:pt modelId="{D0D53C31-5146-47CA-AC73-8B1262B914BB}" type="pres">
      <dgm:prSet presAssocID="{D78508FE-0726-4864-AEAA-572EE9AAEEFD}" presName="tx2" presStyleLbl="revTx" presStyleIdx="6" presStyleCnt="8"/>
      <dgm:spPr/>
    </dgm:pt>
    <dgm:pt modelId="{5EBE410D-BCA4-4880-A556-899791328DE7}" type="pres">
      <dgm:prSet presAssocID="{D78508FE-0726-4864-AEAA-572EE9AAEEFD}" presName="vert2" presStyleCnt="0"/>
      <dgm:spPr/>
    </dgm:pt>
    <dgm:pt modelId="{4207E4EE-F3B9-4D6A-884D-34071E60AA25}" type="pres">
      <dgm:prSet presAssocID="{D78508FE-0726-4864-AEAA-572EE9AAEEFD}" presName="thinLine2b" presStyleLbl="callout" presStyleIdx="4" presStyleCnt="5"/>
      <dgm:spPr/>
    </dgm:pt>
    <dgm:pt modelId="{F87E02F3-782F-41DA-849B-910D8D5BF137}" type="pres">
      <dgm:prSet presAssocID="{D78508FE-0726-4864-AEAA-572EE9AAEEFD}" presName="vertSpace2b" presStyleCnt="0"/>
      <dgm:spPr/>
    </dgm:pt>
    <dgm:pt modelId="{BB5C2B62-9A9A-4CD8-BC30-5010048050C9}" type="pres">
      <dgm:prSet presAssocID="{AFDEBAF7-6505-472F-9849-516C2D8FEF5D}" presName="thickLine" presStyleLbl="alignNode1" presStyleIdx="2" presStyleCnt="3"/>
      <dgm:spPr/>
    </dgm:pt>
    <dgm:pt modelId="{BDC3FF30-9BCD-401F-9322-5DB3E66E1EE6}" type="pres">
      <dgm:prSet presAssocID="{AFDEBAF7-6505-472F-9849-516C2D8FEF5D}" presName="horz1" presStyleCnt="0"/>
      <dgm:spPr/>
    </dgm:pt>
    <dgm:pt modelId="{BD17C5BE-16C7-439E-9550-8C1FCA649170}" type="pres">
      <dgm:prSet presAssocID="{AFDEBAF7-6505-472F-9849-516C2D8FEF5D}" presName="tx1" presStyleLbl="revTx" presStyleIdx="7" presStyleCnt="8" custScaleX="500000"/>
      <dgm:spPr/>
    </dgm:pt>
    <dgm:pt modelId="{52486AEE-0A06-47C6-A61C-2B83C29E73F3}" type="pres">
      <dgm:prSet presAssocID="{AFDEBAF7-6505-472F-9849-516C2D8FEF5D}" presName="vert1" presStyleCnt="0"/>
      <dgm:spPr/>
    </dgm:pt>
  </dgm:ptLst>
  <dgm:cxnLst>
    <dgm:cxn modelId="{39401413-EA5D-4F8E-860A-AE8A55B0C2CF}" srcId="{D8B91B7C-65C2-4D52-8AF4-31E2B6F96248}" destId="{C6991466-06C6-4456-980B-2F175D258FEF}" srcOrd="1" destOrd="0" parTransId="{D7B4527A-6AA0-46A1-B174-63622B7C0901}" sibTransId="{CE7E5211-D673-4274-AA63-A769FF25C575}"/>
    <dgm:cxn modelId="{1CF02D15-F3AE-4298-A7EC-C6FE3268A085}" srcId="{098ED086-A94D-410E-B5F9-96E6967BD548}" destId="{B0AC7DDC-D4D6-46CA-B593-CAF6C566B796}" srcOrd="0" destOrd="0" parTransId="{13ED9483-9C86-4431-B0F3-19AE3AB89430}" sibTransId="{ACF6CA6F-241B-43CD-A069-69865A8C9427}"/>
    <dgm:cxn modelId="{DDE4B62D-85E0-4E41-BF3C-D8A5C0FCB147}" type="presOf" srcId="{C6991466-06C6-4456-980B-2F175D258FEF}" destId="{4E44FAB2-EA50-411E-B08D-E3602A626FE8}" srcOrd="0" destOrd="0" presId="urn:microsoft.com/office/officeart/2008/layout/LinedList"/>
    <dgm:cxn modelId="{45EDEE2F-8A7D-40CF-92AC-E35F64EFDBDD}" srcId="{098ED086-A94D-410E-B5F9-96E6967BD548}" destId="{D8B91B7C-65C2-4D52-8AF4-31E2B6F96248}" srcOrd="1" destOrd="0" parTransId="{C90F15A4-B95A-46EE-98F8-E696240CD1B4}" sibTransId="{BE89A562-4350-4717-957D-47CE28483E33}"/>
    <dgm:cxn modelId="{F37FA632-0056-4BD5-9853-D5B5743DB984}" type="presOf" srcId="{D78508FE-0726-4864-AEAA-572EE9AAEEFD}" destId="{D0D53C31-5146-47CA-AC73-8B1262B914BB}" srcOrd="0" destOrd="0" presId="urn:microsoft.com/office/officeart/2008/layout/LinedList"/>
    <dgm:cxn modelId="{8FA56F6B-0AD6-49E1-9B33-0C657538E19D}" type="presOf" srcId="{098ED086-A94D-410E-B5F9-96E6967BD548}" destId="{1D04A3A2-D316-41BB-AB08-3DF97B0BE1AD}" srcOrd="0" destOrd="0" presId="urn:microsoft.com/office/officeart/2008/layout/LinedList"/>
    <dgm:cxn modelId="{EF260F55-788C-492B-9282-7B957CB52F64}" srcId="{D8B91B7C-65C2-4D52-8AF4-31E2B6F96248}" destId="{5660E859-AA55-4BEF-A978-9C4438AC74DD}" srcOrd="2" destOrd="0" parTransId="{D6BCB134-5782-4C64-93C8-7CB7D2053553}" sibTransId="{7A291D68-B8FD-4C87-A9FF-EC639D9E6889}"/>
    <dgm:cxn modelId="{5F93D593-02D2-4D7A-8F32-5FE6500577F1}" srcId="{098ED086-A94D-410E-B5F9-96E6967BD548}" destId="{AFDEBAF7-6505-472F-9849-516C2D8FEF5D}" srcOrd="2" destOrd="0" parTransId="{43C10059-CFCF-47D5-9215-8B621C9A4916}" sibTransId="{AFB1E470-8D5B-40AF-AA31-57E88DF35F2C}"/>
    <dgm:cxn modelId="{679E3BA1-E8AB-4131-BB1D-E882954310DB}" type="presOf" srcId="{AFDEBAF7-6505-472F-9849-516C2D8FEF5D}" destId="{BD17C5BE-16C7-439E-9550-8C1FCA649170}" srcOrd="0" destOrd="0" presId="urn:microsoft.com/office/officeart/2008/layout/LinedList"/>
    <dgm:cxn modelId="{B35448A9-AFF3-45CF-9ED4-15C19479F85A}" srcId="{D8B91B7C-65C2-4D52-8AF4-31E2B6F96248}" destId="{D78508FE-0726-4864-AEAA-572EE9AAEEFD}" srcOrd="4" destOrd="0" parTransId="{FF75FE54-E628-4ED1-8B32-F207C41F83D0}" sibTransId="{2AD31F2A-907F-44D9-BC02-483581690F31}"/>
    <dgm:cxn modelId="{9761B0C0-5A0B-471E-9A56-A77033A301DC}" type="presOf" srcId="{B43E427E-F92D-47C5-A7B3-0E76A5A21815}" destId="{BE59F859-2895-4417-B53A-C6269B63FBD1}" srcOrd="0" destOrd="0" presId="urn:microsoft.com/office/officeart/2008/layout/LinedList"/>
    <dgm:cxn modelId="{1DC29EC9-76BB-48D8-A244-5748FB0337FA}" srcId="{D8B91B7C-65C2-4D52-8AF4-31E2B6F96248}" destId="{B43E427E-F92D-47C5-A7B3-0E76A5A21815}" srcOrd="0" destOrd="0" parTransId="{15F6A380-7749-41C8-90C5-8CADCB552F2A}" sibTransId="{537FCF53-11B2-4E27-98D2-1756B5BA29B5}"/>
    <dgm:cxn modelId="{9D0078D3-E8D6-4CC1-8A83-19091762A60C}" type="presOf" srcId="{D8B91B7C-65C2-4D52-8AF4-31E2B6F96248}" destId="{5EC3E597-C33E-4B4B-9E78-AF5E44FC234C}" srcOrd="0" destOrd="0" presId="urn:microsoft.com/office/officeart/2008/layout/LinedList"/>
    <dgm:cxn modelId="{278044E0-7152-49D4-9EE8-A1525E0954E5}" type="presOf" srcId="{5660E859-AA55-4BEF-A978-9C4438AC74DD}" destId="{D2D87007-5E18-4FBC-AEDD-D5513CA363C2}" srcOrd="0" destOrd="0" presId="urn:microsoft.com/office/officeart/2008/layout/LinedList"/>
    <dgm:cxn modelId="{16C65BE1-AE7A-4D3E-842E-B5920F08C8B0}" type="presOf" srcId="{B0AC7DDC-D4D6-46CA-B593-CAF6C566B796}" destId="{BD8B6C31-414F-4A40-8BCB-07940ED19DB8}" srcOrd="0" destOrd="0" presId="urn:microsoft.com/office/officeart/2008/layout/LinedList"/>
    <dgm:cxn modelId="{11E4A4E1-CAF9-4D97-A254-AD40961687BD}" type="presOf" srcId="{3A2C3496-02BA-4B3D-AF8B-801CA5664B51}" destId="{AFAEA4E7-B35D-4CD8-AE4E-4C1EEA9CACB8}" srcOrd="0" destOrd="0" presId="urn:microsoft.com/office/officeart/2008/layout/LinedList"/>
    <dgm:cxn modelId="{23CEB8E6-993E-4634-811B-0D444EC490B3}" srcId="{D8B91B7C-65C2-4D52-8AF4-31E2B6F96248}" destId="{3A2C3496-02BA-4B3D-AF8B-801CA5664B51}" srcOrd="3" destOrd="0" parTransId="{C502831B-CCD8-48C2-B961-9971DADF81C1}" sibTransId="{45CA5886-FF16-477E-AC9C-E406DB7C1F0B}"/>
    <dgm:cxn modelId="{4541F1EB-3774-442F-AF47-A889FDD81997}" type="presParOf" srcId="{1D04A3A2-D316-41BB-AB08-3DF97B0BE1AD}" destId="{AE1644FE-DD78-4956-8B84-66BB5D97EB18}" srcOrd="0" destOrd="0" presId="urn:microsoft.com/office/officeart/2008/layout/LinedList"/>
    <dgm:cxn modelId="{A249EC7A-70C4-402F-BAE1-8F9DB7B27727}" type="presParOf" srcId="{1D04A3A2-D316-41BB-AB08-3DF97B0BE1AD}" destId="{C34D67CA-82CC-4CB2-9017-9E7361EA3677}" srcOrd="1" destOrd="0" presId="urn:microsoft.com/office/officeart/2008/layout/LinedList"/>
    <dgm:cxn modelId="{E7DA5E06-E37F-4F53-9C1A-5084B53DA7AE}" type="presParOf" srcId="{C34D67CA-82CC-4CB2-9017-9E7361EA3677}" destId="{BD8B6C31-414F-4A40-8BCB-07940ED19DB8}" srcOrd="0" destOrd="0" presId="urn:microsoft.com/office/officeart/2008/layout/LinedList"/>
    <dgm:cxn modelId="{86F2B6DB-6665-4E44-8243-5231D2E147E6}" type="presParOf" srcId="{C34D67CA-82CC-4CB2-9017-9E7361EA3677}" destId="{801844E5-AD7A-4675-891B-4C16F892A1F0}" srcOrd="1" destOrd="0" presId="urn:microsoft.com/office/officeart/2008/layout/LinedList"/>
    <dgm:cxn modelId="{8EDCCFBA-9632-4FE1-B23E-C6B74FEB7876}" type="presParOf" srcId="{1D04A3A2-D316-41BB-AB08-3DF97B0BE1AD}" destId="{091B9A10-E470-49E6-B524-B1D2AA762F23}" srcOrd="2" destOrd="0" presId="urn:microsoft.com/office/officeart/2008/layout/LinedList"/>
    <dgm:cxn modelId="{1018B3DA-EBF3-4F69-9906-F738D9061F51}" type="presParOf" srcId="{1D04A3A2-D316-41BB-AB08-3DF97B0BE1AD}" destId="{B0CEFE0D-1645-4826-9148-1A99C81A63D0}" srcOrd="3" destOrd="0" presId="urn:microsoft.com/office/officeart/2008/layout/LinedList"/>
    <dgm:cxn modelId="{F1565553-2324-489E-9529-298DD10D7B63}" type="presParOf" srcId="{B0CEFE0D-1645-4826-9148-1A99C81A63D0}" destId="{5EC3E597-C33E-4B4B-9E78-AF5E44FC234C}" srcOrd="0" destOrd="0" presId="urn:microsoft.com/office/officeart/2008/layout/LinedList"/>
    <dgm:cxn modelId="{DD867007-37D1-4EF6-AB8E-275E3CC14002}" type="presParOf" srcId="{B0CEFE0D-1645-4826-9148-1A99C81A63D0}" destId="{58F14AD2-B6E9-4FE4-9389-3F5B19EC3BAD}" srcOrd="1" destOrd="0" presId="urn:microsoft.com/office/officeart/2008/layout/LinedList"/>
    <dgm:cxn modelId="{9037859A-2B05-40C4-9A96-2D80E3AC2327}" type="presParOf" srcId="{58F14AD2-B6E9-4FE4-9389-3F5B19EC3BAD}" destId="{596E1FFE-91ED-4BA2-95BC-FE5F97A54F97}" srcOrd="0" destOrd="0" presId="urn:microsoft.com/office/officeart/2008/layout/LinedList"/>
    <dgm:cxn modelId="{900CCD86-5799-44D8-9911-A9CDE269ECEB}" type="presParOf" srcId="{58F14AD2-B6E9-4FE4-9389-3F5B19EC3BAD}" destId="{67F8E4D9-51D7-4A22-A81E-B54EAB8C6C53}" srcOrd="1" destOrd="0" presId="urn:microsoft.com/office/officeart/2008/layout/LinedList"/>
    <dgm:cxn modelId="{0DF9F879-48C7-4D0D-B636-1601992FB03D}" type="presParOf" srcId="{67F8E4D9-51D7-4A22-A81E-B54EAB8C6C53}" destId="{39F1784E-B76E-4DF4-B874-E07534EF312F}" srcOrd="0" destOrd="0" presId="urn:microsoft.com/office/officeart/2008/layout/LinedList"/>
    <dgm:cxn modelId="{0055A52B-0152-4089-A0BB-EFD89DBF220C}" type="presParOf" srcId="{67F8E4D9-51D7-4A22-A81E-B54EAB8C6C53}" destId="{BE59F859-2895-4417-B53A-C6269B63FBD1}" srcOrd="1" destOrd="0" presId="urn:microsoft.com/office/officeart/2008/layout/LinedList"/>
    <dgm:cxn modelId="{37E77B36-6524-42DB-A21C-A1F82DF80534}" type="presParOf" srcId="{67F8E4D9-51D7-4A22-A81E-B54EAB8C6C53}" destId="{E80CF621-91B3-4C7D-B6CE-8AB0BB73E3B6}" srcOrd="2" destOrd="0" presId="urn:microsoft.com/office/officeart/2008/layout/LinedList"/>
    <dgm:cxn modelId="{2B98B6DE-4CAB-44EC-9C2E-2F6211B44AAC}" type="presParOf" srcId="{58F14AD2-B6E9-4FE4-9389-3F5B19EC3BAD}" destId="{B17CFE86-7E6E-4C6F-B536-2A2FBBD3EA71}" srcOrd="2" destOrd="0" presId="urn:microsoft.com/office/officeart/2008/layout/LinedList"/>
    <dgm:cxn modelId="{C1DD5782-D775-476E-AAD3-2698BA867634}" type="presParOf" srcId="{58F14AD2-B6E9-4FE4-9389-3F5B19EC3BAD}" destId="{43644AAF-FF04-4013-A8D7-300F63BD751F}" srcOrd="3" destOrd="0" presId="urn:microsoft.com/office/officeart/2008/layout/LinedList"/>
    <dgm:cxn modelId="{C8249E9B-1038-43EC-9801-63522C7E091A}" type="presParOf" srcId="{58F14AD2-B6E9-4FE4-9389-3F5B19EC3BAD}" destId="{116B52AD-5BBD-4A9D-86EA-53A28C515B32}" srcOrd="4" destOrd="0" presId="urn:microsoft.com/office/officeart/2008/layout/LinedList"/>
    <dgm:cxn modelId="{6225624D-9D99-414C-805E-77DC55BAA32B}" type="presParOf" srcId="{116B52AD-5BBD-4A9D-86EA-53A28C515B32}" destId="{3DC6486A-F9A1-4C52-8F53-ADEF68AA1BB4}" srcOrd="0" destOrd="0" presId="urn:microsoft.com/office/officeart/2008/layout/LinedList"/>
    <dgm:cxn modelId="{105AC999-FC94-465D-88F6-D3C2313B218A}" type="presParOf" srcId="{116B52AD-5BBD-4A9D-86EA-53A28C515B32}" destId="{4E44FAB2-EA50-411E-B08D-E3602A626FE8}" srcOrd="1" destOrd="0" presId="urn:microsoft.com/office/officeart/2008/layout/LinedList"/>
    <dgm:cxn modelId="{5EFFA654-D68E-4E60-A06C-99AE486FB609}" type="presParOf" srcId="{116B52AD-5BBD-4A9D-86EA-53A28C515B32}" destId="{D9360296-BB3B-4F5D-8737-B5787B1615B9}" srcOrd="2" destOrd="0" presId="urn:microsoft.com/office/officeart/2008/layout/LinedList"/>
    <dgm:cxn modelId="{D4CD3F9C-D5D9-489D-ADB7-520A3501984C}" type="presParOf" srcId="{58F14AD2-B6E9-4FE4-9389-3F5B19EC3BAD}" destId="{D13CD72A-CBAB-45EA-BCDB-BC72E87C3C7D}" srcOrd="5" destOrd="0" presId="urn:microsoft.com/office/officeart/2008/layout/LinedList"/>
    <dgm:cxn modelId="{9118F9A7-7563-4A6E-A83E-C7F69A7804D5}" type="presParOf" srcId="{58F14AD2-B6E9-4FE4-9389-3F5B19EC3BAD}" destId="{8C669917-9720-430B-A204-3B9966613B19}" srcOrd="6" destOrd="0" presId="urn:microsoft.com/office/officeart/2008/layout/LinedList"/>
    <dgm:cxn modelId="{61F0104F-F457-41C2-80FF-618175CC6156}" type="presParOf" srcId="{58F14AD2-B6E9-4FE4-9389-3F5B19EC3BAD}" destId="{A3F52A85-C9D8-43E3-9984-F90CC41185FA}" srcOrd="7" destOrd="0" presId="urn:microsoft.com/office/officeart/2008/layout/LinedList"/>
    <dgm:cxn modelId="{E6D75166-FAB6-4954-8188-B5E8ADD9B82F}" type="presParOf" srcId="{A3F52A85-C9D8-43E3-9984-F90CC41185FA}" destId="{4181A065-F656-4060-B843-F037891121AA}" srcOrd="0" destOrd="0" presId="urn:microsoft.com/office/officeart/2008/layout/LinedList"/>
    <dgm:cxn modelId="{AFCB51D4-784C-4F1B-A014-C0B63CB3F10A}" type="presParOf" srcId="{A3F52A85-C9D8-43E3-9984-F90CC41185FA}" destId="{D2D87007-5E18-4FBC-AEDD-D5513CA363C2}" srcOrd="1" destOrd="0" presId="urn:microsoft.com/office/officeart/2008/layout/LinedList"/>
    <dgm:cxn modelId="{263A0C7F-C266-4ED8-A48C-EE16AFF7A8DD}" type="presParOf" srcId="{A3F52A85-C9D8-43E3-9984-F90CC41185FA}" destId="{68E7836F-56C6-4414-9086-21FBF680800E}" srcOrd="2" destOrd="0" presId="urn:microsoft.com/office/officeart/2008/layout/LinedList"/>
    <dgm:cxn modelId="{ED6CC73D-DB72-4A41-8F52-47CBCFEC6200}" type="presParOf" srcId="{58F14AD2-B6E9-4FE4-9389-3F5B19EC3BAD}" destId="{2D7AEEA2-9B39-42FE-8991-D0A9A24447CC}" srcOrd="8" destOrd="0" presId="urn:microsoft.com/office/officeart/2008/layout/LinedList"/>
    <dgm:cxn modelId="{6C6E885D-69E1-4854-BBD7-10BC90402507}" type="presParOf" srcId="{58F14AD2-B6E9-4FE4-9389-3F5B19EC3BAD}" destId="{222E29C7-41A7-4740-9255-1F1D860680F1}" srcOrd="9" destOrd="0" presId="urn:microsoft.com/office/officeart/2008/layout/LinedList"/>
    <dgm:cxn modelId="{FDE2A661-0E9F-45E2-A24D-8166904F7EB9}" type="presParOf" srcId="{58F14AD2-B6E9-4FE4-9389-3F5B19EC3BAD}" destId="{27DC77E3-4E22-4E0E-AC51-05161067ECDC}" srcOrd="10" destOrd="0" presId="urn:microsoft.com/office/officeart/2008/layout/LinedList"/>
    <dgm:cxn modelId="{CCF0B0FE-8FD7-4263-8D3D-F75A3F70EAFB}" type="presParOf" srcId="{27DC77E3-4E22-4E0E-AC51-05161067ECDC}" destId="{84CA44B8-DCF8-407C-ABD1-9BBB6D46FCEF}" srcOrd="0" destOrd="0" presId="urn:microsoft.com/office/officeart/2008/layout/LinedList"/>
    <dgm:cxn modelId="{76FF4944-7CAB-44BF-909B-88DF1665EAE1}" type="presParOf" srcId="{27DC77E3-4E22-4E0E-AC51-05161067ECDC}" destId="{AFAEA4E7-B35D-4CD8-AE4E-4C1EEA9CACB8}" srcOrd="1" destOrd="0" presId="urn:microsoft.com/office/officeart/2008/layout/LinedList"/>
    <dgm:cxn modelId="{7DB7984D-4210-4DEF-9B92-932380E3F83F}" type="presParOf" srcId="{27DC77E3-4E22-4E0E-AC51-05161067ECDC}" destId="{FE77E6FB-2C75-4D33-86E4-FC5D25D338C3}" srcOrd="2" destOrd="0" presId="urn:microsoft.com/office/officeart/2008/layout/LinedList"/>
    <dgm:cxn modelId="{31B2C0FB-0F74-4197-AA1C-F1C3C2D166C0}" type="presParOf" srcId="{58F14AD2-B6E9-4FE4-9389-3F5B19EC3BAD}" destId="{ADB43532-AB5B-4043-98FF-118608C55113}" srcOrd="11" destOrd="0" presId="urn:microsoft.com/office/officeart/2008/layout/LinedList"/>
    <dgm:cxn modelId="{22372944-46AE-4A46-8781-3EF7F42950F8}" type="presParOf" srcId="{58F14AD2-B6E9-4FE4-9389-3F5B19EC3BAD}" destId="{597D77B7-B911-45F7-8997-6922213B452F}" srcOrd="12" destOrd="0" presId="urn:microsoft.com/office/officeart/2008/layout/LinedList"/>
    <dgm:cxn modelId="{D296962D-76DC-4DBD-B31D-BC7DC6CDB02D}" type="presParOf" srcId="{58F14AD2-B6E9-4FE4-9389-3F5B19EC3BAD}" destId="{3246210A-29AD-47AA-8B8F-4FCE5E5A4BF3}" srcOrd="13" destOrd="0" presId="urn:microsoft.com/office/officeart/2008/layout/LinedList"/>
    <dgm:cxn modelId="{421C8BC6-7BC1-44C3-BEAF-0E5B568C43A6}" type="presParOf" srcId="{3246210A-29AD-47AA-8B8F-4FCE5E5A4BF3}" destId="{A06B16EA-A4BF-4518-8F06-9439F0C166B8}" srcOrd="0" destOrd="0" presId="urn:microsoft.com/office/officeart/2008/layout/LinedList"/>
    <dgm:cxn modelId="{A6ADDEEE-84BA-445C-8F0E-A4E2B52B5C73}" type="presParOf" srcId="{3246210A-29AD-47AA-8B8F-4FCE5E5A4BF3}" destId="{D0D53C31-5146-47CA-AC73-8B1262B914BB}" srcOrd="1" destOrd="0" presId="urn:microsoft.com/office/officeart/2008/layout/LinedList"/>
    <dgm:cxn modelId="{993A6F76-47F9-4A85-A8A1-8EC0ED3296AD}" type="presParOf" srcId="{3246210A-29AD-47AA-8B8F-4FCE5E5A4BF3}" destId="{5EBE410D-BCA4-4880-A556-899791328DE7}" srcOrd="2" destOrd="0" presId="urn:microsoft.com/office/officeart/2008/layout/LinedList"/>
    <dgm:cxn modelId="{A591A8A3-8702-40F6-A46D-778FE578DB1E}" type="presParOf" srcId="{58F14AD2-B6E9-4FE4-9389-3F5B19EC3BAD}" destId="{4207E4EE-F3B9-4D6A-884D-34071E60AA25}" srcOrd="14" destOrd="0" presId="urn:microsoft.com/office/officeart/2008/layout/LinedList"/>
    <dgm:cxn modelId="{86426F49-8D8B-42FF-B388-9F50D42CE782}" type="presParOf" srcId="{58F14AD2-B6E9-4FE4-9389-3F5B19EC3BAD}" destId="{F87E02F3-782F-41DA-849B-910D8D5BF137}" srcOrd="15" destOrd="0" presId="urn:microsoft.com/office/officeart/2008/layout/LinedList"/>
    <dgm:cxn modelId="{F4B1A0B4-5B8E-4353-B953-FBD3492351B0}" type="presParOf" srcId="{1D04A3A2-D316-41BB-AB08-3DF97B0BE1AD}" destId="{BB5C2B62-9A9A-4CD8-BC30-5010048050C9}" srcOrd="4" destOrd="0" presId="urn:microsoft.com/office/officeart/2008/layout/LinedList"/>
    <dgm:cxn modelId="{9F25CEF4-9A65-4425-B4DB-3161C6959F1C}" type="presParOf" srcId="{1D04A3A2-D316-41BB-AB08-3DF97B0BE1AD}" destId="{BDC3FF30-9BCD-401F-9322-5DB3E66E1EE6}" srcOrd="5" destOrd="0" presId="urn:microsoft.com/office/officeart/2008/layout/LinedList"/>
    <dgm:cxn modelId="{2F6D09F5-8B46-4382-B728-2D650FFBB289}" type="presParOf" srcId="{BDC3FF30-9BCD-401F-9322-5DB3E66E1EE6}" destId="{BD17C5BE-16C7-439E-9550-8C1FCA649170}" srcOrd="0" destOrd="0" presId="urn:microsoft.com/office/officeart/2008/layout/LinedList"/>
    <dgm:cxn modelId="{2B6AB711-A0E9-4E9D-BA36-E547CD8C4028}" type="presParOf" srcId="{BDC3FF30-9BCD-401F-9322-5DB3E66E1EE6}" destId="{52486AEE-0A06-47C6-A61C-2B83C29E73F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E76BDA-B9C6-4006-BD00-A59208575404}"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200FAF98-2599-44C3-886B-193D262D326E}">
      <dgm:prSet/>
      <dgm:spPr/>
      <dgm:t>
        <a:bodyPr/>
        <a:lstStyle/>
        <a:p>
          <a:r>
            <a:rPr lang="en-US"/>
            <a:t>The precision (standard error of the estimated treatment effect size) depends on:</a:t>
          </a:r>
        </a:p>
      </dgm:t>
    </dgm:pt>
    <dgm:pt modelId="{CB80ED69-1B01-4E66-92CA-CE6A1B47FDC3}" type="parTrans" cxnId="{226B8932-ECAA-4CD5-AD71-CEC362A5C60A}">
      <dgm:prSet/>
      <dgm:spPr/>
      <dgm:t>
        <a:bodyPr/>
        <a:lstStyle/>
        <a:p>
          <a:endParaRPr lang="en-US"/>
        </a:p>
      </dgm:t>
    </dgm:pt>
    <dgm:pt modelId="{5EDFF9B0-E6FE-4E09-A2CA-6EF97B55A7DD}" type="sibTrans" cxnId="{226B8932-ECAA-4CD5-AD71-CEC362A5C60A}">
      <dgm:prSet/>
      <dgm:spPr/>
      <dgm:t>
        <a:bodyPr/>
        <a:lstStyle/>
        <a:p>
          <a:endParaRPr lang="en-US"/>
        </a:p>
      </dgm:t>
    </dgm:pt>
    <dgm:pt modelId="{7F6BA728-0299-41A4-80E5-74B3066566DE}">
      <dgm:prSet/>
      <dgm:spPr/>
      <dgm:t>
        <a:bodyPr/>
        <a:lstStyle/>
        <a:p>
          <a:r>
            <a:rPr lang="en-US"/>
            <a:t>The type of design</a:t>
          </a:r>
        </a:p>
      </dgm:t>
    </dgm:pt>
    <dgm:pt modelId="{B2934A12-952D-4E35-B441-65F5A9F80A21}" type="parTrans" cxnId="{D613D1E6-A744-48B9-944F-7067E9B60347}">
      <dgm:prSet/>
      <dgm:spPr/>
      <dgm:t>
        <a:bodyPr/>
        <a:lstStyle/>
        <a:p>
          <a:endParaRPr lang="en-US"/>
        </a:p>
      </dgm:t>
    </dgm:pt>
    <dgm:pt modelId="{8F8D62C5-F25D-48FD-A217-49B75892F000}" type="sibTrans" cxnId="{D613D1E6-A744-48B9-944F-7067E9B60347}">
      <dgm:prSet/>
      <dgm:spPr/>
      <dgm:t>
        <a:bodyPr/>
        <a:lstStyle/>
        <a:p>
          <a:endParaRPr lang="en-US"/>
        </a:p>
      </dgm:t>
    </dgm:pt>
    <dgm:pt modelId="{2FFC35FB-EC77-4467-AE89-9034B580B722}">
      <dgm:prSet/>
      <dgm:spPr/>
      <dgm:t>
        <a:bodyPr/>
        <a:lstStyle/>
        <a:p>
          <a:r>
            <a:rPr lang="en-US"/>
            <a:t>The sample size</a:t>
          </a:r>
          <a:r>
            <a:rPr lang="en-US" b="1"/>
            <a:t>s</a:t>
          </a:r>
          <a:endParaRPr lang="en-US"/>
        </a:p>
      </dgm:t>
    </dgm:pt>
    <dgm:pt modelId="{AA473B9A-5FF7-4C38-9245-AD89FF245B3D}" type="parTrans" cxnId="{D6555D18-292D-4491-BDAA-74C9101CE12E}">
      <dgm:prSet/>
      <dgm:spPr/>
      <dgm:t>
        <a:bodyPr/>
        <a:lstStyle/>
        <a:p>
          <a:endParaRPr lang="en-US"/>
        </a:p>
      </dgm:t>
    </dgm:pt>
    <dgm:pt modelId="{6AE33C65-78FD-4CB4-984A-F17E9425B85C}" type="sibTrans" cxnId="{D6555D18-292D-4491-BDAA-74C9101CE12E}">
      <dgm:prSet/>
      <dgm:spPr/>
      <dgm:t>
        <a:bodyPr/>
        <a:lstStyle/>
        <a:p>
          <a:endParaRPr lang="en-US"/>
        </a:p>
      </dgm:t>
    </dgm:pt>
    <dgm:pt modelId="{86B27A6B-C775-41DB-B84D-FF2D7933590C}">
      <dgm:prSet/>
      <dgm:spPr/>
      <dgm:t>
        <a:bodyPr/>
        <a:lstStyle/>
        <a:p>
          <a:r>
            <a:rPr lang="en-US"/>
            <a:t>In some designs, other design parameters</a:t>
          </a:r>
        </a:p>
      </dgm:t>
    </dgm:pt>
    <dgm:pt modelId="{801B39E8-71A6-4EDB-B824-0ECDA828331D}" type="parTrans" cxnId="{6BE3CF2B-DEC6-49B4-898E-833F3DE94766}">
      <dgm:prSet/>
      <dgm:spPr/>
      <dgm:t>
        <a:bodyPr/>
        <a:lstStyle/>
        <a:p>
          <a:endParaRPr lang="en-US"/>
        </a:p>
      </dgm:t>
    </dgm:pt>
    <dgm:pt modelId="{69A9CFDA-55C2-4750-A396-38C125872C31}" type="sibTrans" cxnId="{6BE3CF2B-DEC6-49B4-898E-833F3DE94766}">
      <dgm:prSet/>
      <dgm:spPr/>
      <dgm:t>
        <a:bodyPr/>
        <a:lstStyle/>
        <a:p>
          <a:endParaRPr lang="en-US"/>
        </a:p>
      </dgm:t>
    </dgm:pt>
    <dgm:pt modelId="{09BE1EE3-48C9-4AC1-A206-20ADCBC5E6EE}">
      <dgm:prSet/>
      <dgm:spPr/>
      <dgm:t>
        <a:bodyPr/>
        <a:lstStyle/>
        <a:p>
          <a:endParaRPr lang="en-US" dirty="0"/>
        </a:p>
        <a:p>
          <a:r>
            <a:rPr lang="en-US" dirty="0"/>
            <a:t>Note that precision does not depend on the treatment effect size</a:t>
          </a:r>
        </a:p>
      </dgm:t>
    </dgm:pt>
    <dgm:pt modelId="{49DFEDFC-AB3A-44C8-A873-AA7B9BFCC25D}" type="parTrans" cxnId="{16E40F72-BEF9-427D-AE8F-2C8BECE6FD18}">
      <dgm:prSet/>
      <dgm:spPr/>
      <dgm:t>
        <a:bodyPr/>
        <a:lstStyle/>
        <a:p>
          <a:endParaRPr lang="en-US"/>
        </a:p>
      </dgm:t>
    </dgm:pt>
    <dgm:pt modelId="{4EB57B9B-2EA7-43DC-BE8A-D7BC84FEB01A}" type="sibTrans" cxnId="{16E40F72-BEF9-427D-AE8F-2C8BECE6FD18}">
      <dgm:prSet/>
      <dgm:spPr/>
      <dgm:t>
        <a:bodyPr/>
        <a:lstStyle/>
        <a:p>
          <a:endParaRPr lang="en-US"/>
        </a:p>
      </dgm:t>
    </dgm:pt>
    <dgm:pt modelId="{250390F4-9707-4EA4-8C42-DCE01B6B73A1}" type="pres">
      <dgm:prSet presAssocID="{5CE76BDA-B9C6-4006-BD00-A59208575404}" presName="vert0" presStyleCnt="0">
        <dgm:presLayoutVars>
          <dgm:dir/>
          <dgm:animOne val="branch"/>
          <dgm:animLvl val="lvl"/>
        </dgm:presLayoutVars>
      </dgm:prSet>
      <dgm:spPr/>
    </dgm:pt>
    <dgm:pt modelId="{B2800114-AE91-4750-92DD-9632ACA952AF}" type="pres">
      <dgm:prSet presAssocID="{200FAF98-2599-44C3-886B-193D262D326E}" presName="thickLine" presStyleLbl="alignNode1" presStyleIdx="0" presStyleCnt="2"/>
      <dgm:spPr/>
    </dgm:pt>
    <dgm:pt modelId="{844B6FC3-BC55-4AC1-9475-2060F686A9FD}" type="pres">
      <dgm:prSet presAssocID="{200FAF98-2599-44C3-886B-193D262D326E}" presName="horz1" presStyleCnt="0"/>
      <dgm:spPr/>
    </dgm:pt>
    <dgm:pt modelId="{4366BB1A-96BB-478B-B8F7-5A8A7194F5DA}" type="pres">
      <dgm:prSet presAssocID="{200FAF98-2599-44C3-886B-193D262D326E}" presName="tx1" presStyleLbl="revTx" presStyleIdx="0" presStyleCnt="5"/>
      <dgm:spPr/>
    </dgm:pt>
    <dgm:pt modelId="{D2FA7AE8-C7FE-4407-BCAA-C6DD56EC0824}" type="pres">
      <dgm:prSet presAssocID="{200FAF98-2599-44C3-886B-193D262D326E}" presName="vert1" presStyleCnt="0"/>
      <dgm:spPr/>
    </dgm:pt>
    <dgm:pt modelId="{F181413F-9630-4068-AC7C-1DBACF65BF69}" type="pres">
      <dgm:prSet presAssocID="{7F6BA728-0299-41A4-80E5-74B3066566DE}" presName="vertSpace2a" presStyleCnt="0"/>
      <dgm:spPr/>
    </dgm:pt>
    <dgm:pt modelId="{4509594F-4B99-45F6-952E-3C76259A1E94}" type="pres">
      <dgm:prSet presAssocID="{7F6BA728-0299-41A4-80E5-74B3066566DE}" presName="horz2" presStyleCnt="0"/>
      <dgm:spPr/>
    </dgm:pt>
    <dgm:pt modelId="{9A70E5F9-CC82-49B4-962D-E65F29C339D8}" type="pres">
      <dgm:prSet presAssocID="{7F6BA728-0299-41A4-80E5-74B3066566DE}" presName="horzSpace2" presStyleCnt="0"/>
      <dgm:spPr/>
    </dgm:pt>
    <dgm:pt modelId="{88A3386B-519E-448B-843A-65CF6172ACF8}" type="pres">
      <dgm:prSet presAssocID="{7F6BA728-0299-41A4-80E5-74B3066566DE}" presName="tx2" presStyleLbl="revTx" presStyleIdx="1" presStyleCnt="5"/>
      <dgm:spPr/>
    </dgm:pt>
    <dgm:pt modelId="{B023C21B-8758-48A0-8840-1ABBB8BB2748}" type="pres">
      <dgm:prSet presAssocID="{7F6BA728-0299-41A4-80E5-74B3066566DE}" presName="vert2" presStyleCnt="0"/>
      <dgm:spPr/>
    </dgm:pt>
    <dgm:pt modelId="{1A363BB6-6E26-473D-999F-1B1CC4A655BA}" type="pres">
      <dgm:prSet presAssocID="{7F6BA728-0299-41A4-80E5-74B3066566DE}" presName="thinLine2b" presStyleLbl="callout" presStyleIdx="0" presStyleCnt="3"/>
      <dgm:spPr/>
    </dgm:pt>
    <dgm:pt modelId="{5F96E764-3C98-4BB8-AD4D-FEE2A3EADC26}" type="pres">
      <dgm:prSet presAssocID="{7F6BA728-0299-41A4-80E5-74B3066566DE}" presName="vertSpace2b" presStyleCnt="0"/>
      <dgm:spPr/>
    </dgm:pt>
    <dgm:pt modelId="{6A077905-0EE7-4289-A2BF-917B4022FDD7}" type="pres">
      <dgm:prSet presAssocID="{2FFC35FB-EC77-4467-AE89-9034B580B722}" presName="horz2" presStyleCnt="0"/>
      <dgm:spPr/>
    </dgm:pt>
    <dgm:pt modelId="{30180920-61B9-4D9B-B952-FF49A0A11BCF}" type="pres">
      <dgm:prSet presAssocID="{2FFC35FB-EC77-4467-AE89-9034B580B722}" presName="horzSpace2" presStyleCnt="0"/>
      <dgm:spPr/>
    </dgm:pt>
    <dgm:pt modelId="{9A3FAEF6-F6B3-4ED6-8B2A-AE32D08F9211}" type="pres">
      <dgm:prSet presAssocID="{2FFC35FB-EC77-4467-AE89-9034B580B722}" presName="tx2" presStyleLbl="revTx" presStyleIdx="2" presStyleCnt="5"/>
      <dgm:spPr/>
    </dgm:pt>
    <dgm:pt modelId="{2C78A790-F9B6-4535-B59B-3A9FD92EECC1}" type="pres">
      <dgm:prSet presAssocID="{2FFC35FB-EC77-4467-AE89-9034B580B722}" presName="vert2" presStyleCnt="0"/>
      <dgm:spPr/>
    </dgm:pt>
    <dgm:pt modelId="{0E5A83F9-F571-4FD0-86D2-7D0D27BCA143}" type="pres">
      <dgm:prSet presAssocID="{2FFC35FB-EC77-4467-AE89-9034B580B722}" presName="thinLine2b" presStyleLbl="callout" presStyleIdx="1" presStyleCnt="3"/>
      <dgm:spPr/>
    </dgm:pt>
    <dgm:pt modelId="{EBA552B7-2796-4C24-A5C4-58E960BF0838}" type="pres">
      <dgm:prSet presAssocID="{2FFC35FB-EC77-4467-AE89-9034B580B722}" presName="vertSpace2b" presStyleCnt="0"/>
      <dgm:spPr/>
    </dgm:pt>
    <dgm:pt modelId="{60018B0E-BD09-4849-A004-8D68A1A55733}" type="pres">
      <dgm:prSet presAssocID="{86B27A6B-C775-41DB-B84D-FF2D7933590C}" presName="horz2" presStyleCnt="0"/>
      <dgm:spPr/>
    </dgm:pt>
    <dgm:pt modelId="{7325E904-B2C1-469E-B517-43C2602F063C}" type="pres">
      <dgm:prSet presAssocID="{86B27A6B-C775-41DB-B84D-FF2D7933590C}" presName="horzSpace2" presStyleCnt="0"/>
      <dgm:spPr/>
    </dgm:pt>
    <dgm:pt modelId="{96374C0A-9CC4-48CF-BA31-0A81706ED465}" type="pres">
      <dgm:prSet presAssocID="{86B27A6B-C775-41DB-B84D-FF2D7933590C}" presName="tx2" presStyleLbl="revTx" presStyleIdx="3" presStyleCnt="5"/>
      <dgm:spPr/>
    </dgm:pt>
    <dgm:pt modelId="{18DC59ED-D2DB-45F0-A479-08492CDF0426}" type="pres">
      <dgm:prSet presAssocID="{86B27A6B-C775-41DB-B84D-FF2D7933590C}" presName="vert2" presStyleCnt="0"/>
      <dgm:spPr/>
    </dgm:pt>
    <dgm:pt modelId="{7ABE89BB-4BC4-463F-AB6B-5F0B68EE2E68}" type="pres">
      <dgm:prSet presAssocID="{86B27A6B-C775-41DB-B84D-FF2D7933590C}" presName="thinLine2b" presStyleLbl="callout" presStyleIdx="2" presStyleCnt="3"/>
      <dgm:spPr/>
    </dgm:pt>
    <dgm:pt modelId="{471FF205-87D7-4363-8214-1B1B5C982695}" type="pres">
      <dgm:prSet presAssocID="{86B27A6B-C775-41DB-B84D-FF2D7933590C}" presName="vertSpace2b" presStyleCnt="0"/>
      <dgm:spPr/>
    </dgm:pt>
    <dgm:pt modelId="{A5030CB9-D184-4604-8B7F-96EA56AE6FC0}" type="pres">
      <dgm:prSet presAssocID="{09BE1EE3-48C9-4AC1-A206-20ADCBC5E6EE}" presName="thickLine" presStyleLbl="alignNode1" presStyleIdx="1" presStyleCnt="2"/>
      <dgm:spPr/>
    </dgm:pt>
    <dgm:pt modelId="{3F92ABE5-62FA-4794-92E3-75732999D808}" type="pres">
      <dgm:prSet presAssocID="{09BE1EE3-48C9-4AC1-A206-20ADCBC5E6EE}" presName="horz1" presStyleCnt="0"/>
      <dgm:spPr/>
    </dgm:pt>
    <dgm:pt modelId="{B88940D6-0829-4142-BC8E-F7DBAE5C41F8}" type="pres">
      <dgm:prSet presAssocID="{09BE1EE3-48C9-4AC1-A206-20ADCBC5E6EE}" presName="tx1" presStyleLbl="revTx" presStyleIdx="4" presStyleCnt="5" custScaleX="500000"/>
      <dgm:spPr/>
    </dgm:pt>
    <dgm:pt modelId="{87698B31-21DD-4A9F-8C23-D369F97AF8CE}" type="pres">
      <dgm:prSet presAssocID="{09BE1EE3-48C9-4AC1-A206-20ADCBC5E6EE}" presName="vert1" presStyleCnt="0"/>
      <dgm:spPr/>
    </dgm:pt>
  </dgm:ptLst>
  <dgm:cxnLst>
    <dgm:cxn modelId="{83FD3015-CB3C-404C-99DB-BF7ABF9C211D}" type="presOf" srcId="{7F6BA728-0299-41A4-80E5-74B3066566DE}" destId="{88A3386B-519E-448B-843A-65CF6172ACF8}" srcOrd="0" destOrd="0" presId="urn:microsoft.com/office/officeart/2008/layout/LinedList"/>
    <dgm:cxn modelId="{D6555D18-292D-4491-BDAA-74C9101CE12E}" srcId="{200FAF98-2599-44C3-886B-193D262D326E}" destId="{2FFC35FB-EC77-4467-AE89-9034B580B722}" srcOrd="1" destOrd="0" parTransId="{AA473B9A-5FF7-4C38-9245-AD89FF245B3D}" sibTransId="{6AE33C65-78FD-4CB4-984A-F17E9425B85C}"/>
    <dgm:cxn modelId="{FEB9C422-E4D6-42D6-A338-572D1CEA5A39}" type="presOf" srcId="{2FFC35FB-EC77-4467-AE89-9034B580B722}" destId="{9A3FAEF6-F6B3-4ED6-8B2A-AE32D08F9211}" srcOrd="0" destOrd="0" presId="urn:microsoft.com/office/officeart/2008/layout/LinedList"/>
    <dgm:cxn modelId="{E684222B-ACB2-4536-B52A-602053646B5C}" type="presOf" srcId="{86B27A6B-C775-41DB-B84D-FF2D7933590C}" destId="{96374C0A-9CC4-48CF-BA31-0A81706ED465}" srcOrd="0" destOrd="0" presId="urn:microsoft.com/office/officeart/2008/layout/LinedList"/>
    <dgm:cxn modelId="{6BE3CF2B-DEC6-49B4-898E-833F3DE94766}" srcId="{200FAF98-2599-44C3-886B-193D262D326E}" destId="{86B27A6B-C775-41DB-B84D-FF2D7933590C}" srcOrd="2" destOrd="0" parTransId="{801B39E8-71A6-4EDB-B824-0ECDA828331D}" sibTransId="{69A9CFDA-55C2-4750-A396-38C125872C31}"/>
    <dgm:cxn modelId="{226B8932-ECAA-4CD5-AD71-CEC362A5C60A}" srcId="{5CE76BDA-B9C6-4006-BD00-A59208575404}" destId="{200FAF98-2599-44C3-886B-193D262D326E}" srcOrd="0" destOrd="0" parTransId="{CB80ED69-1B01-4E66-92CA-CE6A1B47FDC3}" sibTransId="{5EDFF9B0-E6FE-4E09-A2CA-6EF97B55A7DD}"/>
    <dgm:cxn modelId="{16E40F72-BEF9-427D-AE8F-2C8BECE6FD18}" srcId="{5CE76BDA-B9C6-4006-BD00-A59208575404}" destId="{09BE1EE3-48C9-4AC1-A206-20ADCBC5E6EE}" srcOrd="1" destOrd="0" parTransId="{49DFEDFC-AB3A-44C8-A873-AA7B9BFCC25D}" sibTransId="{4EB57B9B-2EA7-43DC-BE8A-D7BC84FEB01A}"/>
    <dgm:cxn modelId="{A6EA6572-2B3A-4415-9A39-C49B5709D263}" type="presOf" srcId="{200FAF98-2599-44C3-886B-193D262D326E}" destId="{4366BB1A-96BB-478B-B8F7-5A8A7194F5DA}" srcOrd="0" destOrd="0" presId="urn:microsoft.com/office/officeart/2008/layout/LinedList"/>
    <dgm:cxn modelId="{4F1773C5-46C4-47FB-BCBB-0F8B8992F9A1}" type="presOf" srcId="{09BE1EE3-48C9-4AC1-A206-20ADCBC5E6EE}" destId="{B88940D6-0829-4142-BC8E-F7DBAE5C41F8}" srcOrd="0" destOrd="0" presId="urn:microsoft.com/office/officeart/2008/layout/LinedList"/>
    <dgm:cxn modelId="{D613D1E6-A744-48B9-944F-7067E9B60347}" srcId="{200FAF98-2599-44C3-886B-193D262D326E}" destId="{7F6BA728-0299-41A4-80E5-74B3066566DE}" srcOrd="0" destOrd="0" parTransId="{B2934A12-952D-4E35-B441-65F5A9F80A21}" sibTransId="{8F8D62C5-F25D-48FD-A217-49B75892F000}"/>
    <dgm:cxn modelId="{ABA38CEF-6F54-4A1E-8757-B9F020093A46}" type="presOf" srcId="{5CE76BDA-B9C6-4006-BD00-A59208575404}" destId="{250390F4-9707-4EA4-8C42-DCE01B6B73A1}" srcOrd="0" destOrd="0" presId="urn:microsoft.com/office/officeart/2008/layout/LinedList"/>
    <dgm:cxn modelId="{B3046B3A-912F-4C87-8944-06ECBC533B96}" type="presParOf" srcId="{250390F4-9707-4EA4-8C42-DCE01B6B73A1}" destId="{B2800114-AE91-4750-92DD-9632ACA952AF}" srcOrd="0" destOrd="0" presId="urn:microsoft.com/office/officeart/2008/layout/LinedList"/>
    <dgm:cxn modelId="{D7426AC0-F42F-4EA6-BC24-409A52E4690C}" type="presParOf" srcId="{250390F4-9707-4EA4-8C42-DCE01B6B73A1}" destId="{844B6FC3-BC55-4AC1-9475-2060F686A9FD}" srcOrd="1" destOrd="0" presId="urn:microsoft.com/office/officeart/2008/layout/LinedList"/>
    <dgm:cxn modelId="{73C02A17-444D-4041-B7B6-D2EBA0810EEC}" type="presParOf" srcId="{844B6FC3-BC55-4AC1-9475-2060F686A9FD}" destId="{4366BB1A-96BB-478B-B8F7-5A8A7194F5DA}" srcOrd="0" destOrd="0" presId="urn:microsoft.com/office/officeart/2008/layout/LinedList"/>
    <dgm:cxn modelId="{33A15B65-8455-4224-B067-7C82C77E16DA}" type="presParOf" srcId="{844B6FC3-BC55-4AC1-9475-2060F686A9FD}" destId="{D2FA7AE8-C7FE-4407-BCAA-C6DD56EC0824}" srcOrd="1" destOrd="0" presId="urn:microsoft.com/office/officeart/2008/layout/LinedList"/>
    <dgm:cxn modelId="{AD4F599B-8518-4009-BE67-894D4B5EB062}" type="presParOf" srcId="{D2FA7AE8-C7FE-4407-BCAA-C6DD56EC0824}" destId="{F181413F-9630-4068-AC7C-1DBACF65BF69}" srcOrd="0" destOrd="0" presId="urn:microsoft.com/office/officeart/2008/layout/LinedList"/>
    <dgm:cxn modelId="{234790E7-9F89-4CA4-9F58-84A3C2B85F22}" type="presParOf" srcId="{D2FA7AE8-C7FE-4407-BCAA-C6DD56EC0824}" destId="{4509594F-4B99-45F6-952E-3C76259A1E94}" srcOrd="1" destOrd="0" presId="urn:microsoft.com/office/officeart/2008/layout/LinedList"/>
    <dgm:cxn modelId="{C18E454E-2B7E-42E6-B0E1-DF25B0425DD9}" type="presParOf" srcId="{4509594F-4B99-45F6-952E-3C76259A1E94}" destId="{9A70E5F9-CC82-49B4-962D-E65F29C339D8}" srcOrd="0" destOrd="0" presId="urn:microsoft.com/office/officeart/2008/layout/LinedList"/>
    <dgm:cxn modelId="{58144DE5-9F54-45C3-94A3-021AFDAFC972}" type="presParOf" srcId="{4509594F-4B99-45F6-952E-3C76259A1E94}" destId="{88A3386B-519E-448B-843A-65CF6172ACF8}" srcOrd="1" destOrd="0" presId="urn:microsoft.com/office/officeart/2008/layout/LinedList"/>
    <dgm:cxn modelId="{76E135DD-5419-4002-A4BF-1E329A8EE9CE}" type="presParOf" srcId="{4509594F-4B99-45F6-952E-3C76259A1E94}" destId="{B023C21B-8758-48A0-8840-1ABBB8BB2748}" srcOrd="2" destOrd="0" presId="urn:microsoft.com/office/officeart/2008/layout/LinedList"/>
    <dgm:cxn modelId="{B2DE42DE-9F8D-403C-AC94-52870691E7EB}" type="presParOf" srcId="{D2FA7AE8-C7FE-4407-BCAA-C6DD56EC0824}" destId="{1A363BB6-6E26-473D-999F-1B1CC4A655BA}" srcOrd="2" destOrd="0" presId="urn:microsoft.com/office/officeart/2008/layout/LinedList"/>
    <dgm:cxn modelId="{CA7FABB2-A415-4105-88F5-64F789245BCE}" type="presParOf" srcId="{D2FA7AE8-C7FE-4407-BCAA-C6DD56EC0824}" destId="{5F96E764-3C98-4BB8-AD4D-FEE2A3EADC26}" srcOrd="3" destOrd="0" presId="urn:microsoft.com/office/officeart/2008/layout/LinedList"/>
    <dgm:cxn modelId="{90F28686-48CF-4B44-8976-37B0E1A044D4}" type="presParOf" srcId="{D2FA7AE8-C7FE-4407-BCAA-C6DD56EC0824}" destId="{6A077905-0EE7-4289-A2BF-917B4022FDD7}" srcOrd="4" destOrd="0" presId="urn:microsoft.com/office/officeart/2008/layout/LinedList"/>
    <dgm:cxn modelId="{FDDD2EDD-EC87-419B-B93B-EA720ECD2814}" type="presParOf" srcId="{6A077905-0EE7-4289-A2BF-917B4022FDD7}" destId="{30180920-61B9-4D9B-B952-FF49A0A11BCF}" srcOrd="0" destOrd="0" presId="urn:microsoft.com/office/officeart/2008/layout/LinedList"/>
    <dgm:cxn modelId="{D96C26EA-2C64-40F4-A710-B7D34CD59017}" type="presParOf" srcId="{6A077905-0EE7-4289-A2BF-917B4022FDD7}" destId="{9A3FAEF6-F6B3-4ED6-8B2A-AE32D08F9211}" srcOrd="1" destOrd="0" presId="urn:microsoft.com/office/officeart/2008/layout/LinedList"/>
    <dgm:cxn modelId="{289F8F47-D058-424C-B507-42D56A443691}" type="presParOf" srcId="{6A077905-0EE7-4289-A2BF-917B4022FDD7}" destId="{2C78A790-F9B6-4535-B59B-3A9FD92EECC1}" srcOrd="2" destOrd="0" presId="urn:microsoft.com/office/officeart/2008/layout/LinedList"/>
    <dgm:cxn modelId="{424BA662-DC50-4C1A-9923-EECA5F050123}" type="presParOf" srcId="{D2FA7AE8-C7FE-4407-BCAA-C6DD56EC0824}" destId="{0E5A83F9-F571-4FD0-86D2-7D0D27BCA143}" srcOrd="5" destOrd="0" presId="urn:microsoft.com/office/officeart/2008/layout/LinedList"/>
    <dgm:cxn modelId="{219EC578-F2FA-43E4-B8F6-198DAC6B973B}" type="presParOf" srcId="{D2FA7AE8-C7FE-4407-BCAA-C6DD56EC0824}" destId="{EBA552B7-2796-4C24-A5C4-58E960BF0838}" srcOrd="6" destOrd="0" presId="urn:microsoft.com/office/officeart/2008/layout/LinedList"/>
    <dgm:cxn modelId="{C59C6D83-D5D5-4E3E-A707-C82D350A8792}" type="presParOf" srcId="{D2FA7AE8-C7FE-4407-BCAA-C6DD56EC0824}" destId="{60018B0E-BD09-4849-A004-8D68A1A55733}" srcOrd="7" destOrd="0" presId="urn:microsoft.com/office/officeart/2008/layout/LinedList"/>
    <dgm:cxn modelId="{A7195040-AADF-4A39-BE53-FBB7EE0F40C0}" type="presParOf" srcId="{60018B0E-BD09-4849-A004-8D68A1A55733}" destId="{7325E904-B2C1-469E-B517-43C2602F063C}" srcOrd="0" destOrd="0" presId="urn:microsoft.com/office/officeart/2008/layout/LinedList"/>
    <dgm:cxn modelId="{112D8A15-3B97-4A45-8B15-C7FB21A0BBC8}" type="presParOf" srcId="{60018B0E-BD09-4849-A004-8D68A1A55733}" destId="{96374C0A-9CC4-48CF-BA31-0A81706ED465}" srcOrd="1" destOrd="0" presId="urn:microsoft.com/office/officeart/2008/layout/LinedList"/>
    <dgm:cxn modelId="{4B917806-6822-414A-9339-4C69D9DA7C7D}" type="presParOf" srcId="{60018B0E-BD09-4849-A004-8D68A1A55733}" destId="{18DC59ED-D2DB-45F0-A479-08492CDF0426}" srcOrd="2" destOrd="0" presId="urn:microsoft.com/office/officeart/2008/layout/LinedList"/>
    <dgm:cxn modelId="{A55857C8-7E3D-4882-85B2-273827A09AFC}" type="presParOf" srcId="{D2FA7AE8-C7FE-4407-BCAA-C6DD56EC0824}" destId="{7ABE89BB-4BC4-463F-AB6B-5F0B68EE2E68}" srcOrd="8" destOrd="0" presId="urn:microsoft.com/office/officeart/2008/layout/LinedList"/>
    <dgm:cxn modelId="{2FC46AF5-C7C5-4078-84EC-FB9298FB761F}" type="presParOf" srcId="{D2FA7AE8-C7FE-4407-BCAA-C6DD56EC0824}" destId="{471FF205-87D7-4363-8214-1B1B5C982695}" srcOrd="9" destOrd="0" presId="urn:microsoft.com/office/officeart/2008/layout/LinedList"/>
    <dgm:cxn modelId="{8B4EB5C8-BDAC-4F96-A46B-7A2F62A5FC09}" type="presParOf" srcId="{250390F4-9707-4EA4-8C42-DCE01B6B73A1}" destId="{A5030CB9-D184-4604-8B7F-96EA56AE6FC0}" srcOrd="2" destOrd="0" presId="urn:microsoft.com/office/officeart/2008/layout/LinedList"/>
    <dgm:cxn modelId="{09E03D3D-3135-4B4E-A23C-3646B4D8C835}" type="presParOf" srcId="{250390F4-9707-4EA4-8C42-DCE01B6B73A1}" destId="{3F92ABE5-62FA-4794-92E3-75732999D808}" srcOrd="3" destOrd="0" presId="urn:microsoft.com/office/officeart/2008/layout/LinedList"/>
    <dgm:cxn modelId="{CDA90FEC-C432-47CC-ABC5-021F47E555F3}" type="presParOf" srcId="{3F92ABE5-62FA-4794-92E3-75732999D808}" destId="{B88940D6-0829-4142-BC8E-F7DBAE5C41F8}" srcOrd="0" destOrd="0" presId="urn:microsoft.com/office/officeart/2008/layout/LinedList"/>
    <dgm:cxn modelId="{ADEBD75D-362D-42E2-9B94-56FBECE7EC5B}" type="presParOf" srcId="{3F92ABE5-62FA-4794-92E3-75732999D808}" destId="{87698B31-21DD-4A9F-8C23-D369F97AF8C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A86440-0E98-485E-BDEF-85422A8569EC}"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C3BC16A1-EF77-4AD1-AE89-4054D6157BBF}">
      <dgm:prSet/>
      <dgm:spPr/>
      <dgm:t>
        <a:bodyPr/>
        <a:lstStyle/>
        <a:p>
          <a:r>
            <a:rPr lang="en-US"/>
            <a:t>Minimum detectable effect size depends on:</a:t>
          </a:r>
        </a:p>
      </dgm:t>
    </dgm:pt>
    <dgm:pt modelId="{AB36EA15-7247-4407-9171-F4A8547AFF76}" type="parTrans" cxnId="{D760E530-DBC7-4562-A412-03F9AAAF6D55}">
      <dgm:prSet/>
      <dgm:spPr/>
      <dgm:t>
        <a:bodyPr/>
        <a:lstStyle/>
        <a:p>
          <a:endParaRPr lang="en-US"/>
        </a:p>
      </dgm:t>
    </dgm:pt>
    <dgm:pt modelId="{2B3FEFC8-81C5-41D1-A57B-71FDD932BFF3}" type="sibTrans" cxnId="{D760E530-DBC7-4562-A412-03F9AAAF6D55}">
      <dgm:prSet/>
      <dgm:spPr/>
      <dgm:t>
        <a:bodyPr/>
        <a:lstStyle/>
        <a:p>
          <a:endParaRPr lang="en-US"/>
        </a:p>
      </dgm:t>
    </dgm:pt>
    <dgm:pt modelId="{149BEF74-5066-4359-B438-DD698AC37CA4}">
      <dgm:prSet/>
      <dgm:spPr/>
      <dgm:t>
        <a:bodyPr/>
        <a:lstStyle/>
        <a:p>
          <a:r>
            <a:rPr lang="en-US"/>
            <a:t>The significance level (0.05 is a very strong convention)</a:t>
          </a:r>
        </a:p>
      </dgm:t>
    </dgm:pt>
    <dgm:pt modelId="{D053E74B-5668-476A-BD54-CFB0FE65530B}" type="parTrans" cxnId="{B8748671-54EE-4B36-B539-334F68DA09DE}">
      <dgm:prSet/>
      <dgm:spPr/>
      <dgm:t>
        <a:bodyPr/>
        <a:lstStyle/>
        <a:p>
          <a:endParaRPr lang="en-US"/>
        </a:p>
      </dgm:t>
    </dgm:pt>
    <dgm:pt modelId="{FAFA9B6D-C261-4422-B5C4-D0ED9FD1983F}" type="sibTrans" cxnId="{B8748671-54EE-4B36-B539-334F68DA09DE}">
      <dgm:prSet/>
      <dgm:spPr/>
      <dgm:t>
        <a:bodyPr/>
        <a:lstStyle/>
        <a:p>
          <a:endParaRPr lang="en-US"/>
        </a:p>
      </dgm:t>
    </dgm:pt>
    <dgm:pt modelId="{86656ADE-838F-40D8-BF20-0430565C9D64}">
      <dgm:prSet/>
      <dgm:spPr/>
      <dgm:t>
        <a:bodyPr/>
        <a:lstStyle/>
        <a:p>
          <a:r>
            <a:rPr lang="en-US"/>
            <a:t>The power level desired (0.8 is a strong convention)</a:t>
          </a:r>
        </a:p>
      </dgm:t>
    </dgm:pt>
    <dgm:pt modelId="{8A29C7D4-DC58-46B7-B9A7-CA5056E36B76}" type="parTrans" cxnId="{34E0D272-00D1-490A-BB06-E998E0F6C484}">
      <dgm:prSet/>
      <dgm:spPr/>
      <dgm:t>
        <a:bodyPr/>
        <a:lstStyle/>
        <a:p>
          <a:endParaRPr lang="en-US"/>
        </a:p>
      </dgm:t>
    </dgm:pt>
    <dgm:pt modelId="{E1CE309B-5ABD-42B3-9F62-95BF1F645D8F}" type="sibTrans" cxnId="{34E0D272-00D1-490A-BB06-E998E0F6C484}">
      <dgm:prSet/>
      <dgm:spPr/>
      <dgm:t>
        <a:bodyPr/>
        <a:lstStyle/>
        <a:p>
          <a:endParaRPr lang="en-US"/>
        </a:p>
      </dgm:t>
    </dgm:pt>
    <dgm:pt modelId="{019499BF-9628-48E0-B230-AD7A0C734108}">
      <dgm:prSet/>
      <dgm:spPr/>
      <dgm:t>
        <a:bodyPr/>
        <a:lstStyle/>
        <a:p>
          <a:r>
            <a:rPr lang="en-US"/>
            <a:t>The type of design</a:t>
          </a:r>
        </a:p>
      </dgm:t>
    </dgm:pt>
    <dgm:pt modelId="{6E7293C8-706B-42CF-BF2E-E67D9E0875E3}" type="parTrans" cxnId="{1CFA8DE5-E026-44E2-94CF-9DCCEDB42DA1}">
      <dgm:prSet/>
      <dgm:spPr/>
      <dgm:t>
        <a:bodyPr/>
        <a:lstStyle/>
        <a:p>
          <a:endParaRPr lang="en-US"/>
        </a:p>
      </dgm:t>
    </dgm:pt>
    <dgm:pt modelId="{4A7B574D-384F-4A68-9E0F-B8F3EC1A09AE}" type="sibTrans" cxnId="{1CFA8DE5-E026-44E2-94CF-9DCCEDB42DA1}">
      <dgm:prSet/>
      <dgm:spPr/>
      <dgm:t>
        <a:bodyPr/>
        <a:lstStyle/>
        <a:p>
          <a:endParaRPr lang="en-US"/>
        </a:p>
      </dgm:t>
    </dgm:pt>
    <dgm:pt modelId="{B900FFA9-70CE-4CBE-8BB4-3A9E93868F8E}">
      <dgm:prSet/>
      <dgm:spPr/>
      <dgm:t>
        <a:bodyPr/>
        <a:lstStyle/>
        <a:p>
          <a:r>
            <a:rPr lang="en-US"/>
            <a:t>The sample size</a:t>
          </a:r>
          <a:r>
            <a:rPr lang="en-US" b="1"/>
            <a:t>s</a:t>
          </a:r>
          <a:endParaRPr lang="en-US"/>
        </a:p>
      </dgm:t>
    </dgm:pt>
    <dgm:pt modelId="{CACC999D-2F9B-49E9-94D5-1B121D2EA882}" type="parTrans" cxnId="{0F7F9E3F-4A28-468E-B2AB-7935E6B5D7E4}">
      <dgm:prSet/>
      <dgm:spPr/>
      <dgm:t>
        <a:bodyPr/>
        <a:lstStyle/>
        <a:p>
          <a:endParaRPr lang="en-US"/>
        </a:p>
      </dgm:t>
    </dgm:pt>
    <dgm:pt modelId="{074ADD37-8570-4338-B82A-3E5ADD65B282}" type="sibTrans" cxnId="{0F7F9E3F-4A28-468E-B2AB-7935E6B5D7E4}">
      <dgm:prSet/>
      <dgm:spPr/>
      <dgm:t>
        <a:bodyPr/>
        <a:lstStyle/>
        <a:p>
          <a:endParaRPr lang="en-US"/>
        </a:p>
      </dgm:t>
    </dgm:pt>
    <dgm:pt modelId="{7C05421C-CE04-43F6-957E-A07E27ABBEBF}">
      <dgm:prSet/>
      <dgm:spPr/>
      <dgm:t>
        <a:bodyPr/>
        <a:lstStyle/>
        <a:p>
          <a:r>
            <a:rPr lang="en-US"/>
            <a:t>In some designs, there are other design parameters</a:t>
          </a:r>
        </a:p>
      </dgm:t>
    </dgm:pt>
    <dgm:pt modelId="{C3ED57DF-46EE-4809-9986-40ABB91E597F}" type="parTrans" cxnId="{AB981152-661B-4AFC-BBFA-86EF296563C3}">
      <dgm:prSet/>
      <dgm:spPr/>
      <dgm:t>
        <a:bodyPr/>
        <a:lstStyle/>
        <a:p>
          <a:endParaRPr lang="en-US"/>
        </a:p>
      </dgm:t>
    </dgm:pt>
    <dgm:pt modelId="{D5D5416A-9904-46FF-A17D-29F9BDD4995E}" type="sibTrans" cxnId="{AB981152-661B-4AFC-BBFA-86EF296563C3}">
      <dgm:prSet/>
      <dgm:spPr/>
      <dgm:t>
        <a:bodyPr/>
        <a:lstStyle/>
        <a:p>
          <a:endParaRPr lang="en-US"/>
        </a:p>
      </dgm:t>
    </dgm:pt>
    <dgm:pt modelId="{5F2962A8-5A5C-4F4F-AACF-DD082086F271}">
      <dgm:prSet/>
      <dgm:spPr/>
      <dgm:t>
        <a:bodyPr/>
        <a:lstStyle/>
        <a:p>
          <a:endParaRPr lang="en-US" dirty="0"/>
        </a:p>
        <a:p>
          <a:r>
            <a:rPr lang="en-US" dirty="0"/>
            <a:t>Note that MDES does not depend on the effect size</a:t>
          </a:r>
        </a:p>
      </dgm:t>
    </dgm:pt>
    <dgm:pt modelId="{A7FECABD-442F-484E-A312-3112AEDD51AF}" type="parTrans" cxnId="{E7AB444C-A60D-49CA-B30B-76F890074E64}">
      <dgm:prSet/>
      <dgm:spPr/>
      <dgm:t>
        <a:bodyPr/>
        <a:lstStyle/>
        <a:p>
          <a:endParaRPr lang="en-US"/>
        </a:p>
      </dgm:t>
    </dgm:pt>
    <dgm:pt modelId="{4838A7E3-38B5-49A5-B69B-D2D0C575071F}" type="sibTrans" cxnId="{E7AB444C-A60D-49CA-B30B-76F890074E64}">
      <dgm:prSet/>
      <dgm:spPr/>
      <dgm:t>
        <a:bodyPr/>
        <a:lstStyle/>
        <a:p>
          <a:endParaRPr lang="en-US"/>
        </a:p>
      </dgm:t>
    </dgm:pt>
    <dgm:pt modelId="{9050322D-DAC5-4AEE-8B70-797E78157E8C}" type="pres">
      <dgm:prSet presAssocID="{97A86440-0E98-485E-BDEF-85422A8569EC}" presName="vert0" presStyleCnt="0">
        <dgm:presLayoutVars>
          <dgm:dir/>
          <dgm:animOne val="branch"/>
          <dgm:animLvl val="lvl"/>
        </dgm:presLayoutVars>
      </dgm:prSet>
      <dgm:spPr/>
    </dgm:pt>
    <dgm:pt modelId="{1EA2FF89-6325-484A-B7B0-03EB05E0C573}" type="pres">
      <dgm:prSet presAssocID="{C3BC16A1-EF77-4AD1-AE89-4054D6157BBF}" presName="thickLine" presStyleLbl="alignNode1" presStyleIdx="0" presStyleCnt="2"/>
      <dgm:spPr/>
    </dgm:pt>
    <dgm:pt modelId="{538F37FD-44A2-4B44-9C88-D10A8A16FCD8}" type="pres">
      <dgm:prSet presAssocID="{C3BC16A1-EF77-4AD1-AE89-4054D6157BBF}" presName="horz1" presStyleCnt="0"/>
      <dgm:spPr/>
    </dgm:pt>
    <dgm:pt modelId="{D0BF569F-5F5E-4C8F-94B1-56D49756A0E5}" type="pres">
      <dgm:prSet presAssocID="{C3BC16A1-EF77-4AD1-AE89-4054D6157BBF}" presName="tx1" presStyleLbl="revTx" presStyleIdx="0" presStyleCnt="7"/>
      <dgm:spPr/>
    </dgm:pt>
    <dgm:pt modelId="{B5D1967B-422E-4581-BE62-BD3512E8BCEB}" type="pres">
      <dgm:prSet presAssocID="{C3BC16A1-EF77-4AD1-AE89-4054D6157BBF}" presName="vert1" presStyleCnt="0"/>
      <dgm:spPr/>
    </dgm:pt>
    <dgm:pt modelId="{2FA38F4D-097D-428B-B260-7896262005F2}" type="pres">
      <dgm:prSet presAssocID="{149BEF74-5066-4359-B438-DD698AC37CA4}" presName="vertSpace2a" presStyleCnt="0"/>
      <dgm:spPr/>
    </dgm:pt>
    <dgm:pt modelId="{B4A147F9-1944-45F6-981A-83643A7405F9}" type="pres">
      <dgm:prSet presAssocID="{149BEF74-5066-4359-B438-DD698AC37CA4}" presName="horz2" presStyleCnt="0"/>
      <dgm:spPr/>
    </dgm:pt>
    <dgm:pt modelId="{350CB24E-C68B-412B-BD08-CA67CEEE5C7F}" type="pres">
      <dgm:prSet presAssocID="{149BEF74-5066-4359-B438-DD698AC37CA4}" presName="horzSpace2" presStyleCnt="0"/>
      <dgm:spPr/>
    </dgm:pt>
    <dgm:pt modelId="{73BDBA5F-FA3E-45E3-80AE-E5A75AC5575C}" type="pres">
      <dgm:prSet presAssocID="{149BEF74-5066-4359-B438-DD698AC37CA4}" presName="tx2" presStyleLbl="revTx" presStyleIdx="1" presStyleCnt="7"/>
      <dgm:spPr/>
    </dgm:pt>
    <dgm:pt modelId="{5F39D257-F01C-44C1-B782-3D7E502FACFE}" type="pres">
      <dgm:prSet presAssocID="{149BEF74-5066-4359-B438-DD698AC37CA4}" presName="vert2" presStyleCnt="0"/>
      <dgm:spPr/>
    </dgm:pt>
    <dgm:pt modelId="{488F2383-46C4-403D-BDF5-2DEF986FD98A}" type="pres">
      <dgm:prSet presAssocID="{149BEF74-5066-4359-B438-DD698AC37CA4}" presName="thinLine2b" presStyleLbl="callout" presStyleIdx="0" presStyleCnt="5"/>
      <dgm:spPr/>
    </dgm:pt>
    <dgm:pt modelId="{F094E8C8-D2A7-458A-97E3-507F7305B83E}" type="pres">
      <dgm:prSet presAssocID="{149BEF74-5066-4359-B438-DD698AC37CA4}" presName="vertSpace2b" presStyleCnt="0"/>
      <dgm:spPr/>
    </dgm:pt>
    <dgm:pt modelId="{0AB96B54-BC3C-44D1-A7BA-16A9EFF6253A}" type="pres">
      <dgm:prSet presAssocID="{86656ADE-838F-40D8-BF20-0430565C9D64}" presName="horz2" presStyleCnt="0"/>
      <dgm:spPr/>
    </dgm:pt>
    <dgm:pt modelId="{95898248-C2F0-49EF-9A9A-CECEDAB2A827}" type="pres">
      <dgm:prSet presAssocID="{86656ADE-838F-40D8-BF20-0430565C9D64}" presName="horzSpace2" presStyleCnt="0"/>
      <dgm:spPr/>
    </dgm:pt>
    <dgm:pt modelId="{73509C72-5416-4129-A3B5-F4D90849EC6F}" type="pres">
      <dgm:prSet presAssocID="{86656ADE-838F-40D8-BF20-0430565C9D64}" presName="tx2" presStyleLbl="revTx" presStyleIdx="2" presStyleCnt="7"/>
      <dgm:spPr/>
    </dgm:pt>
    <dgm:pt modelId="{9FC0C9CC-063E-4226-8255-1C3B2D8FF29A}" type="pres">
      <dgm:prSet presAssocID="{86656ADE-838F-40D8-BF20-0430565C9D64}" presName="vert2" presStyleCnt="0"/>
      <dgm:spPr/>
    </dgm:pt>
    <dgm:pt modelId="{E8F443CB-254E-4256-8BF6-3C85A33492BD}" type="pres">
      <dgm:prSet presAssocID="{86656ADE-838F-40D8-BF20-0430565C9D64}" presName="thinLine2b" presStyleLbl="callout" presStyleIdx="1" presStyleCnt="5"/>
      <dgm:spPr/>
    </dgm:pt>
    <dgm:pt modelId="{A009B7D6-D2D0-4D31-95E6-AB63A49D07A0}" type="pres">
      <dgm:prSet presAssocID="{86656ADE-838F-40D8-BF20-0430565C9D64}" presName="vertSpace2b" presStyleCnt="0"/>
      <dgm:spPr/>
    </dgm:pt>
    <dgm:pt modelId="{D047CA7F-AFB9-497F-B8F3-5160C30E3BC0}" type="pres">
      <dgm:prSet presAssocID="{019499BF-9628-48E0-B230-AD7A0C734108}" presName="horz2" presStyleCnt="0"/>
      <dgm:spPr/>
    </dgm:pt>
    <dgm:pt modelId="{1DD5F8F1-A831-4836-8F0E-50409B05110E}" type="pres">
      <dgm:prSet presAssocID="{019499BF-9628-48E0-B230-AD7A0C734108}" presName="horzSpace2" presStyleCnt="0"/>
      <dgm:spPr/>
    </dgm:pt>
    <dgm:pt modelId="{2070A1D3-1904-4E69-B081-B21E02DACBA8}" type="pres">
      <dgm:prSet presAssocID="{019499BF-9628-48E0-B230-AD7A0C734108}" presName="tx2" presStyleLbl="revTx" presStyleIdx="3" presStyleCnt="7"/>
      <dgm:spPr/>
    </dgm:pt>
    <dgm:pt modelId="{E9019D7E-1451-4E55-980D-FB236A6395A7}" type="pres">
      <dgm:prSet presAssocID="{019499BF-9628-48E0-B230-AD7A0C734108}" presName="vert2" presStyleCnt="0"/>
      <dgm:spPr/>
    </dgm:pt>
    <dgm:pt modelId="{14E07CD5-1221-45A2-B7D7-C33FD3FA3FF4}" type="pres">
      <dgm:prSet presAssocID="{019499BF-9628-48E0-B230-AD7A0C734108}" presName="thinLine2b" presStyleLbl="callout" presStyleIdx="2" presStyleCnt="5"/>
      <dgm:spPr/>
    </dgm:pt>
    <dgm:pt modelId="{50B18BE2-1436-47E4-9FA2-1681166EEF0E}" type="pres">
      <dgm:prSet presAssocID="{019499BF-9628-48E0-B230-AD7A0C734108}" presName="vertSpace2b" presStyleCnt="0"/>
      <dgm:spPr/>
    </dgm:pt>
    <dgm:pt modelId="{297771A5-631B-414D-9243-27E22282D027}" type="pres">
      <dgm:prSet presAssocID="{B900FFA9-70CE-4CBE-8BB4-3A9E93868F8E}" presName="horz2" presStyleCnt="0"/>
      <dgm:spPr/>
    </dgm:pt>
    <dgm:pt modelId="{A1B9D67F-715C-476A-854A-FD05318A4AC2}" type="pres">
      <dgm:prSet presAssocID="{B900FFA9-70CE-4CBE-8BB4-3A9E93868F8E}" presName="horzSpace2" presStyleCnt="0"/>
      <dgm:spPr/>
    </dgm:pt>
    <dgm:pt modelId="{F2D6D13F-E155-4032-8BE6-D637C26DDDB8}" type="pres">
      <dgm:prSet presAssocID="{B900FFA9-70CE-4CBE-8BB4-3A9E93868F8E}" presName="tx2" presStyleLbl="revTx" presStyleIdx="4" presStyleCnt="7"/>
      <dgm:spPr/>
    </dgm:pt>
    <dgm:pt modelId="{2279984C-CE63-4494-B710-FC4EF3881191}" type="pres">
      <dgm:prSet presAssocID="{B900FFA9-70CE-4CBE-8BB4-3A9E93868F8E}" presName="vert2" presStyleCnt="0"/>
      <dgm:spPr/>
    </dgm:pt>
    <dgm:pt modelId="{9A71254C-B31C-437F-AEFA-92AAB7E6D425}" type="pres">
      <dgm:prSet presAssocID="{B900FFA9-70CE-4CBE-8BB4-3A9E93868F8E}" presName="thinLine2b" presStyleLbl="callout" presStyleIdx="3" presStyleCnt="5"/>
      <dgm:spPr/>
    </dgm:pt>
    <dgm:pt modelId="{C0D596BA-F2D0-4938-A7C7-3E2737DD7FE8}" type="pres">
      <dgm:prSet presAssocID="{B900FFA9-70CE-4CBE-8BB4-3A9E93868F8E}" presName="vertSpace2b" presStyleCnt="0"/>
      <dgm:spPr/>
    </dgm:pt>
    <dgm:pt modelId="{074F1A16-A6B5-4D9D-AC6D-6758873ED65F}" type="pres">
      <dgm:prSet presAssocID="{7C05421C-CE04-43F6-957E-A07E27ABBEBF}" presName="horz2" presStyleCnt="0"/>
      <dgm:spPr/>
    </dgm:pt>
    <dgm:pt modelId="{FEA2635E-2B6C-436F-9BAF-67C99BE2463F}" type="pres">
      <dgm:prSet presAssocID="{7C05421C-CE04-43F6-957E-A07E27ABBEBF}" presName="horzSpace2" presStyleCnt="0"/>
      <dgm:spPr/>
    </dgm:pt>
    <dgm:pt modelId="{8B2A8818-F4ED-440A-94D4-FE912EBAC525}" type="pres">
      <dgm:prSet presAssocID="{7C05421C-CE04-43F6-957E-A07E27ABBEBF}" presName="tx2" presStyleLbl="revTx" presStyleIdx="5" presStyleCnt="7"/>
      <dgm:spPr/>
    </dgm:pt>
    <dgm:pt modelId="{4DD87178-EBDF-4DFC-8F10-055315FA87EA}" type="pres">
      <dgm:prSet presAssocID="{7C05421C-CE04-43F6-957E-A07E27ABBEBF}" presName="vert2" presStyleCnt="0"/>
      <dgm:spPr/>
    </dgm:pt>
    <dgm:pt modelId="{AA73DD7F-9AF7-4A52-8B14-CA287D49B692}" type="pres">
      <dgm:prSet presAssocID="{7C05421C-CE04-43F6-957E-A07E27ABBEBF}" presName="thinLine2b" presStyleLbl="callout" presStyleIdx="4" presStyleCnt="5"/>
      <dgm:spPr/>
    </dgm:pt>
    <dgm:pt modelId="{1C4FFD20-EE7D-4EBB-B67B-94059C076FFA}" type="pres">
      <dgm:prSet presAssocID="{7C05421C-CE04-43F6-957E-A07E27ABBEBF}" presName="vertSpace2b" presStyleCnt="0"/>
      <dgm:spPr/>
    </dgm:pt>
    <dgm:pt modelId="{2CE1C3CF-D262-476A-AC33-F3B9D3B5C575}" type="pres">
      <dgm:prSet presAssocID="{5F2962A8-5A5C-4F4F-AACF-DD082086F271}" presName="thickLine" presStyleLbl="alignNode1" presStyleIdx="1" presStyleCnt="2"/>
      <dgm:spPr/>
    </dgm:pt>
    <dgm:pt modelId="{7496CCEF-2FD0-4874-A72F-911014365E79}" type="pres">
      <dgm:prSet presAssocID="{5F2962A8-5A5C-4F4F-AACF-DD082086F271}" presName="horz1" presStyleCnt="0"/>
      <dgm:spPr/>
    </dgm:pt>
    <dgm:pt modelId="{11250757-0BD2-4846-8322-4C3F74529382}" type="pres">
      <dgm:prSet presAssocID="{5F2962A8-5A5C-4F4F-AACF-DD082086F271}" presName="tx1" presStyleLbl="revTx" presStyleIdx="6" presStyleCnt="7" custScaleX="468150"/>
      <dgm:spPr/>
    </dgm:pt>
    <dgm:pt modelId="{BCA1B4E7-264A-47D4-BDD1-F9084E343EC9}" type="pres">
      <dgm:prSet presAssocID="{5F2962A8-5A5C-4F4F-AACF-DD082086F271}" presName="vert1" presStyleCnt="0"/>
      <dgm:spPr/>
    </dgm:pt>
  </dgm:ptLst>
  <dgm:cxnLst>
    <dgm:cxn modelId="{D760E530-DBC7-4562-A412-03F9AAAF6D55}" srcId="{97A86440-0E98-485E-BDEF-85422A8569EC}" destId="{C3BC16A1-EF77-4AD1-AE89-4054D6157BBF}" srcOrd="0" destOrd="0" parTransId="{AB36EA15-7247-4407-9171-F4A8547AFF76}" sibTransId="{2B3FEFC8-81C5-41D1-A57B-71FDD932BFF3}"/>
    <dgm:cxn modelId="{2E89593C-BD73-4AA2-88BC-4A00CFE8D390}" type="presOf" srcId="{86656ADE-838F-40D8-BF20-0430565C9D64}" destId="{73509C72-5416-4129-A3B5-F4D90849EC6F}" srcOrd="0" destOrd="0" presId="urn:microsoft.com/office/officeart/2008/layout/LinedList"/>
    <dgm:cxn modelId="{0F7F9E3F-4A28-468E-B2AB-7935E6B5D7E4}" srcId="{C3BC16A1-EF77-4AD1-AE89-4054D6157BBF}" destId="{B900FFA9-70CE-4CBE-8BB4-3A9E93868F8E}" srcOrd="3" destOrd="0" parTransId="{CACC999D-2F9B-49E9-94D5-1B121D2EA882}" sibTransId="{074ADD37-8570-4338-B82A-3E5ADD65B282}"/>
    <dgm:cxn modelId="{9FF17B45-02BF-49DF-A57C-ABCFE4B4750F}" type="presOf" srcId="{5F2962A8-5A5C-4F4F-AACF-DD082086F271}" destId="{11250757-0BD2-4846-8322-4C3F74529382}" srcOrd="0" destOrd="0" presId="urn:microsoft.com/office/officeart/2008/layout/LinedList"/>
    <dgm:cxn modelId="{E7AB444C-A60D-49CA-B30B-76F890074E64}" srcId="{97A86440-0E98-485E-BDEF-85422A8569EC}" destId="{5F2962A8-5A5C-4F4F-AACF-DD082086F271}" srcOrd="1" destOrd="0" parTransId="{A7FECABD-442F-484E-A312-3112AEDD51AF}" sibTransId="{4838A7E3-38B5-49A5-B69B-D2D0C575071F}"/>
    <dgm:cxn modelId="{7867586E-6566-4CA9-93DF-CF56C4BC9430}" type="presOf" srcId="{B900FFA9-70CE-4CBE-8BB4-3A9E93868F8E}" destId="{F2D6D13F-E155-4032-8BE6-D637C26DDDB8}" srcOrd="0" destOrd="0" presId="urn:microsoft.com/office/officeart/2008/layout/LinedList"/>
    <dgm:cxn modelId="{B8748671-54EE-4B36-B539-334F68DA09DE}" srcId="{C3BC16A1-EF77-4AD1-AE89-4054D6157BBF}" destId="{149BEF74-5066-4359-B438-DD698AC37CA4}" srcOrd="0" destOrd="0" parTransId="{D053E74B-5668-476A-BD54-CFB0FE65530B}" sibTransId="{FAFA9B6D-C261-4422-B5C4-D0ED9FD1983F}"/>
    <dgm:cxn modelId="{AB981152-661B-4AFC-BBFA-86EF296563C3}" srcId="{C3BC16A1-EF77-4AD1-AE89-4054D6157BBF}" destId="{7C05421C-CE04-43F6-957E-A07E27ABBEBF}" srcOrd="4" destOrd="0" parTransId="{C3ED57DF-46EE-4809-9986-40ABB91E597F}" sibTransId="{D5D5416A-9904-46FF-A17D-29F9BDD4995E}"/>
    <dgm:cxn modelId="{34E0D272-00D1-490A-BB06-E998E0F6C484}" srcId="{C3BC16A1-EF77-4AD1-AE89-4054D6157BBF}" destId="{86656ADE-838F-40D8-BF20-0430565C9D64}" srcOrd="1" destOrd="0" parTransId="{8A29C7D4-DC58-46B7-B9A7-CA5056E36B76}" sibTransId="{E1CE309B-5ABD-42B3-9F62-95BF1F645D8F}"/>
    <dgm:cxn modelId="{C8A0A892-92BD-48B4-AF45-7CA871DA64BD}" type="presOf" srcId="{97A86440-0E98-485E-BDEF-85422A8569EC}" destId="{9050322D-DAC5-4AEE-8B70-797E78157E8C}" srcOrd="0" destOrd="0" presId="urn:microsoft.com/office/officeart/2008/layout/LinedList"/>
    <dgm:cxn modelId="{C8770C95-F855-4C47-AD47-3EBB2E010FE7}" type="presOf" srcId="{019499BF-9628-48E0-B230-AD7A0C734108}" destId="{2070A1D3-1904-4E69-B081-B21E02DACBA8}" srcOrd="0" destOrd="0" presId="urn:microsoft.com/office/officeart/2008/layout/LinedList"/>
    <dgm:cxn modelId="{AB105996-8BAC-49FE-9520-AF9E0FBA6D24}" type="presOf" srcId="{149BEF74-5066-4359-B438-DD698AC37CA4}" destId="{73BDBA5F-FA3E-45E3-80AE-E5A75AC5575C}" srcOrd="0" destOrd="0" presId="urn:microsoft.com/office/officeart/2008/layout/LinedList"/>
    <dgm:cxn modelId="{DAAD85D2-F22F-4F51-A6B9-D52DD56BF9A8}" type="presOf" srcId="{C3BC16A1-EF77-4AD1-AE89-4054D6157BBF}" destId="{D0BF569F-5F5E-4C8F-94B1-56D49756A0E5}" srcOrd="0" destOrd="0" presId="urn:microsoft.com/office/officeart/2008/layout/LinedList"/>
    <dgm:cxn modelId="{1CFA8DE5-E026-44E2-94CF-9DCCEDB42DA1}" srcId="{C3BC16A1-EF77-4AD1-AE89-4054D6157BBF}" destId="{019499BF-9628-48E0-B230-AD7A0C734108}" srcOrd="2" destOrd="0" parTransId="{6E7293C8-706B-42CF-BF2E-E67D9E0875E3}" sibTransId="{4A7B574D-384F-4A68-9E0F-B8F3EC1A09AE}"/>
    <dgm:cxn modelId="{757998E8-5115-4977-A2DC-C7EE5F7B0A6F}" type="presOf" srcId="{7C05421C-CE04-43F6-957E-A07E27ABBEBF}" destId="{8B2A8818-F4ED-440A-94D4-FE912EBAC525}" srcOrd="0" destOrd="0" presId="urn:microsoft.com/office/officeart/2008/layout/LinedList"/>
    <dgm:cxn modelId="{6A7A7FD8-BACA-4C3F-A1DC-280FC6391A60}" type="presParOf" srcId="{9050322D-DAC5-4AEE-8B70-797E78157E8C}" destId="{1EA2FF89-6325-484A-B7B0-03EB05E0C573}" srcOrd="0" destOrd="0" presId="urn:microsoft.com/office/officeart/2008/layout/LinedList"/>
    <dgm:cxn modelId="{C863E499-8A18-4218-BF60-B4FBEC857E78}" type="presParOf" srcId="{9050322D-DAC5-4AEE-8B70-797E78157E8C}" destId="{538F37FD-44A2-4B44-9C88-D10A8A16FCD8}" srcOrd="1" destOrd="0" presId="urn:microsoft.com/office/officeart/2008/layout/LinedList"/>
    <dgm:cxn modelId="{AA917835-5AF5-4E58-8E0E-A97E647648E6}" type="presParOf" srcId="{538F37FD-44A2-4B44-9C88-D10A8A16FCD8}" destId="{D0BF569F-5F5E-4C8F-94B1-56D49756A0E5}" srcOrd="0" destOrd="0" presId="urn:microsoft.com/office/officeart/2008/layout/LinedList"/>
    <dgm:cxn modelId="{6D9CF705-69CF-4A6E-B46C-3229DF9DD5C7}" type="presParOf" srcId="{538F37FD-44A2-4B44-9C88-D10A8A16FCD8}" destId="{B5D1967B-422E-4581-BE62-BD3512E8BCEB}" srcOrd="1" destOrd="0" presId="urn:microsoft.com/office/officeart/2008/layout/LinedList"/>
    <dgm:cxn modelId="{E4A4A15C-E380-4CA3-A5FA-62CC0B9B90C8}" type="presParOf" srcId="{B5D1967B-422E-4581-BE62-BD3512E8BCEB}" destId="{2FA38F4D-097D-428B-B260-7896262005F2}" srcOrd="0" destOrd="0" presId="urn:microsoft.com/office/officeart/2008/layout/LinedList"/>
    <dgm:cxn modelId="{D348A596-4021-4BD5-9ACA-C905DFDF9DA6}" type="presParOf" srcId="{B5D1967B-422E-4581-BE62-BD3512E8BCEB}" destId="{B4A147F9-1944-45F6-981A-83643A7405F9}" srcOrd="1" destOrd="0" presId="urn:microsoft.com/office/officeart/2008/layout/LinedList"/>
    <dgm:cxn modelId="{187EFDFA-6010-4D8E-9B5B-93F57E6DE08B}" type="presParOf" srcId="{B4A147F9-1944-45F6-981A-83643A7405F9}" destId="{350CB24E-C68B-412B-BD08-CA67CEEE5C7F}" srcOrd="0" destOrd="0" presId="urn:microsoft.com/office/officeart/2008/layout/LinedList"/>
    <dgm:cxn modelId="{0F1A4668-159B-4257-8A0E-2CEFD1CD36B4}" type="presParOf" srcId="{B4A147F9-1944-45F6-981A-83643A7405F9}" destId="{73BDBA5F-FA3E-45E3-80AE-E5A75AC5575C}" srcOrd="1" destOrd="0" presId="urn:microsoft.com/office/officeart/2008/layout/LinedList"/>
    <dgm:cxn modelId="{D911C302-788F-47B2-8B35-A8B03FB4CC0F}" type="presParOf" srcId="{B4A147F9-1944-45F6-981A-83643A7405F9}" destId="{5F39D257-F01C-44C1-B782-3D7E502FACFE}" srcOrd="2" destOrd="0" presId="urn:microsoft.com/office/officeart/2008/layout/LinedList"/>
    <dgm:cxn modelId="{B9835F88-3FA9-4100-B2F1-0ED188E91D4B}" type="presParOf" srcId="{B5D1967B-422E-4581-BE62-BD3512E8BCEB}" destId="{488F2383-46C4-403D-BDF5-2DEF986FD98A}" srcOrd="2" destOrd="0" presId="urn:microsoft.com/office/officeart/2008/layout/LinedList"/>
    <dgm:cxn modelId="{80431937-6CC6-4532-AECF-BE158B071ADC}" type="presParOf" srcId="{B5D1967B-422E-4581-BE62-BD3512E8BCEB}" destId="{F094E8C8-D2A7-458A-97E3-507F7305B83E}" srcOrd="3" destOrd="0" presId="urn:microsoft.com/office/officeart/2008/layout/LinedList"/>
    <dgm:cxn modelId="{4773B371-2F26-4799-80AE-533C98650F76}" type="presParOf" srcId="{B5D1967B-422E-4581-BE62-BD3512E8BCEB}" destId="{0AB96B54-BC3C-44D1-A7BA-16A9EFF6253A}" srcOrd="4" destOrd="0" presId="urn:microsoft.com/office/officeart/2008/layout/LinedList"/>
    <dgm:cxn modelId="{DC3D65BB-51A5-4B47-9B8F-D2CDB53354CA}" type="presParOf" srcId="{0AB96B54-BC3C-44D1-A7BA-16A9EFF6253A}" destId="{95898248-C2F0-49EF-9A9A-CECEDAB2A827}" srcOrd="0" destOrd="0" presId="urn:microsoft.com/office/officeart/2008/layout/LinedList"/>
    <dgm:cxn modelId="{1F7E7450-A2E1-4B3B-8806-12FB27ECB1C1}" type="presParOf" srcId="{0AB96B54-BC3C-44D1-A7BA-16A9EFF6253A}" destId="{73509C72-5416-4129-A3B5-F4D90849EC6F}" srcOrd="1" destOrd="0" presId="urn:microsoft.com/office/officeart/2008/layout/LinedList"/>
    <dgm:cxn modelId="{A779A88A-D7B7-4BB2-8B27-76C2130D42F2}" type="presParOf" srcId="{0AB96B54-BC3C-44D1-A7BA-16A9EFF6253A}" destId="{9FC0C9CC-063E-4226-8255-1C3B2D8FF29A}" srcOrd="2" destOrd="0" presId="urn:microsoft.com/office/officeart/2008/layout/LinedList"/>
    <dgm:cxn modelId="{B7FD97F9-AB39-4AFA-B4A6-8BFDF9644FAB}" type="presParOf" srcId="{B5D1967B-422E-4581-BE62-BD3512E8BCEB}" destId="{E8F443CB-254E-4256-8BF6-3C85A33492BD}" srcOrd="5" destOrd="0" presId="urn:microsoft.com/office/officeart/2008/layout/LinedList"/>
    <dgm:cxn modelId="{E14192D3-FA8F-47A2-990E-23AF5C61A317}" type="presParOf" srcId="{B5D1967B-422E-4581-BE62-BD3512E8BCEB}" destId="{A009B7D6-D2D0-4D31-95E6-AB63A49D07A0}" srcOrd="6" destOrd="0" presId="urn:microsoft.com/office/officeart/2008/layout/LinedList"/>
    <dgm:cxn modelId="{99E881F7-C964-442B-9B1E-AA56DEE5FAC0}" type="presParOf" srcId="{B5D1967B-422E-4581-BE62-BD3512E8BCEB}" destId="{D047CA7F-AFB9-497F-B8F3-5160C30E3BC0}" srcOrd="7" destOrd="0" presId="urn:microsoft.com/office/officeart/2008/layout/LinedList"/>
    <dgm:cxn modelId="{620AFE2E-F42F-4F3B-B913-4163F6E1A265}" type="presParOf" srcId="{D047CA7F-AFB9-497F-B8F3-5160C30E3BC0}" destId="{1DD5F8F1-A831-4836-8F0E-50409B05110E}" srcOrd="0" destOrd="0" presId="urn:microsoft.com/office/officeart/2008/layout/LinedList"/>
    <dgm:cxn modelId="{8B416548-6833-414C-A767-1A4E29438346}" type="presParOf" srcId="{D047CA7F-AFB9-497F-B8F3-5160C30E3BC0}" destId="{2070A1D3-1904-4E69-B081-B21E02DACBA8}" srcOrd="1" destOrd="0" presId="urn:microsoft.com/office/officeart/2008/layout/LinedList"/>
    <dgm:cxn modelId="{0B6ED8DD-EF95-4533-B883-33E73FA2A887}" type="presParOf" srcId="{D047CA7F-AFB9-497F-B8F3-5160C30E3BC0}" destId="{E9019D7E-1451-4E55-980D-FB236A6395A7}" srcOrd="2" destOrd="0" presId="urn:microsoft.com/office/officeart/2008/layout/LinedList"/>
    <dgm:cxn modelId="{DF3AA76F-839F-4595-A0C8-0F578C2BEEE5}" type="presParOf" srcId="{B5D1967B-422E-4581-BE62-BD3512E8BCEB}" destId="{14E07CD5-1221-45A2-B7D7-C33FD3FA3FF4}" srcOrd="8" destOrd="0" presId="urn:microsoft.com/office/officeart/2008/layout/LinedList"/>
    <dgm:cxn modelId="{BA0C4CF5-C1A3-4130-B52F-86DF1FD33FBF}" type="presParOf" srcId="{B5D1967B-422E-4581-BE62-BD3512E8BCEB}" destId="{50B18BE2-1436-47E4-9FA2-1681166EEF0E}" srcOrd="9" destOrd="0" presId="urn:microsoft.com/office/officeart/2008/layout/LinedList"/>
    <dgm:cxn modelId="{67FE5668-7320-42D1-B13F-6FC492CF05E4}" type="presParOf" srcId="{B5D1967B-422E-4581-BE62-BD3512E8BCEB}" destId="{297771A5-631B-414D-9243-27E22282D027}" srcOrd="10" destOrd="0" presId="urn:microsoft.com/office/officeart/2008/layout/LinedList"/>
    <dgm:cxn modelId="{220805D2-BD2B-49D8-B049-5D14532B1A87}" type="presParOf" srcId="{297771A5-631B-414D-9243-27E22282D027}" destId="{A1B9D67F-715C-476A-854A-FD05318A4AC2}" srcOrd="0" destOrd="0" presId="urn:microsoft.com/office/officeart/2008/layout/LinedList"/>
    <dgm:cxn modelId="{CB745483-6414-40FE-BFF1-5EA13CC2AE17}" type="presParOf" srcId="{297771A5-631B-414D-9243-27E22282D027}" destId="{F2D6D13F-E155-4032-8BE6-D637C26DDDB8}" srcOrd="1" destOrd="0" presId="urn:microsoft.com/office/officeart/2008/layout/LinedList"/>
    <dgm:cxn modelId="{630456A0-24D0-4846-9FE4-711AA8129972}" type="presParOf" srcId="{297771A5-631B-414D-9243-27E22282D027}" destId="{2279984C-CE63-4494-B710-FC4EF3881191}" srcOrd="2" destOrd="0" presId="urn:microsoft.com/office/officeart/2008/layout/LinedList"/>
    <dgm:cxn modelId="{670CA173-2234-41A1-9420-83AAAB8B9C8D}" type="presParOf" srcId="{B5D1967B-422E-4581-BE62-BD3512E8BCEB}" destId="{9A71254C-B31C-437F-AEFA-92AAB7E6D425}" srcOrd="11" destOrd="0" presId="urn:microsoft.com/office/officeart/2008/layout/LinedList"/>
    <dgm:cxn modelId="{20ACF93B-7C50-4505-87C2-1B8E86AE7D0B}" type="presParOf" srcId="{B5D1967B-422E-4581-BE62-BD3512E8BCEB}" destId="{C0D596BA-F2D0-4938-A7C7-3E2737DD7FE8}" srcOrd="12" destOrd="0" presId="urn:microsoft.com/office/officeart/2008/layout/LinedList"/>
    <dgm:cxn modelId="{509489B9-5DF1-47FF-B06B-1FD2E360F075}" type="presParOf" srcId="{B5D1967B-422E-4581-BE62-BD3512E8BCEB}" destId="{074F1A16-A6B5-4D9D-AC6D-6758873ED65F}" srcOrd="13" destOrd="0" presId="urn:microsoft.com/office/officeart/2008/layout/LinedList"/>
    <dgm:cxn modelId="{A03831E6-6CB7-4B64-9FE1-07EC3286A7EB}" type="presParOf" srcId="{074F1A16-A6B5-4D9D-AC6D-6758873ED65F}" destId="{FEA2635E-2B6C-436F-9BAF-67C99BE2463F}" srcOrd="0" destOrd="0" presId="urn:microsoft.com/office/officeart/2008/layout/LinedList"/>
    <dgm:cxn modelId="{2A97586C-1A98-4C52-B0AF-CE915E020C10}" type="presParOf" srcId="{074F1A16-A6B5-4D9D-AC6D-6758873ED65F}" destId="{8B2A8818-F4ED-440A-94D4-FE912EBAC525}" srcOrd="1" destOrd="0" presId="urn:microsoft.com/office/officeart/2008/layout/LinedList"/>
    <dgm:cxn modelId="{493943D3-33F8-4C84-A91B-C5DB94E48FFD}" type="presParOf" srcId="{074F1A16-A6B5-4D9D-AC6D-6758873ED65F}" destId="{4DD87178-EBDF-4DFC-8F10-055315FA87EA}" srcOrd="2" destOrd="0" presId="urn:microsoft.com/office/officeart/2008/layout/LinedList"/>
    <dgm:cxn modelId="{C00869C9-2C48-4E05-ACCF-9D71AD78F1BE}" type="presParOf" srcId="{B5D1967B-422E-4581-BE62-BD3512E8BCEB}" destId="{AA73DD7F-9AF7-4A52-8B14-CA287D49B692}" srcOrd="14" destOrd="0" presId="urn:microsoft.com/office/officeart/2008/layout/LinedList"/>
    <dgm:cxn modelId="{21E67537-ECCA-4D3B-B3DE-5A2A4DB43944}" type="presParOf" srcId="{B5D1967B-422E-4581-BE62-BD3512E8BCEB}" destId="{1C4FFD20-EE7D-4EBB-B67B-94059C076FFA}" srcOrd="15" destOrd="0" presId="urn:microsoft.com/office/officeart/2008/layout/LinedList"/>
    <dgm:cxn modelId="{45470BC6-2359-413B-90E6-6BF9E9024E91}" type="presParOf" srcId="{9050322D-DAC5-4AEE-8B70-797E78157E8C}" destId="{2CE1C3CF-D262-476A-AC33-F3B9D3B5C575}" srcOrd="2" destOrd="0" presId="urn:microsoft.com/office/officeart/2008/layout/LinedList"/>
    <dgm:cxn modelId="{609EA16A-1821-4CF6-9ED8-5A148A2CB44B}" type="presParOf" srcId="{9050322D-DAC5-4AEE-8B70-797E78157E8C}" destId="{7496CCEF-2FD0-4874-A72F-911014365E79}" srcOrd="3" destOrd="0" presId="urn:microsoft.com/office/officeart/2008/layout/LinedList"/>
    <dgm:cxn modelId="{F6E1681F-6EAF-479A-BB91-2A6C93BF0A4E}" type="presParOf" srcId="{7496CCEF-2FD0-4874-A72F-911014365E79}" destId="{11250757-0BD2-4846-8322-4C3F74529382}" srcOrd="0" destOrd="0" presId="urn:microsoft.com/office/officeart/2008/layout/LinedList"/>
    <dgm:cxn modelId="{5FE93410-E252-4516-A646-CCA3C75057E6}" type="presParOf" srcId="{7496CCEF-2FD0-4874-A72F-911014365E79}" destId="{BCA1B4E7-264A-47D4-BDD1-F9084E343EC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F303A35-C8BF-4B1B-8B53-AAEC944BFF4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630BD3B-A765-4AD4-B64F-7314A3853804}">
      <dgm:prSet/>
      <dgm:spPr/>
      <dgm:t>
        <a:bodyPr/>
        <a:lstStyle/>
        <a:p>
          <a:r>
            <a:rPr lang="en-US"/>
            <a:t>Calculating statistical power requires selecting an effect size in advance and then finding a sample size that yields adequate power</a:t>
          </a:r>
        </a:p>
      </dgm:t>
    </dgm:pt>
    <dgm:pt modelId="{766A17E6-40B8-4BA2-B6CB-AF7EE32A9BA2}" type="parTrans" cxnId="{E92BC7E8-039F-4D9B-BECE-4098A51C8674}">
      <dgm:prSet/>
      <dgm:spPr/>
      <dgm:t>
        <a:bodyPr/>
        <a:lstStyle/>
        <a:p>
          <a:endParaRPr lang="en-US"/>
        </a:p>
      </dgm:t>
    </dgm:pt>
    <dgm:pt modelId="{C5A1D256-BF0E-4659-BE5A-ABAA469C86DD}" type="sibTrans" cxnId="{E92BC7E8-039F-4D9B-BECE-4098A51C8674}">
      <dgm:prSet/>
      <dgm:spPr/>
      <dgm:t>
        <a:bodyPr/>
        <a:lstStyle/>
        <a:p>
          <a:endParaRPr lang="en-US"/>
        </a:p>
      </dgm:t>
    </dgm:pt>
    <dgm:pt modelId="{8378A90B-E5DB-497F-9263-40B33D065F92}">
      <dgm:prSet/>
      <dgm:spPr/>
      <dgm:t>
        <a:bodyPr/>
        <a:lstStyle/>
        <a:p>
          <a:r>
            <a:rPr lang="en-US" dirty="0"/>
            <a:t>Precision is simpler than power, but if we are concerned about getting statistically significant results, precision is indirect</a:t>
          </a:r>
        </a:p>
      </dgm:t>
    </dgm:pt>
    <dgm:pt modelId="{7F73A92F-1185-4B18-984F-EE84D1273333}" type="parTrans" cxnId="{6042469B-FA9C-44E1-9E25-72ECA714D5EF}">
      <dgm:prSet/>
      <dgm:spPr/>
      <dgm:t>
        <a:bodyPr/>
        <a:lstStyle/>
        <a:p>
          <a:endParaRPr lang="en-US"/>
        </a:p>
      </dgm:t>
    </dgm:pt>
    <dgm:pt modelId="{22283BFD-ED70-43AB-BCEF-7FBDD22E5D99}" type="sibTrans" cxnId="{6042469B-FA9C-44E1-9E25-72ECA714D5EF}">
      <dgm:prSet/>
      <dgm:spPr/>
      <dgm:t>
        <a:bodyPr/>
        <a:lstStyle/>
        <a:p>
          <a:endParaRPr lang="en-US"/>
        </a:p>
      </dgm:t>
    </dgm:pt>
    <dgm:pt modelId="{1E6D8C49-88CE-41F7-8E5B-56A691DF9A36}">
      <dgm:prSet/>
      <dgm:spPr/>
      <dgm:t>
        <a:bodyPr/>
        <a:lstStyle/>
        <a:p>
          <a:r>
            <a:rPr lang="en-US"/>
            <a:t>Minimum detectable effect size makes it easy to find the sample size that can detect an effect of the size  you expect </a:t>
          </a:r>
        </a:p>
      </dgm:t>
    </dgm:pt>
    <dgm:pt modelId="{308ED5FA-E209-417F-9F0F-9E047628F6DB}" type="parTrans" cxnId="{9B1BD1AF-5F54-4CAA-9827-89684AF585A1}">
      <dgm:prSet/>
      <dgm:spPr/>
      <dgm:t>
        <a:bodyPr/>
        <a:lstStyle/>
        <a:p>
          <a:endParaRPr lang="en-US"/>
        </a:p>
      </dgm:t>
    </dgm:pt>
    <dgm:pt modelId="{CDEB01D1-EAAE-4FBC-8921-78F09932E532}" type="sibTrans" cxnId="{9B1BD1AF-5F54-4CAA-9827-89684AF585A1}">
      <dgm:prSet/>
      <dgm:spPr/>
      <dgm:t>
        <a:bodyPr/>
        <a:lstStyle/>
        <a:p>
          <a:endParaRPr lang="en-US"/>
        </a:p>
      </dgm:t>
    </dgm:pt>
    <dgm:pt modelId="{591F6518-7905-4D07-9C59-E76B5C7D1757}" type="pres">
      <dgm:prSet presAssocID="{6F303A35-C8BF-4B1B-8B53-AAEC944BFF4A}" presName="linear" presStyleCnt="0">
        <dgm:presLayoutVars>
          <dgm:animLvl val="lvl"/>
          <dgm:resizeHandles val="exact"/>
        </dgm:presLayoutVars>
      </dgm:prSet>
      <dgm:spPr/>
    </dgm:pt>
    <dgm:pt modelId="{34A62FF2-D980-48DB-AF8B-DA86A1A28684}" type="pres">
      <dgm:prSet presAssocID="{1630BD3B-A765-4AD4-B64F-7314A3853804}" presName="parentText" presStyleLbl="node1" presStyleIdx="0" presStyleCnt="3">
        <dgm:presLayoutVars>
          <dgm:chMax val="0"/>
          <dgm:bulletEnabled val="1"/>
        </dgm:presLayoutVars>
      </dgm:prSet>
      <dgm:spPr/>
    </dgm:pt>
    <dgm:pt modelId="{4A5903F3-71B0-43D9-A600-C85A7E6E10A7}" type="pres">
      <dgm:prSet presAssocID="{C5A1D256-BF0E-4659-BE5A-ABAA469C86DD}" presName="spacer" presStyleCnt="0"/>
      <dgm:spPr/>
    </dgm:pt>
    <dgm:pt modelId="{23EB99A4-C01C-453E-9787-E47F6C0047F7}" type="pres">
      <dgm:prSet presAssocID="{8378A90B-E5DB-497F-9263-40B33D065F92}" presName="parentText" presStyleLbl="node1" presStyleIdx="1" presStyleCnt="3">
        <dgm:presLayoutVars>
          <dgm:chMax val="0"/>
          <dgm:bulletEnabled val="1"/>
        </dgm:presLayoutVars>
      </dgm:prSet>
      <dgm:spPr/>
    </dgm:pt>
    <dgm:pt modelId="{4FF7F2B8-F199-449B-9BEA-E62BD47AABE8}" type="pres">
      <dgm:prSet presAssocID="{22283BFD-ED70-43AB-BCEF-7FBDD22E5D99}" presName="spacer" presStyleCnt="0"/>
      <dgm:spPr/>
    </dgm:pt>
    <dgm:pt modelId="{8CDD5EA2-CBE2-42AF-864A-A8993843B073}" type="pres">
      <dgm:prSet presAssocID="{1E6D8C49-88CE-41F7-8E5B-56A691DF9A36}" presName="parentText" presStyleLbl="node1" presStyleIdx="2" presStyleCnt="3">
        <dgm:presLayoutVars>
          <dgm:chMax val="0"/>
          <dgm:bulletEnabled val="1"/>
        </dgm:presLayoutVars>
      </dgm:prSet>
      <dgm:spPr/>
    </dgm:pt>
  </dgm:ptLst>
  <dgm:cxnLst>
    <dgm:cxn modelId="{406BE344-C835-48EF-B0B5-7F5E3CE87BC7}" type="presOf" srcId="{1E6D8C49-88CE-41F7-8E5B-56A691DF9A36}" destId="{8CDD5EA2-CBE2-42AF-864A-A8993843B073}" srcOrd="0" destOrd="0" presId="urn:microsoft.com/office/officeart/2005/8/layout/vList2"/>
    <dgm:cxn modelId="{6E171745-6C89-4C72-8E66-B969C07EF1CC}" type="presOf" srcId="{1630BD3B-A765-4AD4-B64F-7314A3853804}" destId="{34A62FF2-D980-48DB-AF8B-DA86A1A28684}" srcOrd="0" destOrd="0" presId="urn:microsoft.com/office/officeart/2005/8/layout/vList2"/>
    <dgm:cxn modelId="{94A32584-60D4-439E-931F-20D6101139B3}" type="presOf" srcId="{8378A90B-E5DB-497F-9263-40B33D065F92}" destId="{23EB99A4-C01C-453E-9787-E47F6C0047F7}" srcOrd="0" destOrd="0" presId="urn:microsoft.com/office/officeart/2005/8/layout/vList2"/>
    <dgm:cxn modelId="{6042469B-FA9C-44E1-9E25-72ECA714D5EF}" srcId="{6F303A35-C8BF-4B1B-8B53-AAEC944BFF4A}" destId="{8378A90B-E5DB-497F-9263-40B33D065F92}" srcOrd="1" destOrd="0" parTransId="{7F73A92F-1185-4B18-984F-EE84D1273333}" sibTransId="{22283BFD-ED70-43AB-BCEF-7FBDD22E5D99}"/>
    <dgm:cxn modelId="{B1B7B8A9-EC5D-4497-B0A9-0B14851473D4}" type="presOf" srcId="{6F303A35-C8BF-4B1B-8B53-AAEC944BFF4A}" destId="{591F6518-7905-4D07-9C59-E76B5C7D1757}" srcOrd="0" destOrd="0" presId="urn:microsoft.com/office/officeart/2005/8/layout/vList2"/>
    <dgm:cxn modelId="{9B1BD1AF-5F54-4CAA-9827-89684AF585A1}" srcId="{6F303A35-C8BF-4B1B-8B53-AAEC944BFF4A}" destId="{1E6D8C49-88CE-41F7-8E5B-56A691DF9A36}" srcOrd="2" destOrd="0" parTransId="{308ED5FA-E209-417F-9F0F-9E047628F6DB}" sibTransId="{CDEB01D1-EAAE-4FBC-8921-78F09932E532}"/>
    <dgm:cxn modelId="{E92BC7E8-039F-4D9B-BECE-4098A51C8674}" srcId="{6F303A35-C8BF-4B1B-8B53-AAEC944BFF4A}" destId="{1630BD3B-A765-4AD4-B64F-7314A3853804}" srcOrd="0" destOrd="0" parTransId="{766A17E6-40B8-4BA2-B6CB-AF7EE32A9BA2}" sibTransId="{C5A1D256-BF0E-4659-BE5A-ABAA469C86DD}"/>
    <dgm:cxn modelId="{E862C4E1-92EE-47C2-ABCC-709B04F210A9}" type="presParOf" srcId="{591F6518-7905-4D07-9C59-E76B5C7D1757}" destId="{34A62FF2-D980-48DB-AF8B-DA86A1A28684}" srcOrd="0" destOrd="0" presId="urn:microsoft.com/office/officeart/2005/8/layout/vList2"/>
    <dgm:cxn modelId="{342E118B-0394-47BD-AE39-D9EC48898953}" type="presParOf" srcId="{591F6518-7905-4D07-9C59-E76B5C7D1757}" destId="{4A5903F3-71B0-43D9-A600-C85A7E6E10A7}" srcOrd="1" destOrd="0" presId="urn:microsoft.com/office/officeart/2005/8/layout/vList2"/>
    <dgm:cxn modelId="{94FD30E7-4C31-4E97-9CB4-53589FF66217}" type="presParOf" srcId="{591F6518-7905-4D07-9C59-E76B5C7D1757}" destId="{23EB99A4-C01C-453E-9787-E47F6C0047F7}" srcOrd="2" destOrd="0" presId="urn:microsoft.com/office/officeart/2005/8/layout/vList2"/>
    <dgm:cxn modelId="{1F0E798E-67C6-43EB-976B-B6BE013712DE}" type="presParOf" srcId="{591F6518-7905-4D07-9C59-E76B5C7D1757}" destId="{4FF7F2B8-F199-449B-9BEA-E62BD47AABE8}" srcOrd="3" destOrd="0" presId="urn:microsoft.com/office/officeart/2005/8/layout/vList2"/>
    <dgm:cxn modelId="{CA4DED73-C466-412F-9198-0BDC77A90232}" type="presParOf" srcId="{591F6518-7905-4D07-9C59-E76B5C7D1757}" destId="{8CDD5EA2-CBE2-42AF-864A-A8993843B073}"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1644FE-DD78-4956-8B84-66BB5D97EB18}">
      <dsp:nvSpPr>
        <dsp:cNvPr id="0" name=""/>
        <dsp:cNvSpPr/>
      </dsp:nvSpPr>
      <dsp:spPr>
        <a:xfrm>
          <a:off x="0" y="2492"/>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8B6C31-414F-4A40-8BCB-07940ED19DB8}">
      <dsp:nvSpPr>
        <dsp:cNvPr id="0" name=""/>
        <dsp:cNvSpPr/>
      </dsp:nvSpPr>
      <dsp:spPr>
        <a:xfrm>
          <a:off x="0" y="2492"/>
          <a:ext cx="6434543"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Recall that statistical power is the chance that the statistical test will decide that the treatment effect is significant—it is the chance that the test will detect a nonzero effect if it exists</a:t>
          </a:r>
        </a:p>
      </dsp:txBody>
      <dsp:txXfrm>
        <a:off x="0" y="2492"/>
        <a:ext cx="6434543" cy="1700138"/>
      </dsp:txXfrm>
    </dsp:sp>
    <dsp:sp modelId="{091B9A10-E470-49E6-B524-B1D2AA762F23}">
      <dsp:nvSpPr>
        <dsp:cNvPr id="0" name=""/>
        <dsp:cNvSpPr/>
      </dsp:nvSpPr>
      <dsp:spPr>
        <a:xfrm>
          <a:off x="0" y="1702630"/>
          <a:ext cx="6492875"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C3E597-C33E-4B4B-9E78-AF5E44FC234C}">
      <dsp:nvSpPr>
        <dsp:cNvPr id="0" name=""/>
        <dsp:cNvSpPr/>
      </dsp:nvSpPr>
      <dsp:spPr>
        <a:xfrm>
          <a:off x="0" y="1702630"/>
          <a:ext cx="1298575"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Statistical power depends on:</a:t>
          </a:r>
        </a:p>
      </dsp:txBody>
      <dsp:txXfrm>
        <a:off x="0" y="1702630"/>
        <a:ext cx="1298575" cy="1700138"/>
      </dsp:txXfrm>
    </dsp:sp>
    <dsp:sp modelId="{BE59F859-2895-4417-B53A-C6269B63FBD1}">
      <dsp:nvSpPr>
        <dsp:cNvPr id="0" name=""/>
        <dsp:cNvSpPr/>
      </dsp:nvSpPr>
      <dsp:spPr>
        <a:xfrm>
          <a:off x="1395968" y="1718652"/>
          <a:ext cx="5096906" cy="320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significance level (0.05 is a very strong convention)</a:t>
          </a:r>
        </a:p>
      </dsp:txBody>
      <dsp:txXfrm>
        <a:off x="1395968" y="1718652"/>
        <a:ext cx="5096906" cy="320436"/>
      </dsp:txXfrm>
    </dsp:sp>
    <dsp:sp modelId="{B17CFE86-7E6E-4C6F-B536-2A2FBBD3EA71}">
      <dsp:nvSpPr>
        <dsp:cNvPr id="0" name=""/>
        <dsp:cNvSpPr/>
      </dsp:nvSpPr>
      <dsp:spPr>
        <a:xfrm>
          <a:off x="1298574" y="2039088"/>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44FAB2-EA50-411E-B08D-E3602A626FE8}">
      <dsp:nvSpPr>
        <dsp:cNvPr id="0" name=""/>
        <dsp:cNvSpPr/>
      </dsp:nvSpPr>
      <dsp:spPr>
        <a:xfrm>
          <a:off x="1395968" y="2055110"/>
          <a:ext cx="5096906" cy="320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type of design</a:t>
          </a:r>
        </a:p>
      </dsp:txBody>
      <dsp:txXfrm>
        <a:off x="1395968" y="2055110"/>
        <a:ext cx="5096906" cy="320436"/>
      </dsp:txXfrm>
    </dsp:sp>
    <dsp:sp modelId="{D13CD72A-CBAB-45EA-BCDB-BC72E87C3C7D}">
      <dsp:nvSpPr>
        <dsp:cNvPr id="0" name=""/>
        <dsp:cNvSpPr/>
      </dsp:nvSpPr>
      <dsp:spPr>
        <a:xfrm>
          <a:off x="1298574" y="2375546"/>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D87007-5E18-4FBC-AEDD-D5513CA363C2}">
      <dsp:nvSpPr>
        <dsp:cNvPr id="0" name=""/>
        <dsp:cNvSpPr/>
      </dsp:nvSpPr>
      <dsp:spPr>
        <a:xfrm>
          <a:off x="1395968" y="2391568"/>
          <a:ext cx="5096906" cy="320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sample size</a:t>
          </a:r>
          <a:r>
            <a:rPr lang="en-US" sz="1400" b="1" kern="1200"/>
            <a:t>s</a:t>
          </a:r>
          <a:endParaRPr lang="en-US" sz="1400" kern="1200"/>
        </a:p>
      </dsp:txBody>
      <dsp:txXfrm>
        <a:off x="1395968" y="2391568"/>
        <a:ext cx="5096906" cy="320436"/>
      </dsp:txXfrm>
    </dsp:sp>
    <dsp:sp modelId="{2D7AEEA2-9B39-42FE-8991-D0A9A24447CC}">
      <dsp:nvSpPr>
        <dsp:cNvPr id="0" name=""/>
        <dsp:cNvSpPr/>
      </dsp:nvSpPr>
      <dsp:spPr>
        <a:xfrm>
          <a:off x="1298574" y="2712004"/>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AEA4E7-B35D-4CD8-AE4E-4C1EEA9CACB8}">
      <dsp:nvSpPr>
        <dsp:cNvPr id="0" name=""/>
        <dsp:cNvSpPr/>
      </dsp:nvSpPr>
      <dsp:spPr>
        <a:xfrm>
          <a:off x="1395968" y="2728026"/>
          <a:ext cx="5096906" cy="320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effect sizes</a:t>
          </a:r>
        </a:p>
      </dsp:txBody>
      <dsp:txXfrm>
        <a:off x="1395968" y="2728026"/>
        <a:ext cx="5096906" cy="320436"/>
      </dsp:txXfrm>
    </dsp:sp>
    <dsp:sp modelId="{ADB43532-AB5B-4043-98FF-118608C55113}">
      <dsp:nvSpPr>
        <dsp:cNvPr id="0" name=""/>
        <dsp:cNvSpPr/>
      </dsp:nvSpPr>
      <dsp:spPr>
        <a:xfrm>
          <a:off x="1298574" y="3048462"/>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D53C31-5146-47CA-AC73-8B1262B914BB}">
      <dsp:nvSpPr>
        <dsp:cNvPr id="0" name=""/>
        <dsp:cNvSpPr/>
      </dsp:nvSpPr>
      <dsp:spPr>
        <a:xfrm>
          <a:off x="1395968" y="3064484"/>
          <a:ext cx="5096906" cy="320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In some designs, there are other design parameters</a:t>
          </a:r>
        </a:p>
      </dsp:txBody>
      <dsp:txXfrm>
        <a:off x="1395968" y="3064484"/>
        <a:ext cx="5096906" cy="320436"/>
      </dsp:txXfrm>
    </dsp:sp>
    <dsp:sp modelId="{4207E4EE-F3B9-4D6A-884D-34071E60AA25}">
      <dsp:nvSpPr>
        <dsp:cNvPr id="0" name=""/>
        <dsp:cNvSpPr/>
      </dsp:nvSpPr>
      <dsp:spPr>
        <a:xfrm>
          <a:off x="1298574" y="3384920"/>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B5C2B62-9A9A-4CD8-BC30-5010048050C9}">
      <dsp:nvSpPr>
        <dsp:cNvPr id="0" name=""/>
        <dsp:cNvSpPr/>
      </dsp:nvSpPr>
      <dsp:spPr>
        <a:xfrm>
          <a:off x="0" y="3402769"/>
          <a:ext cx="6492875"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17C5BE-16C7-439E-9550-8C1FCA649170}">
      <dsp:nvSpPr>
        <dsp:cNvPr id="0" name=""/>
        <dsp:cNvSpPr/>
      </dsp:nvSpPr>
      <dsp:spPr>
        <a:xfrm>
          <a:off x="0" y="3402769"/>
          <a:ext cx="6492875"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A strong convention is that power of 0.8 (80%) is adequate for planning designs</a:t>
          </a:r>
        </a:p>
      </dsp:txBody>
      <dsp:txXfrm>
        <a:off x="0" y="3402769"/>
        <a:ext cx="6492875" cy="17001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800114-AE91-4750-92DD-9632ACA952AF}">
      <dsp:nvSpPr>
        <dsp:cNvPr id="0" name=""/>
        <dsp:cNvSpPr/>
      </dsp:nvSpPr>
      <dsp:spPr>
        <a:xfrm>
          <a:off x="0" y="0"/>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66BB1A-96BB-478B-B8F7-5A8A7194F5DA}">
      <dsp:nvSpPr>
        <dsp:cNvPr id="0" name=""/>
        <dsp:cNvSpPr/>
      </dsp:nvSpPr>
      <dsp:spPr>
        <a:xfrm>
          <a:off x="0" y="0"/>
          <a:ext cx="1298575" cy="2552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The precision (standard error of the estimated treatment effect size) depends on:</a:t>
          </a:r>
        </a:p>
      </dsp:txBody>
      <dsp:txXfrm>
        <a:off x="0" y="0"/>
        <a:ext cx="1298575" cy="2552700"/>
      </dsp:txXfrm>
    </dsp:sp>
    <dsp:sp modelId="{88A3386B-519E-448B-843A-65CF6172ACF8}">
      <dsp:nvSpPr>
        <dsp:cNvPr id="0" name=""/>
        <dsp:cNvSpPr/>
      </dsp:nvSpPr>
      <dsp:spPr>
        <a:xfrm>
          <a:off x="1395968" y="39885"/>
          <a:ext cx="5096906" cy="797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The type of design</a:t>
          </a:r>
        </a:p>
      </dsp:txBody>
      <dsp:txXfrm>
        <a:off x="1395968" y="39885"/>
        <a:ext cx="5096906" cy="797718"/>
      </dsp:txXfrm>
    </dsp:sp>
    <dsp:sp modelId="{1A363BB6-6E26-473D-999F-1B1CC4A655BA}">
      <dsp:nvSpPr>
        <dsp:cNvPr id="0" name=""/>
        <dsp:cNvSpPr/>
      </dsp:nvSpPr>
      <dsp:spPr>
        <a:xfrm>
          <a:off x="1298574" y="837604"/>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3FAEF6-F6B3-4ED6-8B2A-AE32D08F9211}">
      <dsp:nvSpPr>
        <dsp:cNvPr id="0" name=""/>
        <dsp:cNvSpPr/>
      </dsp:nvSpPr>
      <dsp:spPr>
        <a:xfrm>
          <a:off x="1395968" y="877490"/>
          <a:ext cx="5096906" cy="797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The sample size</a:t>
          </a:r>
          <a:r>
            <a:rPr lang="en-US" sz="2200" b="1" kern="1200"/>
            <a:t>s</a:t>
          </a:r>
          <a:endParaRPr lang="en-US" sz="2200" kern="1200"/>
        </a:p>
      </dsp:txBody>
      <dsp:txXfrm>
        <a:off x="1395968" y="877490"/>
        <a:ext cx="5096906" cy="797718"/>
      </dsp:txXfrm>
    </dsp:sp>
    <dsp:sp modelId="{0E5A83F9-F571-4FD0-86D2-7D0D27BCA143}">
      <dsp:nvSpPr>
        <dsp:cNvPr id="0" name=""/>
        <dsp:cNvSpPr/>
      </dsp:nvSpPr>
      <dsp:spPr>
        <a:xfrm>
          <a:off x="1298574" y="1675209"/>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6374C0A-9CC4-48CF-BA31-0A81706ED465}">
      <dsp:nvSpPr>
        <dsp:cNvPr id="0" name=""/>
        <dsp:cNvSpPr/>
      </dsp:nvSpPr>
      <dsp:spPr>
        <a:xfrm>
          <a:off x="1395968" y="1715095"/>
          <a:ext cx="5096906" cy="797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In some designs, other design parameters</a:t>
          </a:r>
        </a:p>
      </dsp:txBody>
      <dsp:txXfrm>
        <a:off x="1395968" y="1715095"/>
        <a:ext cx="5096906" cy="797718"/>
      </dsp:txXfrm>
    </dsp:sp>
    <dsp:sp modelId="{7ABE89BB-4BC4-463F-AB6B-5F0B68EE2E68}">
      <dsp:nvSpPr>
        <dsp:cNvPr id="0" name=""/>
        <dsp:cNvSpPr/>
      </dsp:nvSpPr>
      <dsp:spPr>
        <a:xfrm>
          <a:off x="1298574" y="2512814"/>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030CB9-D184-4604-8B7F-96EA56AE6FC0}">
      <dsp:nvSpPr>
        <dsp:cNvPr id="0" name=""/>
        <dsp:cNvSpPr/>
      </dsp:nvSpPr>
      <dsp:spPr>
        <a:xfrm>
          <a:off x="0" y="2552700"/>
          <a:ext cx="6492875"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8940D6-0829-4142-BC8E-F7DBAE5C41F8}">
      <dsp:nvSpPr>
        <dsp:cNvPr id="0" name=""/>
        <dsp:cNvSpPr/>
      </dsp:nvSpPr>
      <dsp:spPr>
        <a:xfrm>
          <a:off x="0" y="2552700"/>
          <a:ext cx="6492875" cy="2552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endParaRPr lang="en-US" sz="1900" kern="1200" dirty="0"/>
        </a:p>
        <a:p>
          <a:pPr marL="0" lvl="0" indent="0" algn="l" defTabSz="844550">
            <a:lnSpc>
              <a:spcPct val="90000"/>
            </a:lnSpc>
            <a:spcBef>
              <a:spcPct val="0"/>
            </a:spcBef>
            <a:spcAft>
              <a:spcPct val="35000"/>
            </a:spcAft>
            <a:buNone/>
          </a:pPr>
          <a:r>
            <a:rPr lang="en-US" sz="1900" kern="1200" dirty="0"/>
            <a:t>Note that precision does not depend on the treatment effect size</a:t>
          </a:r>
        </a:p>
      </dsp:txBody>
      <dsp:txXfrm>
        <a:off x="0" y="2552700"/>
        <a:ext cx="6492875" cy="25527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A2FF89-6325-484A-B7B0-03EB05E0C573}">
      <dsp:nvSpPr>
        <dsp:cNvPr id="0" name=""/>
        <dsp:cNvSpPr/>
      </dsp:nvSpPr>
      <dsp:spPr>
        <a:xfrm>
          <a:off x="0" y="0"/>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BF569F-5F5E-4C8F-94B1-56D49756A0E5}">
      <dsp:nvSpPr>
        <dsp:cNvPr id="0" name=""/>
        <dsp:cNvSpPr/>
      </dsp:nvSpPr>
      <dsp:spPr>
        <a:xfrm>
          <a:off x="0" y="0"/>
          <a:ext cx="1298575" cy="2552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Minimum detectable effect size depends on:</a:t>
          </a:r>
        </a:p>
      </dsp:txBody>
      <dsp:txXfrm>
        <a:off x="0" y="0"/>
        <a:ext cx="1298575" cy="2552700"/>
      </dsp:txXfrm>
    </dsp:sp>
    <dsp:sp modelId="{73BDBA5F-FA3E-45E3-80AE-E5A75AC5575C}">
      <dsp:nvSpPr>
        <dsp:cNvPr id="0" name=""/>
        <dsp:cNvSpPr/>
      </dsp:nvSpPr>
      <dsp:spPr>
        <a:xfrm>
          <a:off x="1395968" y="24056"/>
          <a:ext cx="5096906" cy="481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The significance level (0.05 is a very strong convention)</a:t>
          </a:r>
        </a:p>
      </dsp:txBody>
      <dsp:txXfrm>
        <a:off x="1395968" y="24056"/>
        <a:ext cx="5096906" cy="481124"/>
      </dsp:txXfrm>
    </dsp:sp>
    <dsp:sp modelId="{488F2383-46C4-403D-BDF5-2DEF986FD98A}">
      <dsp:nvSpPr>
        <dsp:cNvPr id="0" name=""/>
        <dsp:cNvSpPr/>
      </dsp:nvSpPr>
      <dsp:spPr>
        <a:xfrm>
          <a:off x="1298574" y="505180"/>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509C72-5416-4129-A3B5-F4D90849EC6F}">
      <dsp:nvSpPr>
        <dsp:cNvPr id="0" name=""/>
        <dsp:cNvSpPr/>
      </dsp:nvSpPr>
      <dsp:spPr>
        <a:xfrm>
          <a:off x="1395968" y="529236"/>
          <a:ext cx="5096906" cy="481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The power level desired (0.8 is a strong convention)</a:t>
          </a:r>
        </a:p>
      </dsp:txBody>
      <dsp:txXfrm>
        <a:off x="1395968" y="529236"/>
        <a:ext cx="5096906" cy="481124"/>
      </dsp:txXfrm>
    </dsp:sp>
    <dsp:sp modelId="{E8F443CB-254E-4256-8BF6-3C85A33492BD}">
      <dsp:nvSpPr>
        <dsp:cNvPr id="0" name=""/>
        <dsp:cNvSpPr/>
      </dsp:nvSpPr>
      <dsp:spPr>
        <a:xfrm>
          <a:off x="1298574" y="1010360"/>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70A1D3-1904-4E69-B081-B21E02DACBA8}">
      <dsp:nvSpPr>
        <dsp:cNvPr id="0" name=""/>
        <dsp:cNvSpPr/>
      </dsp:nvSpPr>
      <dsp:spPr>
        <a:xfrm>
          <a:off x="1395968" y="1034416"/>
          <a:ext cx="5096906" cy="481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The type of design</a:t>
          </a:r>
        </a:p>
      </dsp:txBody>
      <dsp:txXfrm>
        <a:off x="1395968" y="1034416"/>
        <a:ext cx="5096906" cy="481124"/>
      </dsp:txXfrm>
    </dsp:sp>
    <dsp:sp modelId="{14E07CD5-1221-45A2-B7D7-C33FD3FA3FF4}">
      <dsp:nvSpPr>
        <dsp:cNvPr id="0" name=""/>
        <dsp:cNvSpPr/>
      </dsp:nvSpPr>
      <dsp:spPr>
        <a:xfrm>
          <a:off x="1298574" y="1515540"/>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D6D13F-E155-4032-8BE6-D637C26DDDB8}">
      <dsp:nvSpPr>
        <dsp:cNvPr id="0" name=""/>
        <dsp:cNvSpPr/>
      </dsp:nvSpPr>
      <dsp:spPr>
        <a:xfrm>
          <a:off x="1395968" y="1539597"/>
          <a:ext cx="5096906" cy="481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The sample size</a:t>
          </a:r>
          <a:r>
            <a:rPr lang="en-US" sz="1700" b="1" kern="1200"/>
            <a:t>s</a:t>
          </a:r>
          <a:endParaRPr lang="en-US" sz="1700" kern="1200"/>
        </a:p>
      </dsp:txBody>
      <dsp:txXfrm>
        <a:off x="1395968" y="1539597"/>
        <a:ext cx="5096906" cy="481124"/>
      </dsp:txXfrm>
    </dsp:sp>
    <dsp:sp modelId="{9A71254C-B31C-437F-AEFA-92AAB7E6D425}">
      <dsp:nvSpPr>
        <dsp:cNvPr id="0" name=""/>
        <dsp:cNvSpPr/>
      </dsp:nvSpPr>
      <dsp:spPr>
        <a:xfrm>
          <a:off x="1298574" y="2020721"/>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2A8818-F4ED-440A-94D4-FE912EBAC525}">
      <dsp:nvSpPr>
        <dsp:cNvPr id="0" name=""/>
        <dsp:cNvSpPr/>
      </dsp:nvSpPr>
      <dsp:spPr>
        <a:xfrm>
          <a:off x="1395968" y="2044777"/>
          <a:ext cx="5096906" cy="481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In some designs, there are other design parameters</a:t>
          </a:r>
        </a:p>
      </dsp:txBody>
      <dsp:txXfrm>
        <a:off x="1395968" y="2044777"/>
        <a:ext cx="5096906" cy="481124"/>
      </dsp:txXfrm>
    </dsp:sp>
    <dsp:sp modelId="{AA73DD7F-9AF7-4A52-8B14-CA287D49B692}">
      <dsp:nvSpPr>
        <dsp:cNvPr id="0" name=""/>
        <dsp:cNvSpPr/>
      </dsp:nvSpPr>
      <dsp:spPr>
        <a:xfrm>
          <a:off x="1298574" y="2525901"/>
          <a:ext cx="519430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E1C3CF-D262-476A-AC33-F3B9D3B5C575}">
      <dsp:nvSpPr>
        <dsp:cNvPr id="0" name=""/>
        <dsp:cNvSpPr/>
      </dsp:nvSpPr>
      <dsp:spPr>
        <a:xfrm>
          <a:off x="0" y="2552700"/>
          <a:ext cx="6492875"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250757-0BD2-4846-8322-4C3F74529382}">
      <dsp:nvSpPr>
        <dsp:cNvPr id="0" name=""/>
        <dsp:cNvSpPr/>
      </dsp:nvSpPr>
      <dsp:spPr>
        <a:xfrm>
          <a:off x="0" y="2552700"/>
          <a:ext cx="6079278" cy="2552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endParaRPr lang="en-US" sz="2000" kern="1200" dirty="0"/>
        </a:p>
        <a:p>
          <a:pPr marL="0" lvl="0" indent="0" algn="l" defTabSz="889000">
            <a:lnSpc>
              <a:spcPct val="90000"/>
            </a:lnSpc>
            <a:spcBef>
              <a:spcPct val="0"/>
            </a:spcBef>
            <a:spcAft>
              <a:spcPct val="35000"/>
            </a:spcAft>
            <a:buNone/>
          </a:pPr>
          <a:r>
            <a:rPr lang="en-US" sz="2000" kern="1200" dirty="0"/>
            <a:t>Note that MDES does not depend on the effect size</a:t>
          </a:r>
        </a:p>
      </dsp:txBody>
      <dsp:txXfrm>
        <a:off x="0" y="2552700"/>
        <a:ext cx="6079278" cy="25527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A62FF2-D980-48DB-AF8B-DA86A1A28684}">
      <dsp:nvSpPr>
        <dsp:cNvPr id="0" name=""/>
        <dsp:cNvSpPr/>
      </dsp:nvSpPr>
      <dsp:spPr>
        <a:xfrm>
          <a:off x="0" y="361719"/>
          <a:ext cx="10515600" cy="1153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Calculating statistical power requires selecting an effect size in advance and then finding a sample size that yields adequate power</a:t>
          </a:r>
        </a:p>
      </dsp:txBody>
      <dsp:txXfrm>
        <a:off x="56315" y="418034"/>
        <a:ext cx="10402970" cy="1040990"/>
      </dsp:txXfrm>
    </dsp:sp>
    <dsp:sp modelId="{23EB99A4-C01C-453E-9787-E47F6C0047F7}">
      <dsp:nvSpPr>
        <dsp:cNvPr id="0" name=""/>
        <dsp:cNvSpPr/>
      </dsp:nvSpPr>
      <dsp:spPr>
        <a:xfrm>
          <a:off x="0" y="1598859"/>
          <a:ext cx="10515600" cy="1153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Precision is simpler than power, but if we are concerned about getting statistically significant results, precision is indirect</a:t>
          </a:r>
        </a:p>
      </dsp:txBody>
      <dsp:txXfrm>
        <a:off x="56315" y="1655174"/>
        <a:ext cx="10402970" cy="1040990"/>
      </dsp:txXfrm>
    </dsp:sp>
    <dsp:sp modelId="{8CDD5EA2-CBE2-42AF-864A-A8993843B073}">
      <dsp:nvSpPr>
        <dsp:cNvPr id="0" name=""/>
        <dsp:cNvSpPr/>
      </dsp:nvSpPr>
      <dsp:spPr>
        <a:xfrm>
          <a:off x="0" y="2835999"/>
          <a:ext cx="10515600" cy="1153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Minimum detectable effect size makes it easy to find the sample size that can detect an effect of the size  you expect </a:t>
          </a:r>
        </a:p>
      </dsp:txBody>
      <dsp:txXfrm>
        <a:off x="56315" y="2892314"/>
        <a:ext cx="10402970" cy="104099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AF0C5-EB6C-4893-B722-659CB0107B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0C27A6-7104-4A37-A8F6-39DA26A7F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78F485-1D3F-44A0-82B5-EC450108834F}"/>
              </a:ext>
            </a:extLst>
          </p:cNvPr>
          <p:cNvSpPr>
            <a:spLocks noGrp="1"/>
          </p:cNvSpPr>
          <p:nvPr>
            <p:ph type="dt" sz="half" idx="10"/>
          </p:nvPr>
        </p:nvSpPr>
        <p:spPr/>
        <p:txBody>
          <a:bodyPr/>
          <a:lstStyle/>
          <a:p>
            <a:fld id="{5E28A719-BE6E-43F5-814C-24DB4B875CB5}" type="datetimeFigureOut">
              <a:rPr lang="en-US" smtClean="0"/>
              <a:t>7/4/2021</a:t>
            </a:fld>
            <a:endParaRPr lang="en-US"/>
          </a:p>
        </p:txBody>
      </p:sp>
      <p:sp>
        <p:nvSpPr>
          <p:cNvPr id="5" name="Footer Placeholder 4">
            <a:extLst>
              <a:ext uri="{FF2B5EF4-FFF2-40B4-BE49-F238E27FC236}">
                <a16:creationId xmlns:a16="http://schemas.microsoft.com/office/drawing/2014/main" id="{00F882C0-8213-4634-9062-12DFAC008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181DAD-96C3-43DF-9B3B-84E7864869C1}"/>
              </a:ext>
            </a:extLst>
          </p:cNvPr>
          <p:cNvSpPr>
            <a:spLocks noGrp="1"/>
          </p:cNvSpPr>
          <p:nvPr>
            <p:ph type="sldNum" sz="quarter" idx="12"/>
          </p:nvPr>
        </p:nvSpPr>
        <p:spPr/>
        <p:txBody>
          <a:bodyPr/>
          <a:lstStyle/>
          <a:p>
            <a:fld id="{5E2111B6-2E13-46EA-A042-8BBCA2DACBE6}" type="slidenum">
              <a:rPr lang="en-US" smtClean="0"/>
              <a:t>‹#›</a:t>
            </a:fld>
            <a:endParaRPr lang="en-US"/>
          </a:p>
        </p:txBody>
      </p:sp>
    </p:spTree>
    <p:extLst>
      <p:ext uri="{BB962C8B-B14F-4D97-AF65-F5344CB8AC3E}">
        <p14:creationId xmlns:p14="http://schemas.microsoft.com/office/powerpoint/2010/main" val="2536156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2D514-C63A-4E8A-8E6B-79755232B6E7}"/>
              </a:ext>
            </a:extLst>
          </p:cNvPr>
          <p:cNvSpPr>
            <a:spLocks noGrp="1"/>
          </p:cNvSpPr>
          <p:nvPr>
            <p:ph type="title"/>
          </p:nvPr>
        </p:nvSpPr>
        <p:spPr/>
        <p:txBody>
          <a:bodyPr>
            <a:normAutofit/>
          </a:bodyPr>
          <a:lstStyle>
            <a:lvl1pPr algn="ctr">
              <a:defRPr sz="36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CA35241D-D5B2-449B-8634-CACF0BD3BA4D}"/>
              </a:ext>
            </a:extLst>
          </p:cNvPr>
          <p:cNvSpPr>
            <a:spLocks noGrp="1"/>
          </p:cNvSpPr>
          <p:nvPr>
            <p:ph idx="1"/>
          </p:nvPr>
        </p:nvSpPr>
        <p:spPr/>
        <p:txBody>
          <a:bodyPr>
            <a:normAutofit/>
          </a:bodyPr>
          <a:lstStyle>
            <a:lvl1pPr>
              <a:spcBef>
                <a:spcPts val="0"/>
              </a:spcBef>
              <a:defRPr sz="2000"/>
            </a:lvl1pPr>
            <a:lvl2pPr>
              <a:spcBef>
                <a:spcPts val="0"/>
              </a:spcBef>
              <a:defRPr sz="2000"/>
            </a:lvl2pPr>
            <a:lvl3pPr>
              <a:spcBef>
                <a:spcPts val="0"/>
              </a:spcBef>
              <a:defRPr sz="2000"/>
            </a:lvl3pPr>
            <a:lvl4pPr>
              <a:spcBef>
                <a:spcPts val="0"/>
              </a:spcBef>
              <a:defRPr sz="2000"/>
            </a:lvl4pPr>
            <a:lvl5pPr>
              <a:spcBef>
                <a:spcPts val="0"/>
              </a:spcBef>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E4B1EA-4AF0-4E4D-B193-A6762466F9C3}"/>
              </a:ext>
            </a:extLst>
          </p:cNvPr>
          <p:cNvSpPr>
            <a:spLocks noGrp="1"/>
          </p:cNvSpPr>
          <p:nvPr>
            <p:ph type="dt" sz="half" idx="10"/>
          </p:nvPr>
        </p:nvSpPr>
        <p:spPr/>
        <p:txBody>
          <a:bodyPr/>
          <a:lstStyle/>
          <a:p>
            <a:fld id="{5E28A719-BE6E-43F5-814C-24DB4B875CB5}" type="datetimeFigureOut">
              <a:rPr lang="en-US" smtClean="0"/>
              <a:t>7/4/2021</a:t>
            </a:fld>
            <a:endParaRPr lang="en-US"/>
          </a:p>
        </p:txBody>
      </p:sp>
      <p:sp>
        <p:nvSpPr>
          <p:cNvPr id="5" name="Footer Placeholder 4">
            <a:extLst>
              <a:ext uri="{FF2B5EF4-FFF2-40B4-BE49-F238E27FC236}">
                <a16:creationId xmlns:a16="http://schemas.microsoft.com/office/drawing/2014/main" id="{0309E7F8-0763-4305-ABD0-067DFB9C1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D68384-E99D-4860-975E-9B9FD6B29A09}"/>
              </a:ext>
            </a:extLst>
          </p:cNvPr>
          <p:cNvSpPr>
            <a:spLocks noGrp="1"/>
          </p:cNvSpPr>
          <p:nvPr>
            <p:ph type="sldNum" sz="quarter" idx="12"/>
          </p:nvPr>
        </p:nvSpPr>
        <p:spPr/>
        <p:txBody>
          <a:bodyPr/>
          <a:lstStyle/>
          <a:p>
            <a:fld id="{5E2111B6-2E13-46EA-A042-8BBCA2DACBE6}" type="slidenum">
              <a:rPr lang="en-US" smtClean="0"/>
              <a:t>‹#›</a:t>
            </a:fld>
            <a:endParaRPr lang="en-US"/>
          </a:p>
        </p:txBody>
      </p:sp>
    </p:spTree>
    <p:extLst>
      <p:ext uri="{BB962C8B-B14F-4D97-AF65-F5344CB8AC3E}">
        <p14:creationId xmlns:p14="http://schemas.microsoft.com/office/powerpoint/2010/main" val="2837798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D313A-1E02-4B8F-A2D7-33F2DAA0C3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886A5C-AA49-4D2F-9BD6-B7BC51D498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BB79A9-5B10-49E0-B626-D7D8F881C7A4}"/>
              </a:ext>
            </a:extLst>
          </p:cNvPr>
          <p:cNvSpPr>
            <a:spLocks noGrp="1"/>
          </p:cNvSpPr>
          <p:nvPr>
            <p:ph type="dt" sz="half" idx="10"/>
          </p:nvPr>
        </p:nvSpPr>
        <p:spPr/>
        <p:txBody>
          <a:bodyPr/>
          <a:lstStyle/>
          <a:p>
            <a:fld id="{5E28A719-BE6E-43F5-814C-24DB4B875CB5}" type="datetimeFigureOut">
              <a:rPr lang="en-US" smtClean="0"/>
              <a:t>7/4/2021</a:t>
            </a:fld>
            <a:endParaRPr lang="en-US"/>
          </a:p>
        </p:txBody>
      </p:sp>
      <p:sp>
        <p:nvSpPr>
          <p:cNvPr id="5" name="Footer Placeholder 4">
            <a:extLst>
              <a:ext uri="{FF2B5EF4-FFF2-40B4-BE49-F238E27FC236}">
                <a16:creationId xmlns:a16="http://schemas.microsoft.com/office/drawing/2014/main" id="{CF65463E-0B33-4FED-AB03-B972732E52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37AA7E-4971-492C-B5A4-5E3CF4E24BE2}"/>
              </a:ext>
            </a:extLst>
          </p:cNvPr>
          <p:cNvSpPr>
            <a:spLocks noGrp="1"/>
          </p:cNvSpPr>
          <p:nvPr>
            <p:ph type="sldNum" sz="quarter" idx="12"/>
          </p:nvPr>
        </p:nvSpPr>
        <p:spPr/>
        <p:txBody>
          <a:bodyPr/>
          <a:lstStyle/>
          <a:p>
            <a:fld id="{5E2111B6-2E13-46EA-A042-8BBCA2DACBE6}" type="slidenum">
              <a:rPr lang="en-US" smtClean="0"/>
              <a:t>‹#›</a:t>
            </a:fld>
            <a:endParaRPr lang="en-US"/>
          </a:p>
        </p:txBody>
      </p:sp>
    </p:spTree>
    <p:extLst>
      <p:ext uri="{BB962C8B-B14F-4D97-AF65-F5344CB8AC3E}">
        <p14:creationId xmlns:p14="http://schemas.microsoft.com/office/powerpoint/2010/main" val="2693451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3B5ED-595A-45CD-AF09-4785094693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8ED6C0-CA27-4DD9-AE19-3E3F530AE2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3EBE21-F687-4608-8220-BEA79AA971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969B97-6BDF-40B7-A278-CD5E403B5646}"/>
              </a:ext>
            </a:extLst>
          </p:cNvPr>
          <p:cNvSpPr>
            <a:spLocks noGrp="1"/>
          </p:cNvSpPr>
          <p:nvPr>
            <p:ph type="dt" sz="half" idx="10"/>
          </p:nvPr>
        </p:nvSpPr>
        <p:spPr/>
        <p:txBody>
          <a:bodyPr/>
          <a:lstStyle/>
          <a:p>
            <a:fld id="{5E28A719-BE6E-43F5-814C-24DB4B875CB5}" type="datetimeFigureOut">
              <a:rPr lang="en-US" smtClean="0"/>
              <a:t>7/4/2021</a:t>
            </a:fld>
            <a:endParaRPr lang="en-US"/>
          </a:p>
        </p:txBody>
      </p:sp>
      <p:sp>
        <p:nvSpPr>
          <p:cNvPr id="6" name="Footer Placeholder 5">
            <a:extLst>
              <a:ext uri="{FF2B5EF4-FFF2-40B4-BE49-F238E27FC236}">
                <a16:creationId xmlns:a16="http://schemas.microsoft.com/office/drawing/2014/main" id="{6E202AC3-284F-420F-860F-75A9829DF9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FD1B01-52A9-4BF0-A478-888A1A297F05}"/>
              </a:ext>
            </a:extLst>
          </p:cNvPr>
          <p:cNvSpPr>
            <a:spLocks noGrp="1"/>
          </p:cNvSpPr>
          <p:nvPr>
            <p:ph type="sldNum" sz="quarter" idx="12"/>
          </p:nvPr>
        </p:nvSpPr>
        <p:spPr/>
        <p:txBody>
          <a:bodyPr/>
          <a:lstStyle/>
          <a:p>
            <a:fld id="{5E2111B6-2E13-46EA-A042-8BBCA2DACBE6}" type="slidenum">
              <a:rPr lang="en-US" smtClean="0"/>
              <a:t>‹#›</a:t>
            </a:fld>
            <a:endParaRPr lang="en-US"/>
          </a:p>
        </p:txBody>
      </p:sp>
    </p:spTree>
    <p:extLst>
      <p:ext uri="{BB962C8B-B14F-4D97-AF65-F5344CB8AC3E}">
        <p14:creationId xmlns:p14="http://schemas.microsoft.com/office/powerpoint/2010/main" val="4255960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9274E-00DD-428F-AE68-BF4844C5AF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32A7D6-720E-4C79-A528-5B3EF22FED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4313D2-60D3-4E08-BEE6-FA1F0EB1A0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BF3424-AE4C-4E3B-BED3-05813CA060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4368CD-B5DA-4686-B0C6-4D7C629405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89B7BE-9FDA-49E1-A98F-172643732A0B}"/>
              </a:ext>
            </a:extLst>
          </p:cNvPr>
          <p:cNvSpPr>
            <a:spLocks noGrp="1"/>
          </p:cNvSpPr>
          <p:nvPr>
            <p:ph type="dt" sz="half" idx="10"/>
          </p:nvPr>
        </p:nvSpPr>
        <p:spPr/>
        <p:txBody>
          <a:bodyPr/>
          <a:lstStyle/>
          <a:p>
            <a:fld id="{5E28A719-BE6E-43F5-814C-24DB4B875CB5}" type="datetimeFigureOut">
              <a:rPr lang="en-US" smtClean="0"/>
              <a:t>7/4/2021</a:t>
            </a:fld>
            <a:endParaRPr lang="en-US"/>
          </a:p>
        </p:txBody>
      </p:sp>
      <p:sp>
        <p:nvSpPr>
          <p:cNvPr id="8" name="Footer Placeholder 7">
            <a:extLst>
              <a:ext uri="{FF2B5EF4-FFF2-40B4-BE49-F238E27FC236}">
                <a16:creationId xmlns:a16="http://schemas.microsoft.com/office/drawing/2014/main" id="{E6EA8251-683A-4874-8DE2-05C262E55A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160BF0-F19E-4095-BAF9-3E54F4452A5C}"/>
              </a:ext>
            </a:extLst>
          </p:cNvPr>
          <p:cNvSpPr>
            <a:spLocks noGrp="1"/>
          </p:cNvSpPr>
          <p:nvPr>
            <p:ph type="sldNum" sz="quarter" idx="12"/>
          </p:nvPr>
        </p:nvSpPr>
        <p:spPr/>
        <p:txBody>
          <a:bodyPr/>
          <a:lstStyle/>
          <a:p>
            <a:fld id="{5E2111B6-2E13-46EA-A042-8BBCA2DACBE6}" type="slidenum">
              <a:rPr lang="en-US" smtClean="0"/>
              <a:t>‹#›</a:t>
            </a:fld>
            <a:endParaRPr lang="en-US"/>
          </a:p>
        </p:txBody>
      </p:sp>
    </p:spTree>
    <p:extLst>
      <p:ext uri="{BB962C8B-B14F-4D97-AF65-F5344CB8AC3E}">
        <p14:creationId xmlns:p14="http://schemas.microsoft.com/office/powerpoint/2010/main" val="3712016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655AF-863E-4575-AB52-5CA3D44A8A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4F80B4-2F51-4D2B-9E7C-B38598A16F49}"/>
              </a:ext>
            </a:extLst>
          </p:cNvPr>
          <p:cNvSpPr>
            <a:spLocks noGrp="1"/>
          </p:cNvSpPr>
          <p:nvPr>
            <p:ph type="dt" sz="half" idx="10"/>
          </p:nvPr>
        </p:nvSpPr>
        <p:spPr/>
        <p:txBody>
          <a:bodyPr/>
          <a:lstStyle/>
          <a:p>
            <a:fld id="{5E28A719-BE6E-43F5-814C-24DB4B875CB5}" type="datetimeFigureOut">
              <a:rPr lang="en-US" smtClean="0"/>
              <a:t>7/4/2021</a:t>
            </a:fld>
            <a:endParaRPr lang="en-US"/>
          </a:p>
        </p:txBody>
      </p:sp>
      <p:sp>
        <p:nvSpPr>
          <p:cNvPr id="4" name="Footer Placeholder 3">
            <a:extLst>
              <a:ext uri="{FF2B5EF4-FFF2-40B4-BE49-F238E27FC236}">
                <a16:creationId xmlns:a16="http://schemas.microsoft.com/office/drawing/2014/main" id="{D64937A1-1492-4021-B38A-B3F72449A8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EF2E37-08FF-48D4-ABE7-07403B38E6DC}"/>
              </a:ext>
            </a:extLst>
          </p:cNvPr>
          <p:cNvSpPr>
            <a:spLocks noGrp="1"/>
          </p:cNvSpPr>
          <p:nvPr>
            <p:ph type="sldNum" sz="quarter" idx="12"/>
          </p:nvPr>
        </p:nvSpPr>
        <p:spPr/>
        <p:txBody>
          <a:bodyPr/>
          <a:lstStyle/>
          <a:p>
            <a:fld id="{5E2111B6-2E13-46EA-A042-8BBCA2DACBE6}" type="slidenum">
              <a:rPr lang="en-US" smtClean="0"/>
              <a:t>‹#›</a:t>
            </a:fld>
            <a:endParaRPr lang="en-US"/>
          </a:p>
        </p:txBody>
      </p:sp>
    </p:spTree>
    <p:extLst>
      <p:ext uri="{BB962C8B-B14F-4D97-AF65-F5344CB8AC3E}">
        <p14:creationId xmlns:p14="http://schemas.microsoft.com/office/powerpoint/2010/main" val="3721637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9D419E-E93E-428A-97F8-8A6578292AB5}"/>
              </a:ext>
            </a:extLst>
          </p:cNvPr>
          <p:cNvSpPr>
            <a:spLocks noGrp="1"/>
          </p:cNvSpPr>
          <p:nvPr>
            <p:ph type="dt" sz="half" idx="10"/>
          </p:nvPr>
        </p:nvSpPr>
        <p:spPr/>
        <p:txBody>
          <a:bodyPr/>
          <a:lstStyle/>
          <a:p>
            <a:fld id="{5E28A719-BE6E-43F5-814C-24DB4B875CB5}" type="datetimeFigureOut">
              <a:rPr lang="en-US" smtClean="0"/>
              <a:t>7/4/2021</a:t>
            </a:fld>
            <a:endParaRPr lang="en-US"/>
          </a:p>
        </p:txBody>
      </p:sp>
      <p:sp>
        <p:nvSpPr>
          <p:cNvPr id="3" name="Footer Placeholder 2">
            <a:extLst>
              <a:ext uri="{FF2B5EF4-FFF2-40B4-BE49-F238E27FC236}">
                <a16:creationId xmlns:a16="http://schemas.microsoft.com/office/drawing/2014/main" id="{2D386212-F17B-45A2-B4B6-5316DEBA56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9A084C-025D-4F90-8706-6FB68C9788DB}"/>
              </a:ext>
            </a:extLst>
          </p:cNvPr>
          <p:cNvSpPr>
            <a:spLocks noGrp="1"/>
          </p:cNvSpPr>
          <p:nvPr>
            <p:ph type="sldNum" sz="quarter" idx="12"/>
          </p:nvPr>
        </p:nvSpPr>
        <p:spPr/>
        <p:txBody>
          <a:bodyPr/>
          <a:lstStyle/>
          <a:p>
            <a:fld id="{5E2111B6-2E13-46EA-A042-8BBCA2DACBE6}" type="slidenum">
              <a:rPr lang="en-US" smtClean="0"/>
              <a:t>‹#›</a:t>
            </a:fld>
            <a:endParaRPr lang="en-US"/>
          </a:p>
        </p:txBody>
      </p:sp>
    </p:spTree>
    <p:extLst>
      <p:ext uri="{BB962C8B-B14F-4D97-AF65-F5344CB8AC3E}">
        <p14:creationId xmlns:p14="http://schemas.microsoft.com/office/powerpoint/2010/main" val="647625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715FA-F245-4452-961D-BC143B5E7A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917CCB1-7B93-4C35-85DC-FE7D1C2141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C7D52F-8468-4DAC-BD00-6CEBFBAE01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AA4CE5-20D4-408A-884E-091EAE4AF1A1}"/>
              </a:ext>
            </a:extLst>
          </p:cNvPr>
          <p:cNvSpPr>
            <a:spLocks noGrp="1"/>
          </p:cNvSpPr>
          <p:nvPr>
            <p:ph type="dt" sz="half" idx="10"/>
          </p:nvPr>
        </p:nvSpPr>
        <p:spPr/>
        <p:txBody>
          <a:bodyPr/>
          <a:lstStyle/>
          <a:p>
            <a:fld id="{5E28A719-BE6E-43F5-814C-24DB4B875CB5}" type="datetimeFigureOut">
              <a:rPr lang="en-US" smtClean="0"/>
              <a:t>7/4/2021</a:t>
            </a:fld>
            <a:endParaRPr lang="en-US"/>
          </a:p>
        </p:txBody>
      </p:sp>
      <p:sp>
        <p:nvSpPr>
          <p:cNvPr id="6" name="Footer Placeholder 5">
            <a:extLst>
              <a:ext uri="{FF2B5EF4-FFF2-40B4-BE49-F238E27FC236}">
                <a16:creationId xmlns:a16="http://schemas.microsoft.com/office/drawing/2014/main" id="{0351FBFE-3637-47A5-AFFB-33E9A4D02E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1E38CF-8B16-4295-B9E2-94E7ACA2F102}"/>
              </a:ext>
            </a:extLst>
          </p:cNvPr>
          <p:cNvSpPr>
            <a:spLocks noGrp="1"/>
          </p:cNvSpPr>
          <p:nvPr>
            <p:ph type="sldNum" sz="quarter" idx="12"/>
          </p:nvPr>
        </p:nvSpPr>
        <p:spPr/>
        <p:txBody>
          <a:bodyPr/>
          <a:lstStyle/>
          <a:p>
            <a:fld id="{5E2111B6-2E13-46EA-A042-8BBCA2DACBE6}" type="slidenum">
              <a:rPr lang="en-US" smtClean="0"/>
              <a:t>‹#›</a:t>
            </a:fld>
            <a:endParaRPr lang="en-US"/>
          </a:p>
        </p:txBody>
      </p:sp>
    </p:spTree>
    <p:extLst>
      <p:ext uri="{BB962C8B-B14F-4D97-AF65-F5344CB8AC3E}">
        <p14:creationId xmlns:p14="http://schemas.microsoft.com/office/powerpoint/2010/main" val="392542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BDEE-E21B-4863-93BD-1F653728ED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E597FE-C159-4DB8-8C2A-FA792C4B99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F1C9AF-776D-4BD4-9DEC-2CA82DAB4E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EBBD91-C071-4EC8-BE5E-A24BA3BF12F8}"/>
              </a:ext>
            </a:extLst>
          </p:cNvPr>
          <p:cNvSpPr>
            <a:spLocks noGrp="1"/>
          </p:cNvSpPr>
          <p:nvPr>
            <p:ph type="dt" sz="half" idx="10"/>
          </p:nvPr>
        </p:nvSpPr>
        <p:spPr/>
        <p:txBody>
          <a:bodyPr/>
          <a:lstStyle/>
          <a:p>
            <a:fld id="{5E28A719-BE6E-43F5-814C-24DB4B875CB5}" type="datetimeFigureOut">
              <a:rPr lang="en-US" smtClean="0"/>
              <a:t>7/4/2021</a:t>
            </a:fld>
            <a:endParaRPr lang="en-US"/>
          </a:p>
        </p:txBody>
      </p:sp>
      <p:sp>
        <p:nvSpPr>
          <p:cNvPr id="6" name="Footer Placeholder 5">
            <a:extLst>
              <a:ext uri="{FF2B5EF4-FFF2-40B4-BE49-F238E27FC236}">
                <a16:creationId xmlns:a16="http://schemas.microsoft.com/office/drawing/2014/main" id="{E7820E77-3709-4873-BCDB-9997B95937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918D2A-98D9-4DA2-BC47-89037A2E0B6C}"/>
              </a:ext>
            </a:extLst>
          </p:cNvPr>
          <p:cNvSpPr>
            <a:spLocks noGrp="1"/>
          </p:cNvSpPr>
          <p:nvPr>
            <p:ph type="sldNum" sz="quarter" idx="12"/>
          </p:nvPr>
        </p:nvSpPr>
        <p:spPr/>
        <p:txBody>
          <a:bodyPr/>
          <a:lstStyle/>
          <a:p>
            <a:fld id="{5E2111B6-2E13-46EA-A042-8BBCA2DACBE6}" type="slidenum">
              <a:rPr lang="en-US" smtClean="0"/>
              <a:t>‹#›</a:t>
            </a:fld>
            <a:endParaRPr lang="en-US"/>
          </a:p>
        </p:txBody>
      </p:sp>
    </p:spTree>
    <p:extLst>
      <p:ext uri="{BB962C8B-B14F-4D97-AF65-F5344CB8AC3E}">
        <p14:creationId xmlns:p14="http://schemas.microsoft.com/office/powerpoint/2010/main" val="2160388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33B7C-BF5C-4287-BA4E-1FFECACAAA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13BB81-27AF-4FF3-AF5B-1BC6582D55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C384C0-A1DC-48A0-A6F2-F276382FFE82}"/>
              </a:ext>
            </a:extLst>
          </p:cNvPr>
          <p:cNvSpPr>
            <a:spLocks noGrp="1"/>
          </p:cNvSpPr>
          <p:nvPr>
            <p:ph type="dt" sz="half" idx="10"/>
          </p:nvPr>
        </p:nvSpPr>
        <p:spPr/>
        <p:txBody>
          <a:bodyPr/>
          <a:lstStyle/>
          <a:p>
            <a:fld id="{5E28A719-BE6E-43F5-814C-24DB4B875CB5}" type="datetimeFigureOut">
              <a:rPr lang="en-US" smtClean="0"/>
              <a:t>7/4/2021</a:t>
            </a:fld>
            <a:endParaRPr lang="en-US"/>
          </a:p>
        </p:txBody>
      </p:sp>
      <p:sp>
        <p:nvSpPr>
          <p:cNvPr id="5" name="Footer Placeholder 4">
            <a:extLst>
              <a:ext uri="{FF2B5EF4-FFF2-40B4-BE49-F238E27FC236}">
                <a16:creationId xmlns:a16="http://schemas.microsoft.com/office/drawing/2014/main" id="{6C4CD90D-4C67-4DED-9A08-A5247E3073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F2261A-E875-4042-B854-150B937034F2}"/>
              </a:ext>
            </a:extLst>
          </p:cNvPr>
          <p:cNvSpPr>
            <a:spLocks noGrp="1"/>
          </p:cNvSpPr>
          <p:nvPr>
            <p:ph type="sldNum" sz="quarter" idx="12"/>
          </p:nvPr>
        </p:nvSpPr>
        <p:spPr/>
        <p:txBody>
          <a:bodyPr/>
          <a:lstStyle/>
          <a:p>
            <a:fld id="{5E2111B6-2E13-46EA-A042-8BBCA2DACBE6}" type="slidenum">
              <a:rPr lang="en-US" smtClean="0"/>
              <a:t>‹#›</a:t>
            </a:fld>
            <a:endParaRPr lang="en-US"/>
          </a:p>
        </p:txBody>
      </p:sp>
    </p:spTree>
    <p:extLst>
      <p:ext uri="{BB962C8B-B14F-4D97-AF65-F5344CB8AC3E}">
        <p14:creationId xmlns:p14="http://schemas.microsoft.com/office/powerpoint/2010/main" val="1838026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E933E2-348F-4D02-A752-6982DD6633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DB14FB-805D-4432-A896-3AB0A6A32E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A0263E-0CE7-4F87-8DFA-76327BB5339C}"/>
              </a:ext>
            </a:extLst>
          </p:cNvPr>
          <p:cNvSpPr>
            <a:spLocks noGrp="1"/>
          </p:cNvSpPr>
          <p:nvPr>
            <p:ph type="dt" sz="half" idx="10"/>
          </p:nvPr>
        </p:nvSpPr>
        <p:spPr/>
        <p:txBody>
          <a:bodyPr/>
          <a:lstStyle/>
          <a:p>
            <a:fld id="{5E28A719-BE6E-43F5-814C-24DB4B875CB5}" type="datetimeFigureOut">
              <a:rPr lang="en-US" smtClean="0"/>
              <a:t>7/4/2021</a:t>
            </a:fld>
            <a:endParaRPr lang="en-US"/>
          </a:p>
        </p:txBody>
      </p:sp>
      <p:sp>
        <p:nvSpPr>
          <p:cNvPr id="5" name="Footer Placeholder 4">
            <a:extLst>
              <a:ext uri="{FF2B5EF4-FFF2-40B4-BE49-F238E27FC236}">
                <a16:creationId xmlns:a16="http://schemas.microsoft.com/office/drawing/2014/main" id="{0ADA233C-C564-4AC1-BBF3-97F930D13D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733225-6E58-4E5C-A701-B592C0FC3F1B}"/>
              </a:ext>
            </a:extLst>
          </p:cNvPr>
          <p:cNvSpPr>
            <a:spLocks noGrp="1"/>
          </p:cNvSpPr>
          <p:nvPr>
            <p:ph type="sldNum" sz="quarter" idx="12"/>
          </p:nvPr>
        </p:nvSpPr>
        <p:spPr/>
        <p:txBody>
          <a:bodyPr/>
          <a:lstStyle/>
          <a:p>
            <a:fld id="{5E2111B6-2E13-46EA-A042-8BBCA2DACBE6}" type="slidenum">
              <a:rPr lang="en-US" smtClean="0"/>
              <a:t>‹#›</a:t>
            </a:fld>
            <a:endParaRPr lang="en-US"/>
          </a:p>
        </p:txBody>
      </p:sp>
    </p:spTree>
    <p:extLst>
      <p:ext uri="{BB962C8B-B14F-4D97-AF65-F5344CB8AC3E}">
        <p14:creationId xmlns:p14="http://schemas.microsoft.com/office/powerpoint/2010/main" val="518549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EC12B1-661B-4C43-9B05-03345F9566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EDD7B-14D0-402F-8C0C-F5C7A4491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43764E-1D27-419B-9207-B1E06165C4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28A719-BE6E-43F5-814C-24DB4B875CB5}" type="datetimeFigureOut">
              <a:rPr lang="en-US" smtClean="0"/>
              <a:t>7/4/2021</a:t>
            </a:fld>
            <a:endParaRPr lang="en-US"/>
          </a:p>
        </p:txBody>
      </p:sp>
      <p:sp>
        <p:nvSpPr>
          <p:cNvPr id="5" name="Footer Placeholder 4">
            <a:extLst>
              <a:ext uri="{FF2B5EF4-FFF2-40B4-BE49-F238E27FC236}">
                <a16:creationId xmlns:a16="http://schemas.microsoft.com/office/drawing/2014/main" id="{16FAFC22-1A7C-4C66-9AD9-C806086E2C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EF0CC1D-0B98-4CF7-A3E0-AE3D8B4E1C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2111B6-2E13-46EA-A042-8BBCA2DACBE6}" type="slidenum">
              <a:rPr lang="en-US" smtClean="0"/>
              <a:t>‹#›</a:t>
            </a:fld>
            <a:endParaRPr lang="en-US"/>
          </a:p>
        </p:txBody>
      </p:sp>
    </p:spTree>
    <p:extLst>
      <p:ext uri="{BB962C8B-B14F-4D97-AF65-F5344CB8AC3E}">
        <p14:creationId xmlns:p14="http://schemas.microsoft.com/office/powerpoint/2010/main" val="2933328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CC4AB-651B-4EC8-958F-45B23C1E5941}"/>
              </a:ext>
            </a:extLst>
          </p:cNvPr>
          <p:cNvSpPr>
            <a:spLocks noGrp="1"/>
          </p:cNvSpPr>
          <p:nvPr>
            <p:ph type="ctrTitle"/>
          </p:nvPr>
        </p:nvSpPr>
        <p:spPr/>
        <p:txBody>
          <a:bodyPr anchor="ctr">
            <a:normAutofit/>
          </a:bodyPr>
          <a:lstStyle/>
          <a:p>
            <a:r>
              <a:rPr lang="en-US" sz="5400" dirty="0"/>
              <a:t>Individually Randomized Designs</a:t>
            </a:r>
          </a:p>
        </p:txBody>
      </p:sp>
      <p:sp>
        <p:nvSpPr>
          <p:cNvPr id="3" name="Subtitle 2">
            <a:extLst>
              <a:ext uri="{FF2B5EF4-FFF2-40B4-BE49-F238E27FC236}">
                <a16:creationId xmlns:a16="http://schemas.microsoft.com/office/drawing/2014/main" id="{F715EBE6-D173-4EF5-B273-F7F09F43D3BF}"/>
              </a:ext>
            </a:extLst>
          </p:cNvPr>
          <p:cNvSpPr>
            <a:spLocks noGrp="1"/>
          </p:cNvSpPr>
          <p:nvPr>
            <p:ph type="subTitle" idx="1"/>
          </p:nvPr>
        </p:nvSpPr>
        <p:spPr/>
        <p:txBody>
          <a:bodyPr>
            <a:normAutofit/>
          </a:bodyPr>
          <a:lstStyle/>
          <a:p>
            <a:r>
              <a:rPr lang="en-US" dirty="0"/>
              <a:t>Larry V. Hedges</a:t>
            </a:r>
          </a:p>
          <a:p>
            <a:r>
              <a:rPr lang="en-US" dirty="0"/>
              <a:t>Northwestern University</a:t>
            </a:r>
          </a:p>
          <a:p>
            <a:r>
              <a:rPr lang="en-US" sz="1400" dirty="0"/>
              <a:t>Presented at the NSF Institute on Improving the Design of Evaluation studies in STEM Education Research, July 20, 2021</a:t>
            </a:r>
          </a:p>
        </p:txBody>
      </p:sp>
    </p:spTree>
    <p:extLst>
      <p:ext uri="{BB962C8B-B14F-4D97-AF65-F5344CB8AC3E}">
        <p14:creationId xmlns:p14="http://schemas.microsoft.com/office/powerpoint/2010/main" val="3634080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19F16-02FE-4114-ABA1-9137181AD3B8}"/>
              </a:ext>
            </a:extLst>
          </p:cNvPr>
          <p:cNvSpPr>
            <a:spLocks noGrp="1"/>
          </p:cNvSpPr>
          <p:nvPr>
            <p:ph type="title"/>
          </p:nvPr>
        </p:nvSpPr>
        <p:spPr/>
        <p:txBody>
          <a:bodyPr/>
          <a:lstStyle/>
          <a:p>
            <a:r>
              <a:rPr lang="en-US" dirty="0"/>
              <a:t>Varieties of Randomized Experiments</a:t>
            </a:r>
          </a:p>
        </p:txBody>
      </p:sp>
      <p:sp>
        <p:nvSpPr>
          <p:cNvPr id="3" name="Content Placeholder 2">
            <a:extLst>
              <a:ext uri="{FF2B5EF4-FFF2-40B4-BE49-F238E27FC236}">
                <a16:creationId xmlns:a16="http://schemas.microsoft.com/office/drawing/2014/main" id="{CE963F28-EFDE-485C-BE98-810075CD3703}"/>
              </a:ext>
            </a:extLst>
          </p:cNvPr>
          <p:cNvSpPr>
            <a:spLocks noGrp="1"/>
          </p:cNvSpPr>
          <p:nvPr>
            <p:ph idx="1"/>
          </p:nvPr>
        </p:nvSpPr>
        <p:spPr/>
        <p:txBody>
          <a:bodyPr/>
          <a:lstStyle/>
          <a:p>
            <a:pPr marL="0" indent="0">
              <a:buNone/>
            </a:pPr>
            <a:r>
              <a:rPr lang="en-US" dirty="0"/>
              <a:t>There are a huge variety of experimental designs that involve randomization</a:t>
            </a:r>
          </a:p>
          <a:p>
            <a:pPr marL="0" indent="0">
              <a:buNone/>
            </a:pPr>
            <a:endParaRPr lang="en-US" dirty="0"/>
          </a:p>
          <a:p>
            <a:pPr marL="0" indent="0">
              <a:buNone/>
            </a:pPr>
            <a:r>
              <a:rPr lang="en-US" dirty="0"/>
              <a:t>Designs can differ in terms of: </a:t>
            </a:r>
          </a:p>
          <a:p>
            <a:pPr marL="0" indent="0">
              <a:buNone/>
            </a:pPr>
            <a:endParaRPr lang="en-US" dirty="0"/>
          </a:p>
          <a:p>
            <a:pPr marL="0" indent="0">
              <a:buNone/>
            </a:pPr>
            <a:r>
              <a:rPr lang="en-US" dirty="0"/>
              <a:t>1. What is randomized (individuals, groups, etc.)</a:t>
            </a:r>
          </a:p>
          <a:p>
            <a:pPr marL="0" indent="0">
              <a:buNone/>
            </a:pPr>
            <a:endParaRPr lang="en-US" dirty="0"/>
          </a:p>
          <a:p>
            <a:pPr marL="0" indent="0">
              <a:buNone/>
            </a:pPr>
            <a:r>
              <a:rPr lang="en-US" dirty="0"/>
              <a:t>2. How the data is organized before randomization (subdivided in some ways, counterbalanced, etc.)</a:t>
            </a:r>
          </a:p>
          <a:p>
            <a:pPr marL="0" indent="0">
              <a:buNone/>
            </a:pPr>
            <a:endParaRPr lang="en-US" dirty="0"/>
          </a:p>
          <a:p>
            <a:pPr marL="0" indent="0">
              <a:buNone/>
            </a:pPr>
            <a:r>
              <a:rPr lang="en-US" dirty="0"/>
              <a:t>3. How the data is sampled</a:t>
            </a:r>
          </a:p>
          <a:p>
            <a:pPr marL="0" indent="0">
              <a:buNone/>
            </a:pPr>
            <a:endParaRPr lang="en-US" dirty="0"/>
          </a:p>
          <a:p>
            <a:pPr marL="0" indent="0">
              <a:buNone/>
            </a:pPr>
            <a:r>
              <a:rPr lang="en-US" dirty="0"/>
              <a:t>4. How or if matching is used</a:t>
            </a:r>
          </a:p>
          <a:p>
            <a:pPr marL="0" indent="0">
              <a:buNone/>
            </a:pPr>
            <a:endParaRPr lang="en-US" dirty="0"/>
          </a:p>
          <a:p>
            <a:pPr marL="0" indent="0">
              <a:buNone/>
            </a:pPr>
            <a:r>
              <a:rPr lang="en-US" dirty="0"/>
              <a:t>5. How or if statistical controls are used</a:t>
            </a:r>
          </a:p>
        </p:txBody>
      </p:sp>
    </p:spTree>
    <p:extLst>
      <p:ext uri="{BB962C8B-B14F-4D97-AF65-F5344CB8AC3E}">
        <p14:creationId xmlns:p14="http://schemas.microsoft.com/office/powerpoint/2010/main" val="2637639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74AC-4FE8-4679-8094-3CC8B7B55BF0}"/>
              </a:ext>
            </a:extLst>
          </p:cNvPr>
          <p:cNvSpPr>
            <a:spLocks noGrp="1"/>
          </p:cNvSpPr>
          <p:nvPr>
            <p:ph type="title"/>
          </p:nvPr>
        </p:nvSpPr>
        <p:spPr/>
        <p:txBody>
          <a:bodyPr/>
          <a:lstStyle/>
          <a:p>
            <a:r>
              <a:rPr lang="en-US" dirty="0"/>
              <a:t>Definition of Individually Randomized Designs</a:t>
            </a:r>
          </a:p>
        </p:txBody>
      </p:sp>
      <p:sp>
        <p:nvSpPr>
          <p:cNvPr id="3" name="Content Placeholder 2">
            <a:extLst>
              <a:ext uri="{FF2B5EF4-FFF2-40B4-BE49-F238E27FC236}">
                <a16:creationId xmlns:a16="http://schemas.microsoft.com/office/drawing/2014/main" id="{E29E82B8-D2A7-48FC-A2B9-3027DC5732B2}"/>
              </a:ext>
            </a:extLst>
          </p:cNvPr>
          <p:cNvSpPr>
            <a:spLocks noGrp="1"/>
          </p:cNvSpPr>
          <p:nvPr>
            <p:ph idx="1"/>
          </p:nvPr>
        </p:nvSpPr>
        <p:spPr>
          <a:xfrm>
            <a:off x="734438" y="1507855"/>
            <a:ext cx="10515600" cy="4351338"/>
          </a:xfrm>
        </p:spPr>
        <p:txBody>
          <a:bodyPr/>
          <a:lstStyle/>
          <a:p>
            <a:pPr marL="0" indent="0">
              <a:buNone/>
            </a:pPr>
            <a:r>
              <a:rPr lang="en-US" dirty="0"/>
              <a:t>In an individually randomized design, some sample of individuals (not groups) is randomly assigned to treatment or a control condition		</a:t>
            </a:r>
          </a:p>
        </p:txBody>
      </p:sp>
      <p:sp>
        <p:nvSpPr>
          <p:cNvPr id="5" name="Oval 4">
            <a:extLst>
              <a:ext uri="{FF2B5EF4-FFF2-40B4-BE49-F238E27FC236}">
                <a16:creationId xmlns:a16="http://schemas.microsoft.com/office/drawing/2014/main" id="{34B8C5D1-79A6-4103-85C8-57C76FF0FDF6}"/>
              </a:ext>
            </a:extLst>
          </p:cNvPr>
          <p:cNvSpPr/>
          <p:nvPr/>
        </p:nvSpPr>
        <p:spPr>
          <a:xfrm>
            <a:off x="2331463" y="3033760"/>
            <a:ext cx="2092325" cy="6070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 name="Oval 5">
            <a:extLst>
              <a:ext uri="{FF2B5EF4-FFF2-40B4-BE49-F238E27FC236}">
                <a16:creationId xmlns:a16="http://schemas.microsoft.com/office/drawing/2014/main" id="{A69C26E7-FA58-46D3-AAE7-1F3DA015D98C}"/>
              </a:ext>
            </a:extLst>
          </p:cNvPr>
          <p:cNvSpPr/>
          <p:nvPr/>
        </p:nvSpPr>
        <p:spPr>
          <a:xfrm>
            <a:off x="1971736" y="4042424"/>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Oval 6">
            <a:extLst>
              <a:ext uri="{FF2B5EF4-FFF2-40B4-BE49-F238E27FC236}">
                <a16:creationId xmlns:a16="http://schemas.microsoft.com/office/drawing/2014/main" id="{77B5C603-29FE-4163-89D9-AFD90ADBC452}"/>
              </a:ext>
            </a:extLst>
          </p:cNvPr>
          <p:cNvSpPr/>
          <p:nvPr/>
        </p:nvSpPr>
        <p:spPr>
          <a:xfrm>
            <a:off x="3624958" y="4075795"/>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 name="Straight Arrow Connector 7">
            <a:extLst>
              <a:ext uri="{FF2B5EF4-FFF2-40B4-BE49-F238E27FC236}">
                <a16:creationId xmlns:a16="http://schemas.microsoft.com/office/drawing/2014/main" id="{B162768A-89A8-47A8-99DB-FBF19D53A396}"/>
              </a:ext>
            </a:extLst>
          </p:cNvPr>
          <p:cNvCxnSpPr>
            <a:cxnSpLocks/>
          </p:cNvCxnSpPr>
          <p:nvPr/>
        </p:nvCxnSpPr>
        <p:spPr>
          <a:xfrm flipH="1">
            <a:off x="2736715" y="3637645"/>
            <a:ext cx="568205" cy="438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403384E-185A-440A-BB94-118B4B5BB3BE}"/>
              </a:ext>
            </a:extLst>
          </p:cNvPr>
          <p:cNvCxnSpPr/>
          <p:nvPr/>
        </p:nvCxnSpPr>
        <p:spPr>
          <a:xfrm>
            <a:off x="3308093" y="3637645"/>
            <a:ext cx="786765" cy="438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 Box 21">
            <a:extLst>
              <a:ext uri="{FF2B5EF4-FFF2-40B4-BE49-F238E27FC236}">
                <a16:creationId xmlns:a16="http://schemas.microsoft.com/office/drawing/2014/main" id="{D2ABF023-3B01-444F-A871-D14647C24756}"/>
              </a:ext>
            </a:extLst>
          </p:cNvPr>
          <p:cNvSpPr txBox="1">
            <a:spLocks noChangeArrowheads="1"/>
          </p:cNvSpPr>
          <p:nvPr/>
        </p:nvSpPr>
        <p:spPr bwMode="auto">
          <a:xfrm>
            <a:off x="2993133" y="3170447"/>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Sample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 Box 22">
            <a:extLst>
              <a:ext uri="{FF2B5EF4-FFF2-40B4-BE49-F238E27FC236}">
                <a16:creationId xmlns:a16="http://schemas.microsoft.com/office/drawing/2014/main" id="{03CA25D5-6D6B-4A93-BE96-F924FF92A84E}"/>
              </a:ext>
            </a:extLst>
          </p:cNvPr>
          <p:cNvSpPr txBox="1">
            <a:spLocks noChangeArrowheads="1"/>
          </p:cNvSpPr>
          <p:nvPr/>
        </p:nvSpPr>
        <p:spPr bwMode="auto">
          <a:xfrm>
            <a:off x="2126834" y="4183110"/>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Intervention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Text Box 23">
            <a:extLst>
              <a:ext uri="{FF2B5EF4-FFF2-40B4-BE49-F238E27FC236}">
                <a16:creationId xmlns:a16="http://schemas.microsoft.com/office/drawing/2014/main" id="{F37FD767-7611-4831-A5A8-90C14EAE52F3}"/>
              </a:ext>
            </a:extLst>
          </p:cNvPr>
          <p:cNvSpPr txBox="1">
            <a:spLocks noChangeArrowheads="1"/>
          </p:cNvSpPr>
          <p:nvPr/>
        </p:nvSpPr>
        <p:spPr bwMode="auto">
          <a:xfrm>
            <a:off x="3752404" y="4257014"/>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Comparison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13">
            <a:extLst>
              <a:ext uri="{FF2B5EF4-FFF2-40B4-BE49-F238E27FC236}">
                <a16:creationId xmlns:a16="http://schemas.microsoft.com/office/drawing/2014/main" id="{16433816-CF7B-46A3-9881-50481EC33B5F}"/>
              </a:ext>
            </a:extLst>
          </p:cNvPr>
          <p:cNvSpPr>
            <a:spLocks noChangeArrowheads="1"/>
          </p:cNvSpPr>
          <p:nvPr/>
        </p:nvSpPr>
        <p:spPr bwMode="auto">
          <a:xfrm>
            <a:off x="-103762" y="13943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8" name="TextBox 17">
            <a:extLst>
              <a:ext uri="{FF2B5EF4-FFF2-40B4-BE49-F238E27FC236}">
                <a16:creationId xmlns:a16="http://schemas.microsoft.com/office/drawing/2014/main" id="{C5F33072-1386-4A49-AB2E-CD8531302340}"/>
              </a:ext>
            </a:extLst>
          </p:cNvPr>
          <p:cNvSpPr txBox="1"/>
          <p:nvPr/>
        </p:nvSpPr>
        <p:spPr>
          <a:xfrm>
            <a:off x="5823626" y="3059112"/>
            <a:ext cx="6088082" cy="2031325"/>
          </a:xfrm>
          <a:prstGeom prst="rect">
            <a:avLst/>
          </a:prstGeom>
          <a:noFill/>
        </p:spPr>
        <p:txBody>
          <a:bodyPr wrap="square" rtlCol="0">
            <a:spAutoFit/>
          </a:bodyPr>
          <a:lstStyle/>
          <a:p>
            <a:r>
              <a:rPr lang="en-US" dirty="0"/>
              <a:t>Equal numbers are often assigned to each group </a:t>
            </a:r>
          </a:p>
          <a:p>
            <a:endParaRPr lang="en-US" dirty="0"/>
          </a:p>
          <a:p>
            <a:r>
              <a:rPr lang="en-US" dirty="0"/>
              <a:t>Assignment of unequal numbers to each group is also possible</a:t>
            </a:r>
          </a:p>
          <a:p>
            <a:endParaRPr lang="en-US" dirty="0"/>
          </a:p>
          <a:p>
            <a:r>
              <a:rPr lang="en-US" dirty="0"/>
              <a:t>But the key principle is that assignment is at </a:t>
            </a:r>
            <a:r>
              <a:rPr lang="en-US" b="1" dirty="0"/>
              <a:t>random</a:t>
            </a:r>
          </a:p>
          <a:p>
            <a:endParaRPr lang="en-US" dirty="0"/>
          </a:p>
          <a:p>
            <a:r>
              <a:rPr lang="en-US" b="1" dirty="0"/>
              <a:t>Haphazard or unknown assignment is not random assignment</a:t>
            </a:r>
          </a:p>
        </p:txBody>
      </p:sp>
    </p:spTree>
    <p:extLst>
      <p:ext uri="{BB962C8B-B14F-4D97-AF65-F5344CB8AC3E}">
        <p14:creationId xmlns:p14="http://schemas.microsoft.com/office/powerpoint/2010/main" val="3835804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5FC60-2F5B-4CEB-96C8-9A5BB1D925AF}"/>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A2D3AA2D-5F59-484A-9DF5-7E794807B63F}"/>
              </a:ext>
            </a:extLst>
          </p:cNvPr>
          <p:cNvSpPr>
            <a:spLocks noGrp="1"/>
          </p:cNvSpPr>
          <p:nvPr>
            <p:ph idx="1"/>
          </p:nvPr>
        </p:nvSpPr>
        <p:spPr/>
        <p:txBody>
          <a:bodyPr/>
          <a:lstStyle/>
          <a:p>
            <a:pPr marL="0" indent="0">
              <a:buNone/>
            </a:pPr>
            <a:r>
              <a:rPr lang="en-US" dirty="0"/>
              <a:t>We have 100 students in a school, we assign 50 at random to get the treatment (and after school enrichment program) and  the other 50 serve as “no treatment” controls </a:t>
            </a:r>
          </a:p>
          <a:p>
            <a:pPr marL="0" indent="0">
              <a:buNone/>
            </a:pPr>
            <a:endParaRPr lang="en-US" dirty="0"/>
          </a:p>
          <a:p>
            <a:pPr marL="0" indent="0">
              <a:buNone/>
            </a:pPr>
            <a:r>
              <a:rPr lang="en-US" dirty="0"/>
              <a:t>We have 50 teachers in a school district, we assign 20 at random to get the treatment (a professional development program) and the other 80 serve as “no treatment” controls</a:t>
            </a:r>
          </a:p>
          <a:p>
            <a:pPr marL="0" indent="0">
              <a:buNone/>
            </a:pPr>
            <a:endParaRPr lang="en-US" dirty="0"/>
          </a:p>
          <a:p>
            <a:pPr marL="0" indent="0">
              <a:buNone/>
            </a:pPr>
            <a:r>
              <a:rPr lang="en-US" dirty="0"/>
              <a:t>There are 30 students in a (large) classroom.  We randomly assign 15 students to work with one biology curriculum and 15 students to work with a different biology curriculum</a:t>
            </a:r>
          </a:p>
          <a:p>
            <a:pPr marL="0" indent="0">
              <a:buNone/>
            </a:pPr>
            <a:endParaRPr lang="en-US" dirty="0"/>
          </a:p>
          <a:p>
            <a:pPr marL="0" indent="0">
              <a:buNone/>
            </a:pPr>
            <a:r>
              <a:rPr lang="en-US" dirty="0"/>
              <a:t>There are 25 students in a classroom.  We randomly assign 2 students to take a “pull out” supplementary math program.  The other 23 students serve as controls.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26274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5FC60-2F5B-4CEB-96C8-9A5BB1D925AF}"/>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A2D3AA2D-5F59-484A-9DF5-7E794807B63F}"/>
              </a:ext>
            </a:extLst>
          </p:cNvPr>
          <p:cNvSpPr>
            <a:spLocks noGrp="1"/>
          </p:cNvSpPr>
          <p:nvPr>
            <p:ph idx="1"/>
          </p:nvPr>
        </p:nvSpPr>
        <p:spPr/>
        <p:txBody>
          <a:bodyPr/>
          <a:lstStyle/>
          <a:p>
            <a:pPr marL="0" indent="0">
              <a:buNone/>
            </a:pPr>
            <a:r>
              <a:rPr lang="en-US" dirty="0"/>
              <a:t>We have 100 students in a school, we assign 50 at random to get the treatment (and after school enrichment program) and  the other 50 serve as “no treatment” controls </a:t>
            </a:r>
          </a:p>
          <a:p>
            <a:pPr marL="0" indent="0">
              <a:buNone/>
            </a:pPr>
            <a:endParaRPr lang="en-US" dirty="0"/>
          </a:p>
          <a:p>
            <a:pPr marL="0" indent="0">
              <a:buNone/>
            </a:pPr>
            <a:r>
              <a:rPr lang="en-US" dirty="0"/>
              <a:t>We have 50 teachers in a school district, we assign 20 at random to get the treatment (a professional development program) and the other 80 serve as “no treatment” controls</a:t>
            </a:r>
          </a:p>
          <a:p>
            <a:pPr marL="0" indent="0">
              <a:buNone/>
            </a:pPr>
            <a:endParaRPr lang="en-US" dirty="0"/>
          </a:p>
          <a:p>
            <a:pPr marL="0" indent="0">
              <a:buNone/>
            </a:pPr>
            <a:r>
              <a:rPr lang="en-US" dirty="0"/>
              <a:t>There are 30 students in a (large) classroom.  We randomly assign 15 students to work with one biology curriculum and 15 students to work with a different curriculum</a:t>
            </a:r>
          </a:p>
          <a:p>
            <a:pPr marL="0" indent="0">
              <a:buNone/>
            </a:pPr>
            <a:endParaRPr lang="en-US" dirty="0"/>
          </a:p>
          <a:p>
            <a:pPr marL="0" indent="0">
              <a:buNone/>
            </a:pPr>
            <a:r>
              <a:rPr lang="en-US" dirty="0"/>
              <a:t>There are 25 students in a classroom.  We randomly assign 2 students to take a “pull out” supplementary math program.  The other 23 students serve as controls</a:t>
            </a:r>
          </a:p>
          <a:p>
            <a:pPr marL="0" indent="0">
              <a:buNone/>
            </a:pPr>
            <a:endParaRPr lang="en-US" dirty="0"/>
          </a:p>
          <a:p>
            <a:pPr marL="0" indent="0">
              <a:buNone/>
            </a:pPr>
            <a:r>
              <a:rPr lang="en-US" dirty="0"/>
              <a:t>We have been working with 5 students in a cognitive lab.  We assign 3 students to get a modification of the technology we have been using and the other 2 students work with the old version of the technology</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939223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B2884-65FB-4EA6-80FE-05122100BC11}"/>
              </a:ext>
            </a:extLst>
          </p:cNvPr>
          <p:cNvSpPr>
            <a:spLocks noGrp="1"/>
          </p:cNvSpPr>
          <p:nvPr>
            <p:ph type="title"/>
          </p:nvPr>
        </p:nvSpPr>
        <p:spPr/>
        <p:txBody>
          <a:bodyPr/>
          <a:lstStyle/>
          <a:p>
            <a:r>
              <a:rPr lang="en-US" dirty="0"/>
              <a:t>Are These Examples of Random Assignment?</a:t>
            </a:r>
          </a:p>
        </p:txBody>
      </p:sp>
      <p:sp>
        <p:nvSpPr>
          <p:cNvPr id="3" name="Content Placeholder 2">
            <a:extLst>
              <a:ext uri="{FF2B5EF4-FFF2-40B4-BE49-F238E27FC236}">
                <a16:creationId xmlns:a16="http://schemas.microsoft.com/office/drawing/2014/main" id="{B45237F3-9518-4EB5-BA8B-93056A8D228B}"/>
              </a:ext>
            </a:extLst>
          </p:cNvPr>
          <p:cNvSpPr>
            <a:spLocks noGrp="1"/>
          </p:cNvSpPr>
          <p:nvPr>
            <p:ph idx="1"/>
          </p:nvPr>
        </p:nvSpPr>
        <p:spPr/>
        <p:txBody>
          <a:bodyPr/>
          <a:lstStyle/>
          <a:p>
            <a:pPr marL="0" indent="0">
              <a:buNone/>
            </a:pPr>
            <a:r>
              <a:rPr lang="en-US" dirty="0"/>
              <a:t>We have a list of 100 students in a school. We assign 50 students with odd numbers (1</a:t>
            </a:r>
            <a:r>
              <a:rPr lang="en-US" baseline="30000" dirty="0"/>
              <a:t>st</a:t>
            </a:r>
            <a:r>
              <a:rPr lang="en-US" dirty="0"/>
              <a:t>, 3</a:t>
            </a:r>
            <a:r>
              <a:rPr lang="en-US" baseline="30000" dirty="0"/>
              <a:t>rd</a:t>
            </a:r>
            <a:r>
              <a:rPr lang="en-US" dirty="0"/>
              <a:t>, 5</a:t>
            </a:r>
            <a:r>
              <a:rPr lang="en-US" baseline="30000" dirty="0"/>
              <a:t>th</a:t>
            </a:r>
            <a:r>
              <a:rPr lang="en-US" dirty="0"/>
              <a:t>, etc.) to get the treatment (and after school enrichment program) and  the other 50 (with even numbers) serve as “no treatment” controls </a:t>
            </a:r>
          </a:p>
          <a:p>
            <a:pPr marL="0" indent="0">
              <a:buNone/>
            </a:pPr>
            <a:endParaRPr lang="en-US" dirty="0"/>
          </a:p>
          <a:p>
            <a:pPr marL="0" indent="0">
              <a:buNone/>
            </a:pPr>
            <a:r>
              <a:rPr lang="en-US" dirty="0"/>
              <a:t>We have a list of 100 students in a school.  For each student, we flip a coin and assign the student to the treatment group is a heads comes up.  We stop when we have assigned 50 to the treatment</a:t>
            </a:r>
          </a:p>
          <a:p>
            <a:pPr marL="0" indent="0">
              <a:buNone/>
            </a:pPr>
            <a:endParaRPr lang="en-US" dirty="0"/>
          </a:p>
          <a:p>
            <a:pPr marL="0" indent="0">
              <a:buNone/>
            </a:pPr>
            <a:r>
              <a:rPr lang="en-US" dirty="0"/>
              <a:t>We have 50 students in a school and two curricula (earth science and biology). We assign 25 students to receive earth science first semester (biology the second) by flipping a coin as above.  The other students get biology in the first semester (earth science the second).  The outcome is an end of  first semester test</a:t>
            </a:r>
          </a:p>
          <a:p>
            <a:pPr marL="0" indent="0">
              <a:buNone/>
            </a:pPr>
            <a:endParaRPr lang="en-US" dirty="0"/>
          </a:p>
          <a:p>
            <a:pPr marL="0" indent="0">
              <a:buNone/>
            </a:pPr>
            <a:r>
              <a:rPr lang="en-US" dirty="0"/>
              <a:t>In the last example, what if we evaluated the outcome after the second semester.  </a:t>
            </a:r>
          </a:p>
          <a:p>
            <a:pPr marL="0" indent="0">
              <a:buNone/>
            </a:pPr>
            <a:endParaRPr lang="en-US" dirty="0"/>
          </a:p>
        </p:txBody>
      </p:sp>
    </p:spTree>
    <p:extLst>
      <p:ext uri="{BB962C8B-B14F-4D97-AF65-F5344CB8AC3E}">
        <p14:creationId xmlns:p14="http://schemas.microsoft.com/office/powerpoint/2010/main" val="1062776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F185C-C690-4BB5-8ED0-DE09325512F7}"/>
              </a:ext>
            </a:extLst>
          </p:cNvPr>
          <p:cNvSpPr>
            <a:spLocks noGrp="1"/>
          </p:cNvSpPr>
          <p:nvPr>
            <p:ph type="title"/>
          </p:nvPr>
        </p:nvSpPr>
        <p:spPr/>
        <p:txBody>
          <a:bodyPr/>
          <a:lstStyle/>
          <a:p>
            <a:r>
              <a:rPr lang="en-US" dirty="0"/>
              <a:t>The Treatment Contrast</a:t>
            </a:r>
          </a:p>
        </p:txBody>
      </p:sp>
      <p:sp>
        <p:nvSpPr>
          <p:cNvPr id="3" name="Content Placeholder 2">
            <a:extLst>
              <a:ext uri="{FF2B5EF4-FFF2-40B4-BE49-F238E27FC236}">
                <a16:creationId xmlns:a16="http://schemas.microsoft.com/office/drawing/2014/main" id="{02FCEA9D-0330-471D-BA88-E088AABA4BB5}"/>
              </a:ext>
            </a:extLst>
          </p:cNvPr>
          <p:cNvSpPr>
            <a:spLocks noGrp="1"/>
          </p:cNvSpPr>
          <p:nvPr>
            <p:ph idx="1"/>
          </p:nvPr>
        </p:nvSpPr>
        <p:spPr/>
        <p:txBody>
          <a:bodyPr/>
          <a:lstStyle/>
          <a:p>
            <a:pPr marL="0" indent="0">
              <a:buNone/>
            </a:pPr>
            <a:r>
              <a:rPr lang="en-US" dirty="0"/>
              <a:t>Treatment effects are contrasts between two things</a:t>
            </a:r>
          </a:p>
          <a:p>
            <a:pPr marL="0" indent="0">
              <a:buNone/>
            </a:pPr>
            <a:endParaRPr lang="en-US" dirty="0"/>
          </a:p>
          <a:p>
            <a:pPr marL="0" indent="0">
              <a:buNone/>
            </a:pPr>
            <a:r>
              <a:rPr lang="en-US" dirty="0"/>
              <a:t>The very idea of “treatment effect” is meaningless without have in mind some other (counterfactual) condition</a:t>
            </a:r>
          </a:p>
          <a:p>
            <a:pPr marL="0" indent="0">
              <a:buNone/>
            </a:pPr>
            <a:endParaRPr lang="en-US" dirty="0"/>
          </a:p>
          <a:p>
            <a:pPr marL="0" indent="0">
              <a:buNone/>
            </a:pPr>
            <a:r>
              <a:rPr lang="en-US" dirty="0"/>
              <a:t>Recall that the definition of causal effect of a treatment on an outcome is the difference between the outcome that would be observed if the individual got the treatment and the outcome if they receive some other (comparison) condition</a:t>
            </a:r>
          </a:p>
          <a:p>
            <a:pPr marL="0" indent="0">
              <a:buNone/>
            </a:pPr>
            <a:endParaRPr lang="en-US" dirty="0"/>
          </a:p>
          <a:p>
            <a:pPr marL="0" indent="0">
              <a:buNone/>
            </a:pPr>
            <a:r>
              <a:rPr lang="en-US" dirty="0"/>
              <a:t>This is called a counterfactual definition of causal effect because individuals cannot receive both the treatment condition and the comparison condition</a:t>
            </a:r>
          </a:p>
        </p:txBody>
      </p:sp>
    </p:spTree>
    <p:extLst>
      <p:ext uri="{BB962C8B-B14F-4D97-AF65-F5344CB8AC3E}">
        <p14:creationId xmlns:p14="http://schemas.microsoft.com/office/powerpoint/2010/main" val="1924632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F6B01-C2B0-4036-B4D5-EA74418E0BCA}"/>
              </a:ext>
            </a:extLst>
          </p:cNvPr>
          <p:cNvSpPr>
            <a:spLocks noGrp="1"/>
          </p:cNvSpPr>
          <p:nvPr>
            <p:ph type="title"/>
          </p:nvPr>
        </p:nvSpPr>
        <p:spPr/>
        <p:txBody>
          <a:bodyPr/>
          <a:lstStyle/>
          <a:p>
            <a:r>
              <a:rPr lang="en-US" dirty="0"/>
              <a:t>The Treatment Contrast</a:t>
            </a:r>
          </a:p>
        </p:txBody>
      </p:sp>
      <p:sp>
        <p:nvSpPr>
          <p:cNvPr id="3" name="Content Placeholder 2">
            <a:extLst>
              <a:ext uri="{FF2B5EF4-FFF2-40B4-BE49-F238E27FC236}">
                <a16:creationId xmlns:a16="http://schemas.microsoft.com/office/drawing/2014/main" id="{D5A58D24-F9B1-4F83-A437-6C4B029DD9D9}"/>
              </a:ext>
            </a:extLst>
          </p:cNvPr>
          <p:cNvSpPr>
            <a:spLocks noGrp="1"/>
          </p:cNvSpPr>
          <p:nvPr>
            <p:ph idx="1"/>
          </p:nvPr>
        </p:nvSpPr>
        <p:spPr/>
        <p:txBody>
          <a:bodyPr>
            <a:normAutofit/>
          </a:bodyPr>
          <a:lstStyle/>
          <a:p>
            <a:pPr marL="0" indent="0">
              <a:buNone/>
            </a:pPr>
            <a:r>
              <a:rPr lang="en-US" dirty="0"/>
              <a:t>What is the treatment contrast in each of these:</a:t>
            </a:r>
          </a:p>
          <a:p>
            <a:pPr marL="0" indent="0">
              <a:buNone/>
            </a:pPr>
            <a:endParaRPr lang="en-US" dirty="0"/>
          </a:p>
          <a:p>
            <a:pPr marL="0" indent="0">
              <a:buNone/>
            </a:pPr>
            <a:r>
              <a:rPr lang="en-US" dirty="0"/>
              <a:t>We have 100 students in a school, we assign 50 at random to get the treatment (and after school enrichment program) and  the other 50 serve as “no treatment” controls </a:t>
            </a:r>
          </a:p>
          <a:p>
            <a:pPr marL="0" indent="0">
              <a:buNone/>
            </a:pPr>
            <a:endParaRPr lang="en-US" dirty="0"/>
          </a:p>
          <a:p>
            <a:pPr marL="0" indent="0">
              <a:buNone/>
            </a:pPr>
            <a:r>
              <a:rPr lang="en-US" dirty="0"/>
              <a:t>There are 30 students in a (large) classroom.  We randomly assign 15 students to work with one biology curriculum and 15 students to work with a different curriculum</a:t>
            </a:r>
          </a:p>
          <a:p>
            <a:pPr marL="0" indent="0">
              <a:buNone/>
            </a:pPr>
            <a:endParaRPr lang="en-US" dirty="0"/>
          </a:p>
          <a:p>
            <a:pPr marL="0" indent="0">
              <a:buNone/>
            </a:pPr>
            <a:r>
              <a:rPr lang="en-US" dirty="0"/>
              <a:t>There are 25 students in a classroom.  We randomly assign 2 students to take a “pull out” supplementary math program.  The other 23 students serve as controls</a:t>
            </a:r>
          </a:p>
          <a:p>
            <a:pPr marL="0" indent="0">
              <a:buNone/>
            </a:pPr>
            <a:endParaRPr lang="en-US" dirty="0"/>
          </a:p>
          <a:p>
            <a:pPr marL="0" indent="0">
              <a:buNone/>
            </a:pPr>
            <a:r>
              <a:rPr lang="en-US" dirty="0"/>
              <a:t>We have been working with 5 students in a cognitive lab.  We assign 3 students to get a modification of the technology we have been using and the other 2 students work with the old version of the technology</a:t>
            </a:r>
          </a:p>
          <a:p>
            <a:pPr marL="0" indent="0">
              <a:buNone/>
            </a:pPr>
            <a:endParaRPr lang="en-US" dirty="0"/>
          </a:p>
        </p:txBody>
      </p:sp>
    </p:spTree>
    <p:extLst>
      <p:ext uri="{BB962C8B-B14F-4D97-AF65-F5344CB8AC3E}">
        <p14:creationId xmlns:p14="http://schemas.microsoft.com/office/powerpoint/2010/main" val="1360028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CD1A5-7F70-4133-9526-65991CF0F4B1}"/>
              </a:ext>
            </a:extLst>
          </p:cNvPr>
          <p:cNvSpPr>
            <a:spLocks noGrp="1"/>
          </p:cNvSpPr>
          <p:nvPr>
            <p:ph type="title"/>
          </p:nvPr>
        </p:nvSpPr>
        <p:spPr/>
        <p:txBody>
          <a:bodyPr/>
          <a:lstStyle/>
          <a:p>
            <a:r>
              <a:rPr lang="en-US" dirty="0"/>
              <a:t>The Treatment Contrast</a:t>
            </a:r>
          </a:p>
        </p:txBody>
      </p:sp>
      <p:sp>
        <p:nvSpPr>
          <p:cNvPr id="3" name="Content Placeholder 2">
            <a:extLst>
              <a:ext uri="{FF2B5EF4-FFF2-40B4-BE49-F238E27FC236}">
                <a16:creationId xmlns:a16="http://schemas.microsoft.com/office/drawing/2014/main" id="{397774B4-1C54-400F-A92C-4FFD85328488}"/>
              </a:ext>
            </a:extLst>
          </p:cNvPr>
          <p:cNvSpPr>
            <a:spLocks noGrp="1"/>
          </p:cNvSpPr>
          <p:nvPr>
            <p:ph idx="1"/>
          </p:nvPr>
        </p:nvSpPr>
        <p:spPr/>
        <p:txBody>
          <a:bodyPr/>
          <a:lstStyle/>
          <a:p>
            <a:pPr marL="0" indent="0">
              <a:buNone/>
            </a:pPr>
            <a:r>
              <a:rPr lang="en-US" dirty="0"/>
              <a:t>What is the treatment contrast in these examples:</a:t>
            </a:r>
          </a:p>
          <a:p>
            <a:pPr marL="0" indent="0">
              <a:buNone/>
            </a:pPr>
            <a:endParaRPr lang="en-US" dirty="0"/>
          </a:p>
          <a:p>
            <a:pPr marL="0" indent="0">
              <a:buNone/>
            </a:pPr>
            <a:r>
              <a:rPr lang="en-US" dirty="0"/>
              <a:t>We have 50 students in a school and two curricula (earth science and biology).  We assign 25 students to receive earth science first semester (biology the second) by flipping a coin as above.  The other students get biology in the first semester (earth science the second).  The outcome is an end of  first semester test</a:t>
            </a:r>
          </a:p>
          <a:p>
            <a:pPr marL="0" indent="0">
              <a:buNone/>
            </a:pPr>
            <a:endParaRPr lang="en-US" dirty="0"/>
          </a:p>
          <a:p>
            <a:pPr marL="0" indent="0">
              <a:buNone/>
            </a:pPr>
            <a:r>
              <a:rPr lang="en-US" dirty="0"/>
              <a:t>In the last example, what if we evaluated the outcome after the second semester.  </a:t>
            </a:r>
          </a:p>
          <a:p>
            <a:pPr marL="0" indent="0">
              <a:buNone/>
            </a:pPr>
            <a:endParaRPr lang="en-US" dirty="0"/>
          </a:p>
        </p:txBody>
      </p:sp>
    </p:spTree>
    <p:extLst>
      <p:ext uri="{BB962C8B-B14F-4D97-AF65-F5344CB8AC3E}">
        <p14:creationId xmlns:p14="http://schemas.microsoft.com/office/powerpoint/2010/main" val="2923232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5C40-F18F-468B-9097-207591A7BA72}"/>
              </a:ext>
            </a:extLst>
          </p:cNvPr>
          <p:cNvSpPr>
            <a:spLocks noGrp="1"/>
          </p:cNvSpPr>
          <p:nvPr>
            <p:ph type="title"/>
          </p:nvPr>
        </p:nvSpPr>
        <p:spPr/>
        <p:txBody>
          <a:bodyPr/>
          <a:lstStyle/>
          <a:p>
            <a:r>
              <a:rPr lang="en-US" dirty="0"/>
              <a:t>A Statistical Model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F89E80-6DEE-41DB-A2AC-94E6977BDB0F}"/>
                  </a:ext>
                </a:extLst>
              </p:cNvPr>
              <p:cNvSpPr>
                <a:spLocks noGrp="1"/>
              </p:cNvSpPr>
              <p:nvPr>
                <p:ph idx="1"/>
              </p:nvPr>
            </p:nvSpPr>
            <p:spPr/>
            <p:txBody>
              <a:bodyPr>
                <a:normAutofit lnSpcReduction="10000"/>
              </a:bodyPr>
              <a:lstStyle/>
              <a:p>
                <a:pPr marL="0" indent="0">
                  <a:buNone/>
                </a:pPr>
                <a:r>
                  <a:rPr lang="en-US" dirty="0"/>
                  <a:t>Suppose we assign the same number </a:t>
                </a:r>
                <a:r>
                  <a:rPr lang="en-US" i="1" dirty="0">
                    <a:latin typeface="Times New Roman" panose="02020603050405020304" pitchFamily="18" charset="0"/>
                    <a:cs typeface="Times New Roman" panose="02020603050405020304" pitchFamily="18" charset="0"/>
                  </a:rPr>
                  <a:t>n</a:t>
                </a:r>
                <a:r>
                  <a:rPr lang="en-US" dirty="0"/>
                  <a:t> of individuals to each treatment group</a:t>
                </a:r>
              </a:p>
              <a:p>
                <a:pPr marL="0" indent="0">
                  <a:buNone/>
                </a:pPr>
                <a:endParaRPr lang="en-US" dirty="0"/>
              </a:p>
              <a:p>
                <a:pPr marL="0" indent="0">
                  <a:buNone/>
                </a:pPr>
                <a:r>
                  <a:rPr lang="en-US" dirty="0"/>
                  <a:t>Let </a:t>
                </a:r>
                <a:r>
                  <a:rPr lang="en-US" dirty="0">
                    <a:effectLst/>
                    <a:ea typeface="Calibri" panose="020F0502020204030204" pitchFamily="34" charset="0"/>
                  </a:rPr>
                  <a:t>the outcome measurement of the </a:t>
                </a:r>
                <a14:m>
                  <m:oMath xmlns:m="http://schemas.openxmlformats.org/officeDocument/2006/math">
                    <m:sSup>
                      <m:sSupPr>
                        <m:ctrlPr>
                          <a:rPr lang="en-US" i="1">
                            <a:effectLst/>
                            <a:latin typeface="Cambria Math" panose="02040503050406030204" pitchFamily="18"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𝑘</m:t>
                        </m:r>
                      </m:e>
                      <m:sup>
                        <m:r>
                          <a:rPr lang="en-US" i="1">
                            <a:effectLst/>
                            <a:latin typeface="Cambria Math" panose="02040503050406030204" pitchFamily="18" charset="0"/>
                            <a:ea typeface="Calibri" panose="020F0502020204030204" pitchFamily="34" charset="0"/>
                            <a:cs typeface="Times New Roman" panose="02020603050405020304" pitchFamily="18" charset="0"/>
                          </a:rPr>
                          <m:t>𝑡h</m:t>
                        </m:r>
                      </m:sup>
                    </m:sSup>
                  </m:oMath>
                </a14:m>
                <a:r>
                  <a:rPr lang="en-US" dirty="0">
                    <a:effectLst/>
                    <a:latin typeface="Times New Roman" panose="02020603050405020304" pitchFamily="18" charset="0"/>
                    <a:ea typeface="Calibri" panose="020F0502020204030204" pitchFamily="34" charset="0"/>
                  </a:rPr>
                  <a:t> </a:t>
                </a:r>
                <a:r>
                  <a:rPr lang="en-US" dirty="0">
                    <a:effectLst/>
                    <a:ea typeface="Calibri" panose="020F0502020204030204" pitchFamily="34" charset="0"/>
                  </a:rPr>
                  <a:t>student in the </a:t>
                </a:r>
                <a14:m>
                  <m:oMath xmlns:m="http://schemas.openxmlformats.org/officeDocument/2006/math">
                    <m:sSup>
                      <m:sSupPr>
                        <m:ctrlPr>
                          <a:rPr lang="en-US" i="1">
                            <a:effectLst/>
                            <a:latin typeface="Cambria Math" panose="02040503050406030204" pitchFamily="18"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𝑖</m:t>
                        </m:r>
                      </m:e>
                      <m:sup>
                        <m:r>
                          <a:rPr lang="en-US" i="1" baseline="30000">
                            <a:effectLst/>
                            <a:latin typeface="Cambria Math" panose="02040503050406030204" pitchFamily="18" charset="0"/>
                            <a:ea typeface="Calibri" panose="020F0502020204030204" pitchFamily="34" charset="0"/>
                            <a:cs typeface="Times New Roman" panose="02020603050405020304" pitchFamily="18" charset="0"/>
                          </a:rPr>
                          <m:t>𝑡h</m:t>
                        </m:r>
                      </m:sup>
                    </m:sSup>
                  </m:oMath>
                </a14:m>
                <a:r>
                  <a:rPr lang="en-US" dirty="0">
                    <a:effectLst/>
                    <a:ea typeface="Calibri" panose="020F0502020204030204" pitchFamily="34" charset="0"/>
                  </a:rPr>
                  <a:t> group</a:t>
                </a:r>
                <a:r>
                  <a:rPr lang="en-US" dirty="0">
                    <a:ea typeface="Calibri" panose="020F0502020204030204" pitchFamily="34" charset="0"/>
                  </a:rPr>
                  <a:t> be denoted </a:t>
                </a:r>
                <a:r>
                  <a:rPr lang="en-US" i="1" dirty="0" err="1">
                    <a:latin typeface="Times New Roman" panose="02020603050405020304" pitchFamily="18" charset="0"/>
                    <a:ea typeface="Calibri" panose="020F0502020204030204" pitchFamily="34" charset="0"/>
                    <a:cs typeface="Times New Roman" panose="02020603050405020304" pitchFamily="18" charset="0"/>
                  </a:rPr>
                  <a:t>Y</a:t>
                </a:r>
                <a:r>
                  <a:rPr lang="en-US" i="1" baseline="-25000" dirty="0" err="1">
                    <a:latin typeface="Times New Roman" panose="02020603050405020304" pitchFamily="18" charset="0"/>
                    <a:ea typeface="Calibri" panose="020F0502020204030204" pitchFamily="34" charset="0"/>
                    <a:cs typeface="Times New Roman" panose="02020603050405020304" pitchFamily="18" charset="0"/>
                  </a:rPr>
                  <a:t>ik</a:t>
                </a:r>
                <a:r>
                  <a:rPr lang="en-US" dirty="0">
                    <a:ea typeface="Calibri" panose="020F0502020204030204" pitchFamily="34" charset="0"/>
                  </a:rPr>
                  <a:t> </a:t>
                </a:r>
                <a:r>
                  <a:rPr lang="en-US" dirty="0">
                    <a:latin typeface="Times New Roman" panose="02020603050405020304" pitchFamily="18" charset="0"/>
                    <a:ea typeface="Times New Roman" panose="02020603050405020304" pitchFamily="18" charset="0"/>
                  </a:rPr>
                  <a:t>(</a:t>
                </a:r>
                <a:r>
                  <a:rPr lang="en-US" i="1" dirty="0">
                    <a:latin typeface="Times New Roman" panose="02020603050405020304" pitchFamily="18" charset="0"/>
                    <a:ea typeface="Times New Roman" panose="02020603050405020304" pitchFamily="18" charset="0"/>
                  </a:rPr>
                  <a:t>i</a:t>
                </a:r>
                <a:r>
                  <a:rPr lang="en-US" dirty="0">
                    <a:latin typeface="Times New Roman" panose="02020603050405020304" pitchFamily="18" charset="0"/>
                    <a:ea typeface="Times New Roman" panose="02020603050405020304" pitchFamily="18" charset="0"/>
                  </a:rPr>
                  <a:t> = 1</a:t>
                </a:r>
                <a:r>
                  <a:rPr lang="en-US" dirty="0">
                    <a:ea typeface="Times New Roman" panose="02020603050405020304" pitchFamily="18" charset="0"/>
                  </a:rPr>
                  <a:t> implies treatment and</a:t>
                </a:r>
                <a:r>
                  <a:rPr lang="en-US" dirty="0">
                    <a:latin typeface="Times New Roman" panose="02020603050405020304" pitchFamily="18" charset="0"/>
                    <a:ea typeface="Times New Roman" panose="02020603050405020304" pitchFamily="18" charset="0"/>
                  </a:rPr>
                  <a:t> </a:t>
                </a:r>
                <a:r>
                  <a:rPr lang="en-US" i="1" dirty="0">
                    <a:latin typeface="Times New Roman" panose="02020603050405020304" pitchFamily="18" charset="0"/>
                    <a:ea typeface="Times New Roman" panose="02020603050405020304" pitchFamily="18" charset="0"/>
                  </a:rPr>
                  <a:t>i</a:t>
                </a:r>
                <a:r>
                  <a:rPr lang="en-US" dirty="0">
                    <a:latin typeface="Times New Roman" panose="02020603050405020304" pitchFamily="18" charset="0"/>
                    <a:ea typeface="Times New Roman" panose="02020603050405020304" pitchFamily="18" charset="0"/>
                  </a:rPr>
                  <a:t> = 2 </a:t>
                </a:r>
                <a:r>
                  <a:rPr lang="en-US" dirty="0">
                    <a:ea typeface="Times New Roman" panose="02020603050405020304" pitchFamily="18" charset="0"/>
                  </a:rPr>
                  <a:t>implies control)</a:t>
                </a:r>
              </a:p>
              <a:p>
                <a:pPr marL="0" indent="0">
                  <a:buNone/>
                </a:pPr>
                <a:endParaRPr lang="en-US" dirty="0">
                  <a:latin typeface="Times New Roman" panose="02020603050405020304" pitchFamily="18" charset="0"/>
                </a:endParaRPr>
              </a:p>
              <a:p>
                <a:pPr marL="0" indent="0">
                  <a:buNone/>
                </a:pPr>
                <a:r>
                  <a:rPr lang="en-US" dirty="0"/>
                  <a:t>The structural model is</a:t>
                </a:r>
              </a:p>
              <a:p>
                <a:pPr marL="0" indent="0">
                  <a:buNone/>
                </a:pPr>
                <a:endParaRPr lang="en-US" dirty="0"/>
              </a:p>
              <a:p>
                <a:pPr marL="0" indent="0">
                  <a:buNone/>
                </a:pPr>
                <a:r>
                  <a:rPr lang="en-US" dirty="0"/>
                  <a:t>	</a:t>
                </a:r>
                <a:r>
                  <a:rPr lang="en-US" dirty="0">
                    <a:effectLst/>
                    <a:cs typeface="Times New Roman" panose="02020603050405020304" pitchFamily="18" charset="0"/>
                  </a:rPr>
                  <a:t> </a:t>
                </a:r>
                <a14:m>
                  <m:oMath xmlns:m="http://schemas.openxmlformats.org/officeDocument/2006/math">
                    <m:sSub>
                      <m:sSubPr>
                        <m:ctrlPr>
                          <a:rPr lang="en-US" i="1">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𝑖𝑘</m:t>
                        </m:r>
                      </m:sub>
                    </m:sSub>
                    <m:r>
                      <a:rPr lang="en-US" i="1">
                        <a:effectLst/>
                        <a:latin typeface="Cambria Math" panose="02040503050406030204" pitchFamily="18" charset="0"/>
                        <a:ea typeface="Calibri" panose="020F0502020204030204" pitchFamily="34" charset="0"/>
                        <a:cs typeface="Times New Roman" panose="02020603050405020304" pitchFamily="18" charset="0"/>
                      </a:rPr>
                      <m:t> = </m:t>
                    </m:r>
                    <m:r>
                      <a:rPr lang="en-US" i="1">
                        <a:effectLst/>
                        <a:latin typeface="Cambria Math" panose="02040503050406030204" pitchFamily="18" charset="0"/>
                        <a:ea typeface="Calibri" panose="020F0502020204030204" pitchFamily="34" charset="0"/>
                        <a:cs typeface="Times New Roman" panose="02020603050405020304" pitchFamily="18" charset="0"/>
                      </a:rPr>
                      <m:t>𝜇</m:t>
                    </m:r>
                    <m:r>
                      <a:rPr lang="en-US" i="1">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US" i="1">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i="1">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US" i="1">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𝑖𝑘</m:t>
                        </m:r>
                      </m:sub>
                    </m:sSub>
                    <m:r>
                      <a:rPr lang="en-US" i="1">
                        <a:effectLst/>
                        <a:latin typeface="Cambria Math" panose="02040503050406030204" pitchFamily="18" charset="0"/>
                        <a:ea typeface="Calibri" panose="020F0502020204030204" pitchFamily="34" charset="0"/>
                        <a:cs typeface="Times New Roman" panose="02020603050405020304" pitchFamily="18" charset="0"/>
                      </a:rPr>
                      <m:t>, </m:t>
                    </m:r>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i="1">
                        <a:effectLst/>
                        <a:latin typeface="Cambria Math" panose="02040503050406030204" pitchFamily="18" charset="0"/>
                        <a:ea typeface="Calibri" panose="020F0502020204030204" pitchFamily="34" charset="0"/>
                        <a:cs typeface="Times New Roman" panose="02020603050405020304" pitchFamily="18" charset="0"/>
                      </a:rPr>
                      <m:t> = 1, 2; </m:t>
                    </m:r>
                    <m:r>
                      <a:rPr lang="en-US" i="1">
                        <a:effectLst/>
                        <a:latin typeface="Cambria Math" panose="02040503050406030204" pitchFamily="18" charset="0"/>
                        <a:ea typeface="Calibri" panose="020F0502020204030204" pitchFamily="34" charset="0"/>
                        <a:cs typeface="Times New Roman" panose="02020603050405020304" pitchFamily="18" charset="0"/>
                      </a:rPr>
                      <m:t>𝑘</m:t>
                    </m:r>
                    <m:r>
                      <a:rPr lang="en-US" i="1">
                        <a:effectLst/>
                        <a:latin typeface="Cambria Math" panose="02040503050406030204" pitchFamily="18" charset="0"/>
                        <a:ea typeface="Calibri" panose="020F0502020204030204" pitchFamily="34" charset="0"/>
                        <a:cs typeface="Times New Roman" panose="02020603050405020304" pitchFamily="18" charset="0"/>
                      </a:rPr>
                      <m:t>= 1, …, </m:t>
                    </m:r>
                    <m:r>
                      <a:rPr lang="en-US" i="1">
                        <a:effectLst/>
                        <a:latin typeface="Cambria Math" panose="02040503050406030204" pitchFamily="18" charset="0"/>
                        <a:ea typeface="Calibri" panose="020F0502020204030204" pitchFamily="34" charset="0"/>
                        <a:cs typeface="Times New Roman" panose="02020603050405020304" pitchFamily="18" charset="0"/>
                      </a:rPr>
                      <m:t>𝑛</m:t>
                    </m:r>
                  </m:oMath>
                </a14:m>
                <a:endParaRPr lang="en-US" dirty="0"/>
              </a:p>
              <a:p>
                <a:pPr marL="0" indent="0">
                  <a:buNone/>
                </a:pPr>
                <a:endParaRPr lang="en-US" dirty="0"/>
              </a:p>
              <a:p>
                <a:pPr marL="0" indent="0">
                  <a:buNone/>
                </a:pPr>
                <a:r>
                  <a:rPr lang="en-US" dirty="0"/>
                  <a:t>The “usual” stochastic specification has three parts :</a:t>
                </a:r>
              </a:p>
              <a:p>
                <a:pPr marL="0" indent="0">
                  <a:buNone/>
                </a:pPr>
                <a:endParaRPr lang="en-US" dirty="0"/>
              </a:p>
              <a:p>
                <a:pPr marL="457200" indent="-457200">
                  <a:buAutoNum type="arabicPeriod"/>
                </a:pPr>
                <a:r>
                  <a:rPr lang="en-US" dirty="0"/>
                  <a:t>The </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𝑖𝑘</m:t>
                        </m:r>
                      </m:sub>
                    </m:sSub>
                  </m:oMath>
                </a14:m>
                <a:r>
                  <a:rPr lang="en-US" dirty="0"/>
                  <a:t> are independent of one another, </a:t>
                </a:r>
              </a:p>
              <a:p>
                <a:pPr marL="457200" indent="-457200">
                  <a:buAutoNum type="arabicPeriod"/>
                </a:pPr>
                <a:endParaRPr lang="en-US" dirty="0"/>
              </a:p>
              <a:p>
                <a:pPr marL="457200" indent="-457200">
                  <a:buAutoNum type="arabicPeriod"/>
                </a:pPr>
                <a:r>
                  <a:rPr lang="en-US" dirty="0"/>
                  <a:t>The </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𝑖𝑘</m:t>
                        </m:r>
                      </m:sub>
                    </m:sSub>
                  </m:oMath>
                </a14:m>
                <a:r>
                  <a:rPr lang="en-US" dirty="0"/>
                  <a:t> are normally distributed, and </a:t>
                </a:r>
              </a:p>
              <a:p>
                <a:pPr marL="457200" indent="-457200">
                  <a:buAutoNum type="arabicPeriod"/>
                </a:pPr>
                <a:endParaRPr lang="en-US" dirty="0"/>
              </a:p>
              <a:p>
                <a:pPr marL="457200" indent="-457200">
                  <a:buAutoNum type="arabicPeriod"/>
                </a:pPr>
                <a:r>
                  <a:rPr lang="en-US" dirty="0"/>
                  <a:t>The </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𝑖𝑘</m:t>
                        </m:r>
                      </m:sub>
                    </m:sSub>
                  </m:oMath>
                </a14:m>
                <a:r>
                  <a:rPr lang="en-US" dirty="0"/>
                  <a:t> have the same variance </a:t>
                </a:r>
                <a:r>
                  <a:rPr lang="en-US" i="1" dirty="0">
                    <a:latin typeface="Cambria Math" panose="02040503050406030204" pitchFamily="18" charset="0"/>
                    <a:ea typeface="Cambria Math" panose="02040503050406030204" pitchFamily="18" charset="0"/>
                  </a:rPr>
                  <a:t>𝜎</a:t>
                </a:r>
                <a:r>
                  <a:rPr lang="el-GR" i="1" baseline="-25000" dirty="0">
                    <a:latin typeface="Times New Roman" panose="02020603050405020304" pitchFamily="18" charset="0"/>
                    <a:ea typeface="Cambria Math" panose="02040503050406030204" pitchFamily="18" charset="0"/>
                    <a:cs typeface="Times New Roman" panose="02020603050405020304" pitchFamily="18" charset="0"/>
                  </a:rPr>
                  <a:t>ε</a:t>
                </a:r>
                <a:r>
                  <a:rPr lang="en-US" i="1" baseline="30000" dirty="0">
                    <a:latin typeface="Times New Roman" panose="02020603050405020304" pitchFamily="18" charset="0"/>
                    <a:ea typeface="Cambria Math" panose="02040503050406030204" pitchFamily="18" charset="0"/>
                    <a:cs typeface="Times New Roman" panose="02020603050405020304" pitchFamily="18" charset="0"/>
                  </a:rPr>
                  <a:t>2</a:t>
                </a:r>
                <a:endParaRPr lang="en-US" i="1" baseline="30000" dirty="0"/>
              </a:p>
            </p:txBody>
          </p:sp>
        </mc:Choice>
        <mc:Fallback xmlns="">
          <p:sp>
            <p:nvSpPr>
              <p:cNvPr id="3" name="Content Placeholder 2">
                <a:extLst>
                  <a:ext uri="{FF2B5EF4-FFF2-40B4-BE49-F238E27FC236}">
                    <a16:creationId xmlns:a16="http://schemas.microsoft.com/office/drawing/2014/main" id="{8EF89E80-6DEE-41DB-A2AC-94E6977BDB0F}"/>
                  </a:ext>
                </a:extLst>
              </p:cNvPr>
              <p:cNvSpPr>
                <a:spLocks noGrp="1" noRot="1" noChangeAspect="1" noMove="1" noResize="1" noEditPoints="1" noAdjustHandles="1" noChangeArrowheads="1" noChangeShapeType="1" noTextEdit="1"/>
              </p:cNvSpPr>
              <p:nvPr>
                <p:ph idx="1"/>
              </p:nvPr>
            </p:nvSpPr>
            <p:spPr>
              <a:blipFill>
                <a:blip r:embed="rId2"/>
                <a:stretch>
                  <a:fillRect l="-638" t="-2101"/>
                </a:stretch>
              </a:blipFill>
            </p:spPr>
            <p:txBody>
              <a:bodyPr/>
              <a:lstStyle/>
              <a:p>
                <a:r>
                  <a:rPr lang="en-US">
                    <a:noFill/>
                  </a:rPr>
                  <a:t> </a:t>
                </a:r>
              </a:p>
            </p:txBody>
          </p:sp>
        </mc:Fallback>
      </mc:AlternateContent>
    </p:spTree>
    <p:extLst>
      <p:ext uri="{BB962C8B-B14F-4D97-AF65-F5344CB8AC3E}">
        <p14:creationId xmlns:p14="http://schemas.microsoft.com/office/powerpoint/2010/main" val="2610399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661AD-790A-4588-AF02-3C435F22F45A}"/>
              </a:ext>
            </a:extLst>
          </p:cNvPr>
          <p:cNvSpPr>
            <a:spLocks noGrp="1"/>
          </p:cNvSpPr>
          <p:nvPr>
            <p:ph type="title"/>
          </p:nvPr>
        </p:nvSpPr>
        <p:spPr/>
        <p:txBody>
          <a:bodyPr/>
          <a:lstStyle/>
          <a:p>
            <a:r>
              <a:rPr lang="en-US" dirty="0"/>
              <a:t>The Stochastic Specification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E70DE9-1A7B-4E3F-9435-B8D6A280156F}"/>
                  </a:ext>
                </a:extLst>
              </p:cNvPr>
              <p:cNvSpPr>
                <a:spLocks noGrp="1"/>
              </p:cNvSpPr>
              <p:nvPr>
                <p:ph idx="1"/>
              </p:nvPr>
            </p:nvSpPr>
            <p:spPr/>
            <p:txBody>
              <a:bodyPr/>
              <a:lstStyle/>
              <a:p>
                <a:pPr marL="0" indent="0">
                  <a:buNone/>
                </a:pPr>
                <a:r>
                  <a:rPr lang="en-US" dirty="0"/>
                  <a:t>Of the three parts of the stochastic specification, </a:t>
                </a:r>
                <a:r>
                  <a:rPr lang="en-US" b="1" dirty="0"/>
                  <a:t>only the first part</a:t>
                </a:r>
                <a:r>
                  <a:rPr lang="en-US" dirty="0"/>
                  <a:t> </a:t>
                </a:r>
                <a:r>
                  <a:rPr lang="en-US" b="1" dirty="0"/>
                  <a:t>is important </a:t>
                </a:r>
              </a:p>
              <a:p>
                <a:pPr marL="0" indent="0">
                  <a:buNone/>
                </a:pPr>
                <a:endParaRPr lang="en-US" b="1" dirty="0"/>
              </a:p>
              <a:p>
                <a:pPr marL="0" indent="0">
                  <a:buNone/>
                </a:pPr>
                <a:r>
                  <a:rPr lang="en-US" dirty="0"/>
                  <a:t>Independence of the observations is crucial</a:t>
                </a:r>
              </a:p>
              <a:p>
                <a:pPr marL="0" indent="0">
                  <a:buNone/>
                </a:pPr>
                <a:endParaRPr lang="en-US" dirty="0"/>
              </a:p>
              <a:p>
                <a:pPr marL="0" indent="0">
                  <a:buNone/>
                </a:pPr>
                <a:r>
                  <a:rPr lang="en-US" dirty="0"/>
                  <a:t>Independence means that knowing the value of one </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𝑖𝑘</m:t>
                        </m:r>
                      </m:sub>
                    </m:sSub>
                  </m:oMath>
                </a14:m>
                <a:r>
                  <a:rPr lang="en-US" dirty="0"/>
                  <a:t> cannot help you predict any other </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𝑖𝑘</m:t>
                        </m:r>
                      </m:sub>
                    </m:sSub>
                  </m:oMath>
                </a14:m>
                <a:endParaRPr lang="en-US" dirty="0"/>
              </a:p>
              <a:p>
                <a:pPr marL="0" indent="0">
                  <a:buNone/>
                </a:pPr>
                <a:endParaRPr lang="en-US" dirty="0"/>
              </a:p>
              <a:p>
                <a:pPr marL="0" indent="0">
                  <a:buNone/>
                </a:pPr>
                <a:r>
                  <a:rPr lang="en-US" dirty="0"/>
                  <a:t>Independence is one of the trickiest (but most powerful)concepts in statistics</a:t>
                </a:r>
              </a:p>
              <a:p>
                <a:pPr marL="0" indent="0">
                  <a:buNone/>
                </a:pPr>
                <a:endParaRPr lang="en-US" dirty="0"/>
              </a:p>
              <a:p>
                <a:pPr marL="0" indent="0">
                  <a:buNone/>
                </a:pPr>
                <a:r>
                  <a:rPr lang="en-US" dirty="0"/>
                  <a:t>Independence is empirically unverifiable</a:t>
                </a:r>
              </a:p>
              <a:p>
                <a:pPr marL="0" indent="0">
                  <a:buNone/>
                </a:pPr>
                <a:endParaRPr lang="en-US" dirty="0"/>
              </a:p>
              <a:p>
                <a:pPr marL="0" indent="0">
                  <a:buNone/>
                </a:pPr>
                <a:r>
                  <a:rPr lang="en-US" b="1" dirty="0"/>
                  <a:t>But,</a:t>
                </a:r>
                <a:r>
                  <a:rPr lang="en-US" dirty="0"/>
                  <a:t> we usually think that different individuals, sampled at random from a population are independent</a:t>
                </a:r>
              </a:p>
              <a:p>
                <a:pPr marL="0" indent="0">
                  <a:buNone/>
                </a:pPr>
                <a:endParaRPr lang="en-US" dirty="0"/>
              </a:p>
              <a:p>
                <a:pPr marL="0" indent="0">
                  <a:buNone/>
                </a:pPr>
                <a:r>
                  <a:rPr lang="en-US" dirty="0"/>
                  <a:t>If we can think of the individuals in our study that way, we may be able to think of them as independent</a:t>
                </a:r>
              </a:p>
            </p:txBody>
          </p:sp>
        </mc:Choice>
        <mc:Fallback xmlns="">
          <p:sp>
            <p:nvSpPr>
              <p:cNvPr id="3" name="Content Placeholder 2">
                <a:extLst>
                  <a:ext uri="{FF2B5EF4-FFF2-40B4-BE49-F238E27FC236}">
                    <a16:creationId xmlns:a16="http://schemas.microsoft.com/office/drawing/2014/main" id="{6EE70DE9-1A7B-4E3F-9435-B8D6A280156F}"/>
                  </a:ext>
                </a:extLst>
              </p:cNvPr>
              <p:cNvSpPr>
                <a:spLocks noGrp="1" noRot="1" noChangeAspect="1" noMove="1" noResize="1" noEditPoints="1" noAdjustHandles="1" noChangeArrowheads="1" noChangeShapeType="1" noTextEdit="1"/>
              </p:cNvSpPr>
              <p:nvPr>
                <p:ph idx="1"/>
              </p:nvPr>
            </p:nvSpPr>
            <p:spPr>
              <a:blipFill>
                <a:blip r:embed="rId2"/>
                <a:stretch>
                  <a:fillRect l="-638" t="-1401"/>
                </a:stretch>
              </a:blipFill>
            </p:spPr>
            <p:txBody>
              <a:bodyPr/>
              <a:lstStyle/>
              <a:p>
                <a:r>
                  <a:rPr lang="en-US">
                    <a:noFill/>
                  </a:rPr>
                  <a:t> </a:t>
                </a:r>
              </a:p>
            </p:txBody>
          </p:sp>
        </mc:Fallback>
      </mc:AlternateContent>
    </p:spTree>
    <p:extLst>
      <p:ext uri="{BB962C8B-B14F-4D97-AF65-F5344CB8AC3E}">
        <p14:creationId xmlns:p14="http://schemas.microsoft.com/office/powerpoint/2010/main" val="3195222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6204-75E9-4CF9-9216-098F86522052}"/>
              </a:ext>
            </a:extLst>
          </p:cNvPr>
          <p:cNvSpPr>
            <a:spLocks noGrp="1"/>
          </p:cNvSpPr>
          <p:nvPr>
            <p:ph type="title"/>
          </p:nvPr>
        </p:nvSpPr>
        <p:spPr/>
        <p:txBody>
          <a:bodyPr/>
          <a:lstStyle/>
          <a:p>
            <a:r>
              <a:rPr lang="en-US" dirty="0"/>
              <a:t>Why Are the Other Two Assumptions Less Important</a:t>
            </a:r>
          </a:p>
        </p:txBody>
      </p:sp>
      <p:sp>
        <p:nvSpPr>
          <p:cNvPr id="3" name="Content Placeholder 2">
            <a:extLst>
              <a:ext uri="{FF2B5EF4-FFF2-40B4-BE49-F238E27FC236}">
                <a16:creationId xmlns:a16="http://schemas.microsoft.com/office/drawing/2014/main" id="{C7BA44BA-C86E-42F9-BCA8-8B58B3E6F6D5}"/>
              </a:ext>
            </a:extLst>
          </p:cNvPr>
          <p:cNvSpPr>
            <a:spLocks noGrp="1"/>
          </p:cNvSpPr>
          <p:nvPr>
            <p:ph idx="1"/>
          </p:nvPr>
        </p:nvSpPr>
        <p:spPr/>
        <p:txBody>
          <a:bodyPr>
            <a:normAutofit lnSpcReduction="10000"/>
          </a:bodyPr>
          <a:lstStyle/>
          <a:p>
            <a:pPr marL="0" indent="0">
              <a:buNone/>
            </a:pPr>
            <a:r>
              <a:rPr lang="en-US" dirty="0"/>
              <a:t>Consider this analysis of our experiment</a:t>
            </a:r>
          </a:p>
          <a:p>
            <a:pPr marL="0" indent="0">
              <a:buNone/>
            </a:pPr>
            <a:endParaRPr lang="en-US" dirty="0"/>
          </a:p>
          <a:p>
            <a:pPr marL="0" indent="0">
              <a:buNone/>
            </a:pPr>
            <a:r>
              <a:rPr lang="en-US" dirty="0"/>
              <a:t>Compute the difference between the mean of the treatment and control groups (the treatment effect) in our experiment</a:t>
            </a:r>
          </a:p>
          <a:p>
            <a:pPr marL="0" indent="0">
              <a:buNone/>
            </a:pPr>
            <a:endParaRPr lang="en-US" dirty="0"/>
          </a:p>
          <a:p>
            <a:pPr marL="0" indent="0">
              <a:buNone/>
            </a:pPr>
            <a:r>
              <a:rPr lang="en-US" dirty="0"/>
              <a:t>Take the </a:t>
            </a:r>
            <a:r>
              <a:rPr lang="en-US" i="1" dirty="0" err="1">
                <a:latin typeface="Times New Roman" panose="02020603050405020304" pitchFamily="18" charset="0"/>
                <a:cs typeface="Times New Roman" panose="02020603050405020304" pitchFamily="18" charset="0"/>
              </a:rPr>
              <a:t>Y</a:t>
            </a:r>
            <a:r>
              <a:rPr lang="en-US" i="1" baseline="-25000" dirty="0" err="1">
                <a:latin typeface="Times New Roman" panose="02020603050405020304" pitchFamily="18" charset="0"/>
                <a:cs typeface="Times New Roman" panose="02020603050405020304" pitchFamily="18" charset="0"/>
              </a:rPr>
              <a:t>ik</a:t>
            </a:r>
            <a:r>
              <a:rPr lang="en-US" dirty="0" err="1"/>
              <a:t>’s</a:t>
            </a:r>
            <a:r>
              <a:rPr lang="en-US" dirty="0"/>
              <a:t> and make a list of every possible way that we could have assigned </a:t>
            </a:r>
            <a:r>
              <a:rPr lang="en-US" i="1"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=1</a:t>
            </a:r>
            <a:r>
              <a:rPr lang="en-US" dirty="0"/>
              <a:t> to </a:t>
            </a:r>
            <a:r>
              <a:rPr lang="en-US" i="1" dirty="0">
                <a:latin typeface="Times New Roman" panose="02020603050405020304" pitchFamily="18" charset="0"/>
                <a:cs typeface="Times New Roman" panose="02020603050405020304" pitchFamily="18" charset="0"/>
              </a:rPr>
              <a:t>n</a:t>
            </a:r>
            <a:r>
              <a:rPr lang="en-US" dirty="0"/>
              <a:t> of them and </a:t>
            </a:r>
            <a:r>
              <a:rPr lang="en-US" i="1"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=2 </a:t>
            </a:r>
            <a:r>
              <a:rPr lang="en-US" dirty="0"/>
              <a:t>to the other </a:t>
            </a:r>
            <a:r>
              <a:rPr lang="en-US" i="1" dirty="0">
                <a:latin typeface="Times New Roman" panose="02020603050405020304" pitchFamily="18" charset="0"/>
                <a:cs typeface="Times New Roman" panose="02020603050405020304" pitchFamily="18" charset="0"/>
              </a:rPr>
              <a:t>n </a:t>
            </a:r>
            <a:r>
              <a:rPr lang="en-US" dirty="0"/>
              <a:t>outcomes (it would be long list)</a:t>
            </a:r>
          </a:p>
          <a:p>
            <a:pPr marL="0" indent="0">
              <a:buNone/>
            </a:pPr>
            <a:endParaRPr lang="en-US" dirty="0"/>
          </a:p>
          <a:p>
            <a:pPr marL="0" indent="0">
              <a:buNone/>
            </a:pPr>
            <a:r>
              <a:rPr lang="en-US" dirty="0"/>
              <a:t>Compute the difference between the mean of the treatment and control groups (the treatment effect) in every one of the possible assignments on our long list</a:t>
            </a:r>
          </a:p>
          <a:p>
            <a:pPr marL="0" indent="0">
              <a:buNone/>
            </a:pPr>
            <a:endParaRPr lang="en-US" dirty="0"/>
          </a:p>
          <a:p>
            <a:pPr marL="0" indent="0">
              <a:buNone/>
            </a:pPr>
            <a:r>
              <a:rPr lang="en-US" dirty="0"/>
              <a:t>Compare the treatment effect we observed to the list (the distribution) of treatment effects that might have been observed with  all the different possible treatment assignments to the observed outcomes</a:t>
            </a:r>
          </a:p>
          <a:p>
            <a:pPr marL="0" indent="0">
              <a:buNone/>
            </a:pPr>
            <a:endParaRPr lang="en-US" dirty="0"/>
          </a:p>
          <a:p>
            <a:pPr marL="0" indent="0">
              <a:buNone/>
            </a:pPr>
            <a:r>
              <a:rPr lang="en-US" dirty="0"/>
              <a:t>Believe the treatment effect is real if the observed treatment effect is unusual among all possible treatment effects (with different assignments)</a:t>
            </a:r>
          </a:p>
        </p:txBody>
      </p:sp>
    </p:spTree>
    <p:extLst>
      <p:ext uri="{BB962C8B-B14F-4D97-AF65-F5344CB8AC3E}">
        <p14:creationId xmlns:p14="http://schemas.microsoft.com/office/powerpoint/2010/main" val="3574020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40331-66DE-4EC6-B93D-80448831F935}"/>
              </a:ext>
            </a:extLst>
          </p:cNvPr>
          <p:cNvSpPr>
            <a:spLocks noGrp="1"/>
          </p:cNvSpPr>
          <p:nvPr>
            <p:ph type="title"/>
          </p:nvPr>
        </p:nvSpPr>
        <p:spPr/>
        <p:txBody>
          <a:bodyPr/>
          <a:lstStyle/>
          <a:p>
            <a:r>
              <a:rPr lang="en-US" dirty="0"/>
              <a:t>Why Are the Other Two Assumptions Less Important</a:t>
            </a:r>
          </a:p>
        </p:txBody>
      </p:sp>
      <p:sp>
        <p:nvSpPr>
          <p:cNvPr id="3" name="Content Placeholder 2">
            <a:extLst>
              <a:ext uri="{FF2B5EF4-FFF2-40B4-BE49-F238E27FC236}">
                <a16:creationId xmlns:a16="http://schemas.microsoft.com/office/drawing/2014/main" id="{A20EEF79-8F59-4BF3-8342-4F2E3090C2CE}"/>
              </a:ext>
            </a:extLst>
          </p:cNvPr>
          <p:cNvSpPr>
            <a:spLocks noGrp="1"/>
          </p:cNvSpPr>
          <p:nvPr>
            <p:ph idx="1"/>
          </p:nvPr>
        </p:nvSpPr>
        <p:spPr/>
        <p:txBody>
          <a:bodyPr/>
          <a:lstStyle/>
          <a:p>
            <a:pPr marL="0" indent="0">
              <a:buNone/>
            </a:pPr>
            <a:r>
              <a:rPr lang="en-US" dirty="0"/>
              <a:t>The process I just described is called a randomization test.  It makes no assumptions except independence</a:t>
            </a:r>
          </a:p>
          <a:p>
            <a:pPr marL="0" indent="0">
              <a:buNone/>
            </a:pPr>
            <a:endParaRPr lang="en-US" dirty="0"/>
          </a:p>
          <a:p>
            <a:pPr marL="0" indent="0">
              <a:buNone/>
            </a:pPr>
            <a:r>
              <a:rPr lang="en-US" dirty="0"/>
              <a:t>R. A. Fisher, the father of randomized experiments, proposed the randomization test as a way  to analyze experimental data (The Lady Tasting Tea allegory)</a:t>
            </a:r>
          </a:p>
          <a:p>
            <a:pPr marL="0" indent="0">
              <a:buNone/>
            </a:pPr>
            <a:endParaRPr lang="en-US" dirty="0"/>
          </a:p>
          <a:p>
            <a:pPr marL="0" indent="0">
              <a:buNone/>
            </a:pPr>
            <a:r>
              <a:rPr lang="en-US" dirty="0"/>
              <a:t>What is surprising and </a:t>
            </a:r>
            <a:r>
              <a:rPr lang="en-US" b="1" dirty="0"/>
              <a:t>completely</a:t>
            </a:r>
            <a:r>
              <a:rPr lang="en-US" dirty="0"/>
              <a:t> non-obvious is that the statistical methods we will talk about are known (via the theory of mathematical statistics) to be very good approximations to randomization tests</a:t>
            </a:r>
          </a:p>
          <a:p>
            <a:pPr marL="0" indent="0">
              <a:buNone/>
            </a:pPr>
            <a:endParaRPr lang="en-US" dirty="0"/>
          </a:p>
          <a:p>
            <a:pPr marL="0" indent="0">
              <a:buNone/>
            </a:pPr>
            <a:r>
              <a:rPr lang="en-US" dirty="0"/>
              <a:t>That means that the other two pats of the stochastic model are not terribly important  </a:t>
            </a:r>
          </a:p>
        </p:txBody>
      </p:sp>
    </p:spTree>
    <p:extLst>
      <p:ext uri="{BB962C8B-B14F-4D97-AF65-F5344CB8AC3E}">
        <p14:creationId xmlns:p14="http://schemas.microsoft.com/office/powerpoint/2010/main" val="3009720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768E-9636-4303-B51C-96BA798FC97E}"/>
              </a:ext>
            </a:extLst>
          </p:cNvPr>
          <p:cNvSpPr>
            <a:spLocks noGrp="1"/>
          </p:cNvSpPr>
          <p:nvPr>
            <p:ph type="title"/>
          </p:nvPr>
        </p:nvSpPr>
        <p:spPr/>
        <p:txBody>
          <a:bodyPr/>
          <a:lstStyle/>
          <a:p>
            <a:r>
              <a:rPr lang="en-US" dirty="0"/>
              <a:t>Effect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2E2702-2B37-4BE2-BD46-AB8B6D01325F}"/>
                  </a:ext>
                </a:extLst>
              </p:cNvPr>
              <p:cNvSpPr>
                <a:spLocks noGrp="1"/>
              </p:cNvSpPr>
              <p:nvPr>
                <p:ph idx="1"/>
              </p:nvPr>
            </p:nvSpPr>
            <p:spPr/>
            <p:txBody>
              <a:bodyPr/>
              <a:lstStyle/>
              <a:p>
                <a:pPr marL="0" indent="0">
                  <a:buNone/>
                </a:pPr>
                <a:r>
                  <a:rPr lang="en-US" dirty="0"/>
                  <a:t>It is conventional to define the treatment effect size parameter (note the Greek letter </a:t>
                </a:r>
                <a:r>
                  <a:rPr lang="el-GR" i="1"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 </a:t>
                </a:r>
                <a:r>
                  <a:rPr lang="en-US" dirty="0"/>
                  <a:t>in terms of the structural model as the standardized mean difference as</a:t>
                </a:r>
              </a:p>
              <a:p>
                <a:pPr marL="0" marR="0" indent="0">
                  <a:lnSpc>
                    <a:spcPct val="107000"/>
                  </a:lnSpc>
                  <a:spcBef>
                    <a:spcPts val="0"/>
                  </a:spcBef>
                  <a:spcAft>
                    <a:spcPts val="0"/>
                  </a:spcAft>
                  <a:buNone/>
                  <a:tabLst>
                    <a:tab pos="400050" algn="l"/>
                    <a:tab pos="457200" algn="l"/>
                  </a:tabLst>
                </a:pPr>
                <a:endParaRPr lang="en-US" dirty="0"/>
              </a:p>
              <a:p>
                <a:pPr marL="0" marR="0" indent="0">
                  <a:lnSpc>
                    <a:spcPct val="107000"/>
                  </a:lnSpc>
                  <a:spcBef>
                    <a:spcPts val="0"/>
                  </a:spcBef>
                  <a:spcAft>
                    <a:spcPts val="0"/>
                  </a:spcAft>
                  <a:buNone/>
                  <a:tabLst>
                    <a:tab pos="400050" algn="l"/>
                    <a:tab pos="457200" algn="l"/>
                  </a:tabLst>
                </a:pPr>
                <a:r>
                  <a:rPr lang="en-US" dirty="0">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i="1">
                        <a:effectLst/>
                        <a:latin typeface="Cambria Math" panose="02040503050406030204" pitchFamily="18" charset="0"/>
                        <a:ea typeface="Calibri" panose="020F0502020204030204" pitchFamily="34" charset="0"/>
                        <a:cs typeface="Times New Roman" panose="02020603050405020304" pitchFamily="18" charset="0"/>
                      </a:rPr>
                      <m:t>𝛿</m:t>
                    </m:r>
                    <m:r>
                      <a:rPr lang="en-US"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i="1">
                                <a:effectLst/>
                                <a:latin typeface="Cambria Math" panose="02040503050406030204" pitchFamily="18" charset="0"/>
                                <a:ea typeface="Calibri" panose="020F0502020204030204" pitchFamily="34" charset="0"/>
                                <a:cs typeface="Times New Roman" panose="02020603050405020304" pitchFamily="18" charset="0"/>
                              </a:rPr>
                              <m:t>2</m:t>
                            </m:r>
                          </m:sub>
                        </m:sSub>
                      </m:num>
                      <m:den>
                        <m:sSub>
                          <m:sSubPr>
                            <m:ctrlPr>
                              <a:rPr lang="en-US"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𝜖</m:t>
                            </m:r>
                          </m:sub>
                        </m:sSub>
                      </m:den>
                    </m:f>
                    <m:r>
                      <a:rPr lang="en-US" i="1">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a:p>
                <a:pPr marL="0" indent="0">
                  <a:buNone/>
                </a:pPr>
                <a:r>
                  <a:rPr lang="en-US" dirty="0"/>
                  <a:t>This corresponds the treatment group mean minus the control group mean divided by the within-group standard deviation  (sometimes called Cohen’s </a:t>
                </a:r>
                <a:r>
                  <a:rPr lang="en-US" b="1" dirty="0"/>
                  <a:t>d</a:t>
                </a:r>
                <a:r>
                  <a:rPr lang="en-US" dirty="0"/>
                  <a:t>)</a:t>
                </a:r>
              </a:p>
              <a:p>
                <a:pPr marL="0" indent="0">
                  <a:buNone/>
                </a:pPr>
                <a:endParaRPr lang="en-US" dirty="0"/>
              </a:p>
              <a:p>
                <a:pPr marL="0" indent="0">
                  <a:buNone/>
                </a:pPr>
                <a:r>
                  <a:rPr lang="en-US" dirty="0"/>
                  <a:t>The treatment effect size is important because:</a:t>
                </a:r>
              </a:p>
              <a:p>
                <a:pPr marL="0" indent="0">
                  <a:buNone/>
                </a:pPr>
                <a:endParaRPr lang="en-US" dirty="0"/>
              </a:p>
              <a:p>
                <a:pPr marL="457200" indent="-457200">
                  <a:buAutoNum type="arabicPeriod"/>
                </a:pPr>
                <a:r>
                  <a:rPr lang="en-US" dirty="0"/>
                  <a:t>It is a metric that is widely used to compare treatment effects across different experiments</a:t>
                </a:r>
              </a:p>
              <a:p>
                <a:pPr marL="457200" indent="-457200">
                  <a:buAutoNum type="arabicPeriod"/>
                </a:pPr>
                <a:endParaRPr lang="en-US" dirty="0"/>
              </a:p>
              <a:p>
                <a:pPr marL="457200" indent="-457200">
                  <a:buAutoNum type="arabicPeriod"/>
                </a:pPr>
                <a:r>
                  <a:rPr lang="en-US" dirty="0"/>
                  <a:t>It is a key factor that determines the </a:t>
                </a:r>
                <a:r>
                  <a:rPr lang="en-US" b="1" i="1" dirty="0"/>
                  <a:t>sensitivity</a:t>
                </a:r>
                <a:r>
                  <a:rPr lang="en-US" dirty="0"/>
                  <a:t> of research designs</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E02E2702-2B37-4BE2-BD46-AB8B6D01325F}"/>
                  </a:ext>
                </a:extLst>
              </p:cNvPr>
              <p:cNvSpPr>
                <a:spLocks noGrp="1" noRot="1" noChangeAspect="1" noMove="1" noResize="1" noEditPoints="1" noAdjustHandles="1" noChangeArrowheads="1" noChangeShapeType="1" noTextEdit="1"/>
              </p:cNvSpPr>
              <p:nvPr>
                <p:ph idx="1"/>
              </p:nvPr>
            </p:nvSpPr>
            <p:spPr>
              <a:blipFill>
                <a:blip r:embed="rId2"/>
                <a:stretch>
                  <a:fillRect l="-638" t="-1541" r="-174"/>
                </a:stretch>
              </a:blipFill>
            </p:spPr>
            <p:txBody>
              <a:bodyPr/>
              <a:lstStyle/>
              <a:p>
                <a:r>
                  <a:rPr lang="en-US">
                    <a:noFill/>
                  </a:rPr>
                  <a:t> </a:t>
                </a:r>
              </a:p>
            </p:txBody>
          </p:sp>
        </mc:Fallback>
      </mc:AlternateContent>
    </p:spTree>
    <p:extLst>
      <p:ext uri="{BB962C8B-B14F-4D97-AF65-F5344CB8AC3E}">
        <p14:creationId xmlns:p14="http://schemas.microsoft.com/office/powerpoint/2010/main" val="4167377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3243-FBFA-4C22-AB92-C26884140A91}"/>
              </a:ext>
            </a:extLst>
          </p:cNvPr>
          <p:cNvSpPr>
            <a:spLocks noGrp="1"/>
          </p:cNvSpPr>
          <p:nvPr>
            <p:ph type="title"/>
          </p:nvPr>
        </p:nvSpPr>
        <p:spPr/>
        <p:txBody>
          <a:bodyPr/>
          <a:lstStyle/>
          <a:p>
            <a:r>
              <a:rPr lang="en-US" dirty="0"/>
              <a:t>Testing the Significance of the Treatment Effect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584E42-A6E7-4A68-A83A-F30C09C7A139}"/>
                  </a:ext>
                </a:extLst>
              </p:cNvPr>
              <p:cNvSpPr>
                <a:spLocks noGrp="1"/>
              </p:cNvSpPr>
              <p:nvPr>
                <p:ph idx="1"/>
              </p:nvPr>
            </p:nvSpPr>
            <p:spPr/>
            <p:txBody>
              <a:bodyPr/>
              <a:lstStyle/>
              <a:p>
                <a:pPr marL="0" indent="0">
                  <a:buNone/>
                </a:pPr>
                <a:r>
                  <a:rPr lang="en-US" dirty="0"/>
                  <a:t>Let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and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be the </a:t>
                </a:r>
                <a:r>
                  <a:rPr lang="en-US" dirty="0">
                    <a:effectLst/>
                    <a:ea typeface="Calibri" panose="020F0502020204030204" pitchFamily="34" charset="0"/>
                  </a:rPr>
                  <a:t>means of the treatment and comparison groups, respectively</a:t>
                </a:r>
              </a:p>
              <a:p>
                <a:pPr marL="0" indent="0">
                  <a:buNone/>
                </a:pPr>
                <a:endParaRPr lang="en-US" dirty="0">
                  <a:ea typeface="Calibri" panose="020F0502020204030204" pitchFamily="34" charset="0"/>
                </a:endParaRPr>
              </a:p>
              <a:p>
                <a:pPr marL="0" indent="0">
                  <a:buNone/>
                </a:pPr>
                <a:r>
                  <a:rPr lang="en-US" dirty="0">
                    <a:effectLst/>
                    <a:ea typeface="Calibri" panose="020F0502020204030204" pitchFamily="34" charset="0"/>
                  </a:rPr>
                  <a:t>Then the treatment effect </a:t>
                </a:r>
                <a:r>
                  <a:rPr lang="en-US" dirty="0">
                    <a:ea typeface="Calibri" panose="020F0502020204030204" pitchFamily="34" charset="0"/>
                  </a:rPr>
                  <a:t>e</a:t>
                </a:r>
                <a:r>
                  <a:rPr lang="en-US" dirty="0">
                    <a:effectLst/>
                    <a:ea typeface="Calibri" panose="020F0502020204030204" pitchFamily="34" charset="0"/>
                  </a:rPr>
                  <a:t>stimate (the estimate of  </a:t>
                </a:r>
                <a:r>
                  <a:rPr lang="el-GR"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i="1"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i="1" dirty="0">
                    <a:effectLst/>
                    <a:ea typeface="Calibri" panose="020F0502020204030204" pitchFamily="34" charset="0"/>
                  </a:rPr>
                  <a:t>–  </a:t>
                </a:r>
                <a:r>
                  <a:rPr lang="el-GR"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i="1"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dirty="0">
                    <a:effectLst/>
                    <a:ea typeface="Calibri" panose="020F0502020204030204" pitchFamily="34" charset="0"/>
                  </a:rPr>
                  <a:t>) </a:t>
                </a:r>
                <a:r>
                  <a:rPr lang="en-US" dirty="0">
                    <a:ea typeface="Calibri" panose="020F0502020204030204" pitchFamily="34" charset="0"/>
                  </a:rPr>
                  <a:t>i</a:t>
                </a:r>
                <a:r>
                  <a:rPr lang="en-US" dirty="0">
                    <a:effectLst/>
                    <a:ea typeface="Calibri" panose="020F0502020204030204" pitchFamily="34" charset="0"/>
                  </a:rPr>
                  <a:t>s </a:t>
                </a:r>
                <a:r>
                  <a:rPr lang="en-US" i="1" dirty="0">
                    <a:latin typeface="Times New Roman" panose="02020603050405020304" pitchFamily="18" charset="0"/>
                    <a:cs typeface="Times New Roman" panose="02020603050405020304" pitchFamily="18" charset="0"/>
                  </a:rPr>
                  <a:t>D = Y</a:t>
                </a:r>
                <a:r>
                  <a:rPr lang="en-US" i="1"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 </a:t>
                </a:r>
                <a:endParaRPr lang="en-US" dirty="0">
                  <a:effectLst/>
                  <a:ea typeface="Calibri" panose="020F0502020204030204" pitchFamily="34" charset="0"/>
                </a:endParaRPr>
              </a:p>
              <a:p>
                <a:pPr marL="0" indent="0">
                  <a:buNone/>
                </a:pPr>
                <a:endParaRPr lang="en-US" dirty="0"/>
              </a:p>
              <a:p>
                <a:pPr marL="0" marR="0" indent="0">
                  <a:lnSpc>
                    <a:spcPct val="107000"/>
                  </a:lnSpc>
                  <a:spcBef>
                    <a:spcPts val="0"/>
                  </a:spcBef>
                  <a:spcAft>
                    <a:spcPts val="0"/>
                  </a:spcAft>
                  <a:buNone/>
                  <a:tabLst>
                    <a:tab pos="457200" algn="l"/>
                  </a:tabLst>
                </a:pPr>
                <a:r>
                  <a:rPr lang="en-US" dirty="0">
                    <a:effectLst/>
                    <a:ea typeface="Calibri" panose="020F0502020204030204" pitchFamily="34" charset="0"/>
                    <a:cs typeface="Times New Roman" panose="02020603050405020304" pitchFamily="18" charset="0"/>
                  </a:rPr>
                  <a:t>The test statistic used for testing if the treatment effect is non-zero is</a:t>
                </a:r>
              </a:p>
              <a:p>
                <a:pPr marL="0" marR="0" indent="0">
                  <a:lnSpc>
                    <a:spcPct val="107000"/>
                  </a:lnSpc>
                  <a:spcBef>
                    <a:spcPts val="0"/>
                  </a:spcBef>
                  <a:spcAft>
                    <a:spcPts val="0"/>
                  </a:spcAft>
                  <a:buNone/>
                  <a:tabLst>
                    <a:tab pos="457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𝑇</m:t>
                    </m:r>
                    <m:r>
                      <a:rPr lang="en-US" i="1">
                        <a:effectLst/>
                        <a:latin typeface="Cambria Math" panose="02040503050406030204" pitchFamily="18" charset="0"/>
                        <a:ea typeface="Calibri" panose="020F0502020204030204" pitchFamily="34" charset="0"/>
                        <a:cs typeface="Times New Roman" panose="02020603050405020304" pitchFamily="18" charset="0"/>
                      </a:rPr>
                      <m:t> =</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𝐷</m:t>
                    </m:r>
                    <m:r>
                      <a:rPr lang="en-US" i="1">
                        <a:effectLst/>
                        <a:latin typeface="Cambria Math" panose="02040503050406030204" pitchFamily="18" charset="0"/>
                        <a:ea typeface="Calibri" panose="020F0502020204030204" pitchFamily="34" charset="0"/>
                        <a:cs typeface="Times New Roman" panose="02020603050405020304" pitchFamily="18" charset="0"/>
                      </a:rPr>
                      <m:t>/</m:t>
                    </m:r>
                    <m:r>
                      <a:rPr lang="en-US" i="1">
                        <a:effectLst/>
                        <a:latin typeface="Cambria Math" panose="02040503050406030204" pitchFamily="18" charset="0"/>
                        <a:ea typeface="Calibri" panose="020F0502020204030204" pitchFamily="34" charset="0"/>
                        <a:cs typeface="Times New Roman" panose="02020603050405020304" pitchFamily="18" charset="0"/>
                      </a:rPr>
                      <m:t>𝑆</m:t>
                    </m:r>
                  </m:oMath>
                </a14:m>
                <a:r>
                  <a:rPr lang="en-US" i="1" dirty="0">
                    <a:effectLst/>
                    <a:latin typeface="Times New Roman" panose="02020603050405020304" pitchFamily="18" charset="0"/>
                    <a:ea typeface="Calibri" panose="020F0502020204030204" pitchFamily="34" charset="0"/>
                    <a:cs typeface="Times New Roman" panose="02020603050405020304" pitchFamily="18" charset="0"/>
                  </a:rPr>
                  <a:t>E</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indent="0">
                  <a:lnSpc>
                    <a:spcPct val="107000"/>
                  </a:lnSpc>
                  <a:spcBef>
                    <a:spcPts val="0"/>
                  </a:spcBef>
                  <a:spcAft>
                    <a:spcPts val="0"/>
                  </a:spcAft>
                  <a:buNone/>
                  <a:tabLst>
                    <a:tab pos="457200" algn="l"/>
                  </a:tabLst>
                </a:pPr>
                <a:r>
                  <a:rPr lang="en-US" dirty="0">
                    <a:effectLst/>
                    <a:ea typeface="Calibri" panose="020F0502020204030204" pitchFamily="34" charset="0"/>
                    <a:cs typeface="Times New Roman" panose="02020603050405020304" pitchFamily="18" charset="0"/>
                  </a:rPr>
                  <a:t>where </a:t>
                </a:r>
                <a14:m>
                  <m:oMath xmlns:m="http://schemas.openxmlformats.org/officeDocument/2006/math">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𝑆𝐸</m:t>
                    </m:r>
                    <m:r>
                      <a:rPr lang="en-US" i="1">
                        <a:effectLst/>
                        <a:latin typeface="Cambria Math" panose="02040503050406030204" pitchFamily="18" charset="0"/>
                        <a:ea typeface="Calibri" panose="020F0502020204030204" pitchFamily="34" charset="0"/>
                        <a:cs typeface="Times New Roman" panose="02020603050405020304" pitchFamily="18" charset="0"/>
                      </a:rPr>
                      <m:t> </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dirty="0">
                    <a:effectLst/>
                    <a:ea typeface="Calibri" panose="020F0502020204030204" pitchFamily="34" charset="0"/>
                    <a:cs typeface="Times New Roman" panose="02020603050405020304" pitchFamily="18" charset="0"/>
                  </a:rPr>
                  <a:t>is the standard error </a:t>
                </a:r>
                <a:r>
                  <a:rPr lang="en-US" dirty="0">
                    <a:ea typeface="Calibri" panose="020F0502020204030204" pitchFamily="34" charset="0"/>
                    <a:cs typeface="Times New Roman" panose="02020603050405020304" pitchFamily="18" charset="0"/>
                  </a:rPr>
                  <a:t>of the treatment effect estimate </a:t>
                </a:r>
                <a:r>
                  <a:rPr lang="en-US" dirty="0">
                    <a:effectLst/>
                    <a:ea typeface="Calibri" panose="020F0502020204030204" pitchFamily="34" charset="0"/>
                    <a:cs typeface="Times New Roman" panose="02020603050405020304" pitchFamily="18" charset="0"/>
                  </a:rPr>
                  <a:t>defined (in the balanced case) by</a:t>
                </a:r>
                <a:r>
                  <a:rPr lang="en-US" dirty="0">
                    <a:ea typeface="Calibri" panose="020F0502020204030204" pitchFamily="34" charset="0"/>
                    <a:cs typeface="Times New Roman" panose="02020603050405020304" pitchFamily="18" charset="0"/>
                  </a:rPr>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𝑆𝐸</m:t>
                        </m:r>
                      </m:e>
                      <m:sup>
                        <m:r>
                          <a:rPr lang="en-US" i="1">
                            <a:latin typeface="Cambria Math" panose="02040503050406030204" pitchFamily="18" charset="0"/>
                          </a:rPr>
                          <m:t>2</m:t>
                        </m:r>
                      </m:sup>
                    </m:sSup>
                    <m:r>
                      <a:rPr lang="en-US" i="1">
                        <a:latin typeface="Cambria Math" panose="02040503050406030204" pitchFamily="18" charset="0"/>
                      </a:rPr>
                      <m:t>=</m:t>
                    </m:r>
                    <m:f>
                      <m:fPr>
                        <m:ctrlPr>
                          <a:rPr lang="en-US" i="1">
                            <a:latin typeface="Cambria Math" panose="02040503050406030204" pitchFamily="18" charset="0"/>
                          </a:rPr>
                        </m:ctrlPr>
                      </m:fPr>
                      <m:num>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𝑌</m:t>
                                            </m:r>
                                          </m:e>
                                        </m:acc>
                                      </m:e>
                                      <m:sub>
                                        <m:r>
                                          <a:rPr lang="en-US" i="1">
                                            <a:latin typeface="Cambria Math" panose="02040503050406030204" pitchFamily="18" charset="0"/>
                                          </a:rPr>
                                          <m:t>1</m:t>
                                        </m:r>
                                      </m:sub>
                                    </m:sSub>
                                    <m:r>
                                      <a:rPr lang="en-US" i="1">
                                        <a:latin typeface="Cambria Math" panose="02040503050406030204" pitchFamily="18" charset="0"/>
                                      </a:rPr>
                                      <m:t>.</m:t>
                                    </m:r>
                                  </m:e>
                                </m:d>
                              </m:e>
                              <m:sup>
                                <m:r>
                                  <a:rPr lang="en-US" i="1">
                                    <a:latin typeface="Cambria Math" panose="02040503050406030204" pitchFamily="18" charset="0"/>
                                  </a:rPr>
                                  <m:t>2</m:t>
                                </m:r>
                              </m:sup>
                            </m:sSup>
                            <m:r>
                              <a:rPr lang="en-US" i="1">
                                <a:latin typeface="Cambria Math" panose="02040503050406030204" pitchFamily="18" charset="0"/>
                              </a:rPr>
                              <m:t>+</m:t>
                            </m:r>
                            <m:r>
                              <a:rPr lang="en-US" b="0" i="1" smtClean="0">
                                <a:latin typeface="Cambria Math" panose="02040503050406030204" pitchFamily="18" charset="0"/>
                              </a:rPr>
                              <m:t> </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2</m:t>
                                            </m:r>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𝑌</m:t>
                                                </m:r>
                                              </m:e>
                                            </m:acc>
                                          </m:e>
                                          <m:sub>
                                            <m:r>
                                              <a:rPr lang="en-US" i="1">
                                                <a:latin typeface="Cambria Math" panose="02040503050406030204" pitchFamily="18" charset="0"/>
                                              </a:rPr>
                                              <m:t>2</m:t>
                                            </m:r>
                                          </m:sub>
                                        </m:sSub>
                                        <m:r>
                                          <a:rPr lang="en-US" i="1">
                                            <a:latin typeface="Cambria Math" panose="02040503050406030204" pitchFamily="18" charset="0"/>
                                          </a:rPr>
                                          <m:t>.</m:t>
                                        </m:r>
                                      </m:e>
                                    </m:d>
                                  </m:e>
                                  <m:sup>
                                    <m:r>
                                      <a:rPr lang="en-US" i="1">
                                        <a:latin typeface="Cambria Math" panose="02040503050406030204" pitchFamily="18" charset="0"/>
                                      </a:rPr>
                                      <m:t>2</m:t>
                                    </m:r>
                                  </m:sup>
                                </m:sSup>
                              </m:e>
                            </m:nary>
                          </m:e>
                        </m:nary>
                      </m:num>
                      <m:den>
                        <m:r>
                          <a:rPr lang="en-US" i="1">
                            <a:latin typeface="Cambria Math" panose="02040503050406030204" pitchFamily="18" charset="0"/>
                          </a:rPr>
                          <m:t>2</m:t>
                        </m:r>
                        <m:r>
                          <a:rPr lang="en-US" i="1">
                            <a:latin typeface="Cambria Math" panose="02040503050406030204" pitchFamily="18" charset="0"/>
                          </a:rPr>
                          <m:t>𝑛</m:t>
                        </m:r>
                        <m:r>
                          <a:rPr lang="en-US" i="1">
                            <a:latin typeface="Cambria Math" panose="02040503050406030204" pitchFamily="18" charset="0"/>
                          </a:rPr>
                          <m:t>−2</m:t>
                        </m:r>
                      </m:den>
                    </m:f>
                  </m:oMath>
                </a14:m>
                <a:endParaRPr lang="en-US" dirty="0"/>
              </a:p>
              <a:p>
                <a:pPr marL="0" indent="0">
                  <a:lnSpc>
                    <a:spcPct val="107000"/>
                  </a:lnSpc>
                  <a:buNone/>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dirty="0"/>
                  <a:t>If the true treatment effect is zero, then the statistic </a:t>
                </a:r>
                <a:r>
                  <a:rPr lang="en-US" i="1" dirty="0">
                    <a:latin typeface="Times New Roman" panose="02020603050405020304" pitchFamily="18" charset="0"/>
                    <a:cs typeface="Times New Roman" panose="02020603050405020304" pitchFamily="18" charset="0"/>
                  </a:rPr>
                  <a:t>T</a:t>
                </a:r>
                <a:r>
                  <a:rPr lang="en-US" dirty="0"/>
                  <a:t> has the </a:t>
                </a:r>
                <a:r>
                  <a:rPr lang="en-US" i="1" dirty="0"/>
                  <a:t>t</a:t>
                </a:r>
                <a:r>
                  <a:rPr lang="en-US" dirty="0"/>
                  <a:t>-distribution with </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2 </a:t>
                </a:r>
                <a:r>
                  <a:rPr lang="en-US" dirty="0"/>
                  <a:t>degrees of freedom</a:t>
                </a:r>
              </a:p>
            </p:txBody>
          </p:sp>
        </mc:Choice>
        <mc:Fallback xmlns="">
          <p:sp>
            <p:nvSpPr>
              <p:cNvPr id="3" name="Content Placeholder 2">
                <a:extLst>
                  <a:ext uri="{FF2B5EF4-FFF2-40B4-BE49-F238E27FC236}">
                    <a16:creationId xmlns:a16="http://schemas.microsoft.com/office/drawing/2014/main" id="{00584E42-A6E7-4A68-A83A-F30C09C7A139}"/>
                  </a:ext>
                </a:extLst>
              </p:cNvPr>
              <p:cNvSpPr>
                <a:spLocks noGrp="1" noRot="1" noChangeAspect="1" noMove="1" noResize="1" noEditPoints="1" noAdjustHandles="1" noChangeArrowheads="1" noChangeShapeType="1" noTextEdit="1"/>
              </p:cNvSpPr>
              <p:nvPr>
                <p:ph idx="1"/>
              </p:nvPr>
            </p:nvSpPr>
            <p:spPr>
              <a:blipFill>
                <a:blip r:embed="rId2"/>
                <a:stretch>
                  <a:fillRect l="-638" t="-1541"/>
                </a:stretch>
              </a:blipFill>
            </p:spPr>
            <p:txBody>
              <a:bodyPr/>
              <a:lstStyle/>
              <a:p>
                <a:r>
                  <a:rPr lang="en-US">
                    <a:noFill/>
                  </a:rPr>
                  <a:t> </a:t>
                </a:r>
              </a:p>
            </p:txBody>
          </p:sp>
        </mc:Fallback>
      </mc:AlternateContent>
    </p:spTree>
    <p:extLst>
      <p:ext uri="{BB962C8B-B14F-4D97-AF65-F5344CB8AC3E}">
        <p14:creationId xmlns:p14="http://schemas.microsoft.com/office/powerpoint/2010/main" val="3840943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DDD1C-7BD7-4D4F-8A8C-6E7FD7AD7496}"/>
              </a:ext>
            </a:extLst>
          </p:cNvPr>
          <p:cNvSpPr>
            <a:spLocks noGrp="1"/>
          </p:cNvSpPr>
          <p:nvPr>
            <p:ph type="title"/>
          </p:nvPr>
        </p:nvSpPr>
        <p:spPr/>
        <p:txBody>
          <a:bodyPr/>
          <a:lstStyle/>
          <a:p>
            <a:r>
              <a:rPr lang="en-US" dirty="0"/>
              <a:t>Testing the Significance of the Treatment Effect</a:t>
            </a:r>
          </a:p>
        </p:txBody>
      </p:sp>
      <p:sp>
        <p:nvSpPr>
          <p:cNvPr id="3" name="Content Placeholder 2">
            <a:extLst>
              <a:ext uri="{FF2B5EF4-FFF2-40B4-BE49-F238E27FC236}">
                <a16:creationId xmlns:a16="http://schemas.microsoft.com/office/drawing/2014/main" id="{FDA875A3-B830-4964-8487-DE6D6E9011B8}"/>
              </a:ext>
            </a:extLst>
          </p:cNvPr>
          <p:cNvSpPr>
            <a:spLocks noGrp="1"/>
          </p:cNvSpPr>
          <p:nvPr>
            <p:ph idx="1"/>
          </p:nvPr>
        </p:nvSpPr>
        <p:spPr/>
        <p:txBody>
          <a:bodyPr/>
          <a:lstStyle/>
          <a:p>
            <a:pPr marL="0" indent="0">
              <a:buNone/>
            </a:pPr>
            <a:r>
              <a:rPr lang="en-US" dirty="0"/>
              <a:t>The significance testing process involves</a:t>
            </a:r>
          </a:p>
          <a:p>
            <a:pPr marL="0" indent="0">
              <a:buNone/>
            </a:pPr>
            <a:endParaRPr lang="en-US" dirty="0"/>
          </a:p>
          <a:p>
            <a:pPr marL="457200" indent="-457200">
              <a:buAutoNum type="arabicPeriod"/>
            </a:pPr>
            <a:r>
              <a:rPr lang="en-US" dirty="0"/>
              <a:t>Picking a significance level (this is up to you, but 0.05 is a very strong convention)</a:t>
            </a:r>
          </a:p>
          <a:p>
            <a:pPr marL="457200" indent="-457200">
              <a:buAutoNum type="arabicPeriod"/>
            </a:pPr>
            <a:endParaRPr lang="en-US" dirty="0"/>
          </a:p>
          <a:p>
            <a:pPr marL="457200" indent="-457200">
              <a:buAutoNum type="arabicPeriod"/>
            </a:pPr>
            <a:r>
              <a:rPr lang="en-US" dirty="0"/>
              <a:t>Computing the value of </a:t>
            </a:r>
            <a:r>
              <a:rPr lang="en-US" i="1" dirty="0">
                <a:latin typeface="Times New Roman" panose="02020603050405020304" pitchFamily="18" charset="0"/>
                <a:cs typeface="Times New Roman" panose="02020603050405020304" pitchFamily="18" charset="0"/>
              </a:rPr>
              <a:t>T</a:t>
            </a:r>
            <a:r>
              <a:rPr lang="en-US" dirty="0"/>
              <a:t> from the data </a:t>
            </a:r>
          </a:p>
          <a:p>
            <a:pPr marL="457200" indent="-457200">
              <a:buAutoNum type="arabicPeriod"/>
            </a:pPr>
            <a:endParaRPr lang="en-US" dirty="0"/>
          </a:p>
          <a:p>
            <a:pPr marL="457200" indent="-457200">
              <a:buAutoNum type="arabicPeriod"/>
            </a:pPr>
            <a:r>
              <a:rPr lang="en-US" dirty="0"/>
              <a:t>Obtaining the critical value of the </a:t>
            </a:r>
            <a:r>
              <a:rPr lang="en-US" i="1" dirty="0"/>
              <a:t>t</a:t>
            </a:r>
            <a:r>
              <a:rPr lang="en-US" dirty="0"/>
              <a:t>-distribution with </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2</a:t>
            </a:r>
            <a:r>
              <a:rPr lang="en-US" dirty="0"/>
              <a:t> degrees of freedom (which will be about 2 for the for all but the smallest degrees of freedom)</a:t>
            </a:r>
          </a:p>
          <a:p>
            <a:pPr marL="457200" indent="-457200">
              <a:buAutoNum type="arabicPeriod"/>
            </a:pPr>
            <a:endParaRPr lang="en-US" dirty="0"/>
          </a:p>
          <a:p>
            <a:pPr marL="457200" indent="-457200">
              <a:buAutoNum type="arabicPeriod"/>
            </a:pPr>
            <a:r>
              <a:rPr lang="en-US" dirty="0"/>
              <a:t>Reject the null hypothesis of no treatment effect (in other words conclude that the treatment effect is significant) if </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a:t>
            </a:r>
            <a:r>
              <a:rPr lang="en-US" dirty="0"/>
              <a:t> exceeds the critical value</a:t>
            </a:r>
          </a:p>
          <a:p>
            <a:pPr marL="0" indent="0">
              <a:buNone/>
            </a:pPr>
            <a:endParaRPr lang="en-US" dirty="0"/>
          </a:p>
          <a:p>
            <a:pPr marL="0" indent="0">
              <a:buNone/>
            </a:pPr>
            <a:r>
              <a:rPr lang="en-US" dirty="0"/>
              <a:t>You could also use software that computes the “exact </a:t>
            </a:r>
            <a:r>
              <a:rPr lang="en-US" i="1" dirty="0"/>
              <a:t>p</a:t>
            </a:r>
            <a:r>
              <a:rPr lang="en-US" dirty="0"/>
              <a:t>-value.”  In that method, conclude that the treatment effect is significant if the two-tailed </a:t>
            </a:r>
            <a:r>
              <a:rPr lang="en-US" i="1" dirty="0"/>
              <a:t>p</a:t>
            </a:r>
            <a:r>
              <a:rPr lang="en-US" dirty="0"/>
              <a:t>-value is less than 0.05</a:t>
            </a:r>
          </a:p>
        </p:txBody>
      </p:sp>
    </p:spTree>
    <p:extLst>
      <p:ext uri="{BB962C8B-B14F-4D97-AF65-F5344CB8AC3E}">
        <p14:creationId xmlns:p14="http://schemas.microsoft.com/office/powerpoint/2010/main" val="4029669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7FEF7-4104-427E-BA62-C14073D0E70A}"/>
              </a:ext>
            </a:extLst>
          </p:cNvPr>
          <p:cNvSpPr>
            <a:spLocks noGrp="1"/>
          </p:cNvSpPr>
          <p:nvPr>
            <p:ph type="title"/>
          </p:nvPr>
        </p:nvSpPr>
        <p:spPr/>
        <p:txBody>
          <a:bodyPr/>
          <a:lstStyle/>
          <a:p>
            <a:r>
              <a:rPr lang="en-US" dirty="0"/>
              <a:t>Design Sensitivity</a:t>
            </a:r>
          </a:p>
        </p:txBody>
      </p:sp>
      <p:sp>
        <p:nvSpPr>
          <p:cNvPr id="3" name="Content Placeholder 2">
            <a:extLst>
              <a:ext uri="{FF2B5EF4-FFF2-40B4-BE49-F238E27FC236}">
                <a16:creationId xmlns:a16="http://schemas.microsoft.com/office/drawing/2014/main" id="{10BAD494-1A1A-41DD-AB7C-55E32D9F8144}"/>
              </a:ext>
            </a:extLst>
          </p:cNvPr>
          <p:cNvSpPr>
            <a:spLocks noGrp="1"/>
          </p:cNvSpPr>
          <p:nvPr>
            <p:ph idx="1"/>
          </p:nvPr>
        </p:nvSpPr>
        <p:spPr/>
        <p:txBody>
          <a:bodyPr/>
          <a:lstStyle/>
          <a:p>
            <a:pPr marL="0" indent="0">
              <a:buNone/>
            </a:pPr>
            <a:r>
              <a:rPr lang="en-US" dirty="0"/>
              <a:t>Recall that design sensitivity can be described in any one of three related ways:</a:t>
            </a:r>
          </a:p>
          <a:p>
            <a:pPr marL="0" indent="0">
              <a:buNone/>
            </a:pPr>
            <a:endParaRPr lang="en-US" dirty="0"/>
          </a:p>
          <a:p>
            <a:pPr marL="457200" indent="-457200">
              <a:buAutoNum type="arabicPeriod"/>
            </a:pPr>
            <a:r>
              <a:rPr lang="en-US" dirty="0"/>
              <a:t>Statistical power: The probability of detecting a given treatment effect size</a:t>
            </a:r>
          </a:p>
          <a:p>
            <a:pPr marL="457200" indent="-457200">
              <a:buAutoNum type="arabicPeriod"/>
            </a:pPr>
            <a:endParaRPr lang="en-US" dirty="0"/>
          </a:p>
          <a:p>
            <a:pPr marL="457200" indent="-457200">
              <a:buAutoNum type="arabicPeriod"/>
            </a:pPr>
            <a:r>
              <a:rPr lang="en-US" dirty="0"/>
              <a:t>Precision (standard error) of the estimated treatment effect: The uncertainty (margin of error) of the estimated treatment effect</a:t>
            </a:r>
          </a:p>
          <a:p>
            <a:pPr marL="457200" indent="-457200">
              <a:buAutoNum type="arabicPeriod"/>
            </a:pPr>
            <a:endParaRPr lang="en-US" dirty="0"/>
          </a:p>
          <a:p>
            <a:pPr marL="457200" indent="-457200">
              <a:buAutoNum type="arabicPeriod"/>
            </a:pPr>
            <a:r>
              <a:rPr lang="en-US" dirty="0"/>
              <a:t>The minimum detectable effect size (MDES): The smallest effect size that can be detected with a given statistical power</a:t>
            </a:r>
          </a:p>
          <a:p>
            <a:pPr marL="0" indent="0">
              <a:buNone/>
            </a:pPr>
            <a:endParaRPr lang="en-US" dirty="0"/>
          </a:p>
          <a:p>
            <a:pPr marL="0" indent="0">
              <a:buNone/>
            </a:pPr>
            <a:r>
              <a:rPr lang="en-US" dirty="0"/>
              <a:t>Design sensitivity depends on the research design </a:t>
            </a:r>
          </a:p>
          <a:p>
            <a:pPr marL="0" indent="0">
              <a:buNone/>
            </a:pPr>
            <a:endParaRPr lang="en-US" dirty="0"/>
          </a:p>
          <a:p>
            <a:pPr marL="0" indent="0">
              <a:buNone/>
            </a:pPr>
            <a:r>
              <a:rPr lang="en-US" dirty="0"/>
              <a:t>We plan a design to have adequate sensitivity so that the results of the study will be conclusive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33800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151A1-42CB-485A-97D5-FC8755814CAE}"/>
              </a:ext>
            </a:extLst>
          </p:cNvPr>
          <p:cNvSpPr>
            <a:spLocks noGrp="1"/>
          </p:cNvSpPr>
          <p:nvPr>
            <p:ph type="title"/>
          </p:nvPr>
        </p:nvSpPr>
        <p:spPr/>
        <p:txBody>
          <a:bodyPr/>
          <a:lstStyle/>
          <a:p>
            <a:r>
              <a:rPr lang="en-US"/>
              <a:t>Design Sensitivity</a:t>
            </a:r>
            <a:endParaRPr lang="en-US" dirty="0"/>
          </a:p>
        </p:txBody>
      </p:sp>
      <p:sp>
        <p:nvSpPr>
          <p:cNvPr id="3" name="Content Placeholder 2">
            <a:extLst>
              <a:ext uri="{FF2B5EF4-FFF2-40B4-BE49-F238E27FC236}">
                <a16:creationId xmlns:a16="http://schemas.microsoft.com/office/drawing/2014/main" id="{BC8418BA-AEC6-476B-9891-D9A9F54B5A0C}"/>
              </a:ext>
            </a:extLst>
          </p:cNvPr>
          <p:cNvSpPr>
            <a:spLocks noGrp="1"/>
          </p:cNvSpPr>
          <p:nvPr>
            <p:ph idx="1"/>
          </p:nvPr>
        </p:nvSpPr>
        <p:spPr/>
        <p:txBody>
          <a:bodyPr/>
          <a:lstStyle/>
          <a:p>
            <a:pPr marL="0" indent="0">
              <a:buNone/>
            </a:pPr>
            <a:r>
              <a:rPr lang="en-US" dirty="0"/>
              <a:t>Why is design sensitivity important?</a:t>
            </a:r>
          </a:p>
          <a:p>
            <a:pPr marL="0" indent="0">
              <a:buNone/>
            </a:pPr>
            <a:endParaRPr lang="en-US" dirty="0"/>
          </a:p>
          <a:p>
            <a:pPr marL="0" indent="0">
              <a:buNone/>
            </a:pPr>
            <a:r>
              <a:rPr lang="en-US" dirty="0"/>
              <a:t>Consider a study that has low power (say 0.4) to detect the treatment effect size you expect</a:t>
            </a:r>
          </a:p>
          <a:p>
            <a:pPr marL="0" indent="0">
              <a:buNone/>
            </a:pPr>
            <a:endParaRPr lang="en-US" dirty="0"/>
          </a:p>
          <a:p>
            <a:pPr marL="0" indent="0">
              <a:buNone/>
            </a:pPr>
            <a:r>
              <a:rPr lang="en-US" b="1" i="1" dirty="0"/>
              <a:t>If</a:t>
            </a:r>
            <a:r>
              <a:rPr lang="en-US" dirty="0"/>
              <a:t> you detect the effect (find that the treatment effect is statistically significant), the study is conclusive</a:t>
            </a:r>
          </a:p>
          <a:p>
            <a:pPr marL="0" indent="0">
              <a:buNone/>
            </a:pPr>
            <a:endParaRPr lang="en-US" dirty="0"/>
          </a:p>
          <a:p>
            <a:pPr marL="0" indent="0">
              <a:buNone/>
            </a:pPr>
            <a:r>
              <a:rPr lang="en-US" b="1" i="1" dirty="0"/>
              <a:t>But if you do not find a significant effect</a:t>
            </a:r>
            <a:r>
              <a:rPr lang="en-US" dirty="0"/>
              <a:t>, </a:t>
            </a:r>
          </a:p>
          <a:p>
            <a:pPr marL="0" indent="0">
              <a:buNone/>
            </a:pPr>
            <a:r>
              <a:rPr lang="en-US" dirty="0"/>
              <a:t>	it could be because the treatment has no effect </a:t>
            </a:r>
            <a:r>
              <a:rPr lang="en-US" b="1" i="1" dirty="0"/>
              <a:t>or </a:t>
            </a:r>
          </a:p>
          <a:p>
            <a:pPr marL="0" indent="0">
              <a:buNone/>
            </a:pPr>
            <a:r>
              <a:rPr lang="en-US" b="1" i="1" dirty="0"/>
              <a:t>	</a:t>
            </a:r>
            <a:r>
              <a:rPr lang="en-US" dirty="0"/>
              <a:t>because the treatment produced the expected effect but was not detected</a:t>
            </a:r>
          </a:p>
          <a:p>
            <a:pPr marL="0" indent="0">
              <a:buNone/>
            </a:pPr>
            <a:endParaRPr lang="en-US" dirty="0"/>
          </a:p>
          <a:p>
            <a:pPr marL="0" indent="0">
              <a:buNone/>
            </a:pPr>
            <a:r>
              <a:rPr lang="en-US" dirty="0"/>
              <a:t>Moreover, if the power is 0.4, it mans that  there is a 60% chance you will fail to find the effect if it is there—nonsignificant effects are more likely than significant effects</a:t>
            </a:r>
          </a:p>
        </p:txBody>
      </p:sp>
    </p:spTree>
    <p:extLst>
      <p:ext uri="{BB962C8B-B14F-4D97-AF65-F5344CB8AC3E}">
        <p14:creationId xmlns:p14="http://schemas.microsoft.com/office/powerpoint/2010/main" val="3714198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Shape 8">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0" name="Group 10">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2"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3"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4"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5"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6"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7"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3512CFA3-1285-4A27-9D30-015667820C6E}"/>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Statistical Power</a:t>
            </a:r>
          </a:p>
        </p:txBody>
      </p:sp>
      <p:graphicFrame>
        <p:nvGraphicFramePr>
          <p:cNvPr id="21" name="Content Placeholder 2">
            <a:extLst>
              <a:ext uri="{FF2B5EF4-FFF2-40B4-BE49-F238E27FC236}">
                <a16:creationId xmlns:a16="http://schemas.microsoft.com/office/drawing/2014/main" id="{57219AB1-F66B-48D9-BB22-96F16CAC85C3}"/>
              </a:ext>
            </a:extLst>
          </p:cNvPr>
          <p:cNvGraphicFramePr>
            <a:graphicFrameLocks noGrp="1"/>
          </p:cNvGraphicFramePr>
          <p:nvPr>
            <p:ph idx="1"/>
            <p:extLst>
              <p:ext uri="{D42A27DB-BD31-4B8C-83A1-F6EECF244321}">
                <p14:modId xmlns:p14="http://schemas.microsoft.com/office/powerpoint/2010/main" val="2186217283"/>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1596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2"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3"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4"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5"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6"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7"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369B2455-3949-4396-8B8F-773B21FF94FD}"/>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Precision</a:t>
            </a:r>
          </a:p>
        </p:txBody>
      </p:sp>
      <p:graphicFrame>
        <p:nvGraphicFramePr>
          <p:cNvPr id="5" name="Content Placeholder 2">
            <a:extLst>
              <a:ext uri="{FF2B5EF4-FFF2-40B4-BE49-F238E27FC236}">
                <a16:creationId xmlns:a16="http://schemas.microsoft.com/office/drawing/2014/main" id="{3AEFB7F7-0D32-4070-A6C1-518E3FD617C0}"/>
              </a:ext>
            </a:extLst>
          </p:cNvPr>
          <p:cNvGraphicFramePr>
            <a:graphicFrameLocks noGrp="1"/>
          </p:cNvGraphicFramePr>
          <p:nvPr>
            <p:ph idx="1"/>
            <p:extLst>
              <p:ext uri="{D42A27DB-BD31-4B8C-83A1-F6EECF244321}">
                <p14:modId xmlns:p14="http://schemas.microsoft.com/office/powerpoint/2010/main" val="1998477980"/>
              </p:ext>
            </p:extLst>
          </p:nvPr>
        </p:nvGraphicFramePr>
        <p:xfrm>
          <a:off x="5164105" y="620949"/>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888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Shape 8">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0" name="Group 10">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2"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3"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4"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5"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6"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7"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B8857380-F436-4306-BF93-D4356AE21B36}"/>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Minimum Detectable Effect Size (MDES)</a:t>
            </a:r>
          </a:p>
        </p:txBody>
      </p:sp>
      <p:graphicFrame>
        <p:nvGraphicFramePr>
          <p:cNvPr id="21" name="Content Placeholder 2">
            <a:extLst>
              <a:ext uri="{FF2B5EF4-FFF2-40B4-BE49-F238E27FC236}">
                <a16:creationId xmlns:a16="http://schemas.microsoft.com/office/drawing/2014/main" id="{26757028-BE75-464A-AC18-7393D5BFDCF3}"/>
              </a:ext>
            </a:extLst>
          </p:cNvPr>
          <p:cNvGraphicFramePr>
            <a:graphicFrameLocks noGrp="1"/>
          </p:cNvGraphicFramePr>
          <p:nvPr>
            <p:ph idx="1"/>
            <p:extLst>
              <p:ext uri="{D42A27DB-BD31-4B8C-83A1-F6EECF244321}">
                <p14:modId xmlns:p14="http://schemas.microsoft.com/office/powerpoint/2010/main" val="3107732943"/>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709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20BE-44B6-4B02-A349-C91A6D367954}"/>
              </a:ext>
            </a:extLst>
          </p:cNvPr>
          <p:cNvSpPr>
            <a:spLocks noGrp="1"/>
          </p:cNvSpPr>
          <p:nvPr>
            <p:ph type="title"/>
          </p:nvPr>
        </p:nvSpPr>
        <p:spPr/>
        <p:txBody>
          <a:bodyPr/>
          <a:lstStyle/>
          <a:p>
            <a:r>
              <a:rPr lang="en-US" dirty="0"/>
              <a:t>Statistical Power as a Function of </a:t>
            </a:r>
            <a:r>
              <a:rPr lang="en-US" i="1" dirty="0">
                <a:latin typeface="Times New Roman" panose="02020603050405020304" pitchFamily="18" charset="0"/>
                <a:cs typeface="Times New Roman" panose="02020603050405020304" pitchFamily="18" charset="0"/>
              </a:rPr>
              <a:t>n</a:t>
            </a:r>
            <a:r>
              <a:rPr lang="en-US" dirty="0"/>
              <a:t> and Effect Size </a:t>
            </a:r>
            <a:r>
              <a:rPr lang="el-GR" sz="3600" i="1" u="none" strike="noStrike" dirty="0">
                <a:effectLst/>
                <a:latin typeface="Times New Roman" panose="02020603050405020304" pitchFamily="18" charset="0"/>
                <a:cs typeface="Times New Roman" panose="02020603050405020304" pitchFamily="18" charset="0"/>
              </a:rPr>
              <a:t>δ</a:t>
            </a:r>
            <a:endParaRPr lang="en-US" dirty="0"/>
          </a:p>
        </p:txBody>
      </p:sp>
      <p:graphicFrame>
        <p:nvGraphicFramePr>
          <p:cNvPr id="5" name="Content Placeholder 4">
            <a:extLst>
              <a:ext uri="{FF2B5EF4-FFF2-40B4-BE49-F238E27FC236}">
                <a16:creationId xmlns:a16="http://schemas.microsoft.com/office/drawing/2014/main" id="{ABF4FEC7-1EC6-4835-BB5F-0847E6979635}"/>
              </a:ext>
            </a:extLst>
          </p:cNvPr>
          <p:cNvGraphicFramePr>
            <a:graphicFrameLocks noGrp="1"/>
          </p:cNvGraphicFramePr>
          <p:nvPr>
            <p:ph idx="1"/>
            <p:extLst>
              <p:ext uri="{D42A27DB-BD31-4B8C-83A1-F6EECF244321}">
                <p14:modId xmlns:p14="http://schemas.microsoft.com/office/powerpoint/2010/main" val="3555989975"/>
              </p:ext>
            </p:extLst>
          </p:nvPr>
        </p:nvGraphicFramePr>
        <p:xfrm>
          <a:off x="1105231" y="1825625"/>
          <a:ext cx="9939137" cy="4667250"/>
        </p:xfrm>
        <a:graphic>
          <a:graphicData uri="http://schemas.openxmlformats.org/drawingml/2006/table">
            <a:tbl>
              <a:tblPr>
                <a:tableStyleId>{5C22544A-7EE6-4342-B048-85BDC9FD1C3A}</a:tableStyleId>
              </a:tblPr>
              <a:tblGrid>
                <a:gridCol w="1192696">
                  <a:extLst>
                    <a:ext uri="{9D8B030D-6E8A-4147-A177-3AD203B41FA5}">
                      <a16:colId xmlns:a16="http://schemas.microsoft.com/office/drawing/2014/main" val="855615744"/>
                    </a:ext>
                  </a:extLst>
                </a:gridCol>
                <a:gridCol w="795131">
                  <a:extLst>
                    <a:ext uri="{9D8B030D-6E8A-4147-A177-3AD203B41FA5}">
                      <a16:colId xmlns:a16="http://schemas.microsoft.com/office/drawing/2014/main" val="1108786796"/>
                    </a:ext>
                  </a:extLst>
                </a:gridCol>
                <a:gridCol w="795131">
                  <a:extLst>
                    <a:ext uri="{9D8B030D-6E8A-4147-A177-3AD203B41FA5}">
                      <a16:colId xmlns:a16="http://schemas.microsoft.com/office/drawing/2014/main" val="1060983838"/>
                    </a:ext>
                  </a:extLst>
                </a:gridCol>
                <a:gridCol w="795131">
                  <a:extLst>
                    <a:ext uri="{9D8B030D-6E8A-4147-A177-3AD203B41FA5}">
                      <a16:colId xmlns:a16="http://schemas.microsoft.com/office/drawing/2014/main" val="2816158428"/>
                    </a:ext>
                  </a:extLst>
                </a:gridCol>
                <a:gridCol w="795131">
                  <a:extLst>
                    <a:ext uri="{9D8B030D-6E8A-4147-A177-3AD203B41FA5}">
                      <a16:colId xmlns:a16="http://schemas.microsoft.com/office/drawing/2014/main" val="783281574"/>
                    </a:ext>
                  </a:extLst>
                </a:gridCol>
                <a:gridCol w="795131">
                  <a:extLst>
                    <a:ext uri="{9D8B030D-6E8A-4147-A177-3AD203B41FA5}">
                      <a16:colId xmlns:a16="http://schemas.microsoft.com/office/drawing/2014/main" val="1844315377"/>
                    </a:ext>
                  </a:extLst>
                </a:gridCol>
                <a:gridCol w="795131">
                  <a:extLst>
                    <a:ext uri="{9D8B030D-6E8A-4147-A177-3AD203B41FA5}">
                      <a16:colId xmlns:a16="http://schemas.microsoft.com/office/drawing/2014/main" val="562666732"/>
                    </a:ext>
                  </a:extLst>
                </a:gridCol>
                <a:gridCol w="795131">
                  <a:extLst>
                    <a:ext uri="{9D8B030D-6E8A-4147-A177-3AD203B41FA5}">
                      <a16:colId xmlns:a16="http://schemas.microsoft.com/office/drawing/2014/main" val="1999741254"/>
                    </a:ext>
                  </a:extLst>
                </a:gridCol>
                <a:gridCol w="795131">
                  <a:extLst>
                    <a:ext uri="{9D8B030D-6E8A-4147-A177-3AD203B41FA5}">
                      <a16:colId xmlns:a16="http://schemas.microsoft.com/office/drawing/2014/main" val="2303898156"/>
                    </a:ext>
                  </a:extLst>
                </a:gridCol>
                <a:gridCol w="795131">
                  <a:extLst>
                    <a:ext uri="{9D8B030D-6E8A-4147-A177-3AD203B41FA5}">
                      <a16:colId xmlns:a16="http://schemas.microsoft.com/office/drawing/2014/main" val="3262566005"/>
                    </a:ext>
                  </a:extLst>
                </a:gridCol>
                <a:gridCol w="795131">
                  <a:extLst>
                    <a:ext uri="{9D8B030D-6E8A-4147-A177-3AD203B41FA5}">
                      <a16:colId xmlns:a16="http://schemas.microsoft.com/office/drawing/2014/main" val="3608253634"/>
                    </a:ext>
                  </a:extLst>
                </a:gridCol>
                <a:gridCol w="795131">
                  <a:extLst>
                    <a:ext uri="{9D8B030D-6E8A-4147-A177-3AD203B41FA5}">
                      <a16:colId xmlns:a16="http://schemas.microsoft.com/office/drawing/2014/main" val="342861677"/>
                    </a:ext>
                  </a:extLst>
                </a:gridCol>
              </a:tblGrid>
              <a:tr h="196850">
                <a:tc>
                  <a:txBody>
                    <a:bodyPr/>
                    <a:lstStyle/>
                    <a:p>
                      <a:pPr algn="l" fontAlgn="b"/>
                      <a:r>
                        <a:rPr lang="en-US" sz="2000" i="1" u="none" strike="noStrike" dirty="0">
                          <a:effectLst/>
                        </a:rPr>
                        <a:t> </a:t>
                      </a:r>
                      <a:endParaRPr lang="en-US" sz="2000" b="0" i="1" u="none" strike="noStrike" dirty="0">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solidFill>
                      <a:schemeClr val="accent1">
                        <a:lumMod val="75000"/>
                      </a:schemeClr>
                    </a:solidFill>
                  </a:tcPr>
                </a:tc>
                <a:tc gridSpan="11">
                  <a:txBody>
                    <a:bodyPr/>
                    <a:lstStyle/>
                    <a:p>
                      <a:pPr algn="ctr" fontAlgn="b"/>
                      <a:r>
                        <a:rPr lang="el-GR" sz="2000" i="1" u="none" strike="noStrike" dirty="0">
                          <a:solidFill>
                            <a:schemeClr val="bg1"/>
                          </a:solidFill>
                          <a:effectLst/>
                          <a:latin typeface="Times New Roman" panose="02020603050405020304" pitchFamily="18" charset="0"/>
                          <a:cs typeface="Times New Roman" panose="02020603050405020304" pitchFamily="18" charset="0"/>
                        </a:rPr>
                        <a:t>δ</a:t>
                      </a:r>
                      <a:endParaRPr lang="en-US" sz="2000" b="0" i="1"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54861496"/>
                  </a:ext>
                </a:extLst>
              </a:tr>
              <a:tr h="196850">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endParaRPr lang="en-US" sz="2000" b="0" i="1"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0" u="none" strike="noStrike" dirty="0">
                          <a:solidFill>
                            <a:schemeClr val="bg1"/>
                          </a:solidFill>
                          <a:effectLst/>
                        </a:rPr>
                        <a:t>0.1</a:t>
                      </a:r>
                      <a:endParaRPr lang="en-US" sz="2000" b="0" i="0"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0" u="none" strike="noStrike" dirty="0">
                          <a:solidFill>
                            <a:schemeClr val="bg1"/>
                          </a:solidFill>
                          <a:effectLst/>
                        </a:rPr>
                        <a:t>0.2</a:t>
                      </a:r>
                      <a:endParaRPr lang="en-US" sz="2000" b="0" i="0"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0" u="none" strike="noStrike" dirty="0">
                          <a:solidFill>
                            <a:schemeClr val="bg1"/>
                          </a:solidFill>
                          <a:effectLst/>
                        </a:rPr>
                        <a:t>0.3</a:t>
                      </a:r>
                      <a:endParaRPr lang="en-US" sz="2000" b="0" i="0"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0" u="none" strike="noStrike" dirty="0">
                          <a:solidFill>
                            <a:schemeClr val="bg1"/>
                          </a:solidFill>
                          <a:effectLst/>
                        </a:rPr>
                        <a:t>0.4</a:t>
                      </a:r>
                      <a:endParaRPr lang="en-US" sz="2000" b="0" i="0"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0" u="none" strike="noStrike" dirty="0">
                          <a:solidFill>
                            <a:schemeClr val="bg1"/>
                          </a:solidFill>
                          <a:effectLst/>
                        </a:rPr>
                        <a:t>0.5</a:t>
                      </a:r>
                      <a:endParaRPr lang="en-US" sz="2000" b="0" i="0"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0" u="none" strike="noStrike" dirty="0">
                          <a:solidFill>
                            <a:schemeClr val="bg1"/>
                          </a:solidFill>
                          <a:effectLst/>
                        </a:rPr>
                        <a:t>0.6</a:t>
                      </a:r>
                      <a:endParaRPr lang="en-US" sz="2000" b="0" i="0"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0" u="none" strike="noStrike" dirty="0">
                          <a:solidFill>
                            <a:schemeClr val="bg1"/>
                          </a:solidFill>
                          <a:effectLst/>
                        </a:rPr>
                        <a:t>0.7</a:t>
                      </a:r>
                      <a:endParaRPr lang="en-US" sz="2000" b="0" i="0"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0" u="none" strike="noStrike" dirty="0">
                          <a:solidFill>
                            <a:schemeClr val="bg1"/>
                          </a:solidFill>
                          <a:effectLst/>
                        </a:rPr>
                        <a:t>0.8</a:t>
                      </a:r>
                      <a:endParaRPr lang="en-US" sz="2000" b="0" i="0"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0" u="none" strike="noStrike" dirty="0">
                          <a:solidFill>
                            <a:schemeClr val="bg1"/>
                          </a:solidFill>
                          <a:effectLst/>
                        </a:rPr>
                        <a:t>0.9</a:t>
                      </a:r>
                      <a:endParaRPr lang="en-US" sz="2000" b="0" i="0"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0" u="none" strike="noStrike" dirty="0">
                          <a:solidFill>
                            <a:schemeClr val="bg1"/>
                          </a:solidFill>
                          <a:effectLst/>
                        </a:rPr>
                        <a:t>1</a:t>
                      </a:r>
                      <a:endParaRPr lang="en-US" sz="2000" b="0" i="0"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0" u="none" strike="noStrike" dirty="0">
                          <a:solidFill>
                            <a:schemeClr val="bg1"/>
                          </a:solidFill>
                          <a:effectLst/>
                        </a:rPr>
                        <a:t>1.5</a:t>
                      </a:r>
                      <a:endParaRPr lang="en-US" sz="2000" b="0" i="0" u="none" strike="noStrike" dirty="0">
                        <a:solidFill>
                          <a:schemeClr val="bg1"/>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629375104"/>
                  </a:ext>
                </a:extLst>
              </a:tr>
              <a:tr h="196850">
                <a:tc>
                  <a:txBody>
                    <a:bodyPr/>
                    <a:lstStyle/>
                    <a:p>
                      <a:pPr algn="ctr" fontAlgn="b"/>
                      <a:r>
                        <a:rPr lang="en-US" sz="2000" u="none" strike="noStrike" dirty="0">
                          <a:effectLst/>
                        </a:rPr>
                        <a:t>10</a:t>
                      </a:r>
                      <a:endParaRPr lang="en-US" sz="2000" b="0" i="0" u="none" strike="noStrike" dirty="0">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0.06</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0.07</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0.10</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0.14</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0.19</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0.25</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0.56</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0.89</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4254571"/>
                  </a:ext>
                </a:extLst>
              </a:tr>
              <a:tr h="196850">
                <a:tc>
                  <a:txBody>
                    <a:bodyPr/>
                    <a:lstStyle/>
                    <a:p>
                      <a:pPr algn="ctr" fontAlgn="b"/>
                      <a:r>
                        <a:rPr lang="en-US" sz="2000" u="none" strike="noStrike" dirty="0">
                          <a:effectLst/>
                        </a:rPr>
                        <a:t>20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0.06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0.10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0.15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0.23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0.46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0.58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0.69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0.79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0.87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932854121"/>
                  </a:ext>
                </a:extLst>
              </a:tr>
              <a:tr h="196850">
                <a:tc>
                  <a:txBody>
                    <a:bodyPr/>
                    <a:lstStyle/>
                    <a:p>
                      <a:pPr algn="ctr" fontAlgn="b"/>
                      <a:r>
                        <a:rPr lang="en-US" sz="2000" u="none" strike="noStrike" dirty="0">
                          <a:effectLst/>
                        </a:rPr>
                        <a:t>30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0.07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0.12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0.21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0.63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0.76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0.86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268329277"/>
                  </a:ext>
                </a:extLst>
              </a:tr>
              <a:tr h="196850">
                <a:tc>
                  <a:txBody>
                    <a:bodyPr/>
                    <a:lstStyle/>
                    <a:p>
                      <a:pPr algn="ctr" fontAlgn="b"/>
                      <a:r>
                        <a:rPr lang="en-US" sz="2000" u="none" strike="noStrike" dirty="0">
                          <a:effectLst/>
                        </a:rPr>
                        <a:t>40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0.07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0.14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0.60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0.75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0.87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055242408"/>
                  </a:ext>
                </a:extLst>
              </a:tr>
              <a:tr h="196850">
                <a:tc>
                  <a:txBody>
                    <a:bodyPr/>
                    <a:lstStyle/>
                    <a:p>
                      <a:pPr algn="ctr" fontAlgn="b"/>
                      <a:r>
                        <a:rPr lang="en-US" sz="2000" u="none" strike="noStrike" dirty="0">
                          <a:effectLst/>
                        </a:rPr>
                        <a:t>50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0.08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0.17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0.51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0.70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0.84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410954231"/>
                  </a:ext>
                </a:extLst>
              </a:tr>
              <a:tr h="196850">
                <a:tc>
                  <a:txBody>
                    <a:bodyPr/>
                    <a:lstStyle/>
                    <a:p>
                      <a:pPr algn="ctr" fontAlgn="b"/>
                      <a:r>
                        <a:rPr lang="en-US" sz="2000" u="none" strike="noStrike" dirty="0">
                          <a:effectLst/>
                        </a:rPr>
                        <a:t>60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0.08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0.19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0.58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0.78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119127584"/>
                  </a:ext>
                </a:extLst>
              </a:tr>
              <a:tr h="196850">
                <a:tc>
                  <a:txBody>
                    <a:bodyPr/>
                    <a:lstStyle/>
                    <a:p>
                      <a:pPr algn="ctr" fontAlgn="b"/>
                      <a:r>
                        <a:rPr lang="en-US" sz="2000" u="none" strike="noStrike" dirty="0">
                          <a:effectLst/>
                        </a:rPr>
                        <a:t>70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0.09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0.22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0.65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0.84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963449471"/>
                  </a:ext>
                </a:extLst>
              </a:tr>
              <a:tr h="196850">
                <a:tc>
                  <a:txBody>
                    <a:bodyPr/>
                    <a:lstStyle/>
                    <a:p>
                      <a:pPr algn="ctr" fontAlgn="b"/>
                      <a:r>
                        <a:rPr lang="en-US" sz="2000" u="none" strike="noStrike" dirty="0">
                          <a:effectLst/>
                        </a:rPr>
                        <a:t>80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0.10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0.24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0.47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0.71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0.88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363094626"/>
                  </a:ext>
                </a:extLst>
              </a:tr>
              <a:tr h="196850">
                <a:tc>
                  <a:txBody>
                    <a:bodyPr/>
                    <a:lstStyle/>
                    <a:p>
                      <a:pPr algn="ctr" fontAlgn="b"/>
                      <a:r>
                        <a:rPr lang="en-US" sz="2000" u="none" strike="noStrike" dirty="0">
                          <a:effectLst/>
                        </a:rPr>
                        <a:t>90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0.10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0.52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0.76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717447040"/>
                  </a:ext>
                </a:extLst>
              </a:tr>
              <a:tr h="196850">
                <a:tc>
                  <a:txBody>
                    <a:bodyPr/>
                    <a:lstStyle/>
                    <a:p>
                      <a:pPr algn="ctr" fontAlgn="b"/>
                      <a:r>
                        <a:rPr lang="en-US" sz="2000" u="none" strike="noStrike" dirty="0">
                          <a:effectLst/>
                        </a:rPr>
                        <a:t>100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0.11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0.29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0.56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0.80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924425522"/>
                  </a:ext>
                </a:extLst>
              </a:tr>
              <a:tr h="196850">
                <a:tc>
                  <a:txBody>
                    <a:bodyPr/>
                    <a:lstStyle/>
                    <a:p>
                      <a:pPr algn="ctr" fontAlgn="b"/>
                      <a:r>
                        <a:rPr lang="en-US" sz="2000" u="none" strike="noStrike" dirty="0">
                          <a:effectLst/>
                        </a:rPr>
                        <a:t>150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0.14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0.74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526253041"/>
                  </a:ext>
                </a:extLst>
              </a:tr>
              <a:tr h="196850">
                <a:tc>
                  <a:txBody>
                    <a:bodyPr/>
                    <a:lstStyle/>
                    <a:p>
                      <a:pPr algn="ctr" fontAlgn="b"/>
                      <a:r>
                        <a:rPr lang="en-US" sz="2000" u="none" strike="noStrike" dirty="0">
                          <a:effectLst/>
                        </a:rPr>
                        <a:t>200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0.17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0.51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0.85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0.98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r" fontAlgn="b"/>
                      <a:r>
                        <a:rPr lang="en-US" sz="2000" u="none" strike="noStrike">
                          <a:effectLst/>
                        </a:rPr>
                        <a:t>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472300426"/>
                  </a:ext>
                </a:extLst>
              </a:tr>
              <a:tr h="196850">
                <a:tc>
                  <a:txBody>
                    <a:bodyPr/>
                    <a:lstStyle/>
                    <a:p>
                      <a:pPr algn="ctr" fontAlgn="b"/>
                      <a:r>
                        <a:rPr lang="en-US" sz="2000" u="none" strike="noStrike" dirty="0">
                          <a:effectLst/>
                        </a:rPr>
                        <a:t>500</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0.35</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0.89</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1</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1</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1</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1</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1</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1</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1</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1</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1</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726741"/>
                  </a:ext>
                </a:extLst>
              </a:tr>
            </a:tbl>
          </a:graphicData>
        </a:graphic>
      </p:graphicFrame>
    </p:spTree>
    <p:extLst>
      <p:ext uri="{BB962C8B-B14F-4D97-AF65-F5344CB8AC3E}">
        <p14:creationId xmlns:p14="http://schemas.microsoft.com/office/powerpoint/2010/main" val="1636444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3"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4"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5"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6"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7"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8"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E9FC76CF-1620-47F7-BE6A-9DCF8A762FDC}"/>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Minimum Detectable Effect Size as a Function of </a:t>
            </a:r>
            <a:r>
              <a:rPr lang="en-US" sz="4000" i="1">
                <a:solidFill>
                  <a:srgbClr val="FFFFFF"/>
                </a:solidFill>
                <a:latin typeface="Times New Roman" panose="02020603050405020304" pitchFamily="18" charset="0"/>
                <a:cs typeface="Times New Roman" panose="02020603050405020304" pitchFamily="18" charset="0"/>
              </a:rPr>
              <a:t>n</a:t>
            </a:r>
          </a:p>
        </p:txBody>
      </p:sp>
      <p:graphicFrame>
        <p:nvGraphicFramePr>
          <p:cNvPr id="5" name="Content Placeholder 4">
            <a:extLst>
              <a:ext uri="{FF2B5EF4-FFF2-40B4-BE49-F238E27FC236}">
                <a16:creationId xmlns:a16="http://schemas.microsoft.com/office/drawing/2014/main" id="{A5579171-5616-4DD8-8241-EDC2FD27923B}"/>
              </a:ext>
            </a:extLst>
          </p:cNvPr>
          <p:cNvGraphicFramePr>
            <a:graphicFrameLocks noGrp="1"/>
          </p:cNvGraphicFramePr>
          <p:nvPr>
            <p:ph idx="1"/>
            <p:extLst>
              <p:ext uri="{D42A27DB-BD31-4B8C-83A1-F6EECF244321}">
                <p14:modId xmlns:p14="http://schemas.microsoft.com/office/powerpoint/2010/main" val="2747306877"/>
              </p:ext>
            </p:extLst>
          </p:nvPr>
        </p:nvGraphicFramePr>
        <p:xfrm>
          <a:off x="6689154" y="685800"/>
          <a:ext cx="3134869" cy="5105408"/>
        </p:xfrm>
        <a:graphic>
          <a:graphicData uri="http://schemas.openxmlformats.org/drawingml/2006/table">
            <a:tbl>
              <a:tblPr firstRow="1" bandRow="1">
                <a:tableStyleId>{5C22544A-7EE6-4342-B048-85BDC9FD1C3A}</a:tableStyleId>
              </a:tblPr>
              <a:tblGrid>
                <a:gridCol w="1563554">
                  <a:extLst>
                    <a:ext uri="{9D8B030D-6E8A-4147-A177-3AD203B41FA5}">
                      <a16:colId xmlns:a16="http://schemas.microsoft.com/office/drawing/2014/main" val="2835486079"/>
                    </a:ext>
                  </a:extLst>
                </a:gridCol>
                <a:gridCol w="1571315">
                  <a:extLst>
                    <a:ext uri="{9D8B030D-6E8A-4147-A177-3AD203B41FA5}">
                      <a16:colId xmlns:a16="http://schemas.microsoft.com/office/drawing/2014/main" val="362384162"/>
                    </a:ext>
                  </a:extLst>
                </a:gridCol>
              </a:tblGrid>
              <a:tr h="364672">
                <a:tc>
                  <a:txBody>
                    <a:bodyPr/>
                    <a:lstStyle/>
                    <a:p>
                      <a:pPr algn="ctr" fontAlgn="b"/>
                      <a:r>
                        <a:rPr lang="en-US" sz="2100" i="1" u="none" strike="noStrike" dirty="0">
                          <a:effectLst/>
                          <a:latin typeface="Times New Roman" panose="02020603050405020304" pitchFamily="18" charset="0"/>
                          <a:cs typeface="Times New Roman" panose="02020603050405020304" pitchFamily="18" charset="0"/>
                        </a:rPr>
                        <a:t>n</a:t>
                      </a:r>
                      <a:endParaRPr lang="en-US" sz="2100" b="0" i="1" u="none" strike="noStrike" dirty="0">
                        <a:solidFill>
                          <a:srgbClr val="000000"/>
                        </a:solidFill>
                        <a:effectLst/>
                        <a:latin typeface="Times New Roman" panose="02020603050405020304" pitchFamily="18" charset="0"/>
                        <a:cs typeface="Times New Roman" panose="02020603050405020304" pitchFamily="18" charset="0"/>
                      </a:endParaRPr>
                    </a:p>
                  </a:txBody>
                  <a:tcPr marL="6659" marR="6659" marT="6659" marB="0" anchor="b"/>
                </a:tc>
                <a:tc>
                  <a:txBody>
                    <a:bodyPr/>
                    <a:lstStyle/>
                    <a:p>
                      <a:pPr algn="ctr" fontAlgn="b"/>
                      <a:r>
                        <a:rPr lang="en-US" sz="2100" b="0" i="1" u="none" strike="noStrike" dirty="0">
                          <a:solidFill>
                            <a:schemeClr val="bg1"/>
                          </a:solidFill>
                          <a:effectLst/>
                          <a:latin typeface="Times New Roman" panose="02020603050405020304" pitchFamily="18" charset="0"/>
                        </a:rPr>
                        <a:t>MDES</a:t>
                      </a:r>
                    </a:p>
                  </a:txBody>
                  <a:tcPr marL="6659" marR="6659" marT="6659" marB="0" anchor="b"/>
                </a:tc>
                <a:extLst>
                  <a:ext uri="{0D108BD9-81ED-4DB2-BD59-A6C34878D82A}">
                    <a16:rowId xmlns:a16="http://schemas.microsoft.com/office/drawing/2014/main" val="2530401370"/>
                  </a:ext>
                </a:extLst>
              </a:tr>
              <a:tr h="364672">
                <a:tc>
                  <a:txBody>
                    <a:bodyPr/>
                    <a:lstStyle/>
                    <a:p>
                      <a:pPr algn="ctr" fontAlgn="b"/>
                      <a:r>
                        <a:rPr lang="en-US" sz="2100" u="none" strike="noStrike">
                          <a:effectLst/>
                        </a:rPr>
                        <a:t>10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a:effectLst/>
                        </a:rPr>
                        <a:t>1.33</a:t>
                      </a:r>
                      <a:endParaRPr lang="en-US" sz="2100" b="0" i="0" u="none" strike="noStrike">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1557781324"/>
                  </a:ext>
                </a:extLst>
              </a:tr>
              <a:tr h="364672">
                <a:tc>
                  <a:txBody>
                    <a:bodyPr/>
                    <a:lstStyle/>
                    <a:p>
                      <a:pPr algn="ctr" fontAlgn="b"/>
                      <a:r>
                        <a:rPr lang="en-US" sz="2100" u="none" strike="noStrike">
                          <a:effectLst/>
                        </a:rPr>
                        <a:t>20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a:effectLst/>
                        </a:rPr>
                        <a:t>0.91</a:t>
                      </a:r>
                      <a:endParaRPr lang="en-US" sz="2100" b="0" i="0" u="none" strike="noStrike">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373140490"/>
                  </a:ext>
                </a:extLst>
              </a:tr>
              <a:tr h="364672">
                <a:tc>
                  <a:txBody>
                    <a:bodyPr/>
                    <a:lstStyle/>
                    <a:p>
                      <a:pPr algn="ctr" fontAlgn="b"/>
                      <a:r>
                        <a:rPr lang="en-US" sz="2100" u="none" strike="noStrike">
                          <a:effectLst/>
                        </a:rPr>
                        <a:t>30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a:effectLst/>
                        </a:rPr>
                        <a:t>0.74</a:t>
                      </a:r>
                      <a:endParaRPr lang="en-US" sz="2100" b="0" i="0" u="none" strike="noStrike">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2528043015"/>
                  </a:ext>
                </a:extLst>
              </a:tr>
              <a:tr h="364672">
                <a:tc>
                  <a:txBody>
                    <a:bodyPr/>
                    <a:lstStyle/>
                    <a:p>
                      <a:pPr algn="ctr" fontAlgn="b"/>
                      <a:r>
                        <a:rPr lang="en-US" sz="2100" u="none" strike="noStrike">
                          <a:effectLst/>
                        </a:rPr>
                        <a:t>40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dirty="0">
                          <a:effectLst/>
                        </a:rPr>
                        <a:t>0.64</a:t>
                      </a:r>
                      <a:endParaRPr lang="en-US" sz="2100" b="0" i="0" u="none" strike="noStrike" dirty="0">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1759940487"/>
                  </a:ext>
                </a:extLst>
              </a:tr>
              <a:tr h="364672">
                <a:tc>
                  <a:txBody>
                    <a:bodyPr/>
                    <a:lstStyle/>
                    <a:p>
                      <a:pPr algn="ctr" fontAlgn="b"/>
                      <a:r>
                        <a:rPr lang="en-US" sz="2100" u="none" strike="noStrike">
                          <a:effectLst/>
                        </a:rPr>
                        <a:t>50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a:effectLst/>
                        </a:rPr>
                        <a:t>0.57</a:t>
                      </a:r>
                      <a:endParaRPr lang="en-US" sz="2100" b="0" i="0" u="none" strike="noStrike">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3603494304"/>
                  </a:ext>
                </a:extLst>
              </a:tr>
              <a:tr h="364672">
                <a:tc>
                  <a:txBody>
                    <a:bodyPr/>
                    <a:lstStyle/>
                    <a:p>
                      <a:pPr algn="ctr" fontAlgn="b"/>
                      <a:r>
                        <a:rPr lang="en-US" sz="2100" u="none" strike="noStrike">
                          <a:effectLst/>
                        </a:rPr>
                        <a:t>60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a:effectLst/>
                        </a:rPr>
                        <a:t>0.52</a:t>
                      </a:r>
                      <a:endParaRPr lang="en-US" sz="2100" b="0" i="0" u="none" strike="noStrike">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3896454997"/>
                  </a:ext>
                </a:extLst>
              </a:tr>
              <a:tr h="364672">
                <a:tc>
                  <a:txBody>
                    <a:bodyPr/>
                    <a:lstStyle/>
                    <a:p>
                      <a:pPr algn="ctr" fontAlgn="b"/>
                      <a:r>
                        <a:rPr lang="en-US" sz="2100" u="none" strike="noStrike">
                          <a:effectLst/>
                        </a:rPr>
                        <a:t>70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a:effectLst/>
                        </a:rPr>
                        <a:t>0.48</a:t>
                      </a:r>
                      <a:endParaRPr lang="en-US" sz="2100" b="0" i="0" u="none" strike="noStrike">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4202320397"/>
                  </a:ext>
                </a:extLst>
              </a:tr>
              <a:tr h="364672">
                <a:tc>
                  <a:txBody>
                    <a:bodyPr/>
                    <a:lstStyle/>
                    <a:p>
                      <a:pPr algn="ctr" fontAlgn="b"/>
                      <a:r>
                        <a:rPr lang="en-US" sz="2100" u="none" strike="noStrike">
                          <a:effectLst/>
                        </a:rPr>
                        <a:t>80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a:effectLst/>
                        </a:rPr>
                        <a:t>0.45</a:t>
                      </a:r>
                      <a:endParaRPr lang="en-US" sz="2100" b="0" i="0" u="none" strike="noStrike">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266038128"/>
                  </a:ext>
                </a:extLst>
              </a:tr>
              <a:tr h="364672">
                <a:tc>
                  <a:txBody>
                    <a:bodyPr/>
                    <a:lstStyle/>
                    <a:p>
                      <a:pPr algn="ctr" fontAlgn="b"/>
                      <a:r>
                        <a:rPr lang="en-US" sz="2100" u="none" strike="noStrike">
                          <a:effectLst/>
                        </a:rPr>
                        <a:t>90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a:effectLst/>
                        </a:rPr>
                        <a:t>0.42</a:t>
                      </a:r>
                      <a:endParaRPr lang="en-US" sz="2100" b="0" i="0" u="none" strike="noStrike">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679320639"/>
                  </a:ext>
                </a:extLst>
              </a:tr>
              <a:tr h="364672">
                <a:tc>
                  <a:txBody>
                    <a:bodyPr/>
                    <a:lstStyle/>
                    <a:p>
                      <a:pPr algn="ctr" fontAlgn="b"/>
                      <a:r>
                        <a:rPr lang="en-US" sz="2100" u="none" strike="noStrike">
                          <a:effectLst/>
                        </a:rPr>
                        <a:t>100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a:effectLst/>
                        </a:rPr>
                        <a:t>0.40</a:t>
                      </a:r>
                      <a:endParaRPr lang="en-US" sz="2100" b="0" i="0" u="none" strike="noStrike">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3600681165"/>
                  </a:ext>
                </a:extLst>
              </a:tr>
              <a:tr h="364672">
                <a:tc>
                  <a:txBody>
                    <a:bodyPr/>
                    <a:lstStyle/>
                    <a:p>
                      <a:pPr algn="ctr" fontAlgn="b"/>
                      <a:r>
                        <a:rPr lang="en-US" sz="2100" u="none" strike="noStrike">
                          <a:effectLst/>
                        </a:rPr>
                        <a:t>150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a:effectLst/>
                        </a:rPr>
                        <a:t>0.32</a:t>
                      </a:r>
                      <a:endParaRPr lang="en-US" sz="2100" b="0" i="0" u="none" strike="noStrike">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2500178071"/>
                  </a:ext>
                </a:extLst>
              </a:tr>
              <a:tr h="364672">
                <a:tc>
                  <a:txBody>
                    <a:bodyPr/>
                    <a:lstStyle/>
                    <a:p>
                      <a:pPr algn="ctr" fontAlgn="b"/>
                      <a:r>
                        <a:rPr lang="en-US" sz="2100" u="none" strike="noStrike">
                          <a:effectLst/>
                        </a:rPr>
                        <a:t>200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a:effectLst/>
                        </a:rPr>
                        <a:t>0.28</a:t>
                      </a:r>
                      <a:endParaRPr lang="en-US" sz="2100" b="0" i="0" u="none" strike="noStrike">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3904483478"/>
                  </a:ext>
                </a:extLst>
              </a:tr>
              <a:tr h="364672">
                <a:tc>
                  <a:txBody>
                    <a:bodyPr/>
                    <a:lstStyle/>
                    <a:p>
                      <a:pPr algn="ctr" fontAlgn="b"/>
                      <a:r>
                        <a:rPr lang="en-US" sz="2100" u="none" strike="noStrike">
                          <a:effectLst/>
                        </a:rPr>
                        <a:t>500</a:t>
                      </a:r>
                      <a:endParaRPr lang="en-US" sz="2100" b="0" i="0" u="none" strike="noStrike">
                        <a:solidFill>
                          <a:srgbClr val="000000"/>
                        </a:solidFill>
                        <a:effectLst/>
                        <a:latin typeface="Times New Roman" panose="02020603050405020304" pitchFamily="18" charset="0"/>
                      </a:endParaRPr>
                    </a:p>
                  </a:txBody>
                  <a:tcPr marL="6659" marR="6659" marT="6659" marB="0" anchor="b"/>
                </a:tc>
                <a:tc>
                  <a:txBody>
                    <a:bodyPr/>
                    <a:lstStyle/>
                    <a:p>
                      <a:pPr algn="ctr" fontAlgn="b"/>
                      <a:r>
                        <a:rPr lang="en-US" sz="2100" u="none" strike="noStrike" dirty="0">
                          <a:effectLst/>
                        </a:rPr>
                        <a:t>0.18</a:t>
                      </a:r>
                      <a:endParaRPr lang="en-US" sz="2100" b="0" i="0" u="none" strike="noStrike" dirty="0">
                        <a:solidFill>
                          <a:srgbClr val="000000"/>
                        </a:solidFill>
                        <a:effectLst/>
                        <a:latin typeface="Times New Roman" panose="02020603050405020304" pitchFamily="18" charset="0"/>
                      </a:endParaRPr>
                    </a:p>
                  </a:txBody>
                  <a:tcPr marL="6659" marR="6659" marT="6659" marB="0" anchor="b"/>
                </a:tc>
                <a:extLst>
                  <a:ext uri="{0D108BD9-81ED-4DB2-BD59-A6C34878D82A}">
                    <a16:rowId xmlns:a16="http://schemas.microsoft.com/office/drawing/2014/main" val="1413216982"/>
                  </a:ext>
                </a:extLst>
              </a:tr>
            </a:tbl>
          </a:graphicData>
        </a:graphic>
      </p:graphicFrame>
    </p:spTree>
    <p:extLst>
      <p:ext uri="{BB962C8B-B14F-4D97-AF65-F5344CB8AC3E}">
        <p14:creationId xmlns:p14="http://schemas.microsoft.com/office/powerpoint/2010/main" val="3918390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3B066-71FB-414F-98B2-EA39EF4A6644}"/>
              </a:ext>
            </a:extLst>
          </p:cNvPr>
          <p:cNvSpPr>
            <a:spLocks noGrp="1"/>
          </p:cNvSpPr>
          <p:nvPr>
            <p:ph type="title"/>
          </p:nvPr>
        </p:nvSpPr>
        <p:spPr/>
        <p:txBody>
          <a:bodyPr/>
          <a:lstStyle/>
          <a:p>
            <a:r>
              <a:rPr lang="en-US" dirty="0"/>
              <a:t>A Graphical Representation of MDES as a Function of </a:t>
            </a:r>
            <a:r>
              <a:rPr lang="en-US" i="1" dirty="0">
                <a:latin typeface="Times New Roman" panose="02020603050405020304" pitchFamily="18" charset="0"/>
                <a:cs typeface="Times New Roman" panose="02020603050405020304" pitchFamily="18" charset="0"/>
              </a:rPr>
              <a:t>n</a:t>
            </a:r>
          </a:p>
        </p:txBody>
      </p:sp>
      <p:pic>
        <p:nvPicPr>
          <p:cNvPr id="4" name="Content Placeholder 3">
            <a:extLst>
              <a:ext uri="{FF2B5EF4-FFF2-40B4-BE49-F238E27FC236}">
                <a16:creationId xmlns:a16="http://schemas.microsoft.com/office/drawing/2014/main" id="{8E5F8DC8-BCED-411D-8EA3-B2FBF21E5F4A}"/>
              </a:ext>
            </a:extLst>
          </p:cNvPr>
          <p:cNvPicPr>
            <a:picLocks noGrp="1"/>
          </p:cNvPicPr>
          <p:nvPr>
            <p:ph idx="1"/>
          </p:nvPr>
        </p:nvPicPr>
        <p:blipFill>
          <a:blip r:embed="rId2"/>
          <a:stretch>
            <a:fillRect/>
          </a:stretch>
        </p:blipFill>
        <p:spPr>
          <a:xfrm>
            <a:off x="3461106" y="1157661"/>
            <a:ext cx="5049294" cy="4743788"/>
          </a:xfrm>
          <a:prstGeom prst="rect">
            <a:avLst/>
          </a:prstGeom>
        </p:spPr>
      </p:pic>
      <p:sp>
        <p:nvSpPr>
          <p:cNvPr id="5" name="Rectangle 4">
            <a:extLst>
              <a:ext uri="{FF2B5EF4-FFF2-40B4-BE49-F238E27FC236}">
                <a16:creationId xmlns:a16="http://schemas.microsoft.com/office/drawing/2014/main" id="{859AD52E-61E7-44AD-B659-F6AB14A09CD2}"/>
              </a:ext>
            </a:extLst>
          </p:cNvPr>
          <p:cNvSpPr/>
          <p:nvPr/>
        </p:nvSpPr>
        <p:spPr>
          <a:xfrm>
            <a:off x="5428034" y="1342417"/>
            <a:ext cx="1335932" cy="473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3869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347A6-BD58-47F3-8913-65A918CDE400}"/>
              </a:ext>
            </a:extLst>
          </p:cNvPr>
          <p:cNvSpPr>
            <a:spLocks noGrp="1"/>
          </p:cNvSpPr>
          <p:nvPr>
            <p:ph type="title"/>
          </p:nvPr>
        </p:nvSpPr>
        <p:spPr/>
        <p:txBody>
          <a:bodyPr/>
          <a:lstStyle/>
          <a:p>
            <a:r>
              <a:rPr lang="en-US" dirty="0"/>
              <a:t>MDES is Easy to Use in Planning Designs</a:t>
            </a:r>
          </a:p>
        </p:txBody>
      </p:sp>
      <p:graphicFrame>
        <p:nvGraphicFramePr>
          <p:cNvPr id="5" name="Content Placeholder 2">
            <a:extLst>
              <a:ext uri="{FF2B5EF4-FFF2-40B4-BE49-F238E27FC236}">
                <a16:creationId xmlns:a16="http://schemas.microsoft.com/office/drawing/2014/main" id="{047F59B6-01A7-404A-AC44-8DAA78C56C0F}"/>
              </a:ext>
            </a:extLst>
          </p:cNvPr>
          <p:cNvGraphicFramePr>
            <a:graphicFrameLocks noGrp="1"/>
          </p:cNvGraphicFramePr>
          <p:nvPr>
            <p:ph idx="1"/>
            <p:extLst>
              <p:ext uri="{D42A27DB-BD31-4B8C-83A1-F6EECF244321}">
                <p14:modId xmlns:p14="http://schemas.microsoft.com/office/powerpoint/2010/main" val="165879565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6027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F5F7D-B65F-41C0-817C-FFB3FBEFDCFE}"/>
              </a:ext>
            </a:extLst>
          </p:cNvPr>
          <p:cNvSpPr>
            <a:spLocks noGrp="1"/>
          </p:cNvSpPr>
          <p:nvPr>
            <p:ph type="title"/>
          </p:nvPr>
        </p:nvSpPr>
        <p:spPr/>
        <p:txBody>
          <a:bodyPr/>
          <a:lstStyle/>
          <a:p>
            <a:r>
              <a:rPr lang="en-US" dirty="0"/>
              <a:t>The Fundamental Problem of Research Design</a:t>
            </a:r>
          </a:p>
        </p:txBody>
      </p:sp>
      <p:sp>
        <p:nvSpPr>
          <p:cNvPr id="3" name="Content Placeholder 2">
            <a:extLst>
              <a:ext uri="{FF2B5EF4-FFF2-40B4-BE49-F238E27FC236}">
                <a16:creationId xmlns:a16="http://schemas.microsoft.com/office/drawing/2014/main" id="{DC8D27D9-C38F-4425-AA28-3D563C51555A}"/>
              </a:ext>
            </a:extLst>
          </p:cNvPr>
          <p:cNvSpPr>
            <a:spLocks noGrp="1"/>
          </p:cNvSpPr>
          <p:nvPr>
            <p:ph idx="1"/>
          </p:nvPr>
        </p:nvSpPr>
        <p:spPr/>
        <p:txBody>
          <a:bodyPr/>
          <a:lstStyle/>
          <a:p>
            <a:pPr marL="0" indent="0">
              <a:buNone/>
            </a:pPr>
            <a:r>
              <a:rPr lang="en-US" dirty="0"/>
              <a:t>The fundamental problem of research design is how to plan a </a:t>
            </a:r>
            <a:r>
              <a:rPr lang="en-US" b="1" i="1" dirty="0"/>
              <a:t>feasible</a:t>
            </a:r>
            <a:r>
              <a:rPr lang="en-US" dirty="0"/>
              <a:t> design that is adequately sensitive</a:t>
            </a:r>
          </a:p>
          <a:p>
            <a:pPr marL="0" indent="0">
              <a:buNone/>
            </a:pPr>
            <a:endParaRPr lang="en-US" dirty="0"/>
          </a:p>
          <a:p>
            <a:pPr marL="0" indent="0">
              <a:buNone/>
            </a:pPr>
            <a:r>
              <a:rPr lang="en-US" dirty="0"/>
              <a:t>If you have unlimited sample size, it is easy to get any design sensitivity you want</a:t>
            </a:r>
          </a:p>
          <a:p>
            <a:pPr marL="0" indent="0">
              <a:buNone/>
            </a:pPr>
            <a:endParaRPr lang="en-US" dirty="0"/>
          </a:p>
          <a:p>
            <a:pPr marL="0" indent="0">
              <a:buNone/>
            </a:pPr>
            <a:r>
              <a:rPr lang="en-US" dirty="0"/>
              <a:t>But we never have access to an unlimited sample size</a:t>
            </a:r>
          </a:p>
          <a:p>
            <a:pPr marL="0" indent="0">
              <a:buNone/>
            </a:pPr>
            <a:endParaRPr lang="en-US" dirty="0"/>
          </a:p>
          <a:p>
            <a:pPr marL="0" indent="0">
              <a:buNone/>
            </a:pPr>
            <a:r>
              <a:rPr lang="en-US" dirty="0"/>
              <a:t>Especially in development studies, we are usually limited to a small number of schools or classes (10 or less) and at most a few hundred students</a:t>
            </a:r>
          </a:p>
        </p:txBody>
      </p:sp>
    </p:spTree>
    <p:extLst>
      <p:ext uri="{BB962C8B-B14F-4D97-AF65-F5344CB8AC3E}">
        <p14:creationId xmlns:p14="http://schemas.microsoft.com/office/powerpoint/2010/main" val="2716114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02F55-DF4F-4DC5-AF89-21C6A104CB8B}"/>
              </a:ext>
            </a:extLst>
          </p:cNvPr>
          <p:cNvSpPr>
            <a:spLocks noGrp="1"/>
          </p:cNvSpPr>
          <p:nvPr>
            <p:ph type="title"/>
          </p:nvPr>
        </p:nvSpPr>
        <p:spPr/>
        <p:txBody>
          <a:bodyPr/>
          <a:lstStyle/>
          <a:p>
            <a:r>
              <a:rPr lang="en-US" dirty="0"/>
              <a:t>How Do You Plan a Research Design?</a:t>
            </a:r>
          </a:p>
        </p:txBody>
      </p:sp>
      <p:sp>
        <p:nvSpPr>
          <p:cNvPr id="3" name="Content Placeholder 2">
            <a:extLst>
              <a:ext uri="{FF2B5EF4-FFF2-40B4-BE49-F238E27FC236}">
                <a16:creationId xmlns:a16="http://schemas.microsoft.com/office/drawing/2014/main" id="{2A3C7132-137C-4B29-90A7-DBA45DC29847}"/>
              </a:ext>
            </a:extLst>
          </p:cNvPr>
          <p:cNvSpPr>
            <a:spLocks noGrp="1"/>
          </p:cNvSpPr>
          <p:nvPr>
            <p:ph idx="1"/>
          </p:nvPr>
        </p:nvSpPr>
        <p:spPr/>
        <p:txBody>
          <a:bodyPr/>
          <a:lstStyle/>
          <a:p>
            <a:pPr marL="0" indent="0">
              <a:buNone/>
            </a:pPr>
            <a:r>
              <a:rPr lang="en-US" dirty="0"/>
              <a:t>Start with some notion of the effect size you expect</a:t>
            </a:r>
          </a:p>
          <a:p>
            <a:pPr marL="0" indent="0">
              <a:buNone/>
            </a:pPr>
            <a:endParaRPr lang="en-US" dirty="0"/>
          </a:p>
          <a:p>
            <a:pPr marL="0" indent="0">
              <a:buNone/>
            </a:pPr>
            <a:r>
              <a:rPr lang="en-US" dirty="0"/>
              <a:t>Then consider what sample of individuals you believe you could get to test the treatment</a:t>
            </a:r>
          </a:p>
          <a:p>
            <a:pPr marL="0" indent="0">
              <a:buNone/>
            </a:pPr>
            <a:endParaRPr lang="en-US" dirty="0"/>
          </a:p>
          <a:p>
            <a:pPr marL="0" indent="0">
              <a:buNone/>
            </a:pPr>
            <a:r>
              <a:rPr lang="en-US" dirty="0"/>
              <a:t>Are they grouped into schools or classrooms?  Can they plausibly be considered independent?</a:t>
            </a:r>
          </a:p>
          <a:p>
            <a:pPr marL="0" indent="0">
              <a:buNone/>
            </a:pPr>
            <a:endParaRPr lang="en-US" dirty="0"/>
          </a:p>
          <a:p>
            <a:pPr marL="0" indent="0">
              <a:buNone/>
            </a:pPr>
            <a:r>
              <a:rPr lang="en-US" dirty="0"/>
              <a:t>Can they be assigned to treatments individually?  </a:t>
            </a:r>
          </a:p>
          <a:p>
            <a:pPr marL="0" indent="0">
              <a:buNone/>
            </a:pPr>
            <a:r>
              <a:rPr lang="en-US" b="1" dirty="0"/>
              <a:t>If not, then the individually randomized design cannot be used</a:t>
            </a:r>
            <a:endParaRPr lang="en-US" dirty="0"/>
          </a:p>
          <a:p>
            <a:pPr marL="0" indent="0">
              <a:buNone/>
            </a:pPr>
            <a:endParaRPr lang="en-US" dirty="0"/>
          </a:p>
          <a:p>
            <a:pPr marL="0" indent="0">
              <a:buNone/>
            </a:pPr>
            <a:r>
              <a:rPr lang="en-US" dirty="0"/>
              <a:t>In the easiest case, then you simply use a table like the one presented previously or a software tool and find the sample size that has an MDES that is smaller than the effect size you expect</a:t>
            </a:r>
          </a:p>
          <a:p>
            <a:pPr marL="0" indent="0">
              <a:buNone/>
            </a:pPr>
            <a:endParaRPr lang="en-US" dirty="0"/>
          </a:p>
          <a:p>
            <a:pPr marL="0" indent="0">
              <a:buNone/>
            </a:pPr>
            <a:r>
              <a:rPr lang="en-US" dirty="0"/>
              <a:t>Often, that sample size is larger than the sample you believe you could get</a:t>
            </a:r>
          </a:p>
          <a:p>
            <a:pPr marL="0" indent="0">
              <a:buNone/>
            </a:pPr>
            <a:endParaRPr lang="en-US" b="1" dirty="0"/>
          </a:p>
          <a:p>
            <a:pPr marL="0" indent="0">
              <a:buNone/>
            </a:pPr>
            <a:r>
              <a:rPr lang="en-US" b="1" dirty="0"/>
              <a:t>What then?</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33382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5049E-1130-4839-8F13-58EB99D2B2A7}"/>
              </a:ext>
            </a:extLst>
          </p:cNvPr>
          <p:cNvSpPr>
            <a:spLocks noGrp="1"/>
          </p:cNvSpPr>
          <p:nvPr>
            <p:ph type="title"/>
          </p:nvPr>
        </p:nvSpPr>
        <p:spPr/>
        <p:txBody>
          <a:bodyPr/>
          <a:lstStyle/>
          <a:p>
            <a:r>
              <a:rPr lang="en-US" dirty="0"/>
              <a:t>How Do You Plan a Research Design?</a:t>
            </a:r>
          </a:p>
        </p:txBody>
      </p:sp>
      <p:sp>
        <p:nvSpPr>
          <p:cNvPr id="3" name="Content Placeholder 2">
            <a:extLst>
              <a:ext uri="{FF2B5EF4-FFF2-40B4-BE49-F238E27FC236}">
                <a16:creationId xmlns:a16="http://schemas.microsoft.com/office/drawing/2014/main" id="{7B5BF3EB-3156-49CC-AA73-4195F4007C20}"/>
              </a:ext>
            </a:extLst>
          </p:cNvPr>
          <p:cNvSpPr>
            <a:spLocks noGrp="1"/>
          </p:cNvSpPr>
          <p:nvPr>
            <p:ph idx="1"/>
          </p:nvPr>
        </p:nvSpPr>
        <p:spPr/>
        <p:txBody>
          <a:bodyPr/>
          <a:lstStyle/>
          <a:p>
            <a:pPr marL="0" indent="0">
              <a:buNone/>
            </a:pPr>
            <a:r>
              <a:rPr lang="en-US" dirty="0"/>
              <a:t>If the balanced design requires a bigger sample size than you believe you can get then:</a:t>
            </a:r>
          </a:p>
          <a:p>
            <a:pPr marL="457200" indent="-457200">
              <a:buAutoNum type="arabicPeriod"/>
            </a:pPr>
            <a:endParaRPr lang="en-US" dirty="0"/>
          </a:p>
          <a:p>
            <a:pPr marL="457200" indent="-457200">
              <a:buAutoNum type="arabicPeriod"/>
            </a:pPr>
            <a:r>
              <a:rPr lang="en-US" dirty="0"/>
              <a:t>You can get a bigger sample (it may just be a matter of trying harder)</a:t>
            </a:r>
          </a:p>
          <a:p>
            <a:pPr marL="457200" indent="-457200">
              <a:buAutoNum type="arabicPeriod"/>
            </a:pPr>
            <a:endParaRPr lang="en-US" dirty="0"/>
          </a:p>
          <a:p>
            <a:pPr marL="457200" indent="-457200">
              <a:buAutoNum type="arabicPeriod"/>
            </a:pPr>
            <a:r>
              <a:rPr lang="en-US" dirty="0"/>
              <a:t>Change the design (how you do this will depend on what is feasible)</a:t>
            </a:r>
          </a:p>
          <a:p>
            <a:pPr marL="0" indent="0">
              <a:buNone/>
            </a:pPr>
            <a:endParaRPr lang="en-US" dirty="0"/>
          </a:p>
          <a:p>
            <a:pPr marL="0" indent="0">
              <a:buNone/>
            </a:pPr>
            <a:r>
              <a:rPr lang="en-US" dirty="0"/>
              <a:t>Options for changing the design:</a:t>
            </a:r>
          </a:p>
          <a:p>
            <a:pPr marL="457200" indent="-457200">
              <a:buAutoNum type="arabicPeriod"/>
            </a:pPr>
            <a:endParaRPr lang="en-US" dirty="0"/>
          </a:p>
          <a:p>
            <a:pPr marL="457200" indent="-457200">
              <a:buAutoNum type="arabicPeriod"/>
            </a:pPr>
            <a:r>
              <a:rPr lang="en-US" dirty="0"/>
              <a:t>Use a covariate</a:t>
            </a:r>
          </a:p>
          <a:p>
            <a:pPr marL="457200" indent="-457200">
              <a:buAutoNum type="arabicPeriod"/>
            </a:pPr>
            <a:endParaRPr lang="en-US" dirty="0"/>
          </a:p>
          <a:p>
            <a:pPr marL="457200" indent="-457200">
              <a:buAutoNum type="arabicPeriod"/>
            </a:pPr>
            <a:r>
              <a:rPr lang="en-US" dirty="0"/>
              <a:t>Consider an unbalanced design</a:t>
            </a:r>
          </a:p>
          <a:p>
            <a:pPr marL="457200" indent="-457200">
              <a:buAutoNum type="arabicPeriod"/>
            </a:pPr>
            <a:endParaRPr lang="en-US" dirty="0"/>
          </a:p>
          <a:p>
            <a:pPr marL="457200" indent="-457200">
              <a:buAutoNum type="arabicPeriod"/>
            </a:pPr>
            <a:r>
              <a:rPr lang="en-US" dirty="0"/>
              <a:t>Consider a randomized block design (possibly with covariates)</a:t>
            </a:r>
          </a:p>
          <a:p>
            <a:pPr marL="0" indent="0">
              <a:buNone/>
            </a:pPr>
            <a:endParaRPr lang="en-US" dirty="0"/>
          </a:p>
          <a:p>
            <a:pPr marL="457200" indent="-457200">
              <a:buAutoNum type="arabicPeriod"/>
            </a:pPr>
            <a:endParaRPr lang="en-US" dirty="0"/>
          </a:p>
          <a:p>
            <a:pPr marL="457200" indent="-457200">
              <a:buAutoNum type="arabicPeriod"/>
            </a:pPr>
            <a:endParaRPr lang="en-US" dirty="0"/>
          </a:p>
        </p:txBody>
      </p:sp>
    </p:spTree>
    <p:extLst>
      <p:ext uri="{BB962C8B-B14F-4D97-AF65-F5344CB8AC3E}">
        <p14:creationId xmlns:p14="http://schemas.microsoft.com/office/powerpoint/2010/main" val="14828336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D4FE-0E85-4853-9279-699BF174E238}"/>
              </a:ext>
            </a:extLst>
          </p:cNvPr>
          <p:cNvSpPr>
            <a:spLocks noGrp="1"/>
          </p:cNvSpPr>
          <p:nvPr>
            <p:ph type="title"/>
          </p:nvPr>
        </p:nvSpPr>
        <p:spPr/>
        <p:txBody>
          <a:bodyPr/>
          <a:lstStyle/>
          <a:p>
            <a:r>
              <a:rPr lang="en-US"/>
              <a:t>Adding Covariates</a:t>
            </a:r>
            <a:endParaRPr lang="en-US" dirty="0"/>
          </a:p>
        </p:txBody>
      </p:sp>
      <p:sp>
        <p:nvSpPr>
          <p:cNvPr id="3" name="Content Placeholder 2">
            <a:extLst>
              <a:ext uri="{FF2B5EF4-FFF2-40B4-BE49-F238E27FC236}">
                <a16:creationId xmlns:a16="http://schemas.microsoft.com/office/drawing/2014/main" id="{7476346A-5A26-4C74-A095-A48D1824B7E8}"/>
              </a:ext>
            </a:extLst>
          </p:cNvPr>
          <p:cNvSpPr>
            <a:spLocks noGrp="1"/>
          </p:cNvSpPr>
          <p:nvPr>
            <p:ph idx="1"/>
          </p:nvPr>
        </p:nvSpPr>
        <p:spPr/>
        <p:txBody>
          <a:bodyPr/>
          <a:lstStyle/>
          <a:p>
            <a:pPr marL="0" indent="0">
              <a:buNone/>
            </a:pPr>
            <a:r>
              <a:rPr lang="en-US"/>
              <a:t>A covariate is any variable whose value cannot be influenced by treatment assignment</a:t>
            </a:r>
          </a:p>
          <a:p>
            <a:pPr marL="0" indent="0">
              <a:buNone/>
            </a:pPr>
            <a:endParaRPr lang="en-US"/>
          </a:p>
          <a:p>
            <a:pPr marL="0" indent="0">
              <a:buNone/>
            </a:pPr>
            <a:r>
              <a:rPr lang="en-US" b="1" i="1"/>
              <a:t>Useful</a:t>
            </a:r>
            <a:r>
              <a:rPr lang="en-US"/>
              <a:t> covariates are those that are correlated with the outcome</a:t>
            </a:r>
          </a:p>
          <a:p>
            <a:pPr marL="0" indent="0">
              <a:buNone/>
            </a:pPr>
            <a:endParaRPr lang="en-US"/>
          </a:p>
          <a:p>
            <a:pPr marL="0" indent="0">
              <a:buNone/>
            </a:pPr>
            <a:r>
              <a:rPr lang="en-US"/>
              <a:t>A pretest covering similar content is often a good covariate</a:t>
            </a:r>
          </a:p>
          <a:p>
            <a:pPr marL="0" indent="0">
              <a:buNone/>
            </a:pPr>
            <a:endParaRPr lang="en-US"/>
          </a:p>
          <a:p>
            <a:pPr marL="0" indent="0">
              <a:buNone/>
            </a:pPr>
            <a:r>
              <a:rPr lang="en-US"/>
              <a:t>The covariate does not need to measure the same things to be useful: All that matters is that it is correlated with the outcome</a:t>
            </a:r>
          </a:p>
          <a:p>
            <a:pPr marL="0" indent="0">
              <a:buNone/>
            </a:pPr>
            <a:endParaRPr lang="en-US"/>
          </a:p>
          <a:p>
            <a:pPr marL="0" indent="0">
              <a:buNone/>
            </a:pPr>
            <a:r>
              <a:rPr lang="en-US"/>
              <a:t>You do not need to have a theory of </a:t>
            </a:r>
            <a:r>
              <a:rPr lang="en-US" i="1"/>
              <a:t>why</a:t>
            </a:r>
            <a:r>
              <a:rPr lang="en-US"/>
              <a:t> the covariate is correlated with the outcome</a:t>
            </a:r>
          </a:p>
          <a:p>
            <a:pPr marL="0" indent="0">
              <a:buNone/>
            </a:pPr>
            <a:endParaRPr lang="en-US"/>
          </a:p>
          <a:p>
            <a:pPr marL="0" indent="0">
              <a:buNone/>
            </a:pPr>
            <a:r>
              <a:rPr lang="en-US"/>
              <a:t>Reading scores can be useful covariates  for math and science outcomes and vice versa</a:t>
            </a:r>
          </a:p>
          <a:p>
            <a:pPr marL="0" indent="0">
              <a:buNone/>
            </a:pPr>
            <a:endParaRPr lang="en-US"/>
          </a:p>
          <a:p>
            <a:pPr marL="0" indent="0">
              <a:buNone/>
            </a:pPr>
            <a:r>
              <a:rPr lang="en-US"/>
              <a:t>Demographic variables (gender, ethnicity, SES) tend to be less useful as covariates than test scores</a:t>
            </a:r>
          </a:p>
          <a:p>
            <a:pPr marL="0" indent="0">
              <a:buNone/>
            </a:pPr>
            <a:endParaRPr lang="en-US" dirty="0"/>
          </a:p>
        </p:txBody>
      </p:sp>
    </p:spTree>
    <p:extLst>
      <p:ext uri="{BB962C8B-B14F-4D97-AF65-F5344CB8AC3E}">
        <p14:creationId xmlns:p14="http://schemas.microsoft.com/office/powerpoint/2010/main" val="3516538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62355-601A-4B12-930A-ED4E0C4B0A01}"/>
              </a:ext>
            </a:extLst>
          </p:cNvPr>
          <p:cNvSpPr>
            <a:spLocks noGrp="1"/>
          </p:cNvSpPr>
          <p:nvPr>
            <p:ph type="title"/>
          </p:nvPr>
        </p:nvSpPr>
        <p:spPr/>
        <p:txBody>
          <a:bodyPr/>
          <a:lstStyle/>
          <a:p>
            <a:r>
              <a:rPr lang="en-US" dirty="0"/>
              <a:t>The Effect of Covariates on MDES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9C2904-BF83-419B-93AE-00D92C05F0E0}"/>
                  </a:ext>
                </a:extLst>
              </p:cNvPr>
              <p:cNvSpPr>
                <a:spLocks noGrp="1"/>
              </p:cNvSpPr>
              <p:nvPr>
                <p:ph idx="1"/>
              </p:nvPr>
            </p:nvSpPr>
            <p:spPr/>
            <p:txBody>
              <a:bodyPr/>
              <a:lstStyle/>
              <a:p>
                <a:pPr marL="0" indent="0">
                  <a:buNone/>
                </a:pPr>
                <a:r>
                  <a:rPr lang="en-US" dirty="0"/>
                  <a:t>Suppose that a covariate has correlation </a:t>
                </a:r>
                <a:r>
                  <a:rPr lang="en-US" i="1" dirty="0">
                    <a:latin typeface="Times New Roman" panose="02020603050405020304" pitchFamily="18" charset="0"/>
                    <a:cs typeface="Times New Roman" panose="02020603050405020304" pitchFamily="18" charset="0"/>
                  </a:rPr>
                  <a:t>R</a:t>
                </a:r>
                <a:r>
                  <a:rPr lang="en-US" dirty="0"/>
                  <a:t> with the outcome, then the MDES for  a design that uses that covariate will be smaller by a factor of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𝑅</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r>
                      <a:rPr lang="en-US" b="0" i="1"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dirty="0"/>
                  <a:t>  That is</a:t>
                </a:r>
              </a:p>
              <a:p>
                <a:pPr marL="0" indent="0">
                  <a:buNone/>
                </a:pPr>
                <a:endParaRPr lang="en-US" dirty="0"/>
              </a:p>
              <a:p>
                <a:pPr marL="0" indent="0">
                  <a:buNone/>
                </a:pPr>
                <a:r>
                  <a:rPr lang="en-US" dirty="0"/>
                  <a:t>	MDES(with covariates) </a:t>
                </a:r>
                <a:r>
                  <a:rPr lang="en-US" dirty="0">
                    <a:latin typeface="Times New Roman" panose="02020603050405020304" pitchFamily="18" charset="0"/>
                    <a:cs typeface="Times New Roman" panose="02020603050405020304" pitchFamily="18" charset="0"/>
                  </a:rPr>
                  <a:t>≈</a:t>
                </a:r>
                <a:r>
                  <a:rPr lang="en-US" dirty="0"/>
                  <a:t> MDES(without covariates)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𝑅</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a14:m>
                <a:endParaRPr lang="en-US" dirty="0"/>
              </a:p>
              <a:p>
                <a:pPr marL="0" indent="0">
                  <a:buNone/>
                </a:pPr>
                <a:endParaRPr lang="en-US" dirty="0"/>
              </a:p>
              <a:p>
                <a:pPr marL="0" indent="0">
                  <a:buNone/>
                </a:pPr>
                <a:r>
                  <a:rPr lang="en-US" dirty="0"/>
                  <a:t>For example, a covariate with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 = 0.7 </a:t>
                </a:r>
                <a:r>
                  <a:rPr lang="en-US" dirty="0"/>
                  <a:t>will cut the MDES by about 29% because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b="0" i="1" smtClean="0">
                                <a:effectLst/>
                                <a:latin typeface="Cambria Math" panose="02040503050406030204" pitchFamily="18" charset="0"/>
                                <a:cs typeface="Times New Roman" panose="02020603050405020304" pitchFamily="18" charset="0"/>
                              </a:rPr>
                              <m:t>0.7</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a14:m>
                <a:r>
                  <a:rPr lang="en-US" dirty="0">
                    <a:latin typeface="Times New Roman" panose="02020603050405020304" pitchFamily="18" charset="0"/>
                    <a:cs typeface="Times New Roman" panose="02020603050405020304" pitchFamily="18" charset="0"/>
                  </a:rPr>
                  <a:t>  ≈ 0.71</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cs typeface="Times New Roman" panose="02020603050405020304" pitchFamily="18" charset="0"/>
                  </a:rPr>
                  <a:t>A covariate with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 = 0.5 </a:t>
                </a:r>
                <a:r>
                  <a:rPr lang="en-US" dirty="0">
                    <a:cs typeface="Times New Roman" panose="02020603050405020304" pitchFamily="18" charset="0"/>
                  </a:rPr>
                  <a:t>will cut the MDES by about </a:t>
                </a:r>
                <a:r>
                  <a:rPr lang="en-US" dirty="0">
                    <a:latin typeface="Times New Roman" panose="02020603050405020304" pitchFamily="18" charset="0"/>
                    <a:cs typeface="Times New Roman" panose="02020603050405020304" pitchFamily="18" charset="0"/>
                  </a:rPr>
                  <a:t>13% </a:t>
                </a:r>
                <a:r>
                  <a:rPr lang="en-US" dirty="0">
                    <a:cs typeface="Times New Roman" panose="02020603050405020304" pitchFamily="18" charset="0"/>
                  </a:rPr>
                  <a:t>because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b="0" i="1" smtClean="0">
                                <a:effectLst/>
                                <a:latin typeface="Cambria Math" panose="02040503050406030204" pitchFamily="18" charset="0"/>
                                <a:cs typeface="Times New Roman" panose="02020603050405020304" pitchFamily="18" charset="0"/>
                              </a:rPr>
                              <m:t>0.5</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a14:m>
                <a:r>
                  <a:rPr lang="en-US" dirty="0">
                    <a:latin typeface="Times New Roman" panose="02020603050405020304" pitchFamily="18" charset="0"/>
                    <a:cs typeface="Times New Roman" panose="02020603050405020304" pitchFamily="18" charset="0"/>
                  </a:rPr>
                  <a:t>  ≈ 0.87</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cs typeface="Times New Roman" panose="02020603050405020304" pitchFamily="18" charset="0"/>
                  </a:rPr>
                  <a:t>If there is more than one covariate, the impact on MDES depends on the multiple correlation R, not the number of covariates (but there is usually little point in using more than one covariate)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highlight>
                      <a:srgbClr val="FFFF00"/>
                    </a:highlight>
                    <a:latin typeface="Times New Roman" panose="02020603050405020304" pitchFamily="18" charset="0"/>
                    <a:cs typeface="Times New Roman" panose="02020603050405020304" pitchFamily="18" charset="0"/>
                  </a:rPr>
                  <a:t>ERIC: This would be a good place for a slider showing how MDES changes with R</a:t>
                </a:r>
              </a:p>
              <a:p>
                <a:pPr marL="0" indent="0">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C9C2904-BF83-419B-93AE-00D92C05F0E0}"/>
                  </a:ext>
                </a:extLst>
              </p:cNvPr>
              <p:cNvSpPr>
                <a:spLocks noGrp="1" noRot="1" noChangeAspect="1" noMove="1" noResize="1" noEditPoints="1" noAdjustHandles="1" noChangeArrowheads="1" noChangeShapeType="1" noTextEdit="1"/>
              </p:cNvSpPr>
              <p:nvPr>
                <p:ph idx="1"/>
              </p:nvPr>
            </p:nvSpPr>
            <p:spPr>
              <a:blipFill>
                <a:blip r:embed="rId2"/>
                <a:stretch>
                  <a:fillRect l="-638" t="-1541" r="-232"/>
                </a:stretch>
              </a:blipFill>
            </p:spPr>
            <p:txBody>
              <a:bodyPr/>
              <a:lstStyle/>
              <a:p>
                <a:r>
                  <a:rPr lang="en-US">
                    <a:noFill/>
                  </a:rPr>
                  <a:t> </a:t>
                </a:r>
              </a:p>
            </p:txBody>
          </p:sp>
        </mc:Fallback>
      </mc:AlternateContent>
    </p:spTree>
    <p:extLst>
      <p:ext uri="{BB962C8B-B14F-4D97-AF65-F5344CB8AC3E}">
        <p14:creationId xmlns:p14="http://schemas.microsoft.com/office/powerpoint/2010/main" val="3018878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4E0B0-A915-42AB-AB8B-9F59E5D7AECF}"/>
              </a:ext>
            </a:extLst>
          </p:cNvPr>
          <p:cNvSpPr>
            <a:spLocks noGrp="1"/>
          </p:cNvSpPr>
          <p:nvPr>
            <p:ph type="title"/>
          </p:nvPr>
        </p:nvSpPr>
        <p:spPr>
          <a:xfrm>
            <a:off x="838199" y="291090"/>
            <a:ext cx="10515599" cy="932688"/>
          </a:xfrm>
        </p:spPr>
        <p:txBody>
          <a:bodyPr vert="horz" lIns="91440" tIns="45720" rIns="91440" bIns="45720" rtlCol="0" anchor="b">
            <a:normAutofit/>
          </a:bodyPr>
          <a:lstStyle/>
          <a:p>
            <a:pPr algn="l"/>
            <a:r>
              <a:rPr lang="en-US" sz="3400" kern="1200" dirty="0">
                <a:solidFill>
                  <a:schemeClr val="tx1"/>
                </a:solidFill>
                <a:latin typeface="+mj-lt"/>
                <a:ea typeface="+mj-ea"/>
                <a:cs typeface="+mj-cs"/>
              </a:rPr>
              <a:t>A Tabular Representation of the Influence of </a:t>
            </a:r>
            <a:r>
              <a:rPr lang="en-US" sz="3400" i="1" kern="1200" dirty="0">
                <a:solidFill>
                  <a:schemeClr val="tx1"/>
                </a:solidFill>
                <a:latin typeface="+mj-lt"/>
                <a:ea typeface="+mj-ea"/>
                <a:cs typeface="+mj-cs"/>
              </a:rPr>
              <a:t>R</a:t>
            </a:r>
            <a:r>
              <a:rPr lang="en-US" sz="3400" kern="1200" dirty="0">
                <a:solidFill>
                  <a:schemeClr val="tx1"/>
                </a:solidFill>
                <a:latin typeface="+mj-lt"/>
                <a:ea typeface="+mj-ea"/>
                <a:cs typeface="+mj-cs"/>
              </a:rPr>
              <a:t> on MDES</a:t>
            </a:r>
          </a:p>
        </p:txBody>
      </p:sp>
      <p:graphicFrame>
        <p:nvGraphicFramePr>
          <p:cNvPr id="5" name="Content Placeholder 4">
            <a:extLst>
              <a:ext uri="{FF2B5EF4-FFF2-40B4-BE49-F238E27FC236}">
                <a16:creationId xmlns:a16="http://schemas.microsoft.com/office/drawing/2014/main" id="{309A3551-7A93-4B61-AD09-08189BB6D997}"/>
              </a:ext>
            </a:extLst>
          </p:cNvPr>
          <p:cNvGraphicFramePr>
            <a:graphicFrameLocks noGrp="1"/>
          </p:cNvGraphicFramePr>
          <p:nvPr>
            <p:ph idx="1"/>
            <p:extLst>
              <p:ext uri="{D42A27DB-BD31-4B8C-83A1-F6EECF244321}">
                <p14:modId xmlns:p14="http://schemas.microsoft.com/office/powerpoint/2010/main" val="330490705"/>
              </p:ext>
            </p:extLst>
          </p:nvPr>
        </p:nvGraphicFramePr>
        <p:xfrm>
          <a:off x="1029592" y="1863801"/>
          <a:ext cx="10132821" cy="4440750"/>
        </p:xfrm>
        <a:graphic>
          <a:graphicData uri="http://schemas.openxmlformats.org/drawingml/2006/table">
            <a:tbl>
              <a:tblPr firstRow="1" bandRow="1">
                <a:tableStyleId>{5C22544A-7EE6-4342-B048-85BDC9FD1C3A}</a:tableStyleId>
              </a:tblPr>
              <a:tblGrid>
                <a:gridCol w="901301">
                  <a:extLst>
                    <a:ext uri="{9D8B030D-6E8A-4147-A177-3AD203B41FA5}">
                      <a16:colId xmlns:a16="http://schemas.microsoft.com/office/drawing/2014/main" val="4283106124"/>
                    </a:ext>
                  </a:extLst>
                </a:gridCol>
                <a:gridCol w="923152">
                  <a:extLst>
                    <a:ext uri="{9D8B030D-6E8A-4147-A177-3AD203B41FA5}">
                      <a16:colId xmlns:a16="http://schemas.microsoft.com/office/drawing/2014/main" val="3265517502"/>
                    </a:ext>
                  </a:extLst>
                </a:gridCol>
                <a:gridCol w="923152">
                  <a:extLst>
                    <a:ext uri="{9D8B030D-6E8A-4147-A177-3AD203B41FA5}">
                      <a16:colId xmlns:a16="http://schemas.microsoft.com/office/drawing/2014/main" val="2289036306"/>
                    </a:ext>
                  </a:extLst>
                </a:gridCol>
                <a:gridCol w="923152">
                  <a:extLst>
                    <a:ext uri="{9D8B030D-6E8A-4147-A177-3AD203B41FA5}">
                      <a16:colId xmlns:a16="http://schemas.microsoft.com/office/drawing/2014/main" val="2932949284"/>
                    </a:ext>
                  </a:extLst>
                </a:gridCol>
                <a:gridCol w="923152">
                  <a:extLst>
                    <a:ext uri="{9D8B030D-6E8A-4147-A177-3AD203B41FA5}">
                      <a16:colId xmlns:a16="http://schemas.microsoft.com/office/drawing/2014/main" val="3786404149"/>
                    </a:ext>
                  </a:extLst>
                </a:gridCol>
                <a:gridCol w="923152">
                  <a:extLst>
                    <a:ext uri="{9D8B030D-6E8A-4147-A177-3AD203B41FA5}">
                      <a16:colId xmlns:a16="http://schemas.microsoft.com/office/drawing/2014/main" val="2260940644"/>
                    </a:ext>
                  </a:extLst>
                </a:gridCol>
                <a:gridCol w="923152">
                  <a:extLst>
                    <a:ext uri="{9D8B030D-6E8A-4147-A177-3AD203B41FA5}">
                      <a16:colId xmlns:a16="http://schemas.microsoft.com/office/drawing/2014/main" val="3080721971"/>
                    </a:ext>
                  </a:extLst>
                </a:gridCol>
                <a:gridCol w="923152">
                  <a:extLst>
                    <a:ext uri="{9D8B030D-6E8A-4147-A177-3AD203B41FA5}">
                      <a16:colId xmlns:a16="http://schemas.microsoft.com/office/drawing/2014/main" val="129098335"/>
                    </a:ext>
                  </a:extLst>
                </a:gridCol>
                <a:gridCol w="923152">
                  <a:extLst>
                    <a:ext uri="{9D8B030D-6E8A-4147-A177-3AD203B41FA5}">
                      <a16:colId xmlns:a16="http://schemas.microsoft.com/office/drawing/2014/main" val="3770174934"/>
                    </a:ext>
                  </a:extLst>
                </a:gridCol>
                <a:gridCol w="923152">
                  <a:extLst>
                    <a:ext uri="{9D8B030D-6E8A-4147-A177-3AD203B41FA5}">
                      <a16:colId xmlns:a16="http://schemas.microsoft.com/office/drawing/2014/main" val="2299367231"/>
                    </a:ext>
                  </a:extLst>
                </a:gridCol>
                <a:gridCol w="923152">
                  <a:extLst>
                    <a:ext uri="{9D8B030D-6E8A-4147-A177-3AD203B41FA5}">
                      <a16:colId xmlns:a16="http://schemas.microsoft.com/office/drawing/2014/main" val="561477907"/>
                    </a:ext>
                  </a:extLst>
                </a:gridCol>
              </a:tblGrid>
              <a:tr h="296050">
                <a:tc>
                  <a:txBody>
                    <a:bodyPr/>
                    <a:lstStyle/>
                    <a:p>
                      <a:pPr algn="l" fontAlgn="b"/>
                      <a:r>
                        <a:rPr lang="en-US" sz="1700" u="none" strike="noStrike" dirty="0">
                          <a:effectLst/>
                        </a:rPr>
                        <a:t> </a:t>
                      </a:r>
                      <a:endParaRPr lang="en-US" sz="1700" b="0" i="0" u="none" strike="noStrike" dirty="0">
                        <a:solidFill>
                          <a:srgbClr val="000000"/>
                        </a:solidFill>
                        <a:effectLst/>
                        <a:latin typeface="Times New Roman" panose="02020603050405020304" pitchFamily="18" charset="0"/>
                      </a:endParaRPr>
                    </a:p>
                  </a:txBody>
                  <a:tcPr marL="5406" marR="5406" marT="5406" marB="0" anchor="b">
                    <a:solidFill>
                      <a:schemeClr val="accent1">
                        <a:lumMod val="40000"/>
                        <a:lumOff val="60000"/>
                      </a:schemeClr>
                    </a:solidFill>
                  </a:tcPr>
                </a:tc>
                <a:tc gridSpan="10">
                  <a:txBody>
                    <a:bodyPr/>
                    <a:lstStyle/>
                    <a:p>
                      <a:pPr algn="ctr" fontAlgn="b"/>
                      <a:r>
                        <a:rPr lang="en-US" sz="1700" i="1" u="none" strike="noStrike" dirty="0">
                          <a:effectLst/>
                          <a:latin typeface="Times New Roman" panose="02020603050405020304" pitchFamily="18" charset="0"/>
                          <a:cs typeface="Times New Roman" panose="02020603050405020304" pitchFamily="18" charset="0"/>
                        </a:rPr>
                        <a:t>R</a:t>
                      </a:r>
                      <a:endParaRPr lang="en-US" sz="1700" b="0" i="1" u="none" strike="noStrike" dirty="0">
                        <a:solidFill>
                          <a:srgbClr val="000000"/>
                        </a:solidFill>
                        <a:effectLst/>
                        <a:latin typeface="Times New Roman" panose="02020603050405020304" pitchFamily="18" charset="0"/>
                        <a:cs typeface="Times New Roman" panose="02020603050405020304" pitchFamily="18" charset="0"/>
                      </a:endParaRPr>
                    </a:p>
                  </a:txBody>
                  <a:tcPr marL="5406" marR="5406" marT="5406" marB="0" anchor="b">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18722268"/>
                  </a:ext>
                </a:extLst>
              </a:tr>
              <a:tr h="296050">
                <a:tc>
                  <a:txBody>
                    <a:bodyPr/>
                    <a:lstStyle/>
                    <a:p>
                      <a:pPr algn="ctr" fontAlgn="b"/>
                      <a:r>
                        <a:rPr lang="en-US" sz="1700" i="1" u="none" strike="noStrike" dirty="0">
                          <a:solidFill>
                            <a:schemeClr val="bg1"/>
                          </a:solidFill>
                          <a:effectLst/>
                          <a:latin typeface="Times New Roman" panose="02020603050405020304" pitchFamily="18" charset="0"/>
                          <a:cs typeface="Times New Roman" panose="02020603050405020304" pitchFamily="18" charset="0"/>
                        </a:rPr>
                        <a:t>n</a:t>
                      </a:r>
                      <a:endParaRPr lang="en-US" sz="1700" b="0" i="1" u="none" strike="noStrike" dirty="0">
                        <a:solidFill>
                          <a:schemeClr val="bg1"/>
                        </a:solidFill>
                        <a:effectLst/>
                        <a:latin typeface="Times New Roman" panose="02020603050405020304" pitchFamily="18" charset="0"/>
                        <a:cs typeface="Times New Roman" panose="02020603050405020304" pitchFamily="18" charset="0"/>
                      </a:endParaRPr>
                    </a:p>
                  </a:txBody>
                  <a:tcPr marL="5406" marR="5406" marT="5406" marB="0" anchor="b">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1700" u="none" strike="noStrike" dirty="0">
                          <a:solidFill>
                            <a:schemeClr val="bg1"/>
                          </a:solidFill>
                          <a:effectLst/>
                        </a:rPr>
                        <a:t>0</a:t>
                      </a:r>
                      <a:endParaRPr lang="en-US" sz="1700" b="0" i="0" u="none" strike="noStrike" dirty="0">
                        <a:solidFill>
                          <a:schemeClr val="bg1"/>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1700" u="none" strike="noStrike" dirty="0">
                          <a:solidFill>
                            <a:schemeClr val="bg1"/>
                          </a:solidFill>
                          <a:effectLst/>
                        </a:rPr>
                        <a:t>0.1</a:t>
                      </a:r>
                      <a:endParaRPr lang="en-US" sz="1700" b="0" i="0" u="none" strike="noStrike" dirty="0">
                        <a:solidFill>
                          <a:schemeClr val="bg1"/>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1700" u="none" strike="noStrike" dirty="0">
                          <a:solidFill>
                            <a:schemeClr val="bg1"/>
                          </a:solidFill>
                          <a:effectLst/>
                        </a:rPr>
                        <a:t>0.2</a:t>
                      </a:r>
                      <a:endParaRPr lang="en-US" sz="1700" b="0" i="0" u="none" strike="noStrike" dirty="0">
                        <a:solidFill>
                          <a:schemeClr val="bg1"/>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1700" u="none" strike="noStrike" dirty="0">
                          <a:solidFill>
                            <a:schemeClr val="bg1"/>
                          </a:solidFill>
                          <a:effectLst/>
                        </a:rPr>
                        <a:t>0.3</a:t>
                      </a:r>
                      <a:endParaRPr lang="en-US" sz="1700" b="0" i="0" u="none" strike="noStrike" dirty="0">
                        <a:solidFill>
                          <a:schemeClr val="bg1"/>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1700" u="none" strike="noStrike" dirty="0">
                          <a:solidFill>
                            <a:schemeClr val="bg1"/>
                          </a:solidFill>
                          <a:effectLst/>
                        </a:rPr>
                        <a:t>0.4</a:t>
                      </a:r>
                      <a:endParaRPr lang="en-US" sz="1700" b="0" i="0" u="none" strike="noStrike" dirty="0">
                        <a:solidFill>
                          <a:schemeClr val="bg1"/>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1700" u="none" strike="noStrike" dirty="0">
                          <a:solidFill>
                            <a:schemeClr val="bg1"/>
                          </a:solidFill>
                          <a:effectLst/>
                        </a:rPr>
                        <a:t>0.5</a:t>
                      </a:r>
                      <a:endParaRPr lang="en-US" sz="1700" b="0" i="0" u="none" strike="noStrike" dirty="0">
                        <a:solidFill>
                          <a:schemeClr val="bg1"/>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1700" u="none" strike="noStrike" dirty="0">
                          <a:solidFill>
                            <a:schemeClr val="bg1"/>
                          </a:solidFill>
                          <a:effectLst/>
                        </a:rPr>
                        <a:t>0.6</a:t>
                      </a:r>
                      <a:endParaRPr lang="en-US" sz="1700" b="0" i="0" u="none" strike="noStrike" dirty="0">
                        <a:solidFill>
                          <a:schemeClr val="bg1"/>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1700" u="none" strike="noStrike" dirty="0">
                          <a:solidFill>
                            <a:schemeClr val="bg1"/>
                          </a:solidFill>
                          <a:effectLst/>
                        </a:rPr>
                        <a:t>0.7</a:t>
                      </a:r>
                      <a:endParaRPr lang="en-US" sz="1700" b="0" i="0" u="none" strike="noStrike" dirty="0">
                        <a:solidFill>
                          <a:schemeClr val="bg1"/>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1700" u="none" strike="noStrike" dirty="0">
                          <a:solidFill>
                            <a:schemeClr val="bg1"/>
                          </a:solidFill>
                          <a:effectLst/>
                        </a:rPr>
                        <a:t>0.8</a:t>
                      </a:r>
                      <a:endParaRPr lang="en-US" sz="1700" b="0" i="0" u="none" strike="noStrike" dirty="0">
                        <a:solidFill>
                          <a:schemeClr val="bg1"/>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1700" u="none" strike="noStrike" dirty="0">
                          <a:solidFill>
                            <a:schemeClr val="bg1"/>
                          </a:solidFill>
                          <a:effectLst/>
                        </a:rPr>
                        <a:t>0.9</a:t>
                      </a:r>
                      <a:endParaRPr lang="en-US" sz="1700" b="0" i="0" u="none" strike="noStrike" dirty="0">
                        <a:solidFill>
                          <a:schemeClr val="bg1"/>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305539626"/>
                  </a:ext>
                </a:extLst>
              </a:tr>
              <a:tr h="296050">
                <a:tc>
                  <a:txBody>
                    <a:bodyPr/>
                    <a:lstStyle/>
                    <a:p>
                      <a:pPr algn="ctr" fontAlgn="b"/>
                      <a:r>
                        <a:rPr lang="en-US" sz="1700" u="none" strike="noStrike">
                          <a:effectLst/>
                        </a:rPr>
                        <a:t>10</a:t>
                      </a:r>
                      <a:endParaRPr lang="en-US" sz="1700" b="0" i="0" u="none" strike="noStrike">
                        <a:solidFill>
                          <a:srgbClr val="000000"/>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1.33</a:t>
                      </a:r>
                      <a:endParaRPr lang="en-US" sz="1700" b="0" i="0" u="none" strike="noStrike">
                        <a:solidFill>
                          <a:srgbClr val="000000"/>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tcPr>
                </a:tc>
                <a:tc>
                  <a:txBody>
                    <a:bodyPr/>
                    <a:lstStyle/>
                    <a:p>
                      <a:pPr algn="ctr" fontAlgn="b"/>
                      <a:r>
                        <a:rPr lang="en-US" sz="1700" u="none" strike="noStrike" dirty="0">
                          <a:effectLst/>
                        </a:rPr>
                        <a:t>1.32</a:t>
                      </a:r>
                      <a:endParaRPr lang="en-US" sz="1700" b="0" i="0" u="none" strike="noStrike" dirty="0">
                        <a:solidFill>
                          <a:srgbClr val="000000"/>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tcPr>
                </a:tc>
                <a:tc>
                  <a:txBody>
                    <a:bodyPr/>
                    <a:lstStyle/>
                    <a:p>
                      <a:pPr algn="ctr" fontAlgn="b"/>
                      <a:r>
                        <a:rPr lang="en-US" sz="1700" u="none" strike="noStrike" dirty="0">
                          <a:effectLst/>
                        </a:rPr>
                        <a:t>1.30</a:t>
                      </a:r>
                      <a:endParaRPr lang="en-US" sz="1700" b="0" i="0" u="none" strike="noStrike" dirty="0">
                        <a:solidFill>
                          <a:srgbClr val="000000"/>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tcPr>
                </a:tc>
                <a:tc>
                  <a:txBody>
                    <a:bodyPr/>
                    <a:lstStyle/>
                    <a:p>
                      <a:pPr algn="ctr" fontAlgn="b"/>
                      <a:r>
                        <a:rPr lang="en-US" sz="1700" u="none" strike="noStrike" dirty="0">
                          <a:effectLst/>
                        </a:rPr>
                        <a:t>1.27</a:t>
                      </a:r>
                      <a:endParaRPr lang="en-US" sz="1700" b="0" i="0" u="none" strike="noStrike" dirty="0">
                        <a:solidFill>
                          <a:srgbClr val="000000"/>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tcPr>
                </a:tc>
                <a:tc>
                  <a:txBody>
                    <a:bodyPr/>
                    <a:lstStyle/>
                    <a:p>
                      <a:pPr algn="ctr" fontAlgn="b"/>
                      <a:r>
                        <a:rPr lang="en-US" sz="1700" u="none" strike="noStrike" dirty="0">
                          <a:effectLst/>
                        </a:rPr>
                        <a:t>1.22</a:t>
                      </a:r>
                      <a:endParaRPr lang="en-US" sz="1700" b="0" i="0" u="none" strike="noStrike" dirty="0">
                        <a:solidFill>
                          <a:srgbClr val="000000"/>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tcPr>
                </a:tc>
                <a:tc>
                  <a:txBody>
                    <a:bodyPr/>
                    <a:lstStyle/>
                    <a:p>
                      <a:pPr algn="ctr" fontAlgn="b"/>
                      <a:r>
                        <a:rPr lang="en-US" sz="1700" u="none" strike="noStrike" dirty="0">
                          <a:effectLst/>
                        </a:rPr>
                        <a:t>1.15</a:t>
                      </a:r>
                      <a:endParaRPr lang="en-US" sz="1700" b="0" i="0" u="none" strike="noStrike" dirty="0">
                        <a:solidFill>
                          <a:srgbClr val="000000"/>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1.06</a:t>
                      </a:r>
                      <a:endParaRPr lang="en-US" sz="1700" b="0" i="0" u="none" strike="noStrike">
                        <a:solidFill>
                          <a:srgbClr val="000000"/>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0.95</a:t>
                      </a:r>
                      <a:endParaRPr lang="en-US" sz="1700" b="0" i="0" u="none" strike="noStrike">
                        <a:solidFill>
                          <a:srgbClr val="000000"/>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0.80</a:t>
                      </a:r>
                      <a:endParaRPr lang="en-US" sz="1700" b="0" i="0" u="none" strike="noStrike">
                        <a:solidFill>
                          <a:srgbClr val="000000"/>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tcPr>
                </a:tc>
                <a:tc>
                  <a:txBody>
                    <a:bodyPr/>
                    <a:lstStyle/>
                    <a:p>
                      <a:pPr algn="ctr" fontAlgn="b"/>
                      <a:r>
                        <a:rPr lang="en-US" sz="1700" u="none" strike="noStrike">
                          <a:effectLst/>
                        </a:rPr>
                        <a:t>0.58</a:t>
                      </a:r>
                      <a:endParaRPr lang="en-US" sz="1700" b="0" i="0" u="none" strike="noStrike">
                        <a:solidFill>
                          <a:srgbClr val="000000"/>
                        </a:solidFill>
                        <a:effectLst/>
                        <a:latin typeface="Times New Roman" panose="02020603050405020304" pitchFamily="18" charset="0"/>
                      </a:endParaRPr>
                    </a:p>
                  </a:txBody>
                  <a:tcPr marL="5406" marR="5406" marT="5406"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46702815"/>
                  </a:ext>
                </a:extLst>
              </a:tr>
              <a:tr h="296050">
                <a:tc>
                  <a:txBody>
                    <a:bodyPr/>
                    <a:lstStyle/>
                    <a:p>
                      <a:pPr algn="ctr" fontAlgn="b"/>
                      <a:r>
                        <a:rPr lang="en-US" sz="1700" u="none" strike="noStrike">
                          <a:effectLst/>
                        </a:rPr>
                        <a:t>20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0.91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0.91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0.89</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0.87</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0.83</a:t>
                      </a:r>
                      <a:endParaRPr lang="en-US" sz="1700" b="0" i="0" u="none" strike="noStrike" dirty="0">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0.79</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0.73</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0.65</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0.55</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0.40</a:t>
                      </a:r>
                      <a:endParaRPr lang="en-US" sz="1700" b="0" i="0" u="none" strike="noStrike">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1174424270"/>
                  </a:ext>
                </a:extLst>
              </a:tr>
              <a:tr h="296050">
                <a:tc>
                  <a:txBody>
                    <a:bodyPr/>
                    <a:lstStyle/>
                    <a:p>
                      <a:pPr algn="ctr" fontAlgn="b"/>
                      <a:r>
                        <a:rPr lang="en-US" sz="1700" u="none" strike="noStrike">
                          <a:effectLst/>
                        </a:rPr>
                        <a:t>30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0.74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0.73</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0.72</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0.70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0.68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0.64</a:t>
                      </a:r>
                      <a:endParaRPr lang="en-US" sz="1700" b="0" i="0" u="none" strike="noStrike" dirty="0">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0.59</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0.53</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0.32</a:t>
                      </a:r>
                      <a:endParaRPr lang="en-US" sz="1700" b="0" i="0" u="none" strike="noStrike">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3717618829"/>
                  </a:ext>
                </a:extLst>
              </a:tr>
              <a:tr h="296050">
                <a:tc>
                  <a:txBody>
                    <a:bodyPr/>
                    <a:lstStyle/>
                    <a:p>
                      <a:pPr algn="ctr" fontAlgn="b"/>
                      <a:r>
                        <a:rPr lang="en-US" sz="1700" u="none" strike="noStrike">
                          <a:effectLst/>
                        </a:rPr>
                        <a:t>40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0.64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0.63</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0.62</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0.61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0.55</a:t>
                      </a:r>
                      <a:endParaRPr lang="en-US" sz="1700" b="0" i="0" u="none" strike="noStrike" dirty="0">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0.45</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0.28</a:t>
                      </a:r>
                      <a:endParaRPr lang="en-US" sz="1700" b="0" i="0" u="none" strike="noStrike">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1863657852"/>
                  </a:ext>
                </a:extLst>
              </a:tr>
              <a:tr h="296050">
                <a:tc>
                  <a:txBody>
                    <a:bodyPr/>
                    <a:lstStyle/>
                    <a:p>
                      <a:pPr algn="ctr" fontAlgn="b"/>
                      <a:r>
                        <a:rPr lang="en-US" sz="1700" u="none" strike="noStrike">
                          <a:effectLst/>
                        </a:rPr>
                        <a:t>50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0.57</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0.56</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0.56</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0.52</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0.49</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0.45</a:t>
                      </a:r>
                      <a:endParaRPr lang="en-US" sz="1700" b="0" i="0" u="none" strike="noStrike" dirty="0">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0.25</a:t>
                      </a:r>
                      <a:endParaRPr lang="en-US" sz="1700" b="0" i="0" u="none" strike="noStrike">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2403926652"/>
                  </a:ext>
                </a:extLst>
              </a:tr>
              <a:tr h="296050">
                <a:tc>
                  <a:txBody>
                    <a:bodyPr/>
                    <a:lstStyle/>
                    <a:p>
                      <a:pPr algn="ctr" fontAlgn="b"/>
                      <a:r>
                        <a:rPr lang="en-US" sz="1700" u="none" strike="noStrike">
                          <a:effectLst/>
                        </a:rPr>
                        <a:t>60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0.52</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0.51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0.49</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0.47</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0.45</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0.41</a:t>
                      </a:r>
                      <a:endParaRPr lang="en-US" sz="1700" b="0" i="0" u="none" strike="noStrike" dirty="0">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0.37</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0.23</a:t>
                      </a:r>
                      <a:endParaRPr lang="en-US" sz="1700" b="0" i="0" u="none" strike="noStrike">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2634063227"/>
                  </a:ext>
                </a:extLst>
              </a:tr>
              <a:tr h="296050">
                <a:tc>
                  <a:txBody>
                    <a:bodyPr/>
                    <a:lstStyle/>
                    <a:p>
                      <a:pPr algn="ctr" fontAlgn="b"/>
                      <a:r>
                        <a:rPr lang="en-US" sz="1700" u="none" strike="noStrike">
                          <a:effectLst/>
                        </a:rPr>
                        <a:t>70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0.47</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0.46</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0.38</a:t>
                      </a:r>
                      <a:endParaRPr lang="en-US" sz="1700" b="0" i="0" u="none" strike="noStrike" dirty="0">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0.29</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0.21</a:t>
                      </a:r>
                      <a:endParaRPr lang="en-US" sz="1700" b="0" i="0" u="none" strike="noStrike">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3604291567"/>
                  </a:ext>
                </a:extLst>
              </a:tr>
              <a:tr h="296050">
                <a:tc>
                  <a:txBody>
                    <a:bodyPr/>
                    <a:lstStyle/>
                    <a:p>
                      <a:pPr algn="ctr" fontAlgn="b"/>
                      <a:r>
                        <a:rPr lang="en-US" sz="1700" u="none" strike="noStrike">
                          <a:effectLst/>
                        </a:rPr>
                        <a:t>80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0.45</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0.43</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0.39</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0.36</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0.32</a:t>
                      </a:r>
                      <a:endParaRPr lang="en-US" sz="1700" b="0" i="0" u="none" strike="noStrike" dirty="0">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0.27</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0.20</a:t>
                      </a:r>
                      <a:endParaRPr lang="en-US" sz="1700" b="0" i="0" u="none" strike="noStrike">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3764080065"/>
                  </a:ext>
                </a:extLst>
              </a:tr>
              <a:tr h="296050">
                <a:tc>
                  <a:txBody>
                    <a:bodyPr/>
                    <a:lstStyle/>
                    <a:p>
                      <a:pPr algn="ctr" fontAlgn="b"/>
                      <a:r>
                        <a:rPr lang="en-US" sz="1700" u="none" strike="noStrike">
                          <a:effectLst/>
                        </a:rPr>
                        <a:t>90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0.42</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0.42</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0.36</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0.30</a:t>
                      </a:r>
                      <a:endParaRPr lang="en-US" sz="1700" b="0" i="0" u="none" strike="noStrike" dirty="0">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0.25</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0.18</a:t>
                      </a:r>
                      <a:endParaRPr lang="en-US" sz="1700" b="0" i="0" u="none" strike="noStrike">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415714295"/>
                  </a:ext>
                </a:extLst>
              </a:tr>
              <a:tr h="296050">
                <a:tc>
                  <a:txBody>
                    <a:bodyPr/>
                    <a:lstStyle/>
                    <a:p>
                      <a:pPr algn="ctr" fontAlgn="b"/>
                      <a:r>
                        <a:rPr lang="en-US" sz="1700" u="none" strike="noStrike">
                          <a:effectLst/>
                        </a:rPr>
                        <a:t>100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0.40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0.39</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0.36</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0.32</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0.24</a:t>
                      </a:r>
                      <a:endParaRPr lang="en-US" sz="1700" b="0" i="0" u="none" strike="noStrike" dirty="0">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0.17</a:t>
                      </a:r>
                      <a:endParaRPr lang="en-US" sz="1700" b="0" i="0" u="none" strike="noStrike">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1191896566"/>
                  </a:ext>
                </a:extLst>
              </a:tr>
              <a:tr h="296050">
                <a:tc>
                  <a:txBody>
                    <a:bodyPr/>
                    <a:lstStyle/>
                    <a:p>
                      <a:pPr algn="ctr" fontAlgn="b"/>
                      <a:r>
                        <a:rPr lang="en-US" sz="1700" u="none" strike="noStrike">
                          <a:effectLst/>
                        </a:rPr>
                        <a:t>150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0.32</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0.32</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0.32</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0.30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0.26</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0.23</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0.20</a:t>
                      </a:r>
                      <a:endParaRPr lang="en-US" sz="1700" b="0" i="0" u="none" strike="noStrike" dirty="0">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0.14</a:t>
                      </a:r>
                      <a:endParaRPr lang="en-US" sz="1700" b="0" i="0" u="none" strike="noStrike">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97385320"/>
                  </a:ext>
                </a:extLst>
              </a:tr>
              <a:tr h="296050">
                <a:tc>
                  <a:txBody>
                    <a:bodyPr/>
                    <a:lstStyle/>
                    <a:p>
                      <a:pPr algn="ctr" fontAlgn="b"/>
                      <a:r>
                        <a:rPr lang="en-US" sz="1700" u="none" strike="noStrike">
                          <a:effectLst/>
                        </a:rPr>
                        <a:t>200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0.27</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0.26</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0.22</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0.20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0.17</a:t>
                      </a:r>
                      <a:endParaRPr lang="en-US" sz="1700" b="0" i="0" u="none" strike="noStrike" dirty="0">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0.12</a:t>
                      </a:r>
                      <a:endParaRPr lang="en-US" sz="1700" b="0" i="0" u="none" strike="noStrike" dirty="0">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3363055440"/>
                  </a:ext>
                </a:extLst>
              </a:tr>
              <a:tr h="296050">
                <a:tc>
                  <a:txBody>
                    <a:bodyPr/>
                    <a:lstStyle/>
                    <a:p>
                      <a:pPr algn="ctr" fontAlgn="b"/>
                      <a:r>
                        <a:rPr lang="en-US" sz="1700" u="none" strike="noStrike">
                          <a:effectLst/>
                        </a:rPr>
                        <a:t>500</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0.18</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0.17</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0.17</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0.16</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0.15</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0.14</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0.13</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a:effectLst/>
                        </a:rPr>
                        <a:t>0.11</a:t>
                      </a:r>
                      <a:endParaRPr lang="en-US" sz="1700" b="0" i="0" u="none" strike="noStrike">
                        <a:solidFill>
                          <a:srgbClr val="000000"/>
                        </a:solidFill>
                        <a:effectLst/>
                        <a:latin typeface="Times New Roman" panose="02020603050405020304" pitchFamily="18" charset="0"/>
                      </a:endParaRPr>
                    </a:p>
                  </a:txBody>
                  <a:tcPr marL="5406" marR="5406" marT="5406" marB="0" anchor="b"/>
                </a:tc>
                <a:tc>
                  <a:txBody>
                    <a:bodyPr/>
                    <a:lstStyle/>
                    <a:p>
                      <a:pPr algn="ctr" fontAlgn="b"/>
                      <a:r>
                        <a:rPr lang="en-US" sz="1700" u="none" strike="noStrike" dirty="0">
                          <a:effectLst/>
                        </a:rPr>
                        <a:t>0.08</a:t>
                      </a:r>
                      <a:endParaRPr lang="en-US" sz="1700" b="0" i="0" u="none" strike="noStrike" dirty="0">
                        <a:solidFill>
                          <a:srgbClr val="000000"/>
                        </a:solidFill>
                        <a:effectLst/>
                        <a:latin typeface="Times New Roman" panose="02020603050405020304" pitchFamily="18" charset="0"/>
                      </a:endParaRPr>
                    </a:p>
                  </a:txBody>
                  <a:tcPr marL="5406" marR="5406" marT="5406" marB="0" anchor="b"/>
                </a:tc>
                <a:extLst>
                  <a:ext uri="{0D108BD9-81ED-4DB2-BD59-A6C34878D82A}">
                    <a16:rowId xmlns:a16="http://schemas.microsoft.com/office/drawing/2014/main" val="4187273140"/>
                  </a:ext>
                </a:extLst>
              </a:tr>
            </a:tbl>
          </a:graphicData>
        </a:graphic>
      </p:graphicFrame>
    </p:spTree>
    <p:extLst>
      <p:ext uri="{BB962C8B-B14F-4D97-AF65-F5344CB8AC3E}">
        <p14:creationId xmlns:p14="http://schemas.microsoft.com/office/powerpoint/2010/main" val="1698991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B3AD7-2971-4135-BACA-0CD9403516C9}"/>
              </a:ext>
            </a:extLst>
          </p:cNvPr>
          <p:cNvSpPr>
            <a:spLocks noGrp="1"/>
          </p:cNvSpPr>
          <p:nvPr>
            <p:ph type="title"/>
          </p:nvPr>
        </p:nvSpPr>
        <p:spPr/>
        <p:txBody>
          <a:bodyPr/>
          <a:lstStyle/>
          <a:p>
            <a:r>
              <a:rPr lang="en-US" dirty="0"/>
              <a:t>Unbalanced Designs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75220A-C9BB-4F4C-B4BD-2C0B1102EFF3}"/>
                  </a:ext>
                </a:extLst>
              </p:cNvPr>
              <p:cNvSpPr>
                <a:spLocks noGrp="1"/>
              </p:cNvSpPr>
              <p:nvPr>
                <p:ph idx="1"/>
              </p:nvPr>
            </p:nvSpPr>
            <p:spPr/>
            <p:txBody>
              <a:bodyPr>
                <a:normAutofit lnSpcReduction="10000"/>
              </a:bodyPr>
              <a:lstStyle/>
              <a:p>
                <a:pPr marL="0" indent="0">
                  <a:buNone/>
                </a:pPr>
                <a:r>
                  <a:rPr lang="en-US" dirty="0"/>
                  <a:t>Sometimes sample size is limited by the number of individuals that in the treatment group (e.g., due to limitations of costs of the treatment, staff for training, equipment or facilities)</a:t>
                </a:r>
              </a:p>
              <a:p>
                <a:pPr marL="0" indent="0">
                  <a:buNone/>
                </a:pPr>
                <a:endParaRPr lang="en-US" dirty="0"/>
              </a:p>
              <a:p>
                <a:pPr marL="0" indent="0">
                  <a:buNone/>
                </a:pPr>
                <a:r>
                  <a:rPr lang="en-US" dirty="0"/>
                  <a:t>A balanced design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T</a:t>
                </a:r>
                <a:r>
                  <a:rPr lang="en-US" i="1" dirty="0">
                    <a:latin typeface="Times New Roman" panose="02020603050405020304" pitchFamily="18" charset="0"/>
                    <a:cs typeface="Times New Roman" panose="02020603050405020304" pitchFamily="18" charset="0"/>
                  </a:rPr>
                  <a:t> =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C</a:t>
                </a:r>
                <a:r>
                  <a:rPr lang="en-US" i="1" dirty="0">
                    <a:latin typeface="Times New Roman" panose="02020603050405020304" pitchFamily="18" charset="0"/>
                    <a:cs typeface="Times New Roman" panose="02020603050405020304" pitchFamily="18" charset="0"/>
                  </a:rPr>
                  <a:t> = n </a:t>
                </a:r>
                <a:r>
                  <a:rPr lang="en-US" dirty="0"/>
                  <a:t>is  the most sensitive design for a fixed total sample size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C</a:t>
                </a:r>
                <a:endParaRPr lang="en-US" i="1"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But if the total sample size can be increased by increasing the size of the control group (leading to an increase in total sample size </a:t>
                </a:r>
                <a:r>
                  <a:rPr lang="en-US" i="1" dirty="0">
                    <a:latin typeface="Times New Roman" panose="02020603050405020304" pitchFamily="18" charset="0"/>
                    <a:cs typeface="Times New Roman" panose="02020603050405020304" pitchFamily="18" charset="0"/>
                  </a:rPr>
                  <a:t>N</a:t>
                </a:r>
                <a:r>
                  <a:rPr lang="en-US" dirty="0">
                    <a:cs typeface="Times New Roman" panose="02020603050405020304" pitchFamily="18" charset="0"/>
                  </a:rPr>
                  <a:t>), then sensitivity may be increased with an unbalanced design</a:t>
                </a: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If the control group is </a:t>
                </a:r>
                <a:r>
                  <a:rPr lang="en-US" i="1" dirty="0">
                    <a:latin typeface="Times New Roman" panose="02020603050405020304" pitchFamily="18" charset="0"/>
                    <a:cs typeface="Times New Roman" panose="02020603050405020304" pitchFamily="18" charset="0"/>
                  </a:rPr>
                  <a:t>c</a:t>
                </a:r>
                <a:r>
                  <a:rPr lang="en-US" dirty="0">
                    <a:cs typeface="Times New Roman" panose="02020603050405020304" pitchFamily="18" charset="0"/>
                  </a:rPr>
                  <a:t> times as large as the treatment group, then the MDES is changed by a factor of </a:t>
                </a:r>
                <a14:m>
                  <m:oMath xmlns:m="http://schemas.openxmlformats.org/officeDocument/2006/math">
                    <m:rad>
                      <m:radPr>
                        <m:degHide m:val="on"/>
                        <m:ctrlPr>
                          <a:rPr lang="en-US" i="1" smtClean="0">
                            <a:latin typeface="Cambria Math" panose="02040503050406030204" pitchFamily="18" charset="0"/>
                            <a:cs typeface="Times New Roman" panose="02020603050405020304" pitchFamily="18" charset="0"/>
                          </a:rPr>
                        </m:ctrlPr>
                      </m:radPr>
                      <m:deg/>
                      <m:e>
                        <m:f>
                          <m:fPr>
                            <m:type m:val="lin"/>
                            <m:ctrlPr>
                              <a:rPr lang="en-US" i="1" smtClean="0">
                                <a:latin typeface="Cambria Math" panose="02040503050406030204" pitchFamily="18" charset="0"/>
                                <a:cs typeface="Times New Roman" panose="02020603050405020304" pitchFamily="18" charset="0"/>
                              </a:rPr>
                            </m:ctrlPr>
                          </m:fPr>
                          <m:num>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𝑐</m:t>
                                </m:r>
                                <m:r>
                                  <a:rPr lang="en-US" b="0" i="1" smtClean="0">
                                    <a:latin typeface="Cambria Math" panose="02040503050406030204" pitchFamily="18" charset="0"/>
                                    <a:cs typeface="Times New Roman" panose="02020603050405020304" pitchFamily="18" charset="0"/>
                                  </a:rPr>
                                  <m:t>+1</m:t>
                                </m:r>
                              </m:e>
                            </m:d>
                          </m:num>
                          <m:den>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𝑐</m:t>
                            </m:r>
                          </m:den>
                        </m:f>
                      </m:e>
                    </m:rad>
                  </m:oMath>
                </a14:m>
                <a:endParaRPr lang="en-US"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In other words </a:t>
                </a:r>
              </a:p>
              <a:p>
                <a:pPr marL="0" indent="0">
                  <a:buNone/>
                </a:pPr>
                <a:r>
                  <a:rPr lang="en-US" dirty="0">
                    <a:cs typeface="Times New Roman" panose="02020603050405020304" pitchFamily="18" charset="0"/>
                  </a:rPr>
                  <a:t>	MDES(unbalanced)</a:t>
                </a:r>
                <a:r>
                  <a:rPr lang="en-US"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 MDES(balanced) </a:t>
                </a:r>
                <a14:m>
                  <m:oMath xmlns:m="http://schemas.openxmlformats.org/officeDocument/2006/math">
                    <m:rad>
                      <m:radPr>
                        <m:degHide m:val="on"/>
                        <m:ctrlPr>
                          <a:rPr lang="en-US" i="1" smtClean="0">
                            <a:latin typeface="Cambria Math" panose="02040503050406030204" pitchFamily="18" charset="0"/>
                            <a:cs typeface="Times New Roman" panose="02020603050405020304" pitchFamily="18" charset="0"/>
                          </a:rPr>
                        </m:ctrlPr>
                      </m:radPr>
                      <m:deg/>
                      <m:e>
                        <m:f>
                          <m:fPr>
                            <m:type m:val="lin"/>
                            <m:ctrlPr>
                              <a:rPr lang="en-US" i="1" smtClean="0">
                                <a:latin typeface="Cambria Math" panose="02040503050406030204" pitchFamily="18" charset="0"/>
                                <a:cs typeface="Times New Roman" panose="02020603050405020304" pitchFamily="18" charset="0"/>
                              </a:rPr>
                            </m:ctrlPr>
                          </m:fPr>
                          <m:num>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𝑐</m:t>
                                </m:r>
                                <m:r>
                                  <a:rPr lang="en-US" b="0" i="1" smtClean="0">
                                    <a:latin typeface="Cambria Math" panose="02040503050406030204" pitchFamily="18" charset="0"/>
                                    <a:cs typeface="Times New Roman" panose="02020603050405020304" pitchFamily="18" charset="0"/>
                                  </a:rPr>
                                  <m:t>+1</m:t>
                                </m:r>
                              </m:e>
                            </m:d>
                          </m:num>
                          <m:den>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𝑐</m:t>
                            </m:r>
                          </m:den>
                        </m:f>
                      </m:e>
                    </m:rad>
                  </m:oMath>
                </a14:m>
                <a:endParaRPr lang="en-US"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If </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&gt; 1 (</a:t>
                </a:r>
                <a:r>
                  <a:rPr lang="en-US" dirty="0">
                    <a:cs typeface="Times New Roman" panose="02020603050405020304" pitchFamily="18" charset="0"/>
                  </a:rPr>
                  <a:t>which means total sample size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&gt; 2</a:t>
                </a:r>
                <a:r>
                  <a:rPr lang="en-US" i="1" dirty="0">
                    <a:latin typeface="Times New Roman" panose="02020603050405020304" pitchFamily="18" charset="0"/>
                    <a:cs typeface="Times New Roman" panose="02020603050405020304" pitchFamily="18" charset="0"/>
                  </a:rPr>
                  <a:t>n</a:t>
                </a:r>
                <a:r>
                  <a:rPr lang="en-US" i="1" baseline="30000"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+ 1)/2</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 ½ + 1/2</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&lt; 1, </a:t>
                </a:r>
                <a:r>
                  <a:rPr lang="en-US" dirty="0">
                    <a:cs typeface="Times New Roman" panose="02020603050405020304" pitchFamily="18" charset="0"/>
                  </a:rPr>
                  <a:t>so the MDES decreases (design sensitivity increases)</a:t>
                </a:r>
              </a:p>
              <a:p>
                <a:pPr marL="0" indent="0">
                  <a:buNone/>
                </a:pPr>
                <a:endParaRPr lang="en-US" dirty="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6175220A-C9BB-4F4C-B4BD-2C0B1102EFF3}"/>
                  </a:ext>
                </a:extLst>
              </p:cNvPr>
              <p:cNvSpPr>
                <a:spLocks noGrp="1" noRot="1" noChangeAspect="1" noMove="1" noResize="1" noEditPoints="1" noAdjustHandles="1" noChangeArrowheads="1" noChangeShapeType="1" noTextEdit="1"/>
              </p:cNvSpPr>
              <p:nvPr>
                <p:ph idx="1"/>
              </p:nvPr>
            </p:nvSpPr>
            <p:spPr>
              <a:blipFill>
                <a:blip r:embed="rId2"/>
                <a:stretch>
                  <a:fillRect l="-638" t="-1961" r="-1101"/>
                </a:stretch>
              </a:blipFill>
            </p:spPr>
            <p:txBody>
              <a:bodyPr/>
              <a:lstStyle/>
              <a:p>
                <a:r>
                  <a:rPr lang="en-US">
                    <a:noFill/>
                  </a:rPr>
                  <a:t> </a:t>
                </a:r>
              </a:p>
            </p:txBody>
          </p:sp>
        </mc:Fallback>
      </mc:AlternateContent>
    </p:spTree>
    <p:extLst>
      <p:ext uri="{BB962C8B-B14F-4D97-AF65-F5344CB8AC3E}">
        <p14:creationId xmlns:p14="http://schemas.microsoft.com/office/powerpoint/2010/main" val="2983862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19B81-2604-4041-8E14-C8BF0AC52C00}"/>
              </a:ext>
            </a:extLst>
          </p:cNvPr>
          <p:cNvSpPr>
            <a:spLocks noGrp="1"/>
          </p:cNvSpPr>
          <p:nvPr>
            <p:ph type="title"/>
          </p:nvPr>
        </p:nvSpPr>
        <p:spPr/>
        <p:txBody>
          <a:bodyPr/>
          <a:lstStyle/>
          <a:p>
            <a:r>
              <a:rPr lang="en-US" dirty="0"/>
              <a:t>Unbalanced Designs</a:t>
            </a:r>
          </a:p>
        </p:txBody>
      </p:sp>
      <p:sp>
        <p:nvSpPr>
          <p:cNvPr id="3" name="Content Placeholder 2">
            <a:extLst>
              <a:ext uri="{FF2B5EF4-FFF2-40B4-BE49-F238E27FC236}">
                <a16:creationId xmlns:a16="http://schemas.microsoft.com/office/drawing/2014/main" id="{9BB729D4-6A95-4F11-ADB0-93AD4051BF1B}"/>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highlight>
                  <a:srgbClr val="FFFF00"/>
                </a:highlight>
              </a:rPr>
              <a:t>Eric: This would be a good place for an insert of how increasing </a:t>
            </a:r>
            <a:r>
              <a:rPr lang="en-US" dirty="0" err="1">
                <a:highlight>
                  <a:srgbClr val="FFFF00"/>
                </a:highlight>
              </a:rPr>
              <a:t>n</a:t>
            </a:r>
            <a:r>
              <a:rPr lang="en-US" baseline="30000" dirty="0" err="1">
                <a:highlight>
                  <a:srgbClr val="FFFF00"/>
                </a:highlight>
              </a:rPr>
              <a:t>C</a:t>
            </a:r>
            <a:r>
              <a:rPr lang="en-US" baseline="30000" dirty="0">
                <a:highlight>
                  <a:srgbClr val="FFFF00"/>
                </a:highlight>
              </a:rPr>
              <a:t> </a:t>
            </a:r>
            <a:r>
              <a:rPr lang="en-US" dirty="0">
                <a:highlight>
                  <a:srgbClr val="FFFF00"/>
                </a:highlight>
              </a:rPr>
              <a:t>(fixing </a:t>
            </a:r>
            <a:r>
              <a:rPr lang="en-US" dirty="0" err="1">
                <a:highlight>
                  <a:srgbClr val="FFFF00"/>
                </a:highlight>
              </a:rPr>
              <a:t>n</a:t>
            </a:r>
            <a:r>
              <a:rPr lang="en-US" baseline="30000" dirty="0" err="1">
                <a:highlight>
                  <a:srgbClr val="FFFF00"/>
                </a:highlight>
              </a:rPr>
              <a:t>T</a:t>
            </a:r>
            <a:r>
              <a:rPr lang="en-US" dirty="0">
                <a:highlight>
                  <a:srgbClr val="FFFF00"/>
                </a:highlight>
              </a:rPr>
              <a:t>) deceases MDES</a:t>
            </a:r>
          </a:p>
          <a:p>
            <a:pPr marL="0" indent="0">
              <a:buNone/>
            </a:pPr>
            <a:endParaRPr lang="en-US" dirty="0"/>
          </a:p>
          <a:p>
            <a:pPr marL="0" indent="0">
              <a:buNone/>
            </a:pPr>
            <a:r>
              <a:rPr lang="en-US" dirty="0"/>
              <a:t>Note that the effect on MDES (design sensitivity) of increasing sample size of the control group are generally modest (except for the smallest treatment group sample sizes</a:t>
            </a:r>
          </a:p>
          <a:p>
            <a:pPr marL="0" indent="0">
              <a:buNone/>
            </a:pPr>
            <a:endParaRPr lang="en-US" dirty="0"/>
          </a:p>
          <a:p>
            <a:pPr marL="0" indent="0">
              <a:buNone/>
            </a:pPr>
            <a:r>
              <a:rPr lang="en-US" dirty="0"/>
              <a:t>Note that there is a point of diminishing returns, beyond which further increases have only negligible effects</a:t>
            </a:r>
          </a:p>
        </p:txBody>
      </p:sp>
    </p:spTree>
    <p:extLst>
      <p:ext uri="{BB962C8B-B14F-4D97-AF65-F5344CB8AC3E}">
        <p14:creationId xmlns:p14="http://schemas.microsoft.com/office/powerpoint/2010/main" val="19447864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AEA6E-A560-4B94-BBEF-28A129EC961F}"/>
              </a:ext>
            </a:extLst>
          </p:cNvPr>
          <p:cNvSpPr>
            <a:spLocks noGrp="1"/>
          </p:cNvSpPr>
          <p:nvPr>
            <p:ph type="title"/>
          </p:nvPr>
        </p:nvSpPr>
        <p:spPr/>
        <p:txBody>
          <a:bodyPr/>
          <a:lstStyle/>
          <a:p>
            <a:r>
              <a:rPr lang="en-US" sz="3600" kern="1200" dirty="0">
                <a:solidFill>
                  <a:schemeClr val="tx1"/>
                </a:solidFill>
                <a:ea typeface="+mj-ea"/>
                <a:cs typeface="+mj-cs"/>
              </a:rPr>
              <a:t>A Tabular Representation of the Influence of Unb</a:t>
            </a:r>
            <a:r>
              <a:rPr lang="en-US" dirty="0"/>
              <a:t>alanced Designs on MDES</a:t>
            </a:r>
          </a:p>
        </p:txBody>
      </p:sp>
      <p:graphicFrame>
        <p:nvGraphicFramePr>
          <p:cNvPr id="5" name="Content Placeholder 4">
            <a:extLst>
              <a:ext uri="{FF2B5EF4-FFF2-40B4-BE49-F238E27FC236}">
                <a16:creationId xmlns:a16="http://schemas.microsoft.com/office/drawing/2014/main" id="{342393DD-5E52-48A6-AC8A-1F09011F7C79}"/>
              </a:ext>
            </a:extLst>
          </p:cNvPr>
          <p:cNvGraphicFramePr>
            <a:graphicFrameLocks noGrp="1"/>
          </p:cNvGraphicFramePr>
          <p:nvPr>
            <p:ph idx="1"/>
            <p:extLst>
              <p:ext uri="{D42A27DB-BD31-4B8C-83A1-F6EECF244321}">
                <p14:modId xmlns:p14="http://schemas.microsoft.com/office/powerpoint/2010/main" val="4067202275"/>
              </p:ext>
            </p:extLst>
          </p:nvPr>
        </p:nvGraphicFramePr>
        <p:xfrm>
          <a:off x="572494" y="1622066"/>
          <a:ext cx="11115915" cy="4667250"/>
        </p:xfrm>
        <a:graphic>
          <a:graphicData uri="http://schemas.openxmlformats.org/drawingml/2006/table">
            <a:tbl>
              <a:tblPr>
                <a:tableStyleId>{5C22544A-7EE6-4342-B048-85BDC9FD1C3A}</a:tableStyleId>
              </a:tblPr>
              <a:tblGrid>
                <a:gridCol w="1235103">
                  <a:extLst>
                    <a:ext uri="{9D8B030D-6E8A-4147-A177-3AD203B41FA5}">
                      <a16:colId xmlns:a16="http://schemas.microsoft.com/office/drawing/2014/main" val="1301230348"/>
                    </a:ext>
                  </a:extLst>
                </a:gridCol>
                <a:gridCol w="823401">
                  <a:extLst>
                    <a:ext uri="{9D8B030D-6E8A-4147-A177-3AD203B41FA5}">
                      <a16:colId xmlns:a16="http://schemas.microsoft.com/office/drawing/2014/main" val="512859076"/>
                    </a:ext>
                  </a:extLst>
                </a:gridCol>
                <a:gridCol w="823401">
                  <a:extLst>
                    <a:ext uri="{9D8B030D-6E8A-4147-A177-3AD203B41FA5}">
                      <a16:colId xmlns:a16="http://schemas.microsoft.com/office/drawing/2014/main" val="386245939"/>
                    </a:ext>
                  </a:extLst>
                </a:gridCol>
                <a:gridCol w="823401">
                  <a:extLst>
                    <a:ext uri="{9D8B030D-6E8A-4147-A177-3AD203B41FA5}">
                      <a16:colId xmlns:a16="http://schemas.microsoft.com/office/drawing/2014/main" val="1650414708"/>
                    </a:ext>
                  </a:extLst>
                </a:gridCol>
                <a:gridCol w="823401">
                  <a:extLst>
                    <a:ext uri="{9D8B030D-6E8A-4147-A177-3AD203B41FA5}">
                      <a16:colId xmlns:a16="http://schemas.microsoft.com/office/drawing/2014/main" val="2948107241"/>
                    </a:ext>
                  </a:extLst>
                </a:gridCol>
                <a:gridCol w="823401">
                  <a:extLst>
                    <a:ext uri="{9D8B030D-6E8A-4147-A177-3AD203B41FA5}">
                      <a16:colId xmlns:a16="http://schemas.microsoft.com/office/drawing/2014/main" val="788054774"/>
                    </a:ext>
                  </a:extLst>
                </a:gridCol>
                <a:gridCol w="823401">
                  <a:extLst>
                    <a:ext uri="{9D8B030D-6E8A-4147-A177-3AD203B41FA5}">
                      <a16:colId xmlns:a16="http://schemas.microsoft.com/office/drawing/2014/main" val="2275658885"/>
                    </a:ext>
                  </a:extLst>
                </a:gridCol>
                <a:gridCol w="823401">
                  <a:extLst>
                    <a:ext uri="{9D8B030D-6E8A-4147-A177-3AD203B41FA5}">
                      <a16:colId xmlns:a16="http://schemas.microsoft.com/office/drawing/2014/main" val="3215654544"/>
                    </a:ext>
                  </a:extLst>
                </a:gridCol>
                <a:gridCol w="823401">
                  <a:extLst>
                    <a:ext uri="{9D8B030D-6E8A-4147-A177-3AD203B41FA5}">
                      <a16:colId xmlns:a16="http://schemas.microsoft.com/office/drawing/2014/main" val="359470182"/>
                    </a:ext>
                  </a:extLst>
                </a:gridCol>
                <a:gridCol w="823401">
                  <a:extLst>
                    <a:ext uri="{9D8B030D-6E8A-4147-A177-3AD203B41FA5}">
                      <a16:colId xmlns:a16="http://schemas.microsoft.com/office/drawing/2014/main" val="3888161310"/>
                    </a:ext>
                  </a:extLst>
                </a:gridCol>
                <a:gridCol w="823401">
                  <a:extLst>
                    <a:ext uri="{9D8B030D-6E8A-4147-A177-3AD203B41FA5}">
                      <a16:colId xmlns:a16="http://schemas.microsoft.com/office/drawing/2014/main" val="2697099781"/>
                    </a:ext>
                  </a:extLst>
                </a:gridCol>
                <a:gridCol w="823401">
                  <a:extLst>
                    <a:ext uri="{9D8B030D-6E8A-4147-A177-3AD203B41FA5}">
                      <a16:colId xmlns:a16="http://schemas.microsoft.com/office/drawing/2014/main" val="200038042"/>
                    </a:ext>
                  </a:extLst>
                </a:gridCol>
                <a:gridCol w="823401">
                  <a:extLst>
                    <a:ext uri="{9D8B030D-6E8A-4147-A177-3AD203B41FA5}">
                      <a16:colId xmlns:a16="http://schemas.microsoft.com/office/drawing/2014/main" val="2718914984"/>
                    </a:ext>
                  </a:extLst>
                </a:gridCol>
              </a:tblGrid>
              <a:tr h="257040">
                <a:tc>
                  <a:txBody>
                    <a:bodyPr/>
                    <a:lstStyle/>
                    <a:p>
                      <a:pPr algn="ctr" fontAlgn="b"/>
                      <a:r>
                        <a:rPr lang="en-US" sz="2000" u="none" strike="noStrike" dirty="0">
                          <a:effectLst/>
                        </a:rPr>
                        <a:t> </a:t>
                      </a:r>
                      <a:endParaRPr lang="en-US" sz="2000" b="0" i="0" u="none" strike="noStrike" dirty="0">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gridSpan="12">
                  <a:txBody>
                    <a:bodyPr/>
                    <a:lstStyle/>
                    <a:p>
                      <a:pPr algn="ctr" fontAlgn="b"/>
                      <a:r>
                        <a:rPr lang="en-US" sz="2000" u="none" strike="noStrike" dirty="0">
                          <a:solidFill>
                            <a:schemeClr val="bg1"/>
                          </a:solidFill>
                          <a:effectLst/>
                        </a:rPr>
                        <a:t>Control group size: </a:t>
                      </a:r>
                      <a:r>
                        <a:rPr lang="en-US" sz="2000" i="1" u="none" strike="noStrike" dirty="0" err="1">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err="1">
                          <a:solidFill>
                            <a:schemeClr val="bg1"/>
                          </a:solidFill>
                          <a:effectLst/>
                          <a:latin typeface="Times New Roman" panose="02020603050405020304" pitchFamily="18" charset="0"/>
                          <a:cs typeface="Times New Roman" panose="02020603050405020304" pitchFamily="18" charset="0"/>
                        </a:rPr>
                        <a:t>C</a:t>
                      </a:r>
                      <a:endParaRPr lang="en-US" sz="2000" b="0" i="1" u="none" strike="noStrike" baseline="30000"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00515903"/>
                  </a:ext>
                </a:extLst>
              </a:tr>
              <a:tr h="257040">
                <a:tc>
                  <a:txBody>
                    <a:bodyPr/>
                    <a:lstStyle/>
                    <a:p>
                      <a:pPr algn="ctr" fontAlgn="b"/>
                      <a:r>
                        <a:rPr lang="en-US" sz="2000" i="1" u="none" strike="noStrike" dirty="0" err="1">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err="1">
                          <a:solidFill>
                            <a:schemeClr val="bg1"/>
                          </a:solidFill>
                          <a:effectLst/>
                          <a:latin typeface="Times New Roman" panose="02020603050405020304" pitchFamily="18" charset="0"/>
                          <a:cs typeface="Times New Roman" panose="02020603050405020304" pitchFamily="18" charset="0"/>
                        </a:rPr>
                        <a:t>T</a:t>
                      </a:r>
                      <a:endParaRPr lang="en-US" sz="2000" b="0" i="1" u="none" strike="noStrike" baseline="30000"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err="1">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err="1">
                          <a:solidFill>
                            <a:schemeClr val="bg1"/>
                          </a:solidFill>
                          <a:effectLst/>
                          <a:latin typeface="Times New Roman" panose="02020603050405020304" pitchFamily="18" charset="0"/>
                          <a:cs typeface="Times New Roman" panose="02020603050405020304" pitchFamily="18" charset="0"/>
                        </a:rPr>
                        <a:t>T</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+10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+20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+30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+40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+50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+75</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+100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+150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+200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+500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err="1">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err="1">
                          <a:solidFill>
                            <a:schemeClr val="bg1"/>
                          </a:solidFill>
                          <a:effectLst/>
                          <a:latin typeface="Times New Roman" panose="02020603050405020304" pitchFamily="18" charset="0"/>
                          <a:cs typeface="Times New Roman" panose="02020603050405020304" pitchFamily="18" charset="0"/>
                        </a:rPr>
                        <a:t>T</a:t>
                      </a:r>
                      <a:r>
                        <a:rPr lang="en-US" sz="2000" u="none" strike="noStrike" dirty="0">
                          <a:solidFill>
                            <a:schemeClr val="bg1"/>
                          </a:solidFill>
                          <a:effectLst/>
                          <a:latin typeface="Times New Roman" panose="02020603050405020304" pitchFamily="18" charset="0"/>
                          <a:cs typeface="Times New Roman" panose="02020603050405020304" pitchFamily="18" charset="0"/>
                        </a:rPr>
                        <a:t>+∞</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409512552"/>
                  </a:ext>
                </a:extLst>
              </a:tr>
              <a:tr h="257040">
                <a:tc>
                  <a:txBody>
                    <a:bodyPr/>
                    <a:lstStyle/>
                    <a:p>
                      <a:pPr algn="ctr" fontAlgn="b"/>
                      <a:r>
                        <a:rPr lang="en-US" sz="2000" u="none" strike="noStrike">
                          <a:effectLst/>
                        </a:rPr>
                        <a:t>10</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1.32</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1.12</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1.05</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1.01</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0.99</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0.97</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0.95</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0.93</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0.92</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0.91</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0.90</a:t>
                      </a:r>
                      <a:endParaRPr lang="en-US" sz="2000" b="0" i="0" u="none" strike="noStrike">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dirty="0">
                          <a:effectLst/>
                        </a:rPr>
                        <a:t>0.89</a:t>
                      </a:r>
                      <a:endParaRPr lang="en-US" sz="2000" b="0" i="0" u="none" strike="noStrike" dirty="0">
                        <a:solidFill>
                          <a:srgbClr val="000000"/>
                        </a:solidFill>
                        <a:effectLst/>
                        <a:latin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447906454"/>
                  </a:ext>
                </a:extLst>
              </a:tr>
              <a:tr h="257040">
                <a:tc>
                  <a:txBody>
                    <a:bodyPr/>
                    <a:lstStyle/>
                    <a:p>
                      <a:pPr algn="ctr" fontAlgn="b"/>
                      <a:r>
                        <a:rPr lang="en-US" sz="2000" u="none" strike="noStrike" dirty="0">
                          <a:effectLst/>
                        </a:rPr>
                        <a:t>20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0.91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0.83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0.70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0.63</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704549289"/>
                  </a:ext>
                </a:extLst>
              </a:tr>
              <a:tr h="257040">
                <a:tc>
                  <a:txBody>
                    <a:bodyPr/>
                    <a:lstStyle/>
                    <a:p>
                      <a:pPr algn="ctr" fontAlgn="b"/>
                      <a:r>
                        <a:rPr lang="en-US" sz="2000" u="none" strike="noStrike">
                          <a:effectLst/>
                        </a:rPr>
                        <a:t>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0.74</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931876632"/>
                  </a:ext>
                </a:extLst>
              </a:tr>
              <a:tr h="257040">
                <a:tc>
                  <a:txBody>
                    <a:bodyPr/>
                    <a:lstStyle/>
                    <a:p>
                      <a:pPr algn="ctr" fontAlgn="b"/>
                      <a:r>
                        <a:rPr lang="en-US" sz="2000" u="none" strike="noStrike">
                          <a:effectLst/>
                        </a:rPr>
                        <a:t>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0.64</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0.60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0.44</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002433998"/>
                  </a:ext>
                </a:extLst>
              </a:tr>
              <a:tr h="257040">
                <a:tc>
                  <a:txBody>
                    <a:bodyPr/>
                    <a:lstStyle/>
                    <a:p>
                      <a:pPr algn="ctr" fontAlgn="b"/>
                      <a:r>
                        <a:rPr lang="en-US" sz="2000" u="none" strike="noStrike">
                          <a:effectLst/>
                        </a:rPr>
                        <a:t>50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511355435"/>
                  </a:ext>
                </a:extLst>
              </a:tr>
              <a:tr h="257040">
                <a:tc>
                  <a:txBody>
                    <a:bodyPr/>
                    <a:lstStyle/>
                    <a:p>
                      <a:pPr algn="ctr" fontAlgn="b"/>
                      <a:r>
                        <a:rPr lang="en-US" sz="2000" u="none" strike="noStrike">
                          <a:effectLst/>
                        </a:rPr>
                        <a:t>60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0.52</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0.50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072015845"/>
                  </a:ext>
                </a:extLst>
              </a:tr>
              <a:tr h="257040">
                <a:tc>
                  <a:txBody>
                    <a:bodyPr/>
                    <a:lstStyle/>
                    <a:p>
                      <a:pPr algn="ctr" fontAlgn="b"/>
                      <a:r>
                        <a:rPr lang="en-US" sz="2000" u="none" strike="noStrike">
                          <a:effectLst/>
                        </a:rPr>
                        <a:t>70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1676390309"/>
                  </a:ext>
                </a:extLst>
              </a:tr>
              <a:tr h="257040">
                <a:tc>
                  <a:txBody>
                    <a:bodyPr/>
                    <a:lstStyle/>
                    <a:p>
                      <a:pPr algn="ctr" fontAlgn="b"/>
                      <a:r>
                        <a:rPr lang="en-US" sz="2000" u="none" strike="noStrike">
                          <a:effectLst/>
                        </a:rPr>
                        <a:t>80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0.43</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518282376"/>
                  </a:ext>
                </a:extLst>
              </a:tr>
              <a:tr h="257040">
                <a:tc>
                  <a:txBody>
                    <a:bodyPr/>
                    <a:lstStyle/>
                    <a:p>
                      <a:pPr algn="ctr" fontAlgn="b"/>
                      <a:r>
                        <a:rPr lang="en-US" sz="2000" u="none" strike="noStrike">
                          <a:effectLst/>
                        </a:rPr>
                        <a:t>90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0.40</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0.39</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0.39</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68559609"/>
                  </a:ext>
                </a:extLst>
              </a:tr>
              <a:tr h="257040">
                <a:tc>
                  <a:txBody>
                    <a:bodyPr/>
                    <a:lstStyle/>
                    <a:p>
                      <a:pPr algn="ctr" fontAlgn="b"/>
                      <a:r>
                        <a:rPr lang="en-US" sz="2000" u="none" strike="noStrike">
                          <a:effectLst/>
                        </a:rPr>
                        <a:t>100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0.40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0.39</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0.36</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0.35</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0.34</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0.33</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3672960095"/>
                  </a:ext>
                </a:extLst>
              </a:tr>
              <a:tr h="257040">
                <a:tc>
                  <a:txBody>
                    <a:bodyPr/>
                    <a:lstStyle/>
                    <a:p>
                      <a:pPr algn="ctr" fontAlgn="b"/>
                      <a:r>
                        <a:rPr lang="en-US" sz="2000" u="none" strike="noStrike">
                          <a:effectLst/>
                        </a:rPr>
                        <a:t>150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0.32</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0.31</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0.30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0.29</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0.28</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0.27</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0.23</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21366042"/>
                  </a:ext>
                </a:extLst>
              </a:tr>
              <a:tr h="257040">
                <a:tc>
                  <a:txBody>
                    <a:bodyPr/>
                    <a:lstStyle/>
                    <a:p>
                      <a:pPr algn="ctr" fontAlgn="b"/>
                      <a:r>
                        <a:rPr lang="en-US" sz="2000" u="none" strike="noStrike">
                          <a:effectLst/>
                        </a:rPr>
                        <a:t>200</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0.28</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0.27</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0.26</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0.25</a:t>
                      </a:r>
                      <a:endParaRPr lang="en-US" sz="2000" b="0" i="0" u="none" strike="noStrike">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0.24</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dirty="0">
                          <a:effectLst/>
                        </a:rPr>
                        <a:t>0.22</a:t>
                      </a:r>
                      <a:endParaRPr lang="en-US" sz="2000" b="0" i="0" u="none" strike="noStrike" dirty="0">
                        <a:solidFill>
                          <a:srgbClr val="000000"/>
                        </a:solidFill>
                        <a:effectLst/>
                        <a:latin typeface="Times New Roman" panose="02020603050405020304" pitchFamily="18" charset="0"/>
                      </a:endParaRPr>
                    </a:p>
                  </a:txBody>
                  <a:tcPr marL="6350" marR="6350" marT="6350" marB="0" anchor="b"/>
                </a:tc>
                <a:tc>
                  <a:txBody>
                    <a:bodyPr/>
                    <a:lstStyle/>
                    <a:p>
                      <a:pPr algn="ctr" fontAlgn="b"/>
                      <a:r>
                        <a:rPr lang="en-US" sz="2000" u="none" strike="noStrike">
                          <a:effectLst/>
                        </a:rPr>
                        <a:t>0.20</a:t>
                      </a:r>
                      <a:endParaRPr lang="en-US" sz="2000" b="0" i="0" u="none" strike="noStrike">
                        <a:solidFill>
                          <a:srgbClr val="000000"/>
                        </a:solidFill>
                        <a:effectLst/>
                        <a:latin typeface="Times New Roman" panose="02020603050405020304" pitchFamily="18" charset="0"/>
                      </a:endParaRPr>
                    </a:p>
                  </a:txBody>
                  <a:tcPr marL="6350" marR="6350" marT="6350" marB="0" anchor="b"/>
                </a:tc>
                <a:extLst>
                  <a:ext uri="{0D108BD9-81ED-4DB2-BD59-A6C34878D82A}">
                    <a16:rowId xmlns:a16="http://schemas.microsoft.com/office/drawing/2014/main" val="692881211"/>
                  </a:ext>
                </a:extLst>
              </a:tr>
              <a:tr h="257040">
                <a:tc>
                  <a:txBody>
                    <a:bodyPr/>
                    <a:lstStyle/>
                    <a:p>
                      <a:pPr algn="ctr" fontAlgn="b"/>
                      <a:r>
                        <a:rPr lang="en-US" sz="2000" u="none" strike="noStrike" dirty="0">
                          <a:effectLst/>
                        </a:rPr>
                        <a:t>500</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0.18</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0.18</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0.18</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0.18</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0.18</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0.17</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0.17</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0.17</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0.17</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0.16</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0.15</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0.13</a:t>
                      </a:r>
                      <a:endParaRPr lang="en-US" sz="2000" b="0" i="0" u="none" strike="noStrike" dirty="0">
                        <a:solidFill>
                          <a:srgbClr val="000000"/>
                        </a:solidFill>
                        <a:effectLst/>
                        <a:latin typeface="Times New Roman" panose="02020603050405020304" pitchFamily="18" charset="0"/>
                      </a:endParaRPr>
                    </a:p>
                  </a:txBody>
                  <a:tcPr marL="6350" marR="6350" marT="6350"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020892"/>
                  </a:ext>
                </a:extLst>
              </a:tr>
            </a:tbl>
          </a:graphicData>
        </a:graphic>
      </p:graphicFrame>
    </p:spTree>
    <p:extLst>
      <p:ext uri="{BB962C8B-B14F-4D97-AF65-F5344CB8AC3E}">
        <p14:creationId xmlns:p14="http://schemas.microsoft.com/office/powerpoint/2010/main" val="35935513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A602D-231E-4F4F-A196-D0E23598CEF4}"/>
              </a:ext>
            </a:extLst>
          </p:cNvPr>
          <p:cNvSpPr>
            <a:spLocks noGrp="1"/>
          </p:cNvSpPr>
          <p:nvPr>
            <p:ph type="title"/>
          </p:nvPr>
        </p:nvSpPr>
        <p:spPr/>
        <p:txBody>
          <a:bodyPr/>
          <a:lstStyle/>
          <a:p>
            <a:r>
              <a:rPr lang="en-US" dirty="0"/>
              <a:t>You Can Use Both Covariates and Imbalance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9727E4-2965-4DF2-9927-41B723FF5BC7}"/>
                  </a:ext>
                </a:extLst>
              </p:cNvPr>
              <p:cNvSpPr>
                <a:spLocks noGrp="1"/>
              </p:cNvSpPr>
              <p:nvPr>
                <p:ph idx="1"/>
              </p:nvPr>
            </p:nvSpPr>
            <p:spPr/>
            <p:txBody>
              <a:bodyPr/>
              <a:lstStyle/>
              <a:p>
                <a:pPr marL="0" indent="0">
                  <a:buNone/>
                </a:pPr>
                <a:r>
                  <a:rPr lang="en-US" dirty="0"/>
                  <a:t>It is also possible to introduce covariates along with an unbalanced design</a:t>
                </a:r>
              </a:p>
              <a:p>
                <a:pPr marL="0" indent="0">
                  <a:buNone/>
                </a:pPr>
                <a:endParaRPr lang="en-US" dirty="0"/>
              </a:p>
              <a:p>
                <a:pPr marL="0" indent="0">
                  <a:buNone/>
                </a:pPr>
                <a:r>
                  <a:rPr lang="en-US" dirty="0">
                    <a:cs typeface="Times New Roman" panose="02020603050405020304" pitchFamily="18" charset="0"/>
                  </a:rPr>
                  <a:t>If the control group is </a:t>
                </a:r>
                <a:r>
                  <a:rPr lang="en-US" i="1" dirty="0">
                    <a:latin typeface="Times New Roman" panose="02020603050405020304" pitchFamily="18" charset="0"/>
                    <a:cs typeface="Times New Roman" panose="02020603050405020304" pitchFamily="18" charset="0"/>
                  </a:rPr>
                  <a:t>c</a:t>
                </a:r>
                <a:r>
                  <a:rPr lang="en-US" dirty="0">
                    <a:cs typeface="Times New Roman" panose="02020603050405020304" pitchFamily="18" charset="0"/>
                  </a:rPr>
                  <a:t> times as large as the treatment group, then the MDES is changed by a factor of </a:t>
                </a:r>
                <a14:m>
                  <m:oMath xmlns:m="http://schemas.openxmlformats.org/officeDocument/2006/math">
                    <m:rad>
                      <m:radPr>
                        <m:degHide m:val="on"/>
                        <m:ctrlPr>
                          <a:rPr lang="en-US" i="1" smtClean="0">
                            <a:latin typeface="Cambria Math" panose="02040503050406030204" pitchFamily="18" charset="0"/>
                            <a:cs typeface="Times New Roman" panose="02020603050405020304" pitchFamily="18" charset="0"/>
                          </a:rPr>
                        </m:ctrlPr>
                      </m:radPr>
                      <m:deg/>
                      <m:e>
                        <m:f>
                          <m:fPr>
                            <m:type m:val="lin"/>
                            <m:ctrlPr>
                              <a:rPr lang="en-US" i="1" smtClean="0">
                                <a:latin typeface="Cambria Math" panose="02040503050406030204" pitchFamily="18" charset="0"/>
                                <a:cs typeface="Times New Roman" panose="02020603050405020304" pitchFamily="18" charset="0"/>
                              </a:rPr>
                            </m:ctrlPr>
                          </m:fPr>
                          <m:num>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𝑐</m:t>
                                </m:r>
                                <m:r>
                                  <a:rPr lang="en-US" b="0" i="1" smtClean="0">
                                    <a:latin typeface="Cambria Math" panose="02040503050406030204" pitchFamily="18" charset="0"/>
                                    <a:cs typeface="Times New Roman" panose="02020603050405020304" pitchFamily="18" charset="0"/>
                                  </a:rPr>
                                  <m:t>+1</m:t>
                                </m:r>
                              </m:e>
                            </m:d>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1−</m:t>
                                </m:r>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𝑅</m:t>
                                    </m:r>
                                  </m:e>
                                  <m:sup>
                                    <m:r>
                                      <a:rPr lang="en-US" b="0" i="1" smtClean="0">
                                        <a:latin typeface="Cambria Math" panose="02040503050406030204" pitchFamily="18" charset="0"/>
                                        <a:cs typeface="Times New Roman" panose="02020603050405020304" pitchFamily="18" charset="0"/>
                                      </a:rPr>
                                      <m:t>2</m:t>
                                    </m:r>
                                  </m:sup>
                                </m:sSup>
                              </m:e>
                            </m:d>
                          </m:num>
                          <m:den>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𝑐</m:t>
                            </m:r>
                          </m:den>
                        </m:f>
                      </m:e>
                    </m:rad>
                  </m:oMath>
                </a14:m>
                <a:endParaRPr lang="en-US"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In other words </a:t>
                </a: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	MDES(unbalanced with covariates) </a:t>
                </a:r>
                <a:r>
                  <a:rPr lang="en-US" dirty="0">
                    <a:latin typeface="Times New Roman" panose="02020603050405020304" pitchFamily="18" charset="0"/>
                    <a:cs typeface="Times New Roman" panose="02020603050405020304" pitchFamily="18" charset="0"/>
                  </a:rPr>
                  <a:t>≈</a:t>
                </a:r>
                <a:r>
                  <a:rPr lang="en-US" dirty="0">
                    <a:cs typeface="Times New Roman" panose="02020603050405020304" pitchFamily="18" charset="0"/>
                  </a:rPr>
                  <a:t> MDES(balanced)</a:t>
                </a:r>
                <a14:m>
                  <m:oMath xmlns:m="http://schemas.openxmlformats.org/officeDocument/2006/math">
                    <m:rad>
                      <m:radPr>
                        <m:degHide m:val="on"/>
                        <m:ctrlPr>
                          <a:rPr lang="en-US" i="1" smtClean="0">
                            <a:latin typeface="Cambria Math" panose="02040503050406030204" pitchFamily="18" charset="0"/>
                            <a:cs typeface="Times New Roman" panose="02020603050405020304" pitchFamily="18" charset="0"/>
                          </a:rPr>
                        </m:ctrlPr>
                      </m:radPr>
                      <m:deg/>
                      <m:e>
                        <m:f>
                          <m:fPr>
                            <m:type m:val="lin"/>
                            <m:ctrlPr>
                              <a:rPr lang="en-US" i="1" smtClean="0">
                                <a:latin typeface="Cambria Math" panose="02040503050406030204" pitchFamily="18" charset="0"/>
                                <a:cs typeface="Times New Roman" panose="02020603050405020304" pitchFamily="18" charset="0"/>
                              </a:rPr>
                            </m:ctrlPr>
                          </m:fPr>
                          <m:num>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𝑐</m:t>
                                </m:r>
                                <m:r>
                                  <a:rPr lang="en-US" b="0" i="1" smtClean="0">
                                    <a:latin typeface="Cambria Math" panose="02040503050406030204" pitchFamily="18" charset="0"/>
                                    <a:cs typeface="Times New Roman" panose="02020603050405020304" pitchFamily="18" charset="0"/>
                                  </a:rPr>
                                  <m:t>+1</m:t>
                                </m:r>
                              </m:e>
                            </m:d>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1−</m:t>
                                </m:r>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𝑅</m:t>
                                    </m:r>
                                  </m:e>
                                  <m:sup>
                                    <m:r>
                                      <a:rPr lang="en-US" b="0" i="1" smtClean="0">
                                        <a:latin typeface="Cambria Math" panose="02040503050406030204" pitchFamily="18" charset="0"/>
                                        <a:cs typeface="Times New Roman" panose="02020603050405020304" pitchFamily="18" charset="0"/>
                                      </a:rPr>
                                      <m:t>2</m:t>
                                    </m:r>
                                  </m:sup>
                                </m:sSup>
                              </m:e>
                            </m:d>
                          </m:num>
                          <m:den>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𝑐</m:t>
                            </m:r>
                          </m:den>
                        </m:f>
                      </m:e>
                    </m:rad>
                  </m:oMath>
                </a14:m>
                <a:endParaRPr lang="en-US"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Note that both strategies contribute to a reduction in MDES (an increase in design sensitivity)</a:t>
                </a:r>
              </a:p>
              <a:p>
                <a:pPr marL="0" indent="0">
                  <a:buNone/>
                </a:pPr>
                <a:endParaRPr lang="en-US" dirty="0">
                  <a:cs typeface="Times New Roman" panose="02020603050405020304" pitchFamily="18" charset="0"/>
                </a:endParaRPr>
              </a:p>
              <a:p>
                <a:pPr marL="0" indent="0">
                  <a:buNone/>
                </a:pPr>
                <a:r>
                  <a:rPr lang="en-US" dirty="0">
                    <a:highlight>
                      <a:srgbClr val="FFFF00"/>
                    </a:highlight>
                    <a:cs typeface="Times New Roman" panose="02020603050405020304" pitchFamily="18" charset="0"/>
                  </a:rPr>
                  <a:t>Eric: This might be a good place for a demo of the joint effect of unbalance and covariates</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99727E4-2965-4DF2-9927-41B723FF5BC7}"/>
                  </a:ext>
                </a:extLst>
              </p:cNvPr>
              <p:cNvSpPr>
                <a:spLocks noGrp="1" noRot="1" noChangeAspect="1" noMove="1" noResize="1" noEditPoints="1" noAdjustHandles="1" noChangeArrowheads="1" noChangeShapeType="1" noTextEdit="1"/>
              </p:cNvSpPr>
              <p:nvPr>
                <p:ph idx="1"/>
              </p:nvPr>
            </p:nvSpPr>
            <p:spPr>
              <a:blipFill>
                <a:blip r:embed="rId2"/>
                <a:stretch>
                  <a:fillRect l="-638" t="-1401" r="-638"/>
                </a:stretch>
              </a:blipFill>
            </p:spPr>
            <p:txBody>
              <a:bodyPr/>
              <a:lstStyle/>
              <a:p>
                <a:r>
                  <a:rPr lang="en-US">
                    <a:noFill/>
                  </a:rPr>
                  <a:t> </a:t>
                </a:r>
              </a:p>
            </p:txBody>
          </p:sp>
        </mc:Fallback>
      </mc:AlternateContent>
    </p:spTree>
    <p:extLst>
      <p:ext uri="{BB962C8B-B14F-4D97-AF65-F5344CB8AC3E}">
        <p14:creationId xmlns:p14="http://schemas.microsoft.com/office/powerpoint/2010/main" val="1539747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1515</TotalTime>
  <Words>3763</Words>
  <Application>Microsoft Office PowerPoint</Application>
  <PresentationFormat>Widescreen</PresentationFormat>
  <Paragraphs>857</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Cambria Math</vt:lpstr>
      <vt:lpstr>Times New Roman</vt:lpstr>
      <vt:lpstr>Office Theme</vt:lpstr>
      <vt:lpstr>Individually Randomized Designs</vt:lpstr>
      <vt:lpstr>Varieties of Randomized Experiments</vt:lpstr>
      <vt:lpstr>Definition of Individually Randomized Designs</vt:lpstr>
      <vt:lpstr>Examples</vt:lpstr>
      <vt:lpstr>Examples</vt:lpstr>
      <vt:lpstr>Are These Examples of Random Assignment?</vt:lpstr>
      <vt:lpstr>The Treatment Contrast</vt:lpstr>
      <vt:lpstr>The Treatment Contrast</vt:lpstr>
      <vt:lpstr>The Treatment Contrast</vt:lpstr>
      <vt:lpstr>A Statistical Model </vt:lpstr>
      <vt:lpstr>The Stochastic Specification</vt:lpstr>
      <vt:lpstr>Why Are the Other Two Assumptions Less Important</vt:lpstr>
      <vt:lpstr>Why Are the Other Two Assumptions Less Important</vt:lpstr>
      <vt:lpstr>Effect Size</vt:lpstr>
      <vt:lpstr>Testing the Significance of the Treatment Effect</vt:lpstr>
      <vt:lpstr>Testing the Significance of the Treatment Effect</vt:lpstr>
      <vt:lpstr>Design Sensitivity</vt:lpstr>
      <vt:lpstr>Design Sensitivity</vt:lpstr>
      <vt:lpstr>Statistical Power</vt:lpstr>
      <vt:lpstr>Precision</vt:lpstr>
      <vt:lpstr>Minimum Detectable Effect Size (MDES)</vt:lpstr>
      <vt:lpstr>Statistical Power as a Function of n and Effect Size δ</vt:lpstr>
      <vt:lpstr>Minimum Detectable Effect Size as a Function of n</vt:lpstr>
      <vt:lpstr>A Graphical Representation of MDES as a Function of n</vt:lpstr>
      <vt:lpstr>MDES is Easy to Use in Planning Designs</vt:lpstr>
      <vt:lpstr>The Fundamental Problem of Research Design</vt:lpstr>
      <vt:lpstr>How Do You Plan a Research Design?</vt:lpstr>
      <vt:lpstr>How Do You Plan a Research Design?</vt:lpstr>
      <vt:lpstr>Adding Covariates</vt:lpstr>
      <vt:lpstr>The Effect of Covariates on MDES</vt:lpstr>
      <vt:lpstr>A Tabular Representation of the Influence of R on MDES</vt:lpstr>
      <vt:lpstr>Unbalanced Designs</vt:lpstr>
      <vt:lpstr>Unbalanced Designs</vt:lpstr>
      <vt:lpstr>A Tabular Representation of the Influence of Unbalanced Designs on MDES</vt:lpstr>
      <vt:lpstr>You Can Use Both Covariates and Imbalance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Individually Randomized Designs</dc:title>
  <dc:creator>Larry Vernon Hedges</dc:creator>
  <cp:lastModifiedBy>Larry Vernon Hedges</cp:lastModifiedBy>
  <cp:revision>41</cp:revision>
  <dcterms:created xsi:type="dcterms:W3CDTF">2021-06-28T20:37:40Z</dcterms:created>
  <dcterms:modified xsi:type="dcterms:W3CDTF">2021-07-04T17:27:34Z</dcterms:modified>
</cp:coreProperties>
</file>