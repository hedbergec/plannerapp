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6" r:id="rId6"/>
    <p:sldId id="269" r:id="rId7"/>
    <p:sldId id="270" r:id="rId8"/>
    <p:sldId id="267" r:id="rId9"/>
    <p:sldId id="268" r:id="rId10"/>
    <p:sldId id="271" r:id="rId11"/>
    <p:sldId id="272" r:id="rId12"/>
    <p:sldId id="260" r:id="rId13"/>
    <p:sldId id="261" r:id="rId14"/>
    <p:sldId id="276" r:id="rId15"/>
    <p:sldId id="277" r:id="rId16"/>
    <p:sldId id="278" r:id="rId17"/>
    <p:sldId id="279" r:id="rId18"/>
    <p:sldId id="280" r:id="rId19"/>
    <p:sldId id="281" r:id="rId20"/>
    <p:sldId id="282" r:id="rId21"/>
    <p:sldId id="273" r:id="rId22"/>
    <p:sldId id="283" r:id="rId23"/>
    <p:sldId id="274" r:id="rId24"/>
    <p:sldId id="275" r:id="rId25"/>
    <p:sldId id="284" r:id="rId26"/>
    <p:sldId id="285" r:id="rId27"/>
    <p:sldId id="286" r:id="rId28"/>
    <p:sldId id="264" r:id="rId29"/>
    <p:sldId id="26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6852"/>
    <p:restoredTop sz="94696"/>
  </p:normalViewPr>
  <p:slideViewPr>
    <p:cSldViewPr snapToGrid="0" snapToObjects="1">
      <p:cViewPr varScale="1">
        <p:scale>
          <a:sx n="123" d="100"/>
          <a:sy n="123" d="100"/>
        </p:scale>
        <p:origin x="216" y="7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AC7A15-EDE6-0F4E-A35E-F6BFE4F36579}" type="datetimeFigureOut">
              <a:rPr lang="en-US" smtClean="0"/>
              <a:t>7/20/21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20A392-D6C2-8E40-B71C-4D59B69EC813}" type="slidenum">
              <a:rPr lang="en-US" smtClean="0"/>
              <a:t>‹#›</a:t>
            </a:fld>
            <a:endParaRPr lang="en-US"/>
          </a:p>
        </p:txBody>
      </p:sp>
    </p:spTree>
    <p:extLst>
      <p:ext uri="{BB962C8B-B14F-4D97-AF65-F5344CB8AC3E}">
        <p14:creationId xmlns:p14="http://schemas.microsoft.com/office/powerpoint/2010/main" val="676170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20A392-D6C2-8E40-B71C-4D59B69EC813}" type="slidenum">
              <a:rPr lang="en-US" smtClean="0"/>
              <a:t>1</a:t>
            </a:fld>
            <a:endParaRPr lang="en-US"/>
          </a:p>
        </p:txBody>
      </p:sp>
    </p:spTree>
    <p:extLst>
      <p:ext uri="{BB962C8B-B14F-4D97-AF65-F5344CB8AC3E}">
        <p14:creationId xmlns:p14="http://schemas.microsoft.com/office/powerpoint/2010/main" val="2540626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4AB71-9EB9-E446-AAB3-09AC74C2CE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8BEB74-4228-D44E-B924-D48D69C30F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A9193A-212C-104E-A18E-EBEC31A71E95}"/>
              </a:ext>
            </a:extLst>
          </p:cNvPr>
          <p:cNvSpPr>
            <a:spLocks noGrp="1"/>
          </p:cNvSpPr>
          <p:nvPr>
            <p:ph type="dt" sz="half" idx="10"/>
          </p:nvPr>
        </p:nvSpPr>
        <p:spPr/>
        <p:txBody>
          <a:bodyPr/>
          <a:lstStyle/>
          <a:p>
            <a:fld id="{17F26E3F-087A-CF47-BE16-8DF4D23AA3AF}" type="datetimeFigureOut">
              <a:rPr lang="en-US" smtClean="0"/>
              <a:t>7/20/21</a:t>
            </a:fld>
            <a:endParaRPr lang="en-US"/>
          </a:p>
        </p:txBody>
      </p:sp>
      <p:sp>
        <p:nvSpPr>
          <p:cNvPr id="5" name="Footer Placeholder 4">
            <a:extLst>
              <a:ext uri="{FF2B5EF4-FFF2-40B4-BE49-F238E27FC236}">
                <a16:creationId xmlns:a16="http://schemas.microsoft.com/office/drawing/2014/main" id="{A42EB672-DF31-0D48-8E8D-0A1CCC86D2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A9EA60-6539-8E4E-925F-4382E0E7FFDF}"/>
              </a:ext>
            </a:extLst>
          </p:cNvPr>
          <p:cNvSpPr>
            <a:spLocks noGrp="1"/>
          </p:cNvSpPr>
          <p:nvPr>
            <p:ph type="sldNum" sz="quarter" idx="12"/>
          </p:nvPr>
        </p:nvSpPr>
        <p:spPr/>
        <p:txBody>
          <a:bodyPr/>
          <a:lstStyle/>
          <a:p>
            <a:fld id="{23CC8831-8806-DB40-B792-4185E4AE5E4D}" type="slidenum">
              <a:rPr lang="en-US" smtClean="0"/>
              <a:t>‹#›</a:t>
            </a:fld>
            <a:endParaRPr lang="en-US"/>
          </a:p>
        </p:txBody>
      </p:sp>
    </p:spTree>
    <p:extLst>
      <p:ext uri="{BB962C8B-B14F-4D97-AF65-F5344CB8AC3E}">
        <p14:creationId xmlns:p14="http://schemas.microsoft.com/office/powerpoint/2010/main" val="2866336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4A28E-D132-AA46-B108-5FBBFFB683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EFDC5F-73E8-C341-8B2C-1DD3EC263D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0454F3-5529-1D46-8868-16AEBD966ADC}"/>
              </a:ext>
            </a:extLst>
          </p:cNvPr>
          <p:cNvSpPr>
            <a:spLocks noGrp="1"/>
          </p:cNvSpPr>
          <p:nvPr>
            <p:ph type="dt" sz="half" idx="10"/>
          </p:nvPr>
        </p:nvSpPr>
        <p:spPr/>
        <p:txBody>
          <a:bodyPr/>
          <a:lstStyle/>
          <a:p>
            <a:fld id="{17F26E3F-087A-CF47-BE16-8DF4D23AA3AF}" type="datetimeFigureOut">
              <a:rPr lang="en-US" smtClean="0"/>
              <a:t>7/20/21</a:t>
            </a:fld>
            <a:endParaRPr lang="en-US"/>
          </a:p>
        </p:txBody>
      </p:sp>
      <p:sp>
        <p:nvSpPr>
          <p:cNvPr id="5" name="Footer Placeholder 4">
            <a:extLst>
              <a:ext uri="{FF2B5EF4-FFF2-40B4-BE49-F238E27FC236}">
                <a16:creationId xmlns:a16="http://schemas.microsoft.com/office/drawing/2014/main" id="{9027FE36-9680-4F4B-B14B-8BF6728997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E9DC6E-4FB7-544B-819D-E21FB841D0FC}"/>
              </a:ext>
            </a:extLst>
          </p:cNvPr>
          <p:cNvSpPr>
            <a:spLocks noGrp="1"/>
          </p:cNvSpPr>
          <p:nvPr>
            <p:ph type="sldNum" sz="quarter" idx="12"/>
          </p:nvPr>
        </p:nvSpPr>
        <p:spPr/>
        <p:txBody>
          <a:bodyPr/>
          <a:lstStyle/>
          <a:p>
            <a:fld id="{23CC8831-8806-DB40-B792-4185E4AE5E4D}" type="slidenum">
              <a:rPr lang="en-US" smtClean="0"/>
              <a:t>‹#›</a:t>
            </a:fld>
            <a:endParaRPr lang="en-US"/>
          </a:p>
        </p:txBody>
      </p:sp>
    </p:spTree>
    <p:extLst>
      <p:ext uri="{BB962C8B-B14F-4D97-AF65-F5344CB8AC3E}">
        <p14:creationId xmlns:p14="http://schemas.microsoft.com/office/powerpoint/2010/main" val="1315659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3E7C6-9645-544E-BDB6-912A0F3D29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1F986E-22A7-A04D-95BA-91220F3CA4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8AC57D-A8D1-954F-83E8-11F639467674}"/>
              </a:ext>
            </a:extLst>
          </p:cNvPr>
          <p:cNvSpPr>
            <a:spLocks noGrp="1"/>
          </p:cNvSpPr>
          <p:nvPr>
            <p:ph type="dt" sz="half" idx="10"/>
          </p:nvPr>
        </p:nvSpPr>
        <p:spPr/>
        <p:txBody>
          <a:bodyPr/>
          <a:lstStyle/>
          <a:p>
            <a:fld id="{17F26E3F-087A-CF47-BE16-8DF4D23AA3AF}" type="datetimeFigureOut">
              <a:rPr lang="en-US" smtClean="0"/>
              <a:t>7/20/21</a:t>
            </a:fld>
            <a:endParaRPr lang="en-US"/>
          </a:p>
        </p:txBody>
      </p:sp>
      <p:sp>
        <p:nvSpPr>
          <p:cNvPr id="5" name="Footer Placeholder 4">
            <a:extLst>
              <a:ext uri="{FF2B5EF4-FFF2-40B4-BE49-F238E27FC236}">
                <a16:creationId xmlns:a16="http://schemas.microsoft.com/office/drawing/2014/main" id="{CEAC2EB0-F2F3-EB45-8C05-A1E469299F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CD7DD3-F993-DB4D-8976-23995DCE5DDF}"/>
              </a:ext>
            </a:extLst>
          </p:cNvPr>
          <p:cNvSpPr>
            <a:spLocks noGrp="1"/>
          </p:cNvSpPr>
          <p:nvPr>
            <p:ph type="sldNum" sz="quarter" idx="12"/>
          </p:nvPr>
        </p:nvSpPr>
        <p:spPr/>
        <p:txBody>
          <a:bodyPr/>
          <a:lstStyle/>
          <a:p>
            <a:fld id="{23CC8831-8806-DB40-B792-4185E4AE5E4D}" type="slidenum">
              <a:rPr lang="en-US" smtClean="0"/>
              <a:t>‹#›</a:t>
            </a:fld>
            <a:endParaRPr lang="en-US"/>
          </a:p>
        </p:txBody>
      </p:sp>
    </p:spTree>
    <p:extLst>
      <p:ext uri="{BB962C8B-B14F-4D97-AF65-F5344CB8AC3E}">
        <p14:creationId xmlns:p14="http://schemas.microsoft.com/office/powerpoint/2010/main" val="4071987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FF1AF-9824-8A4A-8089-7C13C8138F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6BD7FF-6295-1F49-A905-8A132A4197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EE189D-66D4-8841-95AC-81CD9FF11C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4587ED-89F1-A147-8B47-6946D63215B2}"/>
              </a:ext>
            </a:extLst>
          </p:cNvPr>
          <p:cNvSpPr>
            <a:spLocks noGrp="1"/>
          </p:cNvSpPr>
          <p:nvPr>
            <p:ph type="dt" sz="half" idx="10"/>
          </p:nvPr>
        </p:nvSpPr>
        <p:spPr/>
        <p:txBody>
          <a:bodyPr/>
          <a:lstStyle/>
          <a:p>
            <a:fld id="{17F26E3F-087A-CF47-BE16-8DF4D23AA3AF}" type="datetimeFigureOut">
              <a:rPr lang="en-US" smtClean="0"/>
              <a:t>7/20/21</a:t>
            </a:fld>
            <a:endParaRPr lang="en-US"/>
          </a:p>
        </p:txBody>
      </p:sp>
      <p:sp>
        <p:nvSpPr>
          <p:cNvPr id="6" name="Footer Placeholder 5">
            <a:extLst>
              <a:ext uri="{FF2B5EF4-FFF2-40B4-BE49-F238E27FC236}">
                <a16:creationId xmlns:a16="http://schemas.microsoft.com/office/drawing/2014/main" id="{7D4859C8-CCAE-F840-928E-95104D9A2D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0091BF-BF20-EB40-9D2D-607EF6659A2D}"/>
              </a:ext>
            </a:extLst>
          </p:cNvPr>
          <p:cNvSpPr>
            <a:spLocks noGrp="1"/>
          </p:cNvSpPr>
          <p:nvPr>
            <p:ph type="sldNum" sz="quarter" idx="12"/>
          </p:nvPr>
        </p:nvSpPr>
        <p:spPr/>
        <p:txBody>
          <a:bodyPr/>
          <a:lstStyle/>
          <a:p>
            <a:fld id="{23CC8831-8806-DB40-B792-4185E4AE5E4D}" type="slidenum">
              <a:rPr lang="en-US" smtClean="0"/>
              <a:t>‹#›</a:t>
            </a:fld>
            <a:endParaRPr lang="en-US"/>
          </a:p>
        </p:txBody>
      </p:sp>
    </p:spTree>
    <p:extLst>
      <p:ext uri="{BB962C8B-B14F-4D97-AF65-F5344CB8AC3E}">
        <p14:creationId xmlns:p14="http://schemas.microsoft.com/office/powerpoint/2010/main" val="764529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55440-EA3A-3946-9A6E-B2CDBDA24E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654976-EA5E-E443-90BB-C547953B39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4C76C9-751C-EF46-83F9-C420778438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235042-45E2-CA44-A38A-217C25E331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B9E870-D2CE-0E4C-AD39-72AACB79EA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CFED09-8D46-C047-9872-77319667B37F}"/>
              </a:ext>
            </a:extLst>
          </p:cNvPr>
          <p:cNvSpPr>
            <a:spLocks noGrp="1"/>
          </p:cNvSpPr>
          <p:nvPr>
            <p:ph type="dt" sz="half" idx="10"/>
          </p:nvPr>
        </p:nvSpPr>
        <p:spPr/>
        <p:txBody>
          <a:bodyPr/>
          <a:lstStyle/>
          <a:p>
            <a:fld id="{17F26E3F-087A-CF47-BE16-8DF4D23AA3AF}" type="datetimeFigureOut">
              <a:rPr lang="en-US" smtClean="0"/>
              <a:t>7/20/21</a:t>
            </a:fld>
            <a:endParaRPr lang="en-US"/>
          </a:p>
        </p:txBody>
      </p:sp>
      <p:sp>
        <p:nvSpPr>
          <p:cNvPr id="8" name="Footer Placeholder 7">
            <a:extLst>
              <a:ext uri="{FF2B5EF4-FFF2-40B4-BE49-F238E27FC236}">
                <a16:creationId xmlns:a16="http://schemas.microsoft.com/office/drawing/2014/main" id="{05372300-7ABD-494D-B069-F51CE8961F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A07C5-7849-984D-91AD-F151827E042C}"/>
              </a:ext>
            </a:extLst>
          </p:cNvPr>
          <p:cNvSpPr>
            <a:spLocks noGrp="1"/>
          </p:cNvSpPr>
          <p:nvPr>
            <p:ph type="sldNum" sz="quarter" idx="12"/>
          </p:nvPr>
        </p:nvSpPr>
        <p:spPr/>
        <p:txBody>
          <a:bodyPr/>
          <a:lstStyle/>
          <a:p>
            <a:fld id="{23CC8831-8806-DB40-B792-4185E4AE5E4D}" type="slidenum">
              <a:rPr lang="en-US" smtClean="0"/>
              <a:t>‹#›</a:t>
            </a:fld>
            <a:endParaRPr lang="en-US"/>
          </a:p>
        </p:txBody>
      </p:sp>
    </p:spTree>
    <p:extLst>
      <p:ext uri="{BB962C8B-B14F-4D97-AF65-F5344CB8AC3E}">
        <p14:creationId xmlns:p14="http://schemas.microsoft.com/office/powerpoint/2010/main" val="2935541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51A06-A371-254E-9D18-8B0E528679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477C19-E89F-4B49-ABF5-E72986984FA6}"/>
              </a:ext>
            </a:extLst>
          </p:cNvPr>
          <p:cNvSpPr>
            <a:spLocks noGrp="1"/>
          </p:cNvSpPr>
          <p:nvPr>
            <p:ph type="dt" sz="half" idx="10"/>
          </p:nvPr>
        </p:nvSpPr>
        <p:spPr/>
        <p:txBody>
          <a:bodyPr/>
          <a:lstStyle/>
          <a:p>
            <a:fld id="{17F26E3F-087A-CF47-BE16-8DF4D23AA3AF}" type="datetimeFigureOut">
              <a:rPr lang="en-US" smtClean="0"/>
              <a:t>7/20/21</a:t>
            </a:fld>
            <a:endParaRPr lang="en-US"/>
          </a:p>
        </p:txBody>
      </p:sp>
      <p:sp>
        <p:nvSpPr>
          <p:cNvPr id="4" name="Footer Placeholder 3">
            <a:extLst>
              <a:ext uri="{FF2B5EF4-FFF2-40B4-BE49-F238E27FC236}">
                <a16:creationId xmlns:a16="http://schemas.microsoft.com/office/drawing/2014/main" id="{5C9F45AF-342A-0B4F-97B6-28DA7BE877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42002D-D689-9A41-9047-927C78B1C20A}"/>
              </a:ext>
            </a:extLst>
          </p:cNvPr>
          <p:cNvSpPr>
            <a:spLocks noGrp="1"/>
          </p:cNvSpPr>
          <p:nvPr>
            <p:ph type="sldNum" sz="quarter" idx="12"/>
          </p:nvPr>
        </p:nvSpPr>
        <p:spPr/>
        <p:txBody>
          <a:bodyPr/>
          <a:lstStyle/>
          <a:p>
            <a:fld id="{23CC8831-8806-DB40-B792-4185E4AE5E4D}" type="slidenum">
              <a:rPr lang="en-US" smtClean="0"/>
              <a:t>‹#›</a:t>
            </a:fld>
            <a:endParaRPr lang="en-US"/>
          </a:p>
        </p:txBody>
      </p:sp>
    </p:spTree>
    <p:extLst>
      <p:ext uri="{BB962C8B-B14F-4D97-AF65-F5344CB8AC3E}">
        <p14:creationId xmlns:p14="http://schemas.microsoft.com/office/powerpoint/2010/main" val="563249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B0B98A-1B2B-4844-BAA2-2DB6F21C0F74}"/>
              </a:ext>
            </a:extLst>
          </p:cNvPr>
          <p:cNvSpPr>
            <a:spLocks noGrp="1"/>
          </p:cNvSpPr>
          <p:nvPr>
            <p:ph type="dt" sz="half" idx="10"/>
          </p:nvPr>
        </p:nvSpPr>
        <p:spPr/>
        <p:txBody>
          <a:bodyPr/>
          <a:lstStyle/>
          <a:p>
            <a:fld id="{17F26E3F-087A-CF47-BE16-8DF4D23AA3AF}" type="datetimeFigureOut">
              <a:rPr lang="en-US" smtClean="0"/>
              <a:t>7/20/21</a:t>
            </a:fld>
            <a:endParaRPr lang="en-US"/>
          </a:p>
        </p:txBody>
      </p:sp>
      <p:sp>
        <p:nvSpPr>
          <p:cNvPr id="3" name="Footer Placeholder 2">
            <a:extLst>
              <a:ext uri="{FF2B5EF4-FFF2-40B4-BE49-F238E27FC236}">
                <a16:creationId xmlns:a16="http://schemas.microsoft.com/office/drawing/2014/main" id="{686C7EBD-D486-1B4A-9CCB-28FAF39F09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542F1A-AA84-3948-86CC-A16227076038}"/>
              </a:ext>
            </a:extLst>
          </p:cNvPr>
          <p:cNvSpPr>
            <a:spLocks noGrp="1"/>
          </p:cNvSpPr>
          <p:nvPr>
            <p:ph type="sldNum" sz="quarter" idx="12"/>
          </p:nvPr>
        </p:nvSpPr>
        <p:spPr/>
        <p:txBody>
          <a:bodyPr/>
          <a:lstStyle/>
          <a:p>
            <a:fld id="{23CC8831-8806-DB40-B792-4185E4AE5E4D}" type="slidenum">
              <a:rPr lang="en-US" smtClean="0"/>
              <a:t>‹#›</a:t>
            </a:fld>
            <a:endParaRPr lang="en-US"/>
          </a:p>
        </p:txBody>
      </p:sp>
    </p:spTree>
    <p:extLst>
      <p:ext uri="{BB962C8B-B14F-4D97-AF65-F5344CB8AC3E}">
        <p14:creationId xmlns:p14="http://schemas.microsoft.com/office/powerpoint/2010/main" val="3858246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1C199-0259-CD4E-BC55-A0E9B2CA1F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88F571-B10E-9F42-BCFE-0B24FFB99D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9DBE9B-189A-C949-AC96-1838EE8D53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6B09C7-5A8C-2748-9C59-8418F7173199}"/>
              </a:ext>
            </a:extLst>
          </p:cNvPr>
          <p:cNvSpPr>
            <a:spLocks noGrp="1"/>
          </p:cNvSpPr>
          <p:nvPr>
            <p:ph type="dt" sz="half" idx="10"/>
          </p:nvPr>
        </p:nvSpPr>
        <p:spPr/>
        <p:txBody>
          <a:bodyPr/>
          <a:lstStyle/>
          <a:p>
            <a:fld id="{17F26E3F-087A-CF47-BE16-8DF4D23AA3AF}" type="datetimeFigureOut">
              <a:rPr lang="en-US" smtClean="0"/>
              <a:t>7/20/21</a:t>
            </a:fld>
            <a:endParaRPr lang="en-US"/>
          </a:p>
        </p:txBody>
      </p:sp>
      <p:sp>
        <p:nvSpPr>
          <p:cNvPr id="6" name="Footer Placeholder 5">
            <a:extLst>
              <a:ext uri="{FF2B5EF4-FFF2-40B4-BE49-F238E27FC236}">
                <a16:creationId xmlns:a16="http://schemas.microsoft.com/office/drawing/2014/main" id="{36470773-F926-D541-BF02-B8EA87C91A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BE7BD9-4387-2849-B2DC-5BA3EAD501D6}"/>
              </a:ext>
            </a:extLst>
          </p:cNvPr>
          <p:cNvSpPr>
            <a:spLocks noGrp="1"/>
          </p:cNvSpPr>
          <p:nvPr>
            <p:ph type="sldNum" sz="quarter" idx="12"/>
          </p:nvPr>
        </p:nvSpPr>
        <p:spPr/>
        <p:txBody>
          <a:bodyPr/>
          <a:lstStyle/>
          <a:p>
            <a:fld id="{23CC8831-8806-DB40-B792-4185E4AE5E4D}" type="slidenum">
              <a:rPr lang="en-US" smtClean="0"/>
              <a:t>‹#›</a:t>
            </a:fld>
            <a:endParaRPr lang="en-US"/>
          </a:p>
        </p:txBody>
      </p:sp>
    </p:spTree>
    <p:extLst>
      <p:ext uri="{BB962C8B-B14F-4D97-AF65-F5344CB8AC3E}">
        <p14:creationId xmlns:p14="http://schemas.microsoft.com/office/powerpoint/2010/main" val="681096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21673-9D6D-7D4F-A4CB-2471EA50B0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5FF368-75A1-0347-B53A-7659C198F4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584B14-616F-2C47-9D92-56747BFD1A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EA0855-13A7-9B44-B07A-0DD1A2491399}"/>
              </a:ext>
            </a:extLst>
          </p:cNvPr>
          <p:cNvSpPr>
            <a:spLocks noGrp="1"/>
          </p:cNvSpPr>
          <p:nvPr>
            <p:ph type="dt" sz="half" idx="10"/>
          </p:nvPr>
        </p:nvSpPr>
        <p:spPr/>
        <p:txBody>
          <a:bodyPr/>
          <a:lstStyle/>
          <a:p>
            <a:fld id="{17F26E3F-087A-CF47-BE16-8DF4D23AA3AF}" type="datetimeFigureOut">
              <a:rPr lang="en-US" smtClean="0"/>
              <a:t>7/20/21</a:t>
            </a:fld>
            <a:endParaRPr lang="en-US"/>
          </a:p>
        </p:txBody>
      </p:sp>
      <p:sp>
        <p:nvSpPr>
          <p:cNvPr id="6" name="Footer Placeholder 5">
            <a:extLst>
              <a:ext uri="{FF2B5EF4-FFF2-40B4-BE49-F238E27FC236}">
                <a16:creationId xmlns:a16="http://schemas.microsoft.com/office/drawing/2014/main" id="{A7B65B24-BC67-8244-B88B-C881550E2D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F406DD-22AD-5246-BDF6-8533743023AD}"/>
              </a:ext>
            </a:extLst>
          </p:cNvPr>
          <p:cNvSpPr>
            <a:spLocks noGrp="1"/>
          </p:cNvSpPr>
          <p:nvPr>
            <p:ph type="sldNum" sz="quarter" idx="12"/>
          </p:nvPr>
        </p:nvSpPr>
        <p:spPr/>
        <p:txBody>
          <a:bodyPr/>
          <a:lstStyle/>
          <a:p>
            <a:fld id="{23CC8831-8806-DB40-B792-4185E4AE5E4D}" type="slidenum">
              <a:rPr lang="en-US" smtClean="0"/>
              <a:t>‹#›</a:t>
            </a:fld>
            <a:endParaRPr lang="en-US"/>
          </a:p>
        </p:txBody>
      </p:sp>
    </p:spTree>
    <p:extLst>
      <p:ext uri="{BB962C8B-B14F-4D97-AF65-F5344CB8AC3E}">
        <p14:creationId xmlns:p14="http://schemas.microsoft.com/office/powerpoint/2010/main" val="2684970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FDC05-5CDB-1642-9DF4-8184626FAD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C33F3FE-D793-4241-9CD1-6D30666063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A0FA14-CE44-9A45-A153-221289DB6F04}"/>
              </a:ext>
            </a:extLst>
          </p:cNvPr>
          <p:cNvSpPr>
            <a:spLocks noGrp="1"/>
          </p:cNvSpPr>
          <p:nvPr>
            <p:ph type="dt" sz="half" idx="10"/>
          </p:nvPr>
        </p:nvSpPr>
        <p:spPr/>
        <p:txBody>
          <a:bodyPr/>
          <a:lstStyle/>
          <a:p>
            <a:fld id="{17F26E3F-087A-CF47-BE16-8DF4D23AA3AF}" type="datetimeFigureOut">
              <a:rPr lang="en-US" smtClean="0"/>
              <a:t>7/20/21</a:t>
            </a:fld>
            <a:endParaRPr lang="en-US"/>
          </a:p>
        </p:txBody>
      </p:sp>
      <p:sp>
        <p:nvSpPr>
          <p:cNvPr id="5" name="Footer Placeholder 4">
            <a:extLst>
              <a:ext uri="{FF2B5EF4-FFF2-40B4-BE49-F238E27FC236}">
                <a16:creationId xmlns:a16="http://schemas.microsoft.com/office/drawing/2014/main" id="{D719666D-B0A5-AE42-8BC1-25E89D2C06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C47523-1314-9448-8DB3-7E0A4A0A6D8D}"/>
              </a:ext>
            </a:extLst>
          </p:cNvPr>
          <p:cNvSpPr>
            <a:spLocks noGrp="1"/>
          </p:cNvSpPr>
          <p:nvPr>
            <p:ph type="sldNum" sz="quarter" idx="12"/>
          </p:nvPr>
        </p:nvSpPr>
        <p:spPr/>
        <p:txBody>
          <a:bodyPr/>
          <a:lstStyle/>
          <a:p>
            <a:fld id="{23CC8831-8806-DB40-B792-4185E4AE5E4D}" type="slidenum">
              <a:rPr lang="en-US" smtClean="0"/>
              <a:t>‹#›</a:t>
            </a:fld>
            <a:endParaRPr lang="en-US"/>
          </a:p>
        </p:txBody>
      </p:sp>
    </p:spTree>
    <p:extLst>
      <p:ext uri="{BB962C8B-B14F-4D97-AF65-F5344CB8AC3E}">
        <p14:creationId xmlns:p14="http://schemas.microsoft.com/office/powerpoint/2010/main" val="4035078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F5AA53-C47C-3147-80C3-A609FF6492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5E96E5-5233-2B4C-BC75-1C64F5EDFB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4B8582-9C44-A34D-A381-F586473773E8}"/>
              </a:ext>
            </a:extLst>
          </p:cNvPr>
          <p:cNvSpPr>
            <a:spLocks noGrp="1"/>
          </p:cNvSpPr>
          <p:nvPr>
            <p:ph type="dt" sz="half" idx="10"/>
          </p:nvPr>
        </p:nvSpPr>
        <p:spPr/>
        <p:txBody>
          <a:bodyPr/>
          <a:lstStyle/>
          <a:p>
            <a:fld id="{17F26E3F-087A-CF47-BE16-8DF4D23AA3AF}" type="datetimeFigureOut">
              <a:rPr lang="en-US" smtClean="0"/>
              <a:t>7/20/21</a:t>
            </a:fld>
            <a:endParaRPr lang="en-US"/>
          </a:p>
        </p:txBody>
      </p:sp>
      <p:sp>
        <p:nvSpPr>
          <p:cNvPr id="5" name="Footer Placeholder 4">
            <a:extLst>
              <a:ext uri="{FF2B5EF4-FFF2-40B4-BE49-F238E27FC236}">
                <a16:creationId xmlns:a16="http://schemas.microsoft.com/office/drawing/2014/main" id="{982C38C3-8EDE-0749-91D7-6414AEF28C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CFD96B-839D-A246-AD84-35213ED38C38}"/>
              </a:ext>
            </a:extLst>
          </p:cNvPr>
          <p:cNvSpPr>
            <a:spLocks noGrp="1"/>
          </p:cNvSpPr>
          <p:nvPr>
            <p:ph type="sldNum" sz="quarter" idx="12"/>
          </p:nvPr>
        </p:nvSpPr>
        <p:spPr/>
        <p:txBody>
          <a:bodyPr/>
          <a:lstStyle/>
          <a:p>
            <a:fld id="{23CC8831-8806-DB40-B792-4185E4AE5E4D}" type="slidenum">
              <a:rPr lang="en-US" smtClean="0"/>
              <a:t>‹#›</a:t>
            </a:fld>
            <a:endParaRPr lang="en-US"/>
          </a:p>
        </p:txBody>
      </p:sp>
    </p:spTree>
    <p:extLst>
      <p:ext uri="{BB962C8B-B14F-4D97-AF65-F5344CB8AC3E}">
        <p14:creationId xmlns:p14="http://schemas.microsoft.com/office/powerpoint/2010/main" val="3141962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C7A501-5E32-7845-B09E-91F962D23A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9154FA-5541-D447-96F4-44D06C676C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FA1732-6633-634D-B2C9-62F0C05A59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F26E3F-087A-CF47-BE16-8DF4D23AA3AF}" type="datetimeFigureOut">
              <a:rPr lang="en-US" smtClean="0"/>
              <a:t>7/20/21</a:t>
            </a:fld>
            <a:endParaRPr lang="en-US"/>
          </a:p>
        </p:txBody>
      </p:sp>
      <p:sp>
        <p:nvSpPr>
          <p:cNvPr id="5" name="Footer Placeholder 4">
            <a:extLst>
              <a:ext uri="{FF2B5EF4-FFF2-40B4-BE49-F238E27FC236}">
                <a16:creationId xmlns:a16="http://schemas.microsoft.com/office/drawing/2014/main" id="{F8370E62-A5C7-A44A-813B-761A6E4895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09E4950-B17D-B440-806F-19B3930A37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CC8831-8806-DB40-B792-4185E4AE5E4D}" type="slidenum">
              <a:rPr lang="en-US" smtClean="0"/>
              <a:t>‹#›</a:t>
            </a:fld>
            <a:endParaRPr lang="en-US"/>
          </a:p>
        </p:txBody>
      </p:sp>
    </p:spTree>
    <p:extLst>
      <p:ext uri="{BB962C8B-B14F-4D97-AF65-F5344CB8AC3E}">
        <p14:creationId xmlns:p14="http://schemas.microsoft.com/office/powerpoint/2010/main" val="19642844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A2DE9-8657-D848-B382-C13002A43BC9}"/>
              </a:ext>
            </a:extLst>
          </p:cNvPr>
          <p:cNvSpPr>
            <a:spLocks noGrp="1"/>
          </p:cNvSpPr>
          <p:nvPr>
            <p:ph type="ctrTitle"/>
          </p:nvPr>
        </p:nvSpPr>
        <p:spPr/>
        <p:txBody>
          <a:bodyPr/>
          <a:lstStyle/>
          <a:p>
            <a:r>
              <a:rPr lang="en-US" dirty="0"/>
              <a:t>Intro to Randomized Designs</a:t>
            </a:r>
          </a:p>
        </p:txBody>
      </p:sp>
      <p:sp>
        <p:nvSpPr>
          <p:cNvPr id="3" name="Subtitle 2">
            <a:extLst>
              <a:ext uri="{FF2B5EF4-FFF2-40B4-BE49-F238E27FC236}">
                <a16:creationId xmlns:a16="http://schemas.microsoft.com/office/drawing/2014/main" id="{252C0F68-8E69-1342-8EAC-BF2CEFA99035}"/>
              </a:ext>
            </a:extLst>
          </p:cNvPr>
          <p:cNvSpPr>
            <a:spLocks noGrp="1"/>
          </p:cNvSpPr>
          <p:nvPr>
            <p:ph type="subTitle" idx="1"/>
          </p:nvPr>
        </p:nvSpPr>
        <p:spPr/>
        <p:txBody>
          <a:bodyPr>
            <a:normAutofit lnSpcReduction="10000"/>
          </a:bodyPr>
          <a:lstStyle/>
          <a:p>
            <a:r>
              <a:rPr lang="en-US" dirty="0"/>
              <a:t>Elizabeth Tipton</a:t>
            </a:r>
          </a:p>
          <a:p>
            <a:endParaRPr lang="en-US" dirty="0"/>
          </a:p>
          <a:p>
            <a:r>
              <a:rPr lang="en-US" dirty="0"/>
              <a:t>NSF Improving Education R&amp;D Evaluations Workshop</a:t>
            </a:r>
          </a:p>
          <a:p>
            <a:r>
              <a:rPr lang="en-US" dirty="0"/>
              <a:t>2021</a:t>
            </a:r>
          </a:p>
        </p:txBody>
      </p:sp>
    </p:spTree>
    <p:extLst>
      <p:ext uri="{BB962C8B-B14F-4D97-AF65-F5344CB8AC3E}">
        <p14:creationId xmlns:p14="http://schemas.microsoft.com/office/powerpoint/2010/main" val="1221328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19174-AC58-FF4C-B7D6-106A1EE0A113}"/>
              </a:ext>
            </a:extLst>
          </p:cNvPr>
          <p:cNvSpPr>
            <a:spLocks noGrp="1"/>
          </p:cNvSpPr>
          <p:nvPr>
            <p:ph type="title"/>
          </p:nvPr>
        </p:nvSpPr>
        <p:spPr>
          <a:xfrm>
            <a:off x="838200" y="3152570"/>
            <a:ext cx="10515600" cy="1325563"/>
          </a:xfrm>
        </p:spPr>
        <p:txBody>
          <a:bodyPr>
            <a:normAutofit fontScale="90000"/>
          </a:bodyPr>
          <a:lstStyle/>
          <a:p>
            <a:r>
              <a:rPr lang="en-US" i="1" dirty="0"/>
              <a:t>Random assignment “does not mean that the experimenter writes down the names of the varieties </a:t>
            </a:r>
            <a:r>
              <a:rPr lang="en-US" dirty="0"/>
              <a:t>[treatments]</a:t>
            </a:r>
            <a:r>
              <a:rPr lang="en-US" i="1" dirty="0"/>
              <a:t> in any order that occurs to him, but that he carries out a </a:t>
            </a:r>
            <a:r>
              <a:rPr lang="en-US" b="1" i="1" dirty="0"/>
              <a:t>physical experimental process </a:t>
            </a:r>
            <a:r>
              <a:rPr lang="en-US" i="1" dirty="0"/>
              <a:t>of randomization, using means that shall ensure that each variety </a:t>
            </a:r>
            <a:r>
              <a:rPr lang="en-US" dirty="0"/>
              <a:t>[treatment]</a:t>
            </a:r>
            <a:r>
              <a:rPr lang="en-US" i="1" dirty="0"/>
              <a:t> will have an equal chance of being tested on any particular plot of ground </a:t>
            </a:r>
            <a:r>
              <a:rPr lang="en-US" dirty="0"/>
              <a:t>[unit] (Fisher, 1935, p. 51).”</a:t>
            </a:r>
            <a:br>
              <a:rPr lang="en-US" dirty="0"/>
            </a:br>
            <a:endParaRPr lang="en-US" dirty="0"/>
          </a:p>
        </p:txBody>
      </p:sp>
    </p:spTree>
    <p:extLst>
      <p:ext uri="{BB962C8B-B14F-4D97-AF65-F5344CB8AC3E}">
        <p14:creationId xmlns:p14="http://schemas.microsoft.com/office/powerpoint/2010/main" val="1966552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EA84E-C2D7-0542-8030-FDBBE4DE4661}"/>
              </a:ext>
            </a:extLst>
          </p:cNvPr>
          <p:cNvSpPr>
            <a:spLocks noGrp="1"/>
          </p:cNvSpPr>
          <p:nvPr>
            <p:ph type="title"/>
          </p:nvPr>
        </p:nvSpPr>
        <p:spPr>
          <a:xfrm>
            <a:off x="763772" y="2766218"/>
            <a:ext cx="10515600" cy="1325563"/>
          </a:xfrm>
        </p:spPr>
        <p:txBody>
          <a:bodyPr/>
          <a:lstStyle/>
          <a:p>
            <a:pPr algn="ctr"/>
            <a:r>
              <a:rPr lang="en-US" dirty="0"/>
              <a:t>Randomization</a:t>
            </a:r>
          </a:p>
        </p:txBody>
      </p:sp>
    </p:spTree>
    <p:extLst>
      <p:ext uri="{BB962C8B-B14F-4D97-AF65-F5344CB8AC3E}">
        <p14:creationId xmlns:p14="http://schemas.microsoft.com/office/powerpoint/2010/main" val="1573210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10C0C-6765-A94E-80B1-F6355FC066A3}"/>
              </a:ext>
            </a:extLst>
          </p:cNvPr>
          <p:cNvSpPr>
            <a:spLocks noGrp="1"/>
          </p:cNvSpPr>
          <p:nvPr>
            <p:ph type="title"/>
          </p:nvPr>
        </p:nvSpPr>
        <p:spPr/>
        <p:txBody>
          <a:bodyPr/>
          <a:lstStyle/>
          <a:p>
            <a:r>
              <a:rPr lang="en-US" dirty="0"/>
              <a:t>How to randomize?</a:t>
            </a:r>
          </a:p>
        </p:txBody>
      </p:sp>
      <p:sp>
        <p:nvSpPr>
          <p:cNvPr id="3" name="Content Placeholder 2">
            <a:extLst>
              <a:ext uri="{FF2B5EF4-FFF2-40B4-BE49-F238E27FC236}">
                <a16:creationId xmlns:a16="http://schemas.microsoft.com/office/drawing/2014/main" id="{09B4512C-EF63-8D44-871D-2D15A9D1BE58}"/>
              </a:ext>
            </a:extLst>
          </p:cNvPr>
          <p:cNvSpPr>
            <a:spLocks noGrp="1"/>
          </p:cNvSpPr>
          <p:nvPr>
            <p:ph idx="1"/>
          </p:nvPr>
        </p:nvSpPr>
        <p:spPr/>
        <p:txBody>
          <a:bodyPr/>
          <a:lstStyle/>
          <a:p>
            <a:pPr marL="0" indent="0">
              <a:buNone/>
            </a:pPr>
            <a:r>
              <a:rPr lang="en-US" dirty="0"/>
              <a:t>There are several processes that can be used to randomize:</a:t>
            </a:r>
          </a:p>
          <a:p>
            <a:pPr lvl="1"/>
            <a:r>
              <a:rPr lang="en-US" dirty="0"/>
              <a:t>Use a well shuffled deck of cards.</a:t>
            </a:r>
          </a:p>
          <a:p>
            <a:pPr lvl="1"/>
            <a:r>
              <a:rPr lang="en-US" dirty="0"/>
              <a:t>Use random number generators.</a:t>
            </a:r>
          </a:p>
          <a:p>
            <a:pPr lvl="1"/>
            <a:r>
              <a:rPr lang="en-US" dirty="0"/>
              <a:t>Use a random number table.</a:t>
            </a:r>
          </a:p>
          <a:p>
            <a:pPr lvl="1"/>
            <a:r>
              <a:rPr lang="en-US" dirty="0"/>
              <a:t>Use software that directly randomizes into groups. </a:t>
            </a:r>
          </a:p>
          <a:p>
            <a:pPr lvl="1"/>
            <a:endParaRPr lang="en-US" dirty="0"/>
          </a:p>
          <a:p>
            <a:pPr marL="0" indent="0">
              <a:buNone/>
            </a:pPr>
            <a:r>
              <a:rPr lang="en-US" dirty="0"/>
              <a:t>In each case, however, care should be made to ensure that the process is truly random. </a:t>
            </a:r>
            <a:r>
              <a:rPr lang="en-US" b="1" dirty="0"/>
              <a:t>Every unit should have a known probability of being in the intervention vs. comparison group. </a:t>
            </a:r>
          </a:p>
        </p:txBody>
      </p:sp>
    </p:spTree>
    <p:extLst>
      <p:ext uri="{BB962C8B-B14F-4D97-AF65-F5344CB8AC3E}">
        <p14:creationId xmlns:p14="http://schemas.microsoft.com/office/powerpoint/2010/main" val="316078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D68D1-5EA7-0C40-B580-76374CE74AB4}"/>
              </a:ext>
            </a:extLst>
          </p:cNvPr>
          <p:cNvSpPr>
            <a:spLocks noGrp="1"/>
          </p:cNvSpPr>
          <p:nvPr>
            <p:ph type="title"/>
          </p:nvPr>
        </p:nvSpPr>
        <p:spPr/>
        <p:txBody>
          <a:bodyPr/>
          <a:lstStyle/>
          <a:p>
            <a:r>
              <a:rPr lang="en-US" dirty="0"/>
              <a:t>Deck of cards approach</a:t>
            </a:r>
          </a:p>
        </p:txBody>
      </p:sp>
      <p:pic>
        <p:nvPicPr>
          <p:cNvPr id="2050" name="Picture 2" descr="Playing cards scattered face-up">
            <a:extLst>
              <a:ext uri="{FF2B5EF4-FFF2-40B4-BE49-F238E27FC236}">
                <a16:creationId xmlns:a16="http://schemas.microsoft.com/office/drawing/2014/main" id="{96877B79-B067-AB41-A560-1F86314C65E5}"/>
              </a:ext>
            </a:extLst>
          </p:cNvPr>
          <p:cNvPicPr>
            <a:picLocks noGrp="1" noChangeAspect="1" noChangeArrowheads="1"/>
          </p:cNvPicPr>
          <p:nvPr>
            <p:ph idx="1"/>
          </p:nvPr>
        </p:nvPicPr>
        <p:blipFill>
          <a:blip r:embed="rId2">
            <a:alphaModFix amt="5000"/>
            <a:extLst>
              <a:ext uri="{28A0092B-C50C-407E-A947-70E740481C1C}">
                <a14:useLocalDpi xmlns:a14="http://schemas.microsoft.com/office/drawing/2010/main" val="0"/>
              </a:ext>
            </a:extLst>
          </a:blip>
          <a:srcRect/>
          <a:stretch>
            <a:fillRect/>
          </a:stretch>
        </p:blipFill>
        <p:spPr bwMode="auto">
          <a:xfrm>
            <a:off x="0" y="-1"/>
            <a:ext cx="12107333" cy="6773333"/>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83DEBF50-A13D-F247-96D6-3CC2B5A13DB3}"/>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Let’s say we want to randomize into two groups, with  ½ in each group.</a:t>
            </a:r>
          </a:p>
          <a:p>
            <a:r>
              <a:rPr lang="en-US" dirty="0"/>
              <a:t>Red = intervention group</a:t>
            </a:r>
          </a:p>
          <a:p>
            <a:r>
              <a:rPr lang="en-US" dirty="0"/>
              <a:t>Black = comparison group</a:t>
            </a:r>
          </a:p>
          <a:p>
            <a:pPr marL="0" indent="0">
              <a:buNone/>
            </a:pPr>
            <a:endParaRPr lang="en-US" dirty="0"/>
          </a:p>
          <a:p>
            <a:pPr marL="514350" indent="-514350">
              <a:buAutoNum type="arabicPeriod"/>
            </a:pPr>
            <a:r>
              <a:rPr lang="en-US" dirty="0"/>
              <a:t>Shuffle the cards well</a:t>
            </a:r>
          </a:p>
          <a:p>
            <a:pPr marL="514350" indent="-514350">
              <a:buAutoNum type="arabicPeriod"/>
            </a:pPr>
            <a:r>
              <a:rPr lang="en-US" dirty="0"/>
              <a:t>For each unit, choose a card, determining which group they are in.</a:t>
            </a:r>
          </a:p>
          <a:p>
            <a:pPr marL="514350" indent="-514350">
              <a:buAutoNum type="arabicPeriod"/>
            </a:pPr>
            <a:r>
              <a:rPr lang="en-US" dirty="0"/>
              <a:t>Continue down the list of units.</a:t>
            </a:r>
          </a:p>
          <a:p>
            <a:pPr marL="514350" indent="-514350">
              <a:buAutoNum type="arabicPeriod"/>
            </a:pPr>
            <a:r>
              <a:rPr lang="en-US" dirty="0"/>
              <a:t>When one group is full, the rest go into the other group. </a:t>
            </a:r>
          </a:p>
        </p:txBody>
      </p:sp>
    </p:spTree>
    <p:extLst>
      <p:ext uri="{BB962C8B-B14F-4D97-AF65-F5344CB8AC3E}">
        <p14:creationId xmlns:p14="http://schemas.microsoft.com/office/powerpoint/2010/main" val="1481894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7DD3-7BCB-BB45-8B80-5DA317DD668E}"/>
              </a:ext>
            </a:extLst>
          </p:cNvPr>
          <p:cNvSpPr>
            <a:spLocks noGrp="1"/>
          </p:cNvSpPr>
          <p:nvPr>
            <p:ph type="title"/>
          </p:nvPr>
        </p:nvSpPr>
        <p:spPr>
          <a:xfrm>
            <a:off x="838200" y="94988"/>
            <a:ext cx="10515600" cy="1325563"/>
          </a:xfrm>
        </p:spPr>
        <p:txBody>
          <a:bodyPr/>
          <a:lstStyle/>
          <a:p>
            <a:r>
              <a:rPr lang="en-US" dirty="0"/>
              <a:t>Example (n = 10)</a:t>
            </a:r>
          </a:p>
        </p:txBody>
      </p:sp>
      <p:sp>
        <p:nvSpPr>
          <p:cNvPr id="3" name="Content Placeholder 2">
            <a:extLst>
              <a:ext uri="{FF2B5EF4-FFF2-40B4-BE49-F238E27FC236}">
                <a16:creationId xmlns:a16="http://schemas.microsoft.com/office/drawing/2014/main" id="{EDFB6A85-8127-8243-8290-0A3B22562026}"/>
              </a:ext>
            </a:extLst>
          </p:cNvPr>
          <p:cNvSpPr>
            <a:spLocks noGrp="1"/>
          </p:cNvSpPr>
          <p:nvPr>
            <p:ph idx="1"/>
          </p:nvPr>
        </p:nvSpPr>
        <p:spPr>
          <a:xfrm>
            <a:off x="775888" y="1420551"/>
            <a:ext cx="6876920" cy="4351338"/>
          </a:xfrm>
        </p:spPr>
        <p:txBody>
          <a:bodyPr/>
          <a:lstStyle/>
          <a:p>
            <a:pPr marL="0" indent="0">
              <a:buNone/>
            </a:pPr>
            <a:r>
              <a:rPr lang="en-US" dirty="0"/>
              <a:t>1. We have 5 red cards and 5 black cards.</a:t>
            </a:r>
          </a:p>
          <a:p>
            <a:pPr marL="0" indent="0">
              <a:buNone/>
            </a:pPr>
            <a:r>
              <a:rPr lang="en-US" dirty="0"/>
              <a:t>2. We shuffle the cards.</a:t>
            </a:r>
          </a:p>
          <a:p>
            <a:pPr marL="0" indent="0">
              <a:buNone/>
            </a:pPr>
            <a:endParaRPr lang="en-US" dirty="0"/>
          </a:p>
          <a:p>
            <a:pPr marL="0" indent="0">
              <a:buNone/>
            </a:pPr>
            <a:endParaRPr lang="en-US" dirty="0"/>
          </a:p>
          <a:p>
            <a:pPr marL="0" indent="0">
              <a:buNone/>
            </a:pPr>
            <a:endParaRPr lang="en-US" dirty="0"/>
          </a:p>
          <a:p>
            <a:pPr marL="0" indent="0">
              <a:buNone/>
            </a:pPr>
            <a:r>
              <a:rPr lang="en-US" dirty="0"/>
              <a:t>3. In order, draw a card.</a:t>
            </a:r>
          </a:p>
          <a:p>
            <a:pPr marL="0" indent="0">
              <a:buNone/>
            </a:pPr>
            <a:endParaRPr lang="en-US" dirty="0"/>
          </a:p>
        </p:txBody>
      </p:sp>
      <p:sp>
        <p:nvSpPr>
          <p:cNvPr id="5" name="Rectangle 4">
            <a:extLst>
              <a:ext uri="{FF2B5EF4-FFF2-40B4-BE49-F238E27FC236}">
                <a16:creationId xmlns:a16="http://schemas.microsoft.com/office/drawing/2014/main" id="{C72ED546-352F-0640-9D16-B6B546F9DB87}"/>
              </a:ext>
            </a:extLst>
          </p:cNvPr>
          <p:cNvSpPr/>
          <p:nvPr/>
        </p:nvSpPr>
        <p:spPr>
          <a:xfrm>
            <a:off x="3450703" y="2440115"/>
            <a:ext cx="702733" cy="8720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F0CDF18-EBF0-914B-85D5-A857702AEC7E}"/>
              </a:ext>
            </a:extLst>
          </p:cNvPr>
          <p:cNvSpPr/>
          <p:nvPr/>
        </p:nvSpPr>
        <p:spPr>
          <a:xfrm>
            <a:off x="3206688" y="2933300"/>
            <a:ext cx="702733" cy="8720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19457C5-2FDF-064B-972E-0AB585E7E76C}"/>
              </a:ext>
            </a:extLst>
          </p:cNvPr>
          <p:cNvSpPr/>
          <p:nvPr/>
        </p:nvSpPr>
        <p:spPr>
          <a:xfrm>
            <a:off x="2592856" y="2917293"/>
            <a:ext cx="702733" cy="8720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8DC20AC-DBA0-1141-B60D-A02F58A7E226}"/>
              </a:ext>
            </a:extLst>
          </p:cNvPr>
          <p:cNvSpPr/>
          <p:nvPr/>
        </p:nvSpPr>
        <p:spPr>
          <a:xfrm>
            <a:off x="1435100" y="2651122"/>
            <a:ext cx="702733" cy="8720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445159B-75F3-0240-A894-F415BA0D1202}"/>
              </a:ext>
            </a:extLst>
          </p:cNvPr>
          <p:cNvSpPr/>
          <p:nvPr/>
        </p:nvSpPr>
        <p:spPr>
          <a:xfrm>
            <a:off x="1953819" y="2917293"/>
            <a:ext cx="702733" cy="8720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119C96E-D1EE-EB42-8E6F-4CC14BCF15B1}"/>
              </a:ext>
            </a:extLst>
          </p:cNvPr>
          <p:cNvSpPr/>
          <p:nvPr/>
        </p:nvSpPr>
        <p:spPr>
          <a:xfrm>
            <a:off x="2904726" y="2835003"/>
            <a:ext cx="702733" cy="872067"/>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FDDCEA5-8B7D-CC41-B77F-D2EA474A5D8F}"/>
              </a:ext>
            </a:extLst>
          </p:cNvPr>
          <p:cNvSpPr/>
          <p:nvPr/>
        </p:nvSpPr>
        <p:spPr>
          <a:xfrm>
            <a:off x="2248827" y="2536294"/>
            <a:ext cx="702733" cy="872067"/>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9CB479B-1D9F-8140-BEA4-FFE6037C9435}"/>
              </a:ext>
            </a:extLst>
          </p:cNvPr>
          <p:cNvSpPr/>
          <p:nvPr/>
        </p:nvSpPr>
        <p:spPr>
          <a:xfrm>
            <a:off x="1689367" y="2845324"/>
            <a:ext cx="702733" cy="872067"/>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B6B09F57-DBA6-C847-9ABE-87164A6586F9}"/>
              </a:ext>
            </a:extLst>
          </p:cNvPr>
          <p:cNvSpPr/>
          <p:nvPr/>
        </p:nvSpPr>
        <p:spPr>
          <a:xfrm>
            <a:off x="1742550" y="2421466"/>
            <a:ext cx="702733" cy="872067"/>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953A7D9-6031-0E48-88BA-A4DD16FA2AEC}"/>
              </a:ext>
            </a:extLst>
          </p:cNvPr>
          <p:cNvSpPr/>
          <p:nvPr/>
        </p:nvSpPr>
        <p:spPr>
          <a:xfrm>
            <a:off x="2707749" y="2458239"/>
            <a:ext cx="702733" cy="872067"/>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15">
            <a:extLst>
              <a:ext uri="{FF2B5EF4-FFF2-40B4-BE49-F238E27FC236}">
                <a16:creationId xmlns:a16="http://schemas.microsoft.com/office/drawing/2014/main" id="{A363D210-AD92-3E4D-900C-B14480F2254B}"/>
              </a:ext>
            </a:extLst>
          </p:cNvPr>
          <p:cNvGraphicFramePr>
            <a:graphicFrameLocks noGrp="1"/>
          </p:cNvGraphicFramePr>
          <p:nvPr>
            <p:extLst>
              <p:ext uri="{D42A27DB-BD31-4B8C-83A1-F6EECF244321}">
                <p14:modId xmlns:p14="http://schemas.microsoft.com/office/powerpoint/2010/main" val="2539569685"/>
              </p:ext>
            </p:extLst>
          </p:nvPr>
        </p:nvGraphicFramePr>
        <p:xfrm>
          <a:off x="7528558" y="845361"/>
          <a:ext cx="4127205" cy="5614378"/>
        </p:xfrm>
        <a:graphic>
          <a:graphicData uri="http://schemas.openxmlformats.org/drawingml/2006/table">
            <a:tbl>
              <a:tblPr firstRow="1" bandRow="1">
                <a:tableStyleId>{5C22544A-7EE6-4342-B048-85BDC9FD1C3A}</a:tableStyleId>
              </a:tblPr>
              <a:tblGrid>
                <a:gridCol w="1375735">
                  <a:extLst>
                    <a:ext uri="{9D8B030D-6E8A-4147-A177-3AD203B41FA5}">
                      <a16:colId xmlns:a16="http://schemas.microsoft.com/office/drawing/2014/main" val="3915897197"/>
                    </a:ext>
                  </a:extLst>
                </a:gridCol>
                <a:gridCol w="1375735">
                  <a:extLst>
                    <a:ext uri="{9D8B030D-6E8A-4147-A177-3AD203B41FA5}">
                      <a16:colId xmlns:a16="http://schemas.microsoft.com/office/drawing/2014/main" val="1632053355"/>
                    </a:ext>
                  </a:extLst>
                </a:gridCol>
                <a:gridCol w="1375735">
                  <a:extLst>
                    <a:ext uri="{9D8B030D-6E8A-4147-A177-3AD203B41FA5}">
                      <a16:colId xmlns:a16="http://schemas.microsoft.com/office/drawing/2014/main" val="1752532394"/>
                    </a:ext>
                  </a:extLst>
                </a:gridCol>
              </a:tblGrid>
              <a:tr h="510398">
                <a:tc>
                  <a:txBody>
                    <a:bodyPr/>
                    <a:lstStyle/>
                    <a:p>
                      <a:r>
                        <a:rPr lang="en-US" dirty="0"/>
                        <a:t>Person</a:t>
                      </a:r>
                    </a:p>
                  </a:txBody>
                  <a:tcPr/>
                </a:tc>
                <a:tc>
                  <a:txBody>
                    <a:bodyPr/>
                    <a:lstStyle/>
                    <a:p>
                      <a:r>
                        <a:rPr lang="en-US" dirty="0"/>
                        <a:t>Card</a:t>
                      </a:r>
                    </a:p>
                  </a:txBody>
                  <a:tcPr/>
                </a:tc>
                <a:tc>
                  <a:txBody>
                    <a:bodyPr/>
                    <a:lstStyle/>
                    <a:p>
                      <a:r>
                        <a:rPr lang="en-US" dirty="0"/>
                        <a:t>Group</a:t>
                      </a:r>
                    </a:p>
                  </a:txBody>
                  <a:tcPr/>
                </a:tc>
                <a:extLst>
                  <a:ext uri="{0D108BD9-81ED-4DB2-BD59-A6C34878D82A}">
                    <a16:rowId xmlns:a16="http://schemas.microsoft.com/office/drawing/2014/main" val="1302846021"/>
                  </a:ext>
                </a:extLst>
              </a:tr>
              <a:tr h="510398">
                <a:tc>
                  <a:txBody>
                    <a:bodyPr/>
                    <a:lstStyle/>
                    <a:p>
                      <a:r>
                        <a:rPr lang="en-US" dirty="0"/>
                        <a:t>1</a:t>
                      </a:r>
                    </a:p>
                  </a:txBody>
                  <a:tcPr/>
                </a:tc>
                <a:tc>
                  <a:txBody>
                    <a:bodyPr/>
                    <a:lstStyle/>
                    <a:p>
                      <a:endParaRPr lang="en-US" dirty="0"/>
                    </a:p>
                  </a:txBody>
                  <a:tcPr/>
                </a:tc>
                <a:tc>
                  <a:txBody>
                    <a:bodyPr/>
                    <a:lstStyle/>
                    <a:p>
                      <a:r>
                        <a:rPr lang="en-US" dirty="0"/>
                        <a:t>Comparison</a:t>
                      </a:r>
                    </a:p>
                  </a:txBody>
                  <a:tcPr/>
                </a:tc>
                <a:extLst>
                  <a:ext uri="{0D108BD9-81ED-4DB2-BD59-A6C34878D82A}">
                    <a16:rowId xmlns:a16="http://schemas.microsoft.com/office/drawing/2014/main" val="2874850640"/>
                  </a:ext>
                </a:extLst>
              </a:tr>
              <a:tr h="510398">
                <a:tc>
                  <a:txBody>
                    <a:bodyPr/>
                    <a:lstStyle/>
                    <a:p>
                      <a:r>
                        <a:rPr lang="en-US" dirty="0"/>
                        <a:t>2</a:t>
                      </a:r>
                    </a:p>
                  </a:txBody>
                  <a:tcPr/>
                </a:tc>
                <a:tc>
                  <a:txBody>
                    <a:bodyPr/>
                    <a:lstStyle/>
                    <a:p>
                      <a:endParaRPr lang="en-US" dirty="0"/>
                    </a:p>
                  </a:txBody>
                  <a:tcPr/>
                </a:tc>
                <a:tc>
                  <a:txBody>
                    <a:bodyPr/>
                    <a:lstStyle/>
                    <a:p>
                      <a:r>
                        <a:rPr lang="en-US" dirty="0"/>
                        <a:t>Intervention</a:t>
                      </a:r>
                    </a:p>
                  </a:txBody>
                  <a:tcPr/>
                </a:tc>
                <a:extLst>
                  <a:ext uri="{0D108BD9-81ED-4DB2-BD59-A6C34878D82A}">
                    <a16:rowId xmlns:a16="http://schemas.microsoft.com/office/drawing/2014/main" val="1053280292"/>
                  </a:ext>
                </a:extLst>
              </a:tr>
              <a:tr h="510398">
                <a:tc>
                  <a:txBody>
                    <a:bodyPr/>
                    <a:lstStyle/>
                    <a:p>
                      <a:r>
                        <a:rPr lang="en-US" dirty="0"/>
                        <a:t>3</a:t>
                      </a:r>
                    </a:p>
                  </a:txBody>
                  <a:tcPr/>
                </a:tc>
                <a:tc>
                  <a:txBody>
                    <a:bodyPr/>
                    <a:lstStyle/>
                    <a:p>
                      <a:endParaRPr lang="en-US" dirty="0"/>
                    </a:p>
                  </a:txBody>
                  <a:tcPr/>
                </a:tc>
                <a:tc>
                  <a:txBody>
                    <a:bodyPr/>
                    <a:lstStyle/>
                    <a:p>
                      <a:r>
                        <a:rPr lang="en-US" dirty="0"/>
                        <a:t>Comparison</a:t>
                      </a:r>
                    </a:p>
                  </a:txBody>
                  <a:tcPr/>
                </a:tc>
                <a:extLst>
                  <a:ext uri="{0D108BD9-81ED-4DB2-BD59-A6C34878D82A}">
                    <a16:rowId xmlns:a16="http://schemas.microsoft.com/office/drawing/2014/main" val="887190602"/>
                  </a:ext>
                </a:extLst>
              </a:tr>
              <a:tr h="510398">
                <a:tc>
                  <a:txBody>
                    <a:bodyPr/>
                    <a:lstStyle/>
                    <a:p>
                      <a:r>
                        <a:rPr lang="en-US" dirty="0"/>
                        <a:t>4</a:t>
                      </a:r>
                    </a:p>
                  </a:txBody>
                  <a:tcPr/>
                </a:tc>
                <a:tc>
                  <a:txBody>
                    <a:bodyPr/>
                    <a:lstStyle/>
                    <a:p>
                      <a:endParaRPr lang="en-US" dirty="0"/>
                    </a:p>
                  </a:txBody>
                  <a:tcPr/>
                </a:tc>
                <a:tc>
                  <a:txBody>
                    <a:bodyPr/>
                    <a:lstStyle/>
                    <a:p>
                      <a:r>
                        <a:rPr lang="en-US" dirty="0"/>
                        <a:t>Intervention</a:t>
                      </a:r>
                    </a:p>
                  </a:txBody>
                  <a:tcPr/>
                </a:tc>
                <a:extLst>
                  <a:ext uri="{0D108BD9-81ED-4DB2-BD59-A6C34878D82A}">
                    <a16:rowId xmlns:a16="http://schemas.microsoft.com/office/drawing/2014/main" val="4035789340"/>
                  </a:ext>
                </a:extLst>
              </a:tr>
              <a:tr h="510398">
                <a:tc>
                  <a:txBody>
                    <a:bodyPr/>
                    <a:lstStyle/>
                    <a:p>
                      <a:r>
                        <a:rPr lang="en-US" dirty="0"/>
                        <a:t>5</a:t>
                      </a:r>
                    </a:p>
                  </a:txBody>
                  <a:tcPr/>
                </a:tc>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Comparison</a:t>
                      </a:r>
                    </a:p>
                  </a:txBody>
                  <a:tcPr/>
                </a:tc>
                <a:extLst>
                  <a:ext uri="{0D108BD9-81ED-4DB2-BD59-A6C34878D82A}">
                    <a16:rowId xmlns:a16="http://schemas.microsoft.com/office/drawing/2014/main" val="2770062666"/>
                  </a:ext>
                </a:extLst>
              </a:tr>
              <a:tr h="510398">
                <a:tc>
                  <a:txBody>
                    <a:bodyPr/>
                    <a:lstStyle/>
                    <a:p>
                      <a:r>
                        <a:rPr lang="en-US" dirty="0"/>
                        <a:t>6</a:t>
                      </a:r>
                    </a:p>
                  </a:txBody>
                  <a:tcPr/>
                </a:tc>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Comparison</a:t>
                      </a:r>
                    </a:p>
                  </a:txBody>
                  <a:tcPr/>
                </a:tc>
                <a:extLst>
                  <a:ext uri="{0D108BD9-81ED-4DB2-BD59-A6C34878D82A}">
                    <a16:rowId xmlns:a16="http://schemas.microsoft.com/office/drawing/2014/main" val="1457378784"/>
                  </a:ext>
                </a:extLst>
              </a:tr>
              <a:tr h="510398">
                <a:tc>
                  <a:txBody>
                    <a:bodyPr/>
                    <a:lstStyle/>
                    <a:p>
                      <a:r>
                        <a:rPr lang="en-US" dirty="0"/>
                        <a:t>7</a:t>
                      </a:r>
                    </a:p>
                  </a:txBody>
                  <a:tcPr/>
                </a:tc>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Comparison</a:t>
                      </a:r>
                    </a:p>
                  </a:txBody>
                  <a:tcPr/>
                </a:tc>
                <a:extLst>
                  <a:ext uri="{0D108BD9-81ED-4DB2-BD59-A6C34878D82A}">
                    <a16:rowId xmlns:a16="http://schemas.microsoft.com/office/drawing/2014/main" val="3892164935"/>
                  </a:ext>
                </a:extLst>
              </a:tr>
              <a:tr h="510398">
                <a:tc>
                  <a:txBody>
                    <a:bodyPr/>
                    <a:lstStyle/>
                    <a:p>
                      <a:r>
                        <a:rPr lang="en-US" dirty="0"/>
                        <a:t>8</a:t>
                      </a:r>
                    </a:p>
                  </a:txBody>
                  <a:tcPr/>
                </a:tc>
                <a:tc>
                  <a:txBody>
                    <a:bodyPr/>
                    <a:lstStyle/>
                    <a:p>
                      <a:endParaRPr lang="en-US" dirty="0"/>
                    </a:p>
                  </a:txBody>
                  <a:tcPr/>
                </a:tc>
                <a:tc>
                  <a:txBody>
                    <a:bodyPr/>
                    <a:lstStyle/>
                    <a:p>
                      <a:r>
                        <a:rPr lang="en-US" dirty="0"/>
                        <a:t>Intervention</a:t>
                      </a:r>
                    </a:p>
                  </a:txBody>
                  <a:tcPr/>
                </a:tc>
                <a:extLst>
                  <a:ext uri="{0D108BD9-81ED-4DB2-BD59-A6C34878D82A}">
                    <a16:rowId xmlns:a16="http://schemas.microsoft.com/office/drawing/2014/main" val="2819678471"/>
                  </a:ext>
                </a:extLst>
              </a:tr>
              <a:tr h="510398">
                <a:tc>
                  <a:txBody>
                    <a:bodyPr/>
                    <a:lstStyle/>
                    <a:p>
                      <a:r>
                        <a:rPr lang="en-US" dirty="0"/>
                        <a:t>9</a:t>
                      </a:r>
                    </a:p>
                  </a:txBody>
                  <a:tcPr/>
                </a:tc>
                <a:tc>
                  <a:txBody>
                    <a:bodyPr/>
                    <a:lstStyle/>
                    <a:p>
                      <a:endParaRPr lang="en-US" dirty="0"/>
                    </a:p>
                  </a:txBody>
                  <a:tcPr/>
                </a:tc>
                <a:tc>
                  <a:txBody>
                    <a:bodyPr/>
                    <a:lstStyle/>
                    <a:p>
                      <a:r>
                        <a:rPr lang="en-US" dirty="0"/>
                        <a:t>Intervention</a:t>
                      </a:r>
                    </a:p>
                  </a:txBody>
                  <a:tcPr/>
                </a:tc>
                <a:extLst>
                  <a:ext uri="{0D108BD9-81ED-4DB2-BD59-A6C34878D82A}">
                    <a16:rowId xmlns:a16="http://schemas.microsoft.com/office/drawing/2014/main" val="1983098539"/>
                  </a:ext>
                </a:extLst>
              </a:tr>
              <a:tr h="510398">
                <a:tc>
                  <a:txBody>
                    <a:bodyPr/>
                    <a:lstStyle/>
                    <a:p>
                      <a:r>
                        <a:rPr lang="en-US" dirty="0"/>
                        <a:t>10</a:t>
                      </a:r>
                    </a:p>
                  </a:txBody>
                  <a:tcPr/>
                </a:tc>
                <a:tc>
                  <a:txBody>
                    <a:bodyPr/>
                    <a:lstStyle/>
                    <a:p>
                      <a:endParaRPr lang="en-US" dirty="0"/>
                    </a:p>
                  </a:txBody>
                  <a:tcPr/>
                </a:tc>
                <a:tc>
                  <a:txBody>
                    <a:bodyPr/>
                    <a:lstStyle/>
                    <a:p>
                      <a:r>
                        <a:rPr lang="en-US" dirty="0"/>
                        <a:t>Intervention</a:t>
                      </a:r>
                    </a:p>
                  </a:txBody>
                  <a:tcPr/>
                </a:tc>
                <a:extLst>
                  <a:ext uri="{0D108BD9-81ED-4DB2-BD59-A6C34878D82A}">
                    <a16:rowId xmlns:a16="http://schemas.microsoft.com/office/drawing/2014/main" val="655303421"/>
                  </a:ext>
                </a:extLst>
              </a:tr>
            </a:tbl>
          </a:graphicData>
        </a:graphic>
      </p:graphicFrame>
      <p:sp>
        <p:nvSpPr>
          <p:cNvPr id="17" name="Rectangle 16">
            <a:extLst>
              <a:ext uri="{FF2B5EF4-FFF2-40B4-BE49-F238E27FC236}">
                <a16:creationId xmlns:a16="http://schemas.microsoft.com/office/drawing/2014/main" id="{2EBC7D24-7EAB-A941-BA3C-236FFAB13513}"/>
              </a:ext>
            </a:extLst>
          </p:cNvPr>
          <p:cNvSpPr/>
          <p:nvPr/>
        </p:nvSpPr>
        <p:spPr>
          <a:xfrm>
            <a:off x="9209576" y="1375395"/>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B0A4D0A-97C9-924F-82C8-E93E905C0457}"/>
              </a:ext>
            </a:extLst>
          </p:cNvPr>
          <p:cNvSpPr/>
          <p:nvPr/>
        </p:nvSpPr>
        <p:spPr>
          <a:xfrm>
            <a:off x="9209576" y="2398045"/>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3451E7AB-C8CC-9F46-84BC-10953909B2FD}"/>
              </a:ext>
            </a:extLst>
          </p:cNvPr>
          <p:cNvSpPr/>
          <p:nvPr/>
        </p:nvSpPr>
        <p:spPr>
          <a:xfrm>
            <a:off x="9204429" y="3446402"/>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5D769209-DDD0-9B44-969C-F7AD4042B327}"/>
              </a:ext>
            </a:extLst>
          </p:cNvPr>
          <p:cNvSpPr/>
          <p:nvPr/>
        </p:nvSpPr>
        <p:spPr>
          <a:xfrm>
            <a:off x="9204429" y="3939951"/>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9165340-238C-3341-9665-D34F5D3A0A06}"/>
              </a:ext>
            </a:extLst>
          </p:cNvPr>
          <p:cNvSpPr/>
          <p:nvPr/>
        </p:nvSpPr>
        <p:spPr>
          <a:xfrm>
            <a:off x="9204429" y="4457341"/>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EA08507F-BD24-284B-9AD2-F6E6EDA06578}"/>
              </a:ext>
            </a:extLst>
          </p:cNvPr>
          <p:cNvSpPr/>
          <p:nvPr/>
        </p:nvSpPr>
        <p:spPr>
          <a:xfrm>
            <a:off x="9209576" y="1905429"/>
            <a:ext cx="382584" cy="43695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F2A8390C-B52E-8C4C-B78E-E911413A2530}"/>
              </a:ext>
            </a:extLst>
          </p:cNvPr>
          <p:cNvSpPr/>
          <p:nvPr/>
        </p:nvSpPr>
        <p:spPr>
          <a:xfrm>
            <a:off x="9204429" y="2916368"/>
            <a:ext cx="382584" cy="43695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68FD3AEA-B009-1744-BC07-AF646AAEC2B5}"/>
              </a:ext>
            </a:extLst>
          </p:cNvPr>
          <p:cNvSpPr/>
          <p:nvPr/>
        </p:nvSpPr>
        <p:spPr>
          <a:xfrm>
            <a:off x="8898467" y="4894299"/>
            <a:ext cx="2757296" cy="1641968"/>
          </a:xfrm>
          <a:prstGeom prst="rect">
            <a:avLst/>
          </a:prstGeom>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8C84E471-8FD4-5F42-95BD-0CCDC49D2B48}"/>
              </a:ext>
            </a:extLst>
          </p:cNvPr>
          <p:cNvSpPr txBox="1"/>
          <p:nvPr/>
        </p:nvSpPr>
        <p:spPr>
          <a:xfrm>
            <a:off x="8932334" y="5350933"/>
            <a:ext cx="2988733" cy="369332"/>
          </a:xfrm>
          <a:prstGeom prst="rect">
            <a:avLst/>
          </a:prstGeom>
          <a:noFill/>
        </p:spPr>
        <p:txBody>
          <a:bodyPr wrap="square" rtlCol="0">
            <a:spAutoFit/>
          </a:bodyPr>
          <a:lstStyle/>
          <a:p>
            <a:r>
              <a:rPr lang="en-US" dirty="0">
                <a:ln w="0"/>
                <a:solidFill>
                  <a:schemeClr val="accent4"/>
                </a:solidFill>
                <a:effectLst>
                  <a:outerShdw blurRad="38100" dist="25400" dir="5400000" algn="ctr" rotWithShape="0">
                    <a:srgbClr val="6E747A">
                      <a:alpha val="43000"/>
                    </a:srgbClr>
                  </a:outerShdw>
                </a:effectLst>
              </a:rPr>
              <a:t>What group are these 3 in ?</a:t>
            </a:r>
          </a:p>
        </p:txBody>
      </p:sp>
    </p:spTree>
    <p:extLst>
      <p:ext uri="{BB962C8B-B14F-4D97-AF65-F5344CB8AC3E}">
        <p14:creationId xmlns:p14="http://schemas.microsoft.com/office/powerpoint/2010/main" val="908872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7DD3-7BCB-BB45-8B80-5DA317DD668E}"/>
              </a:ext>
            </a:extLst>
          </p:cNvPr>
          <p:cNvSpPr>
            <a:spLocks noGrp="1"/>
          </p:cNvSpPr>
          <p:nvPr>
            <p:ph type="title"/>
          </p:nvPr>
        </p:nvSpPr>
        <p:spPr>
          <a:xfrm>
            <a:off x="838200" y="94988"/>
            <a:ext cx="10515600" cy="1325563"/>
          </a:xfrm>
        </p:spPr>
        <p:txBody>
          <a:bodyPr/>
          <a:lstStyle/>
          <a:p>
            <a:r>
              <a:rPr lang="en-US" dirty="0"/>
              <a:t>Example (n = 10)</a:t>
            </a:r>
          </a:p>
        </p:txBody>
      </p:sp>
      <p:sp>
        <p:nvSpPr>
          <p:cNvPr id="3" name="Content Placeholder 2">
            <a:extLst>
              <a:ext uri="{FF2B5EF4-FFF2-40B4-BE49-F238E27FC236}">
                <a16:creationId xmlns:a16="http://schemas.microsoft.com/office/drawing/2014/main" id="{EDFB6A85-8127-8243-8290-0A3B22562026}"/>
              </a:ext>
            </a:extLst>
          </p:cNvPr>
          <p:cNvSpPr>
            <a:spLocks noGrp="1"/>
          </p:cNvSpPr>
          <p:nvPr>
            <p:ph idx="1"/>
          </p:nvPr>
        </p:nvSpPr>
        <p:spPr>
          <a:xfrm>
            <a:off x="775888" y="1420551"/>
            <a:ext cx="6876920" cy="4351338"/>
          </a:xfrm>
        </p:spPr>
        <p:txBody>
          <a:bodyPr/>
          <a:lstStyle/>
          <a:p>
            <a:pPr marL="0" indent="0">
              <a:buNone/>
            </a:pPr>
            <a:r>
              <a:rPr lang="en-US" dirty="0"/>
              <a:t>1. We have 5 red cards and 5 black cards.</a:t>
            </a:r>
          </a:p>
          <a:p>
            <a:pPr marL="0" indent="0">
              <a:buNone/>
            </a:pPr>
            <a:r>
              <a:rPr lang="en-US" dirty="0"/>
              <a:t>2. We shuffle the cards.</a:t>
            </a:r>
          </a:p>
          <a:p>
            <a:pPr marL="0" indent="0">
              <a:buNone/>
            </a:pPr>
            <a:endParaRPr lang="en-US" dirty="0"/>
          </a:p>
          <a:p>
            <a:pPr marL="0" indent="0">
              <a:buNone/>
            </a:pPr>
            <a:endParaRPr lang="en-US" dirty="0"/>
          </a:p>
          <a:p>
            <a:pPr marL="0" indent="0">
              <a:buNone/>
            </a:pPr>
            <a:endParaRPr lang="en-US" dirty="0"/>
          </a:p>
          <a:p>
            <a:pPr marL="0" indent="0">
              <a:buNone/>
            </a:pPr>
            <a:r>
              <a:rPr lang="en-US" dirty="0"/>
              <a:t>3. In order, draw a card.</a:t>
            </a:r>
          </a:p>
          <a:p>
            <a:pPr marL="0" indent="0">
              <a:buNone/>
            </a:pPr>
            <a:endParaRPr lang="en-US" dirty="0"/>
          </a:p>
        </p:txBody>
      </p:sp>
      <p:sp>
        <p:nvSpPr>
          <p:cNvPr id="5" name="Rectangle 4">
            <a:extLst>
              <a:ext uri="{FF2B5EF4-FFF2-40B4-BE49-F238E27FC236}">
                <a16:creationId xmlns:a16="http://schemas.microsoft.com/office/drawing/2014/main" id="{C72ED546-352F-0640-9D16-B6B546F9DB87}"/>
              </a:ext>
            </a:extLst>
          </p:cNvPr>
          <p:cNvSpPr/>
          <p:nvPr/>
        </p:nvSpPr>
        <p:spPr>
          <a:xfrm>
            <a:off x="3450703" y="2440115"/>
            <a:ext cx="702733" cy="8720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F0CDF18-EBF0-914B-85D5-A857702AEC7E}"/>
              </a:ext>
            </a:extLst>
          </p:cNvPr>
          <p:cNvSpPr/>
          <p:nvPr/>
        </p:nvSpPr>
        <p:spPr>
          <a:xfrm>
            <a:off x="3206688" y="2933300"/>
            <a:ext cx="702733" cy="8720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19457C5-2FDF-064B-972E-0AB585E7E76C}"/>
              </a:ext>
            </a:extLst>
          </p:cNvPr>
          <p:cNvSpPr/>
          <p:nvPr/>
        </p:nvSpPr>
        <p:spPr>
          <a:xfrm>
            <a:off x="2592856" y="2917293"/>
            <a:ext cx="702733" cy="8720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8DC20AC-DBA0-1141-B60D-A02F58A7E226}"/>
              </a:ext>
            </a:extLst>
          </p:cNvPr>
          <p:cNvSpPr/>
          <p:nvPr/>
        </p:nvSpPr>
        <p:spPr>
          <a:xfrm>
            <a:off x="1435100" y="2651122"/>
            <a:ext cx="702733" cy="8720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445159B-75F3-0240-A894-F415BA0D1202}"/>
              </a:ext>
            </a:extLst>
          </p:cNvPr>
          <p:cNvSpPr/>
          <p:nvPr/>
        </p:nvSpPr>
        <p:spPr>
          <a:xfrm>
            <a:off x="1953819" y="2917293"/>
            <a:ext cx="702733" cy="8720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119C96E-D1EE-EB42-8E6F-4CC14BCF15B1}"/>
              </a:ext>
            </a:extLst>
          </p:cNvPr>
          <p:cNvSpPr/>
          <p:nvPr/>
        </p:nvSpPr>
        <p:spPr>
          <a:xfrm>
            <a:off x="2904726" y="2835003"/>
            <a:ext cx="702733" cy="872067"/>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FDDCEA5-8B7D-CC41-B77F-D2EA474A5D8F}"/>
              </a:ext>
            </a:extLst>
          </p:cNvPr>
          <p:cNvSpPr/>
          <p:nvPr/>
        </p:nvSpPr>
        <p:spPr>
          <a:xfrm>
            <a:off x="2248827" y="2536294"/>
            <a:ext cx="702733" cy="872067"/>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9CB479B-1D9F-8140-BEA4-FFE6037C9435}"/>
              </a:ext>
            </a:extLst>
          </p:cNvPr>
          <p:cNvSpPr/>
          <p:nvPr/>
        </p:nvSpPr>
        <p:spPr>
          <a:xfrm>
            <a:off x="1689367" y="2845324"/>
            <a:ext cx="702733" cy="872067"/>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B6B09F57-DBA6-C847-9ABE-87164A6586F9}"/>
              </a:ext>
            </a:extLst>
          </p:cNvPr>
          <p:cNvSpPr/>
          <p:nvPr/>
        </p:nvSpPr>
        <p:spPr>
          <a:xfrm>
            <a:off x="1742550" y="2421466"/>
            <a:ext cx="702733" cy="872067"/>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953A7D9-6031-0E48-88BA-A4DD16FA2AEC}"/>
              </a:ext>
            </a:extLst>
          </p:cNvPr>
          <p:cNvSpPr/>
          <p:nvPr/>
        </p:nvSpPr>
        <p:spPr>
          <a:xfrm>
            <a:off x="2707749" y="2458239"/>
            <a:ext cx="702733" cy="872067"/>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15">
            <a:extLst>
              <a:ext uri="{FF2B5EF4-FFF2-40B4-BE49-F238E27FC236}">
                <a16:creationId xmlns:a16="http://schemas.microsoft.com/office/drawing/2014/main" id="{A363D210-AD92-3E4D-900C-B14480F2254B}"/>
              </a:ext>
            </a:extLst>
          </p:cNvPr>
          <p:cNvGraphicFramePr>
            <a:graphicFrameLocks noGrp="1"/>
          </p:cNvGraphicFramePr>
          <p:nvPr/>
        </p:nvGraphicFramePr>
        <p:xfrm>
          <a:off x="7528558" y="845361"/>
          <a:ext cx="4127205" cy="5614378"/>
        </p:xfrm>
        <a:graphic>
          <a:graphicData uri="http://schemas.openxmlformats.org/drawingml/2006/table">
            <a:tbl>
              <a:tblPr firstRow="1" bandRow="1">
                <a:tableStyleId>{5C22544A-7EE6-4342-B048-85BDC9FD1C3A}</a:tableStyleId>
              </a:tblPr>
              <a:tblGrid>
                <a:gridCol w="1375735">
                  <a:extLst>
                    <a:ext uri="{9D8B030D-6E8A-4147-A177-3AD203B41FA5}">
                      <a16:colId xmlns:a16="http://schemas.microsoft.com/office/drawing/2014/main" val="3915897197"/>
                    </a:ext>
                  </a:extLst>
                </a:gridCol>
                <a:gridCol w="1375735">
                  <a:extLst>
                    <a:ext uri="{9D8B030D-6E8A-4147-A177-3AD203B41FA5}">
                      <a16:colId xmlns:a16="http://schemas.microsoft.com/office/drawing/2014/main" val="1632053355"/>
                    </a:ext>
                  </a:extLst>
                </a:gridCol>
                <a:gridCol w="1375735">
                  <a:extLst>
                    <a:ext uri="{9D8B030D-6E8A-4147-A177-3AD203B41FA5}">
                      <a16:colId xmlns:a16="http://schemas.microsoft.com/office/drawing/2014/main" val="1752532394"/>
                    </a:ext>
                  </a:extLst>
                </a:gridCol>
              </a:tblGrid>
              <a:tr h="510398">
                <a:tc>
                  <a:txBody>
                    <a:bodyPr/>
                    <a:lstStyle/>
                    <a:p>
                      <a:r>
                        <a:rPr lang="en-US" dirty="0"/>
                        <a:t>Person</a:t>
                      </a:r>
                    </a:p>
                  </a:txBody>
                  <a:tcPr/>
                </a:tc>
                <a:tc>
                  <a:txBody>
                    <a:bodyPr/>
                    <a:lstStyle/>
                    <a:p>
                      <a:r>
                        <a:rPr lang="en-US" dirty="0"/>
                        <a:t>Card</a:t>
                      </a:r>
                    </a:p>
                  </a:txBody>
                  <a:tcPr/>
                </a:tc>
                <a:tc>
                  <a:txBody>
                    <a:bodyPr/>
                    <a:lstStyle/>
                    <a:p>
                      <a:r>
                        <a:rPr lang="en-US" dirty="0"/>
                        <a:t>Group</a:t>
                      </a:r>
                    </a:p>
                  </a:txBody>
                  <a:tcPr/>
                </a:tc>
                <a:extLst>
                  <a:ext uri="{0D108BD9-81ED-4DB2-BD59-A6C34878D82A}">
                    <a16:rowId xmlns:a16="http://schemas.microsoft.com/office/drawing/2014/main" val="1302846021"/>
                  </a:ext>
                </a:extLst>
              </a:tr>
              <a:tr h="510398">
                <a:tc>
                  <a:txBody>
                    <a:bodyPr/>
                    <a:lstStyle/>
                    <a:p>
                      <a:r>
                        <a:rPr lang="en-US" dirty="0"/>
                        <a:t>1</a:t>
                      </a:r>
                    </a:p>
                  </a:txBody>
                  <a:tcPr/>
                </a:tc>
                <a:tc>
                  <a:txBody>
                    <a:bodyPr/>
                    <a:lstStyle/>
                    <a:p>
                      <a:endParaRPr lang="en-US" dirty="0"/>
                    </a:p>
                  </a:txBody>
                  <a:tcPr/>
                </a:tc>
                <a:tc>
                  <a:txBody>
                    <a:bodyPr/>
                    <a:lstStyle/>
                    <a:p>
                      <a:r>
                        <a:rPr lang="en-US" dirty="0"/>
                        <a:t>Comparison</a:t>
                      </a:r>
                    </a:p>
                  </a:txBody>
                  <a:tcPr/>
                </a:tc>
                <a:extLst>
                  <a:ext uri="{0D108BD9-81ED-4DB2-BD59-A6C34878D82A}">
                    <a16:rowId xmlns:a16="http://schemas.microsoft.com/office/drawing/2014/main" val="2874850640"/>
                  </a:ext>
                </a:extLst>
              </a:tr>
              <a:tr h="510398">
                <a:tc>
                  <a:txBody>
                    <a:bodyPr/>
                    <a:lstStyle/>
                    <a:p>
                      <a:r>
                        <a:rPr lang="en-US" dirty="0"/>
                        <a:t>2</a:t>
                      </a:r>
                    </a:p>
                  </a:txBody>
                  <a:tcPr/>
                </a:tc>
                <a:tc>
                  <a:txBody>
                    <a:bodyPr/>
                    <a:lstStyle/>
                    <a:p>
                      <a:endParaRPr lang="en-US" dirty="0"/>
                    </a:p>
                  </a:txBody>
                  <a:tcPr/>
                </a:tc>
                <a:tc>
                  <a:txBody>
                    <a:bodyPr/>
                    <a:lstStyle/>
                    <a:p>
                      <a:r>
                        <a:rPr lang="en-US" dirty="0"/>
                        <a:t>Intervention</a:t>
                      </a:r>
                    </a:p>
                  </a:txBody>
                  <a:tcPr/>
                </a:tc>
                <a:extLst>
                  <a:ext uri="{0D108BD9-81ED-4DB2-BD59-A6C34878D82A}">
                    <a16:rowId xmlns:a16="http://schemas.microsoft.com/office/drawing/2014/main" val="1053280292"/>
                  </a:ext>
                </a:extLst>
              </a:tr>
              <a:tr h="510398">
                <a:tc>
                  <a:txBody>
                    <a:bodyPr/>
                    <a:lstStyle/>
                    <a:p>
                      <a:r>
                        <a:rPr lang="en-US" dirty="0"/>
                        <a:t>3</a:t>
                      </a:r>
                    </a:p>
                  </a:txBody>
                  <a:tcPr/>
                </a:tc>
                <a:tc>
                  <a:txBody>
                    <a:bodyPr/>
                    <a:lstStyle/>
                    <a:p>
                      <a:endParaRPr lang="en-US" dirty="0"/>
                    </a:p>
                  </a:txBody>
                  <a:tcPr/>
                </a:tc>
                <a:tc>
                  <a:txBody>
                    <a:bodyPr/>
                    <a:lstStyle/>
                    <a:p>
                      <a:r>
                        <a:rPr lang="en-US" dirty="0"/>
                        <a:t>Comparison</a:t>
                      </a:r>
                    </a:p>
                  </a:txBody>
                  <a:tcPr/>
                </a:tc>
                <a:extLst>
                  <a:ext uri="{0D108BD9-81ED-4DB2-BD59-A6C34878D82A}">
                    <a16:rowId xmlns:a16="http://schemas.microsoft.com/office/drawing/2014/main" val="887190602"/>
                  </a:ext>
                </a:extLst>
              </a:tr>
              <a:tr h="510398">
                <a:tc>
                  <a:txBody>
                    <a:bodyPr/>
                    <a:lstStyle/>
                    <a:p>
                      <a:r>
                        <a:rPr lang="en-US" dirty="0"/>
                        <a:t>4</a:t>
                      </a:r>
                    </a:p>
                  </a:txBody>
                  <a:tcPr/>
                </a:tc>
                <a:tc>
                  <a:txBody>
                    <a:bodyPr/>
                    <a:lstStyle/>
                    <a:p>
                      <a:endParaRPr lang="en-US" dirty="0"/>
                    </a:p>
                  </a:txBody>
                  <a:tcPr/>
                </a:tc>
                <a:tc>
                  <a:txBody>
                    <a:bodyPr/>
                    <a:lstStyle/>
                    <a:p>
                      <a:r>
                        <a:rPr lang="en-US" dirty="0"/>
                        <a:t>Intervention</a:t>
                      </a:r>
                    </a:p>
                  </a:txBody>
                  <a:tcPr/>
                </a:tc>
                <a:extLst>
                  <a:ext uri="{0D108BD9-81ED-4DB2-BD59-A6C34878D82A}">
                    <a16:rowId xmlns:a16="http://schemas.microsoft.com/office/drawing/2014/main" val="4035789340"/>
                  </a:ext>
                </a:extLst>
              </a:tr>
              <a:tr h="510398">
                <a:tc>
                  <a:txBody>
                    <a:bodyPr/>
                    <a:lstStyle/>
                    <a:p>
                      <a:r>
                        <a:rPr lang="en-US" dirty="0"/>
                        <a:t>5</a:t>
                      </a:r>
                    </a:p>
                  </a:txBody>
                  <a:tcPr/>
                </a:tc>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Comparison</a:t>
                      </a:r>
                    </a:p>
                  </a:txBody>
                  <a:tcPr/>
                </a:tc>
                <a:extLst>
                  <a:ext uri="{0D108BD9-81ED-4DB2-BD59-A6C34878D82A}">
                    <a16:rowId xmlns:a16="http://schemas.microsoft.com/office/drawing/2014/main" val="2770062666"/>
                  </a:ext>
                </a:extLst>
              </a:tr>
              <a:tr h="510398">
                <a:tc>
                  <a:txBody>
                    <a:bodyPr/>
                    <a:lstStyle/>
                    <a:p>
                      <a:r>
                        <a:rPr lang="en-US" dirty="0"/>
                        <a:t>6</a:t>
                      </a:r>
                    </a:p>
                  </a:txBody>
                  <a:tcPr/>
                </a:tc>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Comparison</a:t>
                      </a:r>
                    </a:p>
                  </a:txBody>
                  <a:tcPr/>
                </a:tc>
                <a:extLst>
                  <a:ext uri="{0D108BD9-81ED-4DB2-BD59-A6C34878D82A}">
                    <a16:rowId xmlns:a16="http://schemas.microsoft.com/office/drawing/2014/main" val="1457378784"/>
                  </a:ext>
                </a:extLst>
              </a:tr>
              <a:tr h="510398">
                <a:tc>
                  <a:txBody>
                    <a:bodyPr/>
                    <a:lstStyle/>
                    <a:p>
                      <a:r>
                        <a:rPr lang="en-US" dirty="0"/>
                        <a:t>7</a:t>
                      </a:r>
                    </a:p>
                  </a:txBody>
                  <a:tcPr/>
                </a:tc>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Comparison</a:t>
                      </a:r>
                    </a:p>
                  </a:txBody>
                  <a:tcPr/>
                </a:tc>
                <a:extLst>
                  <a:ext uri="{0D108BD9-81ED-4DB2-BD59-A6C34878D82A}">
                    <a16:rowId xmlns:a16="http://schemas.microsoft.com/office/drawing/2014/main" val="3892164935"/>
                  </a:ext>
                </a:extLst>
              </a:tr>
              <a:tr h="510398">
                <a:tc>
                  <a:txBody>
                    <a:bodyPr/>
                    <a:lstStyle/>
                    <a:p>
                      <a:r>
                        <a:rPr lang="en-US" dirty="0"/>
                        <a:t>8</a:t>
                      </a:r>
                    </a:p>
                  </a:txBody>
                  <a:tcPr/>
                </a:tc>
                <a:tc>
                  <a:txBody>
                    <a:bodyPr/>
                    <a:lstStyle/>
                    <a:p>
                      <a:endParaRPr lang="en-US" dirty="0"/>
                    </a:p>
                  </a:txBody>
                  <a:tcPr/>
                </a:tc>
                <a:tc>
                  <a:txBody>
                    <a:bodyPr/>
                    <a:lstStyle/>
                    <a:p>
                      <a:r>
                        <a:rPr lang="en-US" dirty="0"/>
                        <a:t>Intervention</a:t>
                      </a:r>
                    </a:p>
                  </a:txBody>
                  <a:tcPr/>
                </a:tc>
                <a:extLst>
                  <a:ext uri="{0D108BD9-81ED-4DB2-BD59-A6C34878D82A}">
                    <a16:rowId xmlns:a16="http://schemas.microsoft.com/office/drawing/2014/main" val="2819678471"/>
                  </a:ext>
                </a:extLst>
              </a:tr>
              <a:tr h="510398">
                <a:tc>
                  <a:txBody>
                    <a:bodyPr/>
                    <a:lstStyle/>
                    <a:p>
                      <a:r>
                        <a:rPr lang="en-US" dirty="0"/>
                        <a:t>9</a:t>
                      </a:r>
                    </a:p>
                  </a:txBody>
                  <a:tcPr/>
                </a:tc>
                <a:tc>
                  <a:txBody>
                    <a:bodyPr/>
                    <a:lstStyle/>
                    <a:p>
                      <a:endParaRPr lang="en-US" dirty="0"/>
                    </a:p>
                  </a:txBody>
                  <a:tcPr/>
                </a:tc>
                <a:tc>
                  <a:txBody>
                    <a:bodyPr/>
                    <a:lstStyle/>
                    <a:p>
                      <a:r>
                        <a:rPr lang="en-US" dirty="0"/>
                        <a:t>Intervention</a:t>
                      </a:r>
                    </a:p>
                  </a:txBody>
                  <a:tcPr/>
                </a:tc>
                <a:extLst>
                  <a:ext uri="{0D108BD9-81ED-4DB2-BD59-A6C34878D82A}">
                    <a16:rowId xmlns:a16="http://schemas.microsoft.com/office/drawing/2014/main" val="1983098539"/>
                  </a:ext>
                </a:extLst>
              </a:tr>
              <a:tr h="510398">
                <a:tc>
                  <a:txBody>
                    <a:bodyPr/>
                    <a:lstStyle/>
                    <a:p>
                      <a:r>
                        <a:rPr lang="en-US" dirty="0"/>
                        <a:t>10</a:t>
                      </a:r>
                    </a:p>
                  </a:txBody>
                  <a:tcPr/>
                </a:tc>
                <a:tc>
                  <a:txBody>
                    <a:bodyPr/>
                    <a:lstStyle/>
                    <a:p>
                      <a:endParaRPr lang="en-US" dirty="0"/>
                    </a:p>
                  </a:txBody>
                  <a:tcPr/>
                </a:tc>
                <a:tc>
                  <a:txBody>
                    <a:bodyPr/>
                    <a:lstStyle/>
                    <a:p>
                      <a:r>
                        <a:rPr lang="en-US" dirty="0"/>
                        <a:t>Intervention</a:t>
                      </a:r>
                    </a:p>
                  </a:txBody>
                  <a:tcPr/>
                </a:tc>
                <a:extLst>
                  <a:ext uri="{0D108BD9-81ED-4DB2-BD59-A6C34878D82A}">
                    <a16:rowId xmlns:a16="http://schemas.microsoft.com/office/drawing/2014/main" val="655303421"/>
                  </a:ext>
                </a:extLst>
              </a:tr>
            </a:tbl>
          </a:graphicData>
        </a:graphic>
      </p:graphicFrame>
      <p:sp>
        <p:nvSpPr>
          <p:cNvPr id="17" name="Rectangle 16">
            <a:extLst>
              <a:ext uri="{FF2B5EF4-FFF2-40B4-BE49-F238E27FC236}">
                <a16:creationId xmlns:a16="http://schemas.microsoft.com/office/drawing/2014/main" id="{2EBC7D24-7EAB-A941-BA3C-236FFAB13513}"/>
              </a:ext>
            </a:extLst>
          </p:cNvPr>
          <p:cNvSpPr/>
          <p:nvPr/>
        </p:nvSpPr>
        <p:spPr>
          <a:xfrm>
            <a:off x="9209576" y="1375395"/>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B0A4D0A-97C9-924F-82C8-E93E905C0457}"/>
              </a:ext>
            </a:extLst>
          </p:cNvPr>
          <p:cNvSpPr/>
          <p:nvPr/>
        </p:nvSpPr>
        <p:spPr>
          <a:xfrm>
            <a:off x="9209576" y="2398045"/>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3451E7AB-C8CC-9F46-84BC-10953909B2FD}"/>
              </a:ext>
            </a:extLst>
          </p:cNvPr>
          <p:cNvSpPr/>
          <p:nvPr/>
        </p:nvSpPr>
        <p:spPr>
          <a:xfrm>
            <a:off x="9204429" y="3446402"/>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5D769209-DDD0-9B44-969C-F7AD4042B327}"/>
              </a:ext>
            </a:extLst>
          </p:cNvPr>
          <p:cNvSpPr/>
          <p:nvPr/>
        </p:nvSpPr>
        <p:spPr>
          <a:xfrm>
            <a:off x="9204429" y="3939951"/>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9165340-238C-3341-9665-D34F5D3A0A06}"/>
              </a:ext>
            </a:extLst>
          </p:cNvPr>
          <p:cNvSpPr/>
          <p:nvPr/>
        </p:nvSpPr>
        <p:spPr>
          <a:xfrm>
            <a:off x="9204429" y="4457341"/>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EA08507F-BD24-284B-9AD2-F6E6EDA06578}"/>
              </a:ext>
            </a:extLst>
          </p:cNvPr>
          <p:cNvSpPr/>
          <p:nvPr/>
        </p:nvSpPr>
        <p:spPr>
          <a:xfrm>
            <a:off x="9209576" y="1905429"/>
            <a:ext cx="382584" cy="43695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F2A8390C-B52E-8C4C-B78E-E911413A2530}"/>
              </a:ext>
            </a:extLst>
          </p:cNvPr>
          <p:cNvSpPr/>
          <p:nvPr/>
        </p:nvSpPr>
        <p:spPr>
          <a:xfrm>
            <a:off x="9204429" y="2916368"/>
            <a:ext cx="382584" cy="43695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EF8970F8-1E87-E34B-95BE-43FFB8EEAFC2}"/>
              </a:ext>
            </a:extLst>
          </p:cNvPr>
          <p:cNvSpPr/>
          <p:nvPr/>
        </p:nvSpPr>
        <p:spPr>
          <a:xfrm>
            <a:off x="715268" y="4815476"/>
            <a:ext cx="6218932" cy="1641968"/>
          </a:xfrm>
          <a:prstGeom prst="rect">
            <a:avLst/>
          </a:prstGeom>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625441EC-6A34-7F4D-9952-AE2FCEFD51E8}"/>
              </a:ext>
            </a:extLst>
          </p:cNvPr>
          <p:cNvSpPr txBox="1"/>
          <p:nvPr/>
        </p:nvSpPr>
        <p:spPr>
          <a:xfrm>
            <a:off x="1162185" y="5097654"/>
            <a:ext cx="4933815" cy="646331"/>
          </a:xfrm>
          <a:prstGeom prst="rect">
            <a:avLst/>
          </a:prstGeom>
          <a:noFill/>
        </p:spPr>
        <p:txBody>
          <a:bodyPr wrap="square" rtlCol="0">
            <a:spAutoFit/>
          </a:bodyPr>
          <a:lstStyle/>
          <a:p>
            <a:r>
              <a:rPr lang="en-US" dirty="0">
                <a:ln w="0"/>
                <a:solidFill>
                  <a:schemeClr val="accent4"/>
                </a:solidFill>
                <a:effectLst>
                  <a:outerShdw blurRad="38100" dist="25400" dir="5400000" algn="ctr" rotWithShape="0">
                    <a:srgbClr val="6E747A">
                      <a:alpha val="43000"/>
                    </a:srgbClr>
                  </a:outerShdw>
                </a:effectLst>
              </a:rPr>
              <a:t>For the last 3, I didn’t even need to draw the cards to know which group they were in.</a:t>
            </a:r>
          </a:p>
        </p:txBody>
      </p:sp>
    </p:spTree>
    <p:extLst>
      <p:ext uri="{BB962C8B-B14F-4D97-AF65-F5344CB8AC3E}">
        <p14:creationId xmlns:p14="http://schemas.microsoft.com/office/powerpoint/2010/main" val="2343188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07079-AC6E-F744-B526-2BC2EB521824}"/>
              </a:ext>
            </a:extLst>
          </p:cNvPr>
          <p:cNvSpPr>
            <a:spLocks noGrp="1"/>
          </p:cNvSpPr>
          <p:nvPr>
            <p:ph type="title"/>
          </p:nvPr>
        </p:nvSpPr>
        <p:spPr/>
        <p:txBody>
          <a:bodyPr/>
          <a:lstStyle/>
          <a:p>
            <a:r>
              <a:rPr lang="en-US" dirty="0"/>
              <a:t>Is this random?</a:t>
            </a:r>
          </a:p>
        </p:txBody>
      </p:sp>
      <p:sp>
        <p:nvSpPr>
          <p:cNvPr id="3" name="Content Placeholder 2">
            <a:extLst>
              <a:ext uri="{FF2B5EF4-FFF2-40B4-BE49-F238E27FC236}">
                <a16:creationId xmlns:a16="http://schemas.microsoft.com/office/drawing/2014/main" id="{D9886127-6822-264B-95B0-349028284076}"/>
              </a:ext>
            </a:extLst>
          </p:cNvPr>
          <p:cNvSpPr>
            <a:spLocks noGrp="1"/>
          </p:cNvSpPr>
          <p:nvPr>
            <p:ph idx="1"/>
          </p:nvPr>
        </p:nvSpPr>
        <p:spPr/>
        <p:txBody>
          <a:bodyPr/>
          <a:lstStyle/>
          <a:p>
            <a:pPr marL="0" indent="0">
              <a:buNone/>
            </a:pPr>
            <a:r>
              <a:rPr lang="en-US" dirty="0"/>
              <a:t>“When one group is full, the rest go into the other group.” </a:t>
            </a:r>
          </a:p>
          <a:p>
            <a:pPr marL="0" indent="0">
              <a:buNone/>
            </a:pPr>
            <a:endParaRPr lang="en-US" dirty="0"/>
          </a:p>
          <a:p>
            <a:pPr marL="0" indent="0">
              <a:buNone/>
            </a:pPr>
            <a:r>
              <a:rPr lang="en-US" dirty="0"/>
              <a:t>Is that really random? Doesn’t this induce a dependence between the units?</a:t>
            </a:r>
          </a:p>
          <a:p>
            <a:pPr marL="0" indent="0">
              <a:buNone/>
            </a:pPr>
            <a:endParaRPr lang="en-US" dirty="0"/>
          </a:p>
          <a:p>
            <a:pPr marL="0" indent="0">
              <a:buNone/>
            </a:pPr>
            <a:r>
              <a:rPr lang="en-US" dirty="0"/>
              <a:t>Yes, it really is independent and random. To see why, just imagine a different shuffling of the cards … every unit would have some the same chance being selected at the start as at the end. </a:t>
            </a:r>
          </a:p>
        </p:txBody>
      </p:sp>
    </p:spTree>
    <p:extLst>
      <p:ext uri="{BB962C8B-B14F-4D97-AF65-F5344CB8AC3E}">
        <p14:creationId xmlns:p14="http://schemas.microsoft.com/office/powerpoint/2010/main" val="2488026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0AEEB-B7E8-9548-92E1-FA23694F73C6}"/>
              </a:ext>
            </a:extLst>
          </p:cNvPr>
          <p:cNvSpPr>
            <a:spLocks noGrp="1"/>
          </p:cNvSpPr>
          <p:nvPr>
            <p:ph type="title"/>
          </p:nvPr>
        </p:nvSpPr>
        <p:spPr/>
        <p:txBody>
          <a:bodyPr/>
          <a:lstStyle/>
          <a:p>
            <a:r>
              <a:rPr lang="en-US" dirty="0"/>
              <a:t>Why does this seem not random?</a:t>
            </a:r>
          </a:p>
        </p:txBody>
      </p:sp>
      <p:sp>
        <p:nvSpPr>
          <p:cNvPr id="3" name="Content Placeholder 2">
            <a:extLst>
              <a:ext uri="{FF2B5EF4-FFF2-40B4-BE49-F238E27FC236}">
                <a16:creationId xmlns:a16="http://schemas.microsoft.com/office/drawing/2014/main" id="{51FA6AFF-3CEE-9B43-A3D2-528379A3D5ED}"/>
              </a:ext>
            </a:extLst>
          </p:cNvPr>
          <p:cNvSpPr>
            <a:spLocks noGrp="1"/>
          </p:cNvSpPr>
          <p:nvPr>
            <p:ph idx="1"/>
          </p:nvPr>
        </p:nvSpPr>
        <p:spPr/>
        <p:txBody>
          <a:bodyPr/>
          <a:lstStyle/>
          <a:p>
            <a:pPr marL="0" indent="0">
              <a:buNone/>
            </a:pPr>
            <a:r>
              <a:rPr lang="en-US" dirty="0"/>
              <a:t>Because humans aren’t very good at generating random numbers.</a:t>
            </a:r>
          </a:p>
          <a:p>
            <a:pPr marL="0" indent="0">
              <a:buNone/>
            </a:pPr>
            <a:endParaRPr lang="en-US" dirty="0"/>
          </a:p>
          <a:p>
            <a:pPr marL="0" indent="0">
              <a:buNone/>
            </a:pPr>
            <a:r>
              <a:rPr lang="en-US" dirty="0"/>
              <a:t>For example, which of these runs is more likely?</a:t>
            </a:r>
          </a:p>
          <a:p>
            <a:pPr marL="0" indent="0">
              <a:buNone/>
            </a:pPr>
            <a:r>
              <a:rPr lang="en-US" dirty="0"/>
              <a:t>#1:</a:t>
            </a:r>
          </a:p>
          <a:p>
            <a:pPr marL="0" indent="0">
              <a:buNone/>
            </a:pPr>
            <a:r>
              <a:rPr lang="en-US" dirty="0"/>
              <a:t>#2: </a:t>
            </a:r>
          </a:p>
          <a:p>
            <a:pPr marL="0" indent="0">
              <a:buNone/>
            </a:pPr>
            <a:endParaRPr lang="en-US" dirty="0"/>
          </a:p>
          <a:p>
            <a:pPr marL="0" indent="0">
              <a:buNone/>
            </a:pPr>
            <a:r>
              <a:rPr lang="en-US" dirty="0"/>
              <a:t>They are both equally likely! </a:t>
            </a:r>
          </a:p>
        </p:txBody>
      </p:sp>
      <p:sp>
        <p:nvSpPr>
          <p:cNvPr id="4" name="Rectangle 3">
            <a:extLst>
              <a:ext uri="{FF2B5EF4-FFF2-40B4-BE49-F238E27FC236}">
                <a16:creationId xmlns:a16="http://schemas.microsoft.com/office/drawing/2014/main" id="{7B438FE2-30A1-8945-B7D8-C6F39BE3B333}"/>
              </a:ext>
            </a:extLst>
          </p:cNvPr>
          <p:cNvSpPr/>
          <p:nvPr/>
        </p:nvSpPr>
        <p:spPr>
          <a:xfrm>
            <a:off x="1623442" y="3429000"/>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78775E75-4753-8041-9AFB-E03ADF7A2679}"/>
              </a:ext>
            </a:extLst>
          </p:cNvPr>
          <p:cNvSpPr/>
          <p:nvPr/>
        </p:nvSpPr>
        <p:spPr>
          <a:xfrm>
            <a:off x="2102444" y="3436078"/>
            <a:ext cx="382584" cy="43695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BADBEA1-0C96-7144-91C0-6FC60AEE6BD3}"/>
              </a:ext>
            </a:extLst>
          </p:cNvPr>
          <p:cNvSpPr/>
          <p:nvPr/>
        </p:nvSpPr>
        <p:spPr>
          <a:xfrm>
            <a:off x="5401106" y="3436078"/>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1196A322-3976-3C45-AEB6-5F1603C188C2}"/>
              </a:ext>
            </a:extLst>
          </p:cNvPr>
          <p:cNvSpPr/>
          <p:nvPr/>
        </p:nvSpPr>
        <p:spPr>
          <a:xfrm>
            <a:off x="4459143" y="3436078"/>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16A92EE-91CB-1346-A0DB-407557C6F533}"/>
              </a:ext>
            </a:extLst>
          </p:cNvPr>
          <p:cNvSpPr/>
          <p:nvPr/>
        </p:nvSpPr>
        <p:spPr>
          <a:xfrm>
            <a:off x="3539033" y="3436078"/>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6270371-6003-3747-9587-C8CC2E1C6291}"/>
              </a:ext>
            </a:extLst>
          </p:cNvPr>
          <p:cNvSpPr/>
          <p:nvPr/>
        </p:nvSpPr>
        <p:spPr>
          <a:xfrm>
            <a:off x="2596969" y="3433035"/>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492EDD7-1BFB-D545-9ABC-F66FFA4CBC33}"/>
              </a:ext>
            </a:extLst>
          </p:cNvPr>
          <p:cNvSpPr/>
          <p:nvPr/>
        </p:nvSpPr>
        <p:spPr>
          <a:xfrm>
            <a:off x="5864629" y="3429000"/>
            <a:ext cx="382584" cy="43695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905FFB9-9F34-7B45-9624-78CBA1054294}"/>
              </a:ext>
            </a:extLst>
          </p:cNvPr>
          <p:cNvSpPr/>
          <p:nvPr/>
        </p:nvSpPr>
        <p:spPr>
          <a:xfrm>
            <a:off x="4940431" y="3436078"/>
            <a:ext cx="382584" cy="43695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E9D6F91-9D99-1745-A191-975CE11B4D0D}"/>
              </a:ext>
            </a:extLst>
          </p:cNvPr>
          <p:cNvSpPr/>
          <p:nvPr/>
        </p:nvSpPr>
        <p:spPr>
          <a:xfrm>
            <a:off x="3999088" y="3436078"/>
            <a:ext cx="382584" cy="43695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AEC36A6-A011-C54A-A321-0F3C63E4654F}"/>
              </a:ext>
            </a:extLst>
          </p:cNvPr>
          <p:cNvSpPr/>
          <p:nvPr/>
        </p:nvSpPr>
        <p:spPr>
          <a:xfrm>
            <a:off x="3078978" y="3436078"/>
            <a:ext cx="382584" cy="43695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158FA756-73CE-D04A-9F6A-7389A674B94E}"/>
              </a:ext>
            </a:extLst>
          </p:cNvPr>
          <p:cNvSpPr/>
          <p:nvPr/>
        </p:nvSpPr>
        <p:spPr>
          <a:xfrm>
            <a:off x="1623442" y="3956378"/>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29B63D8-7288-A840-AC96-26FDBE2A267C}"/>
              </a:ext>
            </a:extLst>
          </p:cNvPr>
          <p:cNvSpPr/>
          <p:nvPr/>
        </p:nvSpPr>
        <p:spPr>
          <a:xfrm>
            <a:off x="2094935" y="3958888"/>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8D9DDCA-5F2E-F947-99D3-D58116A58BAF}"/>
              </a:ext>
            </a:extLst>
          </p:cNvPr>
          <p:cNvSpPr/>
          <p:nvPr/>
        </p:nvSpPr>
        <p:spPr>
          <a:xfrm>
            <a:off x="2603490" y="3945328"/>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7B177F3-7659-5643-B560-DCA0F2B63F19}"/>
              </a:ext>
            </a:extLst>
          </p:cNvPr>
          <p:cNvSpPr/>
          <p:nvPr/>
        </p:nvSpPr>
        <p:spPr>
          <a:xfrm>
            <a:off x="3548898" y="3945328"/>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B082EB2-E46D-0B4B-BCA7-64840AE9763E}"/>
              </a:ext>
            </a:extLst>
          </p:cNvPr>
          <p:cNvSpPr/>
          <p:nvPr/>
        </p:nvSpPr>
        <p:spPr>
          <a:xfrm>
            <a:off x="5879459" y="3936861"/>
            <a:ext cx="382584" cy="436958"/>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A305B1B-028B-314A-862B-5A5FBE84DC11}"/>
              </a:ext>
            </a:extLst>
          </p:cNvPr>
          <p:cNvSpPr/>
          <p:nvPr/>
        </p:nvSpPr>
        <p:spPr>
          <a:xfrm>
            <a:off x="3056967" y="3956378"/>
            <a:ext cx="382584" cy="43695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AD82AC64-7A0B-3440-96BF-FC1FEF0B15D6}"/>
              </a:ext>
            </a:extLst>
          </p:cNvPr>
          <p:cNvSpPr/>
          <p:nvPr/>
        </p:nvSpPr>
        <p:spPr>
          <a:xfrm>
            <a:off x="3995023" y="3956378"/>
            <a:ext cx="382584" cy="43695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72683951-A900-2745-86AB-09776409F579}"/>
              </a:ext>
            </a:extLst>
          </p:cNvPr>
          <p:cNvSpPr/>
          <p:nvPr/>
        </p:nvSpPr>
        <p:spPr>
          <a:xfrm>
            <a:off x="4465638" y="3945328"/>
            <a:ext cx="382584" cy="43695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123B307F-B017-014C-8B45-456BA1C88418}"/>
              </a:ext>
            </a:extLst>
          </p:cNvPr>
          <p:cNvSpPr/>
          <p:nvPr/>
        </p:nvSpPr>
        <p:spPr>
          <a:xfrm>
            <a:off x="4957856" y="3936861"/>
            <a:ext cx="382584" cy="43695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4F69BFDB-FBC9-CC4F-8683-EEA444A0D418}"/>
              </a:ext>
            </a:extLst>
          </p:cNvPr>
          <p:cNvSpPr/>
          <p:nvPr/>
        </p:nvSpPr>
        <p:spPr>
          <a:xfrm>
            <a:off x="5411333" y="3936861"/>
            <a:ext cx="372357" cy="43695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69635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9AD6-2736-A448-842F-5478A412149E}"/>
              </a:ext>
            </a:extLst>
          </p:cNvPr>
          <p:cNvSpPr>
            <a:spLocks noGrp="1"/>
          </p:cNvSpPr>
          <p:nvPr>
            <p:ph type="title"/>
          </p:nvPr>
        </p:nvSpPr>
        <p:spPr/>
        <p:txBody>
          <a:bodyPr/>
          <a:lstStyle/>
          <a:p>
            <a:r>
              <a:rPr lang="en-US" dirty="0"/>
              <a:t>Computer generated random numbers</a:t>
            </a:r>
          </a:p>
        </p:txBody>
      </p:sp>
      <p:sp>
        <p:nvSpPr>
          <p:cNvPr id="3" name="Content Placeholder 2">
            <a:extLst>
              <a:ext uri="{FF2B5EF4-FFF2-40B4-BE49-F238E27FC236}">
                <a16:creationId xmlns:a16="http://schemas.microsoft.com/office/drawing/2014/main" id="{2B36B616-DC4E-A64B-8F73-762C6DC99CDA}"/>
              </a:ext>
            </a:extLst>
          </p:cNvPr>
          <p:cNvSpPr>
            <a:spLocks noGrp="1"/>
          </p:cNvSpPr>
          <p:nvPr>
            <p:ph idx="1"/>
          </p:nvPr>
        </p:nvSpPr>
        <p:spPr/>
        <p:txBody>
          <a:bodyPr/>
          <a:lstStyle/>
          <a:p>
            <a:pPr marL="0" indent="0">
              <a:buNone/>
            </a:pPr>
            <a:r>
              <a:rPr lang="en-US" dirty="0"/>
              <a:t>Computer random number generators start with what is called a </a:t>
            </a:r>
            <a:r>
              <a:rPr lang="en-US" i="1" dirty="0"/>
              <a:t>seed value</a:t>
            </a:r>
            <a:r>
              <a:rPr lang="en-US" dirty="0"/>
              <a:t>, which is transformed in a complex way to yield the ‘random’ number. </a:t>
            </a:r>
          </a:p>
          <a:p>
            <a:pPr marL="0" indent="0">
              <a:buNone/>
            </a:pPr>
            <a:endParaRPr lang="en-US" dirty="0"/>
          </a:p>
          <a:p>
            <a:pPr marL="0" indent="0">
              <a:buNone/>
            </a:pPr>
            <a:r>
              <a:rPr lang="en-US" dirty="0"/>
              <a:t>If you start with the same seed value, the process always yields the same random numbers.</a:t>
            </a:r>
          </a:p>
        </p:txBody>
      </p:sp>
    </p:spTree>
    <p:extLst>
      <p:ext uri="{BB962C8B-B14F-4D97-AF65-F5344CB8AC3E}">
        <p14:creationId xmlns:p14="http://schemas.microsoft.com/office/powerpoint/2010/main" val="2920158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FAC48-F8F3-F44D-8C63-A5ABC88FCB23}"/>
              </a:ext>
            </a:extLst>
          </p:cNvPr>
          <p:cNvSpPr>
            <a:spLocks noGrp="1"/>
          </p:cNvSpPr>
          <p:nvPr>
            <p:ph type="title"/>
          </p:nvPr>
        </p:nvSpPr>
        <p:spPr/>
        <p:txBody>
          <a:bodyPr/>
          <a:lstStyle/>
          <a:p>
            <a:r>
              <a:rPr lang="en-US" dirty="0"/>
              <a:t>What’s so wrong with alternation?</a:t>
            </a:r>
          </a:p>
        </p:txBody>
      </p:sp>
      <p:sp>
        <p:nvSpPr>
          <p:cNvPr id="3" name="Content Placeholder 2">
            <a:extLst>
              <a:ext uri="{FF2B5EF4-FFF2-40B4-BE49-F238E27FC236}">
                <a16:creationId xmlns:a16="http://schemas.microsoft.com/office/drawing/2014/main" id="{E8F4A728-3918-FA4D-9890-5B7FB0DA0FB3}"/>
              </a:ext>
            </a:extLst>
          </p:cNvPr>
          <p:cNvSpPr>
            <a:spLocks noGrp="1"/>
          </p:cNvSpPr>
          <p:nvPr>
            <p:ph idx="1"/>
          </p:nvPr>
        </p:nvSpPr>
        <p:spPr/>
        <p:txBody>
          <a:bodyPr>
            <a:normAutofit lnSpcReduction="10000"/>
          </a:bodyPr>
          <a:lstStyle/>
          <a:p>
            <a:pPr marL="0" indent="0">
              <a:buNone/>
            </a:pPr>
            <a:r>
              <a:rPr lang="en-US" dirty="0"/>
              <a:t>Notice that in run #1, the red and blacks alternated in a pattern. Why not just use this approach?</a:t>
            </a:r>
          </a:p>
          <a:p>
            <a:pPr marL="0" indent="0">
              <a:buNone/>
            </a:pPr>
            <a:endParaRPr lang="en-US" dirty="0"/>
          </a:p>
          <a:p>
            <a:pPr marL="0" indent="0">
              <a:buNone/>
            </a:pPr>
            <a:r>
              <a:rPr lang="en-US" dirty="0"/>
              <a:t>Three good reasons:</a:t>
            </a:r>
          </a:p>
          <a:p>
            <a:pPr marL="514350" indent="-514350">
              <a:buAutoNum type="arabicParenR"/>
            </a:pPr>
            <a:r>
              <a:rPr lang="en-US" dirty="0"/>
              <a:t>You can manipulate this easily, particularly if you know that there are some units you’d like to be in the intervention group.</a:t>
            </a:r>
          </a:p>
          <a:p>
            <a:pPr marL="514350" indent="-514350">
              <a:buAutoNum type="arabicParenR"/>
            </a:pPr>
            <a:r>
              <a:rPr lang="en-US" dirty="0"/>
              <a:t>It’s not actually random … which means that the statistical properties that we need do not hold.</a:t>
            </a:r>
          </a:p>
          <a:p>
            <a:pPr marL="514350" indent="-514350">
              <a:buAutoNum type="arabicParenR"/>
            </a:pPr>
            <a:r>
              <a:rPr lang="en-US" dirty="0"/>
              <a:t>If there is any sort of cyclical property to your data, you can end up with two groups that are quite different than one another.  </a:t>
            </a:r>
          </a:p>
        </p:txBody>
      </p:sp>
    </p:spTree>
    <p:extLst>
      <p:ext uri="{BB962C8B-B14F-4D97-AF65-F5344CB8AC3E}">
        <p14:creationId xmlns:p14="http://schemas.microsoft.com/office/powerpoint/2010/main" val="2765263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05032-0A26-824A-8CFD-1EEA1C6A6AE3}"/>
              </a:ext>
            </a:extLst>
          </p:cNvPr>
          <p:cNvSpPr>
            <a:spLocks noGrp="1"/>
          </p:cNvSpPr>
          <p:nvPr>
            <p:ph type="title"/>
          </p:nvPr>
        </p:nvSpPr>
        <p:spPr>
          <a:xfrm>
            <a:off x="838200" y="2766218"/>
            <a:ext cx="10515600" cy="1325563"/>
          </a:xfrm>
        </p:spPr>
        <p:txBody>
          <a:bodyPr/>
          <a:lstStyle/>
          <a:p>
            <a:pPr algn="ctr"/>
            <a:r>
              <a:rPr lang="en-US" dirty="0"/>
              <a:t>Theoretical  Objections to Randomization</a:t>
            </a:r>
          </a:p>
        </p:txBody>
      </p:sp>
    </p:spTree>
    <p:extLst>
      <p:ext uri="{BB962C8B-B14F-4D97-AF65-F5344CB8AC3E}">
        <p14:creationId xmlns:p14="http://schemas.microsoft.com/office/powerpoint/2010/main" val="228322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859E0-C311-A248-98FD-4B071BA07AD0}"/>
              </a:ext>
            </a:extLst>
          </p:cNvPr>
          <p:cNvSpPr>
            <a:spLocks noGrp="1"/>
          </p:cNvSpPr>
          <p:nvPr>
            <p:ph type="title"/>
          </p:nvPr>
        </p:nvSpPr>
        <p:spPr/>
        <p:txBody>
          <a:bodyPr/>
          <a:lstStyle/>
          <a:p>
            <a:r>
              <a:rPr lang="en-US" dirty="0"/>
              <a:t>Criticisms</a:t>
            </a:r>
          </a:p>
        </p:txBody>
      </p:sp>
      <p:sp>
        <p:nvSpPr>
          <p:cNvPr id="3" name="Content Placeholder 2">
            <a:extLst>
              <a:ext uri="{FF2B5EF4-FFF2-40B4-BE49-F238E27FC236}">
                <a16:creationId xmlns:a16="http://schemas.microsoft.com/office/drawing/2014/main" id="{3DA9476B-CC55-4C45-A541-28EA663B017D}"/>
              </a:ext>
            </a:extLst>
          </p:cNvPr>
          <p:cNvSpPr>
            <a:spLocks noGrp="1"/>
          </p:cNvSpPr>
          <p:nvPr>
            <p:ph idx="1"/>
          </p:nvPr>
        </p:nvSpPr>
        <p:spPr/>
        <p:txBody>
          <a:bodyPr>
            <a:normAutofit lnSpcReduction="10000"/>
          </a:bodyPr>
          <a:lstStyle/>
          <a:p>
            <a:pPr marL="0" indent="0">
              <a:buNone/>
            </a:pPr>
            <a:r>
              <a:rPr lang="en-US" dirty="0"/>
              <a:t>There are a variety of criticisms of random assignment and experiments. These include that they:</a:t>
            </a:r>
          </a:p>
          <a:p>
            <a:r>
              <a:rPr lang="en-US" dirty="0"/>
              <a:t>Offer an oversimplified theory of causation.</a:t>
            </a:r>
          </a:p>
          <a:p>
            <a:r>
              <a:rPr lang="en-US" dirty="0"/>
              <a:t>Are unsuited for complex organizations like schools.</a:t>
            </a:r>
          </a:p>
          <a:p>
            <a:r>
              <a:rPr lang="en-US" dirty="0"/>
              <a:t>Are premature without good theory. </a:t>
            </a:r>
          </a:p>
          <a:p>
            <a:r>
              <a:rPr lang="en-US" dirty="0"/>
              <a:t>Are politically infeasible.</a:t>
            </a:r>
          </a:p>
          <a:p>
            <a:pPr marL="0" indent="0">
              <a:buNone/>
            </a:pPr>
            <a:endParaRPr lang="en-US" dirty="0"/>
          </a:p>
          <a:p>
            <a:pPr marL="0" indent="0">
              <a:buNone/>
            </a:pPr>
            <a:r>
              <a:rPr lang="en-US" dirty="0"/>
              <a:t>Despite these claims, however, randomized experiments have been possible in education. In the last 20 years, for example, over 400 such studies have been conducted in schools in the US (funded by IES).</a:t>
            </a:r>
          </a:p>
        </p:txBody>
      </p:sp>
    </p:spTree>
    <p:extLst>
      <p:ext uri="{BB962C8B-B14F-4D97-AF65-F5344CB8AC3E}">
        <p14:creationId xmlns:p14="http://schemas.microsoft.com/office/powerpoint/2010/main" val="2517224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3CA64-4C74-A84A-A7D6-F91F8D796C58}"/>
              </a:ext>
            </a:extLst>
          </p:cNvPr>
          <p:cNvSpPr>
            <a:spLocks noGrp="1"/>
          </p:cNvSpPr>
          <p:nvPr>
            <p:ph type="title"/>
          </p:nvPr>
        </p:nvSpPr>
        <p:spPr/>
        <p:txBody>
          <a:bodyPr/>
          <a:lstStyle/>
          <a:p>
            <a:r>
              <a:rPr lang="en-US" dirty="0"/>
              <a:t>Experiments often fail</a:t>
            </a:r>
          </a:p>
        </p:txBody>
      </p:sp>
      <p:sp>
        <p:nvSpPr>
          <p:cNvPr id="3" name="Content Placeholder 2">
            <a:extLst>
              <a:ext uri="{FF2B5EF4-FFF2-40B4-BE49-F238E27FC236}">
                <a16:creationId xmlns:a16="http://schemas.microsoft.com/office/drawing/2014/main" id="{D31821D4-4576-5F41-9880-8EBA88A4F86D}"/>
              </a:ext>
            </a:extLst>
          </p:cNvPr>
          <p:cNvSpPr>
            <a:spLocks noGrp="1"/>
          </p:cNvSpPr>
          <p:nvPr>
            <p:ph idx="1"/>
          </p:nvPr>
        </p:nvSpPr>
        <p:spPr/>
        <p:txBody>
          <a:bodyPr/>
          <a:lstStyle/>
          <a:p>
            <a:pPr marL="0" indent="0">
              <a:buNone/>
            </a:pPr>
            <a:r>
              <a:rPr lang="en-US" dirty="0"/>
              <a:t>Another criticism is that experiments often result in ‘null’ findings. That is, the effect sizes are small and often not statistically different than zero.</a:t>
            </a:r>
          </a:p>
          <a:p>
            <a:pPr marL="0" indent="0">
              <a:buNone/>
            </a:pPr>
            <a:endParaRPr lang="en-US" dirty="0"/>
          </a:p>
          <a:p>
            <a:pPr marL="0" indent="0">
              <a:buNone/>
            </a:pPr>
            <a:r>
              <a:rPr lang="en-US" dirty="0"/>
              <a:t>But isn’t this a finding in and of itself?</a:t>
            </a:r>
          </a:p>
          <a:p>
            <a:pPr marL="0" indent="0">
              <a:buNone/>
            </a:pPr>
            <a:endParaRPr lang="en-US" dirty="0"/>
          </a:p>
          <a:p>
            <a:pPr marL="0" indent="0">
              <a:buNone/>
            </a:pPr>
            <a:r>
              <a:rPr lang="en-US" dirty="0"/>
              <a:t>(Incidentally, this is true in fields beyond education. In medicine, too, for example, the vast majority of new treatments are not found to be effective.)</a:t>
            </a:r>
          </a:p>
        </p:txBody>
      </p:sp>
    </p:spTree>
    <p:extLst>
      <p:ext uri="{BB962C8B-B14F-4D97-AF65-F5344CB8AC3E}">
        <p14:creationId xmlns:p14="http://schemas.microsoft.com/office/powerpoint/2010/main" val="195263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D4558-28B4-3A4D-BD52-D20C49D4B397}"/>
              </a:ext>
            </a:extLst>
          </p:cNvPr>
          <p:cNvSpPr>
            <a:spLocks noGrp="1"/>
          </p:cNvSpPr>
          <p:nvPr>
            <p:ph type="title"/>
          </p:nvPr>
        </p:nvSpPr>
        <p:spPr/>
        <p:txBody>
          <a:bodyPr/>
          <a:lstStyle/>
          <a:p>
            <a:r>
              <a:rPr lang="en-US" dirty="0"/>
              <a:t>Aren’t there alternatives?</a:t>
            </a:r>
          </a:p>
        </p:txBody>
      </p:sp>
      <p:sp>
        <p:nvSpPr>
          <p:cNvPr id="3" name="Content Placeholder 2">
            <a:extLst>
              <a:ext uri="{FF2B5EF4-FFF2-40B4-BE49-F238E27FC236}">
                <a16:creationId xmlns:a16="http://schemas.microsoft.com/office/drawing/2014/main" id="{4212F537-D0C9-2642-A0CB-BFE95F34E894}"/>
              </a:ext>
            </a:extLst>
          </p:cNvPr>
          <p:cNvSpPr>
            <a:spLocks noGrp="1"/>
          </p:cNvSpPr>
          <p:nvPr>
            <p:ph idx="1"/>
          </p:nvPr>
        </p:nvSpPr>
        <p:spPr/>
        <p:txBody>
          <a:bodyPr>
            <a:normAutofit lnSpcReduction="10000"/>
          </a:bodyPr>
          <a:lstStyle/>
          <a:p>
            <a:pPr marL="0" indent="0">
              <a:buNone/>
            </a:pPr>
            <a:r>
              <a:rPr lang="en-US" dirty="0"/>
              <a:t>Yes, there are alternatives available. We will talk about two of these later this week:</a:t>
            </a:r>
          </a:p>
          <a:p>
            <a:r>
              <a:rPr lang="en-US" dirty="0"/>
              <a:t>Non-equivalent control group designs</a:t>
            </a:r>
          </a:p>
          <a:p>
            <a:r>
              <a:rPr lang="en-US" dirty="0"/>
              <a:t>Difference—in-difference designs</a:t>
            </a:r>
          </a:p>
          <a:p>
            <a:endParaRPr lang="en-US" dirty="0"/>
          </a:p>
          <a:p>
            <a:pPr marL="0" indent="0">
              <a:buNone/>
            </a:pPr>
            <a:r>
              <a:rPr lang="en-US" dirty="0"/>
              <a:t>But in order to recover the causal effect, these methods:</a:t>
            </a:r>
          </a:p>
          <a:p>
            <a:r>
              <a:rPr lang="en-US" dirty="0"/>
              <a:t>Require assumptions, some of which cannot be verified</a:t>
            </a:r>
          </a:p>
          <a:p>
            <a:r>
              <a:rPr lang="en-US" dirty="0"/>
              <a:t>Require advanced statistical methods to be used in the analyses</a:t>
            </a:r>
          </a:p>
          <a:p>
            <a:r>
              <a:rPr lang="en-US" dirty="0"/>
              <a:t>Require </a:t>
            </a:r>
            <a:r>
              <a:rPr lang="en-US" b="1" dirty="0"/>
              <a:t>more</a:t>
            </a:r>
            <a:r>
              <a:rPr lang="en-US" dirty="0"/>
              <a:t> data than experiments</a:t>
            </a:r>
          </a:p>
        </p:txBody>
      </p:sp>
    </p:spTree>
    <p:extLst>
      <p:ext uri="{BB962C8B-B14F-4D97-AF65-F5344CB8AC3E}">
        <p14:creationId xmlns:p14="http://schemas.microsoft.com/office/powerpoint/2010/main" val="257434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48FC7-EBEE-FF4C-9610-2B59C530874F}"/>
              </a:ext>
            </a:extLst>
          </p:cNvPr>
          <p:cNvSpPr>
            <a:spLocks noGrp="1"/>
          </p:cNvSpPr>
          <p:nvPr>
            <p:ph type="title"/>
          </p:nvPr>
        </p:nvSpPr>
        <p:spPr/>
        <p:txBody>
          <a:bodyPr/>
          <a:lstStyle/>
          <a:p>
            <a:r>
              <a:rPr lang="en-US" dirty="0"/>
              <a:t>Are they unethical?</a:t>
            </a:r>
          </a:p>
        </p:txBody>
      </p:sp>
      <p:sp>
        <p:nvSpPr>
          <p:cNvPr id="3" name="Content Placeholder 2">
            <a:extLst>
              <a:ext uri="{FF2B5EF4-FFF2-40B4-BE49-F238E27FC236}">
                <a16:creationId xmlns:a16="http://schemas.microsoft.com/office/drawing/2014/main" id="{EDC085CA-8130-5A45-BCEB-8717DB76A4EE}"/>
              </a:ext>
            </a:extLst>
          </p:cNvPr>
          <p:cNvSpPr>
            <a:spLocks noGrp="1"/>
          </p:cNvSpPr>
          <p:nvPr>
            <p:ph idx="1"/>
          </p:nvPr>
        </p:nvSpPr>
        <p:spPr/>
        <p:txBody>
          <a:bodyPr/>
          <a:lstStyle/>
          <a:p>
            <a:pPr marL="0" indent="0">
              <a:buNone/>
            </a:pPr>
            <a:r>
              <a:rPr lang="en-US" dirty="0"/>
              <a:t>In an experiment, some people don’t get the intervention. Isn’t this unethical?</a:t>
            </a:r>
          </a:p>
          <a:p>
            <a:pPr marL="0" indent="0">
              <a:buNone/>
            </a:pPr>
            <a:endParaRPr lang="en-US" dirty="0"/>
          </a:p>
          <a:p>
            <a:pPr marL="0" indent="0">
              <a:buNone/>
            </a:pPr>
            <a:r>
              <a:rPr lang="en-US" dirty="0"/>
              <a:t>To answer this, we need to consider the risks and benefits to both participants and society. </a:t>
            </a:r>
          </a:p>
          <a:p>
            <a:pPr marL="0" indent="0">
              <a:buNone/>
            </a:pPr>
            <a:endParaRPr lang="en-US" dirty="0"/>
          </a:p>
          <a:p>
            <a:pPr marL="0" indent="0">
              <a:buNone/>
            </a:pPr>
            <a:r>
              <a:rPr lang="en-US" dirty="0"/>
              <a:t>If the potential benefits do not outweigh the risks, overall, then it is essentially </a:t>
            </a:r>
            <a:r>
              <a:rPr lang="en-US" i="1" dirty="0"/>
              <a:t>never</a:t>
            </a:r>
            <a:r>
              <a:rPr lang="en-US" dirty="0"/>
              <a:t> ethical to randomize.</a:t>
            </a:r>
          </a:p>
        </p:txBody>
      </p:sp>
    </p:spTree>
    <p:extLst>
      <p:ext uri="{BB962C8B-B14F-4D97-AF65-F5344CB8AC3E}">
        <p14:creationId xmlns:p14="http://schemas.microsoft.com/office/powerpoint/2010/main" val="4076754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31DB1-1A68-B341-B399-09C37A455B35}"/>
              </a:ext>
            </a:extLst>
          </p:cNvPr>
          <p:cNvSpPr>
            <a:spLocks noGrp="1"/>
          </p:cNvSpPr>
          <p:nvPr>
            <p:ph type="title"/>
          </p:nvPr>
        </p:nvSpPr>
        <p:spPr/>
        <p:txBody>
          <a:bodyPr/>
          <a:lstStyle/>
          <a:p>
            <a:r>
              <a:rPr lang="en-US" dirty="0"/>
              <a:t>Risks of being in an intervention</a:t>
            </a:r>
          </a:p>
        </p:txBody>
      </p:sp>
      <p:sp>
        <p:nvSpPr>
          <p:cNvPr id="3" name="Content Placeholder 2">
            <a:extLst>
              <a:ext uri="{FF2B5EF4-FFF2-40B4-BE49-F238E27FC236}">
                <a16:creationId xmlns:a16="http://schemas.microsoft.com/office/drawing/2014/main" id="{E61B4835-9CB4-6746-B975-A1782CF969C5}"/>
              </a:ext>
            </a:extLst>
          </p:cNvPr>
          <p:cNvSpPr>
            <a:spLocks noGrp="1"/>
          </p:cNvSpPr>
          <p:nvPr>
            <p:ph idx="1"/>
          </p:nvPr>
        </p:nvSpPr>
        <p:spPr/>
        <p:txBody>
          <a:bodyPr>
            <a:normAutofit/>
          </a:bodyPr>
          <a:lstStyle/>
          <a:p>
            <a:pPr marL="0" indent="0">
              <a:buNone/>
            </a:pPr>
            <a:r>
              <a:rPr lang="en-US" dirty="0"/>
              <a:t>Recall that many interventions, once evaluated, indicate that there is </a:t>
            </a:r>
            <a:r>
              <a:rPr lang="en-US" b="1" dirty="0"/>
              <a:t>no</a:t>
            </a:r>
            <a:r>
              <a:rPr lang="en-US" dirty="0"/>
              <a:t> evident benefit of the intervention.</a:t>
            </a:r>
          </a:p>
          <a:p>
            <a:pPr marL="0" indent="0">
              <a:buNone/>
            </a:pPr>
            <a:endParaRPr lang="en-US" dirty="0"/>
          </a:p>
          <a:p>
            <a:pPr marL="0" indent="0">
              <a:buNone/>
            </a:pPr>
            <a:r>
              <a:rPr lang="en-US" dirty="0"/>
              <a:t>Yet there is a </a:t>
            </a:r>
            <a:r>
              <a:rPr lang="en-US" b="1" dirty="0"/>
              <a:t>cost</a:t>
            </a:r>
            <a:r>
              <a:rPr lang="en-US" dirty="0"/>
              <a:t> to being in the intervention group:</a:t>
            </a:r>
          </a:p>
          <a:p>
            <a:r>
              <a:rPr lang="en-US" dirty="0"/>
              <a:t>Your routine is disrupted</a:t>
            </a:r>
          </a:p>
          <a:p>
            <a:r>
              <a:rPr lang="en-US" dirty="0"/>
              <a:t>Time you could have spent learning or doing some other practice or intervention is focused on this one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278990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A4AAB-3FC1-474F-A18A-4C21A8C89FC6}"/>
              </a:ext>
            </a:extLst>
          </p:cNvPr>
          <p:cNvSpPr>
            <a:spLocks noGrp="1"/>
          </p:cNvSpPr>
          <p:nvPr>
            <p:ph type="title"/>
          </p:nvPr>
        </p:nvSpPr>
        <p:spPr>
          <a:xfrm>
            <a:off x="838200" y="2485473"/>
            <a:ext cx="10515600" cy="1325563"/>
          </a:xfrm>
        </p:spPr>
        <p:txBody>
          <a:bodyPr>
            <a:normAutofit fontScale="90000"/>
          </a:bodyPr>
          <a:lstStyle/>
          <a:p>
            <a:r>
              <a:rPr lang="en-US" dirty="0"/>
              <a:t>The </a:t>
            </a:r>
            <a:r>
              <a:rPr lang="en-US" i="1" dirty="0"/>
              <a:t>clinical equipoise</a:t>
            </a:r>
            <a:r>
              <a:rPr lang="en-US" dirty="0"/>
              <a:t> principle states that it is ethical to randomly assign patients to a treatment or control if there is </a:t>
            </a:r>
            <a:r>
              <a:rPr lang="en-US" b="1" dirty="0"/>
              <a:t>genuine uncertainty in the scientific community</a:t>
            </a:r>
            <a:r>
              <a:rPr lang="en-US" dirty="0"/>
              <a:t> about whether the treatment is more effective than the control condition. </a:t>
            </a:r>
          </a:p>
        </p:txBody>
      </p:sp>
    </p:spTree>
    <p:extLst>
      <p:ext uri="{BB962C8B-B14F-4D97-AF65-F5344CB8AC3E}">
        <p14:creationId xmlns:p14="http://schemas.microsoft.com/office/powerpoint/2010/main" val="1361531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E5288-EF22-C04E-840B-93C18893870C}"/>
              </a:ext>
            </a:extLst>
          </p:cNvPr>
          <p:cNvSpPr>
            <a:spLocks noGrp="1"/>
          </p:cNvSpPr>
          <p:nvPr>
            <p:ph type="title"/>
          </p:nvPr>
        </p:nvSpPr>
        <p:spPr/>
        <p:txBody>
          <a:bodyPr/>
          <a:lstStyle/>
          <a:p>
            <a:r>
              <a:rPr lang="en-US" dirty="0"/>
              <a:t>Caveat</a:t>
            </a:r>
          </a:p>
        </p:txBody>
      </p:sp>
      <p:sp>
        <p:nvSpPr>
          <p:cNvPr id="3" name="Content Placeholder 2">
            <a:extLst>
              <a:ext uri="{FF2B5EF4-FFF2-40B4-BE49-F238E27FC236}">
                <a16:creationId xmlns:a16="http://schemas.microsoft.com/office/drawing/2014/main" id="{AA819053-0576-D643-86FC-006400B9BDD9}"/>
              </a:ext>
            </a:extLst>
          </p:cNvPr>
          <p:cNvSpPr>
            <a:spLocks noGrp="1"/>
          </p:cNvSpPr>
          <p:nvPr>
            <p:ph idx="1"/>
          </p:nvPr>
        </p:nvSpPr>
        <p:spPr/>
        <p:txBody>
          <a:bodyPr/>
          <a:lstStyle/>
          <a:p>
            <a:r>
              <a:rPr lang="en-US" dirty="0"/>
              <a:t>The concept of equipoise does not mean that there must be </a:t>
            </a:r>
            <a:r>
              <a:rPr lang="en-US" i="1" dirty="0"/>
              <a:t>no</a:t>
            </a:r>
            <a:r>
              <a:rPr lang="en-US" dirty="0"/>
              <a:t> reason to suspect the treatment is either more or less effective than the control.  </a:t>
            </a:r>
          </a:p>
          <a:p>
            <a:r>
              <a:rPr lang="en-US" dirty="0"/>
              <a:t>It would make no sense to evaluate a treatment if there were no reason to think it might be effective. </a:t>
            </a:r>
          </a:p>
          <a:p>
            <a:r>
              <a:rPr lang="en-US" dirty="0"/>
              <a:t>There is little evidence from field trials to support the effectiveness of a treatment that is undergoing an initial field trial. </a:t>
            </a:r>
          </a:p>
        </p:txBody>
      </p:sp>
    </p:spTree>
    <p:extLst>
      <p:ext uri="{BB962C8B-B14F-4D97-AF65-F5344CB8AC3E}">
        <p14:creationId xmlns:p14="http://schemas.microsoft.com/office/powerpoint/2010/main" val="680081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CE81E-E973-E447-986F-C2C3F5DAD9AB}"/>
              </a:ext>
            </a:extLst>
          </p:cNvPr>
          <p:cNvSpPr>
            <a:spLocks noGrp="1"/>
          </p:cNvSpPr>
          <p:nvPr>
            <p:ph type="title"/>
          </p:nvPr>
        </p:nvSpPr>
        <p:spPr>
          <a:xfrm>
            <a:off x="710609" y="2766218"/>
            <a:ext cx="10515600" cy="1325563"/>
          </a:xfrm>
        </p:spPr>
        <p:txBody>
          <a:bodyPr/>
          <a:lstStyle/>
          <a:p>
            <a:pPr algn="ctr"/>
            <a:r>
              <a:rPr lang="en-US" dirty="0"/>
              <a:t>Complex Randomization</a:t>
            </a:r>
          </a:p>
        </p:txBody>
      </p:sp>
    </p:spTree>
    <p:extLst>
      <p:ext uri="{BB962C8B-B14F-4D97-AF65-F5344CB8AC3E}">
        <p14:creationId xmlns:p14="http://schemas.microsoft.com/office/powerpoint/2010/main" val="3075307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4E37D-7A74-AF4F-975A-94DB7435AF02}"/>
              </a:ext>
            </a:extLst>
          </p:cNvPr>
          <p:cNvSpPr>
            <a:spLocks noGrp="1"/>
          </p:cNvSpPr>
          <p:nvPr>
            <p:ph type="title"/>
          </p:nvPr>
        </p:nvSpPr>
        <p:spPr/>
        <p:txBody>
          <a:bodyPr/>
          <a:lstStyle/>
          <a:p>
            <a:r>
              <a:rPr lang="en-US" dirty="0"/>
              <a:t>Randomization can be complex</a:t>
            </a:r>
          </a:p>
        </p:txBody>
      </p:sp>
      <p:sp>
        <p:nvSpPr>
          <p:cNvPr id="3" name="Content Placeholder 2">
            <a:extLst>
              <a:ext uri="{FF2B5EF4-FFF2-40B4-BE49-F238E27FC236}">
                <a16:creationId xmlns:a16="http://schemas.microsoft.com/office/drawing/2014/main" id="{5555907F-93E6-724E-ABCC-FBD72E8C8693}"/>
              </a:ext>
            </a:extLst>
          </p:cNvPr>
          <p:cNvSpPr>
            <a:spLocks noGrp="1"/>
          </p:cNvSpPr>
          <p:nvPr>
            <p:ph idx="1"/>
          </p:nvPr>
        </p:nvSpPr>
        <p:spPr/>
        <p:txBody>
          <a:bodyPr>
            <a:normAutofit fontScale="92500" lnSpcReduction="10000"/>
          </a:bodyPr>
          <a:lstStyle/>
          <a:p>
            <a:pPr marL="0" indent="0">
              <a:buNone/>
            </a:pPr>
            <a:r>
              <a:rPr lang="en-US" dirty="0"/>
              <a:t>When you think of randomization, you likely think:</a:t>
            </a:r>
          </a:p>
          <a:p>
            <a:pPr lvl="1"/>
            <a:r>
              <a:rPr lang="en-US" dirty="0"/>
              <a:t>Every unit in the study has to be randomized</a:t>
            </a:r>
          </a:p>
          <a:p>
            <a:pPr lvl="1"/>
            <a:r>
              <a:rPr lang="en-US" dirty="0"/>
              <a:t>Every unit has to have an equal chance of being in the intervention or comparison groups</a:t>
            </a:r>
          </a:p>
          <a:p>
            <a:pPr lvl="1"/>
            <a:r>
              <a:rPr lang="en-US" dirty="0"/>
              <a:t>Randomization occurs once (at the beginning of the study)</a:t>
            </a:r>
          </a:p>
          <a:p>
            <a:pPr lvl="1"/>
            <a:endParaRPr lang="en-US" dirty="0"/>
          </a:p>
          <a:p>
            <a:pPr marL="0" indent="0">
              <a:buNone/>
            </a:pPr>
            <a:r>
              <a:rPr lang="en-US" dirty="0"/>
              <a:t>None of these rules is required though!</a:t>
            </a:r>
          </a:p>
          <a:p>
            <a:pPr marL="0" indent="0">
              <a:buNone/>
            </a:pPr>
            <a:endParaRPr lang="en-US" dirty="0"/>
          </a:p>
          <a:p>
            <a:pPr marL="0" indent="0">
              <a:buNone/>
            </a:pPr>
            <a:r>
              <a:rPr lang="en-US" dirty="0"/>
              <a:t>The only requirements:</a:t>
            </a:r>
          </a:p>
          <a:p>
            <a:pPr lvl="1"/>
            <a:r>
              <a:rPr lang="en-US" dirty="0"/>
              <a:t>We know which units were randomized</a:t>
            </a:r>
          </a:p>
          <a:p>
            <a:pPr lvl="1"/>
            <a:r>
              <a:rPr lang="en-US" dirty="0"/>
              <a:t>Units that are randomized have a known probability (0 &lt; p &lt; 1) of being in either group</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6306553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9EAEC-309B-FF4A-8FAD-B70B38546D56}"/>
              </a:ext>
            </a:extLst>
          </p:cNvPr>
          <p:cNvSpPr>
            <a:spLocks noGrp="1"/>
          </p:cNvSpPr>
          <p:nvPr>
            <p:ph type="title"/>
          </p:nvPr>
        </p:nvSpPr>
        <p:spPr/>
        <p:txBody>
          <a:bodyPr/>
          <a:lstStyle/>
          <a:p>
            <a:r>
              <a:rPr lang="en-US" dirty="0"/>
              <a:t>Complexities are your friend</a:t>
            </a:r>
          </a:p>
        </p:txBody>
      </p:sp>
      <p:sp>
        <p:nvSpPr>
          <p:cNvPr id="3" name="Content Placeholder 2">
            <a:extLst>
              <a:ext uri="{FF2B5EF4-FFF2-40B4-BE49-F238E27FC236}">
                <a16:creationId xmlns:a16="http://schemas.microsoft.com/office/drawing/2014/main" id="{A56AD3BE-4BFA-2A4F-ADB7-3CF7F7834BD5}"/>
              </a:ext>
            </a:extLst>
          </p:cNvPr>
          <p:cNvSpPr>
            <a:spLocks noGrp="1"/>
          </p:cNvSpPr>
          <p:nvPr>
            <p:ph idx="1"/>
          </p:nvPr>
        </p:nvSpPr>
        <p:spPr/>
        <p:txBody>
          <a:bodyPr>
            <a:normAutofit fontScale="92500"/>
          </a:bodyPr>
          <a:lstStyle/>
          <a:p>
            <a:pPr marL="0" indent="0">
              <a:buNone/>
            </a:pPr>
            <a:r>
              <a:rPr lang="en-US" dirty="0"/>
              <a:t>Being flexible with the design can make it more palatable to potential participants. </a:t>
            </a:r>
          </a:p>
          <a:p>
            <a:pPr marL="0" indent="0">
              <a:buNone/>
            </a:pPr>
            <a:endParaRPr lang="en-US" dirty="0"/>
          </a:p>
          <a:p>
            <a:pPr marL="0" indent="0">
              <a:buNone/>
            </a:pPr>
            <a:r>
              <a:rPr lang="en-US" dirty="0"/>
              <a:t>It can help you frame the study and the study design.</a:t>
            </a:r>
          </a:p>
          <a:p>
            <a:pPr marL="0" indent="0">
              <a:buNone/>
            </a:pPr>
            <a:endParaRPr lang="en-US" dirty="0"/>
          </a:p>
          <a:p>
            <a:pPr marL="0" indent="0">
              <a:buNone/>
            </a:pPr>
            <a:r>
              <a:rPr lang="en-US" dirty="0"/>
              <a:t>For example, since studies do not involve unlimited resources, it is simply </a:t>
            </a:r>
            <a:r>
              <a:rPr lang="en-US" b="1" dirty="0"/>
              <a:t>not</a:t>
            </a:r>
            <a:r>
              <a:rPr lang="en-US" dirty="0"/>
              <a:t> possible for every unit interested to receive the intervention.</a:t>
            </a:r>
          </a:p>
          <a:p>
            <a:pPr marL="0" indent="0">
              <a:buNone/>
            </a:pPr>
            <a:endParaRPr lang="en-US" dirty="0"/>
          </a:p>
          <a:p>
            <a:pPr marL="0" indent="0">
              <a:buNone/>
            </a:pPr>
            <a:r>
              <a:rPr lang="en-US" dirty="0"/>
              <a:t>This means that a lottery (randomization) is a </a:t>
            </a:r>
            <a:r>
              <a:rPr lang="en-US" b="1" dirty="0"/>
              <a:t>fair</a:t>
            </a:r>
            <a:r>
              <a:rPr lang="en-US" dirty="0"/>
              <a:t> way to allocate resources. </a:t>
            </a:r>
          </a:p>
        </p:txBody>
      </p:sp>
    </p:spTree>
    <p:extLst>
      <p:ext uri="{BB962C8B-B14F-4D97-AF65-F5344CB8AC3E}">
        <p14:creationId xmlns:p14="http://schemas.microsoft.com/office/powerpoint/2010/main" val="17186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05752-DEF4-D843-8B0A-3A2687E25F29}"/>
              </a:ext>
            </a:extLst>
          </p:cNvPr>
          <p:cNvSpPr>
            <a:spLocks noGrp="1"/>
          </p:cNvSpPr>
          <p:nvPr>
            <p:ph type="title"/>
          </p:nvPr>
        </p:nvSpPr>
        <p:spPr/>
        <p:txBody>
          <a:bodyPr/>
          <a:lstStyle/>
          <a:p>
            <a:r>
              <a:rPr lang="en-US" dirty="0"/>
              <a:t>Restricted randomization</a:t>
            </a:r>
          </a:p>
        </p:txBody>
      </p:sp>
      <p:sp>
        <p:nvSpPr>
          <p:cNvPr id="3" name="Content Placeholder 2">
            <a:extLst>
              <a:ext uri="{FF2B5EF4-FFF2-40B4-BE49-F238E27FC236}">
                <a16:creationId xmlns:a16="http://schemas.microsoft.com/office/drawing/2014/main" id="{35A0B5C7-69C9-4943-BF05-A8FF6A2619B0}"/>
              </a:ext>
            </a:extLst>
          </p:cNvPr>
          <p:cNvSpPr>
            <a:spLocks noGrp="1"/>
          </p:cNvSpPr>
          <p:nvPr>
            <p:ph idx="1"/>
          </p:nvPr>
        </p:nvSpPr>
        <p:spPr/>
        <p:txBody>
          <a:bodyPr>
            <a:normAutofit fontScale="85000" lnSpcReduction="20000"/>
          </a:bodyPr>
          <a:lstStyle/>
          <a:p>
            <a:pPr marL="0" indent="0">
              <a:buNone/>
            </a:pPr>
            <a:r>
              <a:rPr lang="en-US" dirty="0"/>
              <a:t>In an evaluation, </a:t>
            </a:r>
            <a:r>
              <a:rPr lang="en-US" b="1" dirty="0"/>
              <a:t>not</a:t>
            </a:r>
            <a:r>
              <a:rPr lang="en-US" dirty="0"/>
              <a:t> all units have to be randomized.  The question of what units to randomize relates </a:t>
            </a:r>
            <a:r>
              <a:rPr lang="en-US" i="1" dirty="0"/>
              <a:t>not</a:t>
            </a:r>
            <a:r>
              <a:rPr lang="en-US" dirty="0"/>
              <a:t> to internal validity but to </a:t>
            </a:r>
            <a:r>
              <a:rPr lang="en-US" i="1" dirty="0"/>
              <a:t>external validity</a:t>
            </a:r>
            <a:r>
              <a:rPr lang="en-US" dirty="0"/>
              <a:t>. </a:t>
            </a:r>
          </a:p>
          <a:p>
            <a:pPr marL="0" indent="0">
              <a:buNone/>
            </a:pPr>
            <a:endParaRPr lang="en-US" dirty="0"/>
          </a:p>
          <a:p>
            <a:pPr marL="0" indent="0">
              <a:buNone/>
            </a:pPr>
            <a:r>
              <a:rPr lang="en-US" dirty="0"/>
              <a:t>It may be beneficial to only randomize units to the intervention within a subset of the sample. For example,</a:t>
            </a:r>
          </a:p>
          <a:p>
            <a:r>
              <a:rPr lang="en-US" dirty="0"/>
              <a:t>You might choose to exclude some students in order to reduce variation on the pretest. </a:t>
            </a:r>
          </a:p>
          <a:p>
            <a:r>
              <a:rPr lang="en-US" dirty="0"/>
              <a:t>There are certain students or teachers that you know you would like to </a:t>
            </a:r>
            <a:r>
              <a:rPr lang="en-US" i="1" dirty="0"/>
              <a:t>guarantee</a:t>
            </a:r>
            <a:r>
              <a:rPr lang="en-US" dirty="0"/>
              <a:t> are included in the intervention group (we call these ‘wildcards’). </a:t>
            </a:r>
          </a:p>
          <a:p>
            <a:pPr marL="0" indent="0">
              <a:buNone/>
            </a:pPr>
            <a:endParaRPr lang="en-US" dirty="0"/>
          </a:p>
          <a:p>
            <a:pPr marL="0" indent="0">
              <a:buNone/>
            </a:pPr>
            <a:r>
              <a:rPr lang="en-US" dirty="0"/>
              <a:t>In either case, the units that are not randomized </a:t>
            </a:r>
            <a:r>
              <a:rPr lang="en-US" b="1" i="1" dirty="0"/>
              <a:t>do not </a:t>
            </a:r>
            <a:r>
              <a:rPr lang="en-US" b="1" dirty="0"/>
              <a:t>end up in the analytical sample for the analysis</a:t>
            </a:r>
            <a:r>
              <a:rPr lang="en-US" dirty="0"/>
              <a:t>. But they </a:t>
            </a:r>
            <a:r>
              <a:rPr lang="en-US" i="1" dirty="0"/>
              <a:t>do</a:t>
            </a:r>
            <a:r>
              <a:rPr lang="en-US" dirty="0"/>
              <a:t> end up in the study. </a:t>
            </a:r>
          </a:p>
        </p:txBody>
      </p:sp>
    </p:spTree>
    <p:extLst>
      <p:ext uri="{BB962C8B-B14F-4D97-AF65-F5344CB8AC3E}">
        <p14:creationId xmlns:p14="http://schemas.microsoft.com/office/powerpoint/2010/main" val="3637056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F980E-2481-CA43-B54D-4B31B5E0CEC7}"/>
              </a:ext>
            </a:extLst>
          </p:cNvPr>
          <p:cNvSpPr>
            <a:spLocks noGrp="1"/>
          </p:cNvSpPr>
          <p:nvPr>
            <p:ph type="title"/>
          </p:nvPr>
        </p:nvSpPr>
        <p:spPr/>
        <p:txBody>
          <a:bodyPr/>
          <a:lstStyle/>
          <a:p>
            <a:r>
              <a:rPr lang="en-US" dirty="0"/>
              <a:t>Unequal probabilities</a:t>
            </a:r>
          </a:p>
        </p:txBody>
      </p:sp>
      <p:sp>
        <p:nvSpPr>
          <p:cNvPr id="3" name="Content Placeholder 2">
            <a:extLst>
              <a:ext uri="{FF2B5EF4-FFF2-40B4-BE49-F238E27FC236}">
                <a16:creationId xmlns:a16="http://schemas.microsoft.com/office/drawing/2014/main" id="{6B195B0C-C155-C247-9B2E-9B363610C51C}"/>
              </a:ext>
            </a:extLst>
          </p:cNvPr>
          <p:cNvSpPr>
            <a:spLocks noGrp="1"/>
          </p:cNvSpPr>
          <p:nvPr>
            <p:ph idx="1"/>
          </p:nvPr>
        </p:nvSpPr>
        <p:spPr/>
        <p:txBody>
          <a:bodyPr/>
          <a:lstStyle/>
          <a:p>
            <a:pPr marL="0" indent="0">
              <a:buNone/>
            </a:pPr>
            <a:r>
              <a:rPr lang="en-US" dirty="0"/>
              <a:t>There is no requirement that every unit have an equal probability of being in the intervention or comparison groups. </a:t>
            </a:r>
          </a:p>
          <a:p>
            <a:pPr marL="0" indent="0">
              <a:buNone/>
            </a:pPr>
            <a:endParaRPr lang="en-US" dirty="0"/>
          </a:p>
          <a:p>
            <a:pPr marL="0" indent="0">
              <a:buNone/>
            </a:pPr>
            <a:r>
              <a:rPr lang="en-US" dirty="0"/>
              <a:t>It may be more feasible (in terms of money or political capital) to have unequal groups, e.g., 2:1 or 1:2 instead of 1:1.</a:t>
            </a:r>
          </a:p>
          <a:p>
            <a:pPr marL="0" indent="0">
              <a:buNone/>
            </a:pPr>
            <a:endParaRPr lang="en-US" dirty="0"/>
          </a:p>
          <a:p>
            <a:pPr marL="0" indent="0">
              <a:buNone/>
            </a:pPr>
            <a:r>
              <a:rPr lang="en-US" dirty="0"/>
              <a:t>Again, the key is to know what these probabilities are and to incorporate them into the analysis. </a:t>
            </a:r>
          </a:p>
        </p:txBody>
      </p:sp>
    </p:spTree>
    <p:extLst>
      <p:ext uri="{BB962C8B-B14F-4D97-AF65-F5344CB8AC3E}">
        <p14:creationId xmlns:p14="http://schemas.microsoft.com/office/powerpoint/2010/main" val="2640609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304E0-5E5E-DA49-A373-B610FC910FC0}"/>
              </a:ext>
            </a:extLst>
          </p:cNvPr>
          <p:cNvSpPr>
            <a:spLocks noGrp="1"/>
          </p:cNvSpPr>
          <p:nvPr>
            <p:ph type="title"/>
          </p:nvPr>
        </p:nvSpPr>
        <p:spPr/>
        <p:txBody>
          <a:bodyPr/>
          <a:lstStyle/>
          <a:p>
            <a:r>
              <a:rPr lang="en-US" dirty="0"/>
              <a:t>Everyone eventually gets the intervention</a:t>
            </a:r>
          </a:p>
        </p:txBody>
      </p:sp>
      <p:sp>
        <p:nvSpPr>
          <p:cNvPr id="3" name="Content Placeholder 2">
            <a:extLst>
              <a:ext uri="{FF2B5EF4-FFF2-40B4-BE49-F238E27FC236}">
                <a16:creationId xmlns:a16="http://schemas.microsoft.com/office/drawing/2014/main" id="{02D9F978-6919-2541-89C3-426EF801D9EE}"/>
              </a:ext>
            </a:extLst>
          </p:cNvPr>
          <p:cNvSpPr>
            <a:spLocks noGrp="1"/>
          </p:cNvSpPr>
          <p:nvPr>
            <p:ph idx="1"/>
          </p:nvPr>
        </p:nvSpPr>
        <p:spPr/>
        <p:txBody>
          <a:bodyPr/>
          <a:lstStyle/>
          <a:p>
            <a:pPr marL="0" indent="0">
              <a:buNone/>
            </a:pPr>
            <a:r>
              <a:rPr lang="en-US" dirty="0"/>
              <a:t>There is also no rule that everyone has to stick to their assigned group forever. </a:t>
            </a:r>
          </a:p>
          <a:p>
            <a:pPr marL="0" indent="0">
              <a:buNone/>
            </a:pPr>
            <a:endParaRPr lang="en-US" dirty="0"/>
          </a:p>
          <a:p>
            <a:pPr marL="0" indent="0">
              <a:buNone/>
            </a:pPr>
            <a:r>
              <a:rPr lang="en-US" dirty="0"/>
              <a:t>Instead, it may be better to eventually provide the intervention to everyone, while randomizing the order in which they receive it. </a:t>
            </a:r>
          </a:p>
          <a:p>
            <a:r>
              <a:rPr lang="en-US" dirty="0"/>
              <a:t>Those that are randomized to receive it later serve as the comparison group at first.</a:t>
            </a:r>
          </a:p>
          <a:p>
            <a:pPr marL="0" indent="0">
              <a:buNone/>
            </a:pPr>
            <a:endParaRPr lang="en-US" dirty="0"/>
          </a:p>
          <a:p>
            <a:pPr marL="0" indent="0">
              <a:buNone/>
            </a:pPr>
            <a:r>
              <a:rPr lang="en-US" dirty="0"/>
              <a:t>(Often referred to as a ‘delayed treatment’ design).</a:t>
            </a:r>
          </a:p>
          <a:p>
            <a:pPr marL="0" indent="0">
              <a:buNone/>
            </a:pPr>
            <a:endParaRPr lang="en-US" dirty="0"/>
          </a:p>
        </p:txBody>
      </p:sp>
    </p:spTree>
    <p:extLst>
      <p:ext uri="{BB962C8B-B14F-4D97-AF65-F5344CB8AC3E}">
        <p14:creationId xmlns:p14="http://schemas.microsoft.com/office/powerpoint/2010/main" val="34888705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6792B-7AE0-F84C-8224-70C0C6FC1EDB}"/>
              </a:ext>
            </a:extLst>
          </p:cNvPr>
          <p:cNvSpPr>
            <a:spLocks noGrp="1"/>
          </p:cNvSpPr>
          <p:nvPr>
            <p:ph type="title"/>
          </p:nvPr>
        </p:nvSpPr>
        <p:spPr/>
        <p:txBody>
          <a:bodyPr/>
          <a:lstStyle/>
          <a:p>
            <a:r>
              <a:rPr lang="en-US" dirty="0"/>
              <a:t>Every unit gets some of the intervention</a:t>
            </a:r>
          </a:p>
        </p:txBody>
      </p:sp>
      <p:sp>
        <p:nvSpPr>
          <p:cNvPr id="3" name="Content Placeholder 2">
            <a:extLst>
              <a:ext uri="{FF2B5EF4-FFF2-40B4-BE49-F238E27FC236}">
                <a16:creationId xmlns:a16="http://schemas.microsoft.com/office/drawing/2014/main" id="{9276AEE5-F735-D24E-8A95-94EA6D7EFD37}"/>
              </a:ext>
            </a:extLst>
          </p:cNvPr>
          <p:cNvSpPr>
            <a:spLocks noGrp="1"/>
          </p:cNvSpPr>
          <p:nvPr>
            <p:ph idx="1"/>
          </p:nvPr>
        </p:nvSpPr>
        <p:spPr/>
        <p:txBody>
          <a:bodyPr/>
          <a:lstStyle/>
          <a:p>
            <a:pPr marL="0" indent="0">
              <a:buNone/>
            </a:pPr>
            <a:r>
              <a:rPr lang="en-US" dirty="0"/>
              <a:t>Another approach, useful in clustered settings (like schools), is to guarantee that </a:t>
            </a:r>
            <a:r>
              <a:rPr lang="en-US" b="1" dirty="0"/>
              <a:t>some</a:t>
            </a:r>
            <a:r>
              <a:rPr lang="en-US" dirty="0"/>
              <a:t> units within the cluster will get the intervention.</a:t>
            </a:r>
          </a:p>
          <a:p>
            <a:pPr marL="0" indent="0">
              <a:buNone/>
            </a:pPr>
            <a:endParaRPr lang="en-US" dirty="0"/>
          </a:p>
          <a:p>
            <a:pPr marL="0" indent="0">
              <a:buNone/>
            </a:pPr>
            <a:r>
              <a:rPr lang="en-US" dirty="0"/>
              <a:t>For example, in a school:</a:t>
            </a:r>
          </a:p>
          <a:p>
            <a:r>
              <a:rPr lang="en-US" dirty="0"/>
              <a:t>You might randomize different grade levels to receive the program</a:t>
            </a:r>
          </a:p>
          <a:p>
            <a:r>
              <a:rPr lang="en-US" dirty="0"/>
              <a:t>You might only include 2</a:t>
            </a:r>
            <a:r>
              <a:rPr lang="en-US" baseline="30000" dirty="0"/>
              <a:t>nd</a:t>
            </a:r>
            <a:r>
              <a:rPr lang="en-US" dirty="0"/>
              <a:t> grade in the study (randomizing groups), but then provide the curriculum to everyone in the other grades</a:t>
            </a:r>
          </a:p>
        </p:txBody>
      </p:sp>
    </p:spTree>
    <p:extLst>
      <p:ext uri="{BB962C8B-B14F-4D97-AF65-F5344CB8AC3E}">
        <p14:creationId xmlns:p14="http://schemas.microsoft.com/office/powerpoint/2010/main" val="2185062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4BF9F-0C88-3342-B76A-D861F86A313E}"/>
              </a:ext>
            </a:extLst>
          </p:cNvPr>
          <p:cNvSpPr>
            <a:spLocks noGrp="1"/>
          </p:cNvSpPr>
          <p:nvPr>
            <p:ph type="title"/>
          </p:nvPr>
        </p:nvSpPr>
        <p:spPr/>
        <p:txBody>
          <a:bodyPr/>
          <a:lstStyle/>
          <a:p>
            <a:r>
              <a:rPr lang="en-US" dirty="0"/>
              <a:t>But you have to explain it</a:t>
            </a:r>
          </a:p>
        </p:txBody>
      </p:sp>
      <p:sp>
        <p:nvSpPr>
          <p:cNvPr id="3" name="Content Placeholder 2">
            <a:extLst>
              <a:ext uri="{FF2B5EF4-FFF2-40B4-BE49-F238E27FC236}">
                <a16:creationId xmlns:a16="http://schemas.microsoft.com/office/drawing/2014/main" id="{84CEA44D-DCD1-D84B-9408-1624A7412159}"/>
              </a:ext>
            </a:extLst>
          </p:cNvPr>
          <p:cNvSpPr>
            <a:spLocks noGrp="1"/>
          </p:cNvSpPr>
          <p:nvPr>
            <p:ph idx="1"/>
          </p:nvPr>
        </p:nvSpPr>
        <p:spPr/>
        <p:txBody>
          <a:bodyPr>
            <a:normAutofit/>
          </a:bodyPr>
          <a:lstStyle/>
          <a:p>
            <a:pPr marL="0" indent="0">
              <a:buNone/>
            </a:pPr>
            <a:r>
              <a:rPr lang="en-US" dirty="0"/>
              <a:t>When you recruit schools (&amp; teachers &amp; students) to be part of an evaluation, you have to get their </a:t>
            </a:r>
            <a:r>
              <a:rPr lang="en-US" b="1" dirty="0"/>
              <a:t>informed consent</a:t>
            </a:r>
            <a:r>
              <a:rPr lang="en-US" dirty="0"/>
              <a:t>.</a:t>
            </a:r>
          </a:p>
          <a:p>
            <a:pPr marL="0" indent="0">
              <a:buNone/>
            </a:pPr>
            <a:endParaRPr lang="en-US" dirty="0"/>
          </a:p>
          <a:p>
            <a:pPr marL="0" indent="0">
              <a:buNone/>
            </a:pPr>
            <a:r>
              <a:rPr lang="en-US" dirty="0"/>
              <a:t>This includes their consent to be randomized. Obtaining this consent requires that they understand:</a:t>
            </a:r>
          </a:p>
          <a:p>
            <a:r>
              <a:rPr lang="en-US" dirty="0"/>
              <a:t>That any of the schools (including theirs) could be in the intervention or comparison</a:t>
            </a:r>
          </a:p>
          <a:p>
            <a:r>
              <a:rPr lang="en-US" dirty="0"/>
              <a:t>That all of their ”best” schools (or teachers …) could end up in the comparison condition</a:t>
            </a:r>
          </a:p>
        </p:txBody>
      </p:sp>
    </p:spTree>
    <p:extLst>
      <p:ext uri="{BB962C8B-B14F-4D97-AF65-F5344CB8AC3E}">
        <p14:creationId xmlns:p14="http://schemas.microsoft.com/office/powerpoint/2010/main" val="3882962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11522-EF7B-5844-92DE-A95EF84BB81C}"/>
              </a:ext>
            </a:extLst>
          </p:cNvPr>
          <p:cNvSpPr>
            <a:spLocks noGrp="1"/>
          </p:cNvSpPr>
          <p:nvPr>
            <p:ph type="title"/>
          </p:nvPr>
        </p:nvSpPr>
        <p:spPr>
          <a:xfrm>
            <a:off x="838200" y="2766218"/>
            <a:ext cx="10515600" cy="1325563"/>
          </a:xfrm>
        </p:spPr>
        <p:txBody>
          <a:bodyPr/>
          <a:lstStyle/>
          <a:p>
            <a:pPr algn="ctr"/>
            <a:r>
              <a:rPr lang="en-US" dirty="0"/>
              <a:t>Overview of 4 Designs</a:t>
            </a:r>
          </a:p>
        </p:txBody>
      </p:sp>
    </p:spTree>
    <p:extLst>
      <p:ext uri="{BB962C8B-B14F-4D97-AF65-F5344CB8AC3E}">
        <p14:creationId xmlns:p14="http://schemas.microsoft.com/office/powerpoint/2010/main" val="5581318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Content Placeholder 3">
                <a:extLst>
                  <a:ext uri="{FF2B5EF4-FFF2-40B4-BE49-F238E27FC236}">
                    <a16:creationId xmlns:a16="http://schemas.microsoft.com/office/drawing/2014/main" id="{8482798A-AE9C-D74C-B850-B3914290AF7E}"/>
                  </a:ext>
                </a:extLst>
              </p:cNvPr>
              <p:cNvGraphicFramePr>
                <a:graphicFrameLocks noGrp="1"/>
              </p:cNvGraphicFramePr>
              <p:nvPr>
                <p:ph idx="1"/>
                <p:extLst>
                  <p:ext uri="{D42A27DB-BD31-4B8C-83A1-F6EECF244321}">
                    <p14:modId xmlns:p14="http://schemas.microsoft.com/office/powerpoint/2010/main" val="1788484529"/>
                  </p:ext>
                </p:extLst>
              </p:nvPr>
            </p:nvGraphicFramePr>
            <p:xfrm>
              <a:off x="787400" y="465668"/>
              <a:ext cx="9842500" cy="4944089"/>
            </p:xfrm>
            <a:graphic>
              <a:graphicData uri="http://schemas.openxmlformats.org/drawingml/2006/table">
                <a:tbl>
                  <a:tblPr firstRow="1" firstCol="1" bandRow="1">
                    <a:tableStyleId>{5C22544A-7EE6-4342-B048-85BDC9FD1C3A}</a:tableStyleId>
                  </a:tblPr>
                  <a:tblGrid>
                    <a:gridCol w="1454990">
                      <a:extLst>
                        <a:ext uri="{9D8B030D-6E8A-4147-A177-3AD203B41FA5}">
                          <a16:colId xmlns:a16="http://schemas.microsoft.com/office/drawing/2014/main" val="3705834242"/>
                        </a:ext>
                      </a:extLst>
                    </a:gridCol>
                    <a:gridCol w="1071692">
                      <a:extLst>
                        <a:ext uri="{9D8B030D-6E8A-4147-A177-3AD203B41FA5}">
                          <a16:colId xmlns:a16="http://schemas.microsoft.com/office/drawing/2014/main" val="1138615199"/>
                        </a:ext>
                      </a:extLst>
                    </a:gridCol>
                    <a:gridCol w="1031143">
                      <a:extLst>
                        <a:ext uri="{9D8B030D-6E8A-4147-A177-3AD203B41FA5}">
                          <a16:colId xmlns:a16="http://schemas.microsoft.com/office/drawing/2014/main" val="1090820688"/>
                        </a:ext>
                      </a:extLst>
                    </a:gridCol>
                    <a:gridCol w="1555513">
                      <a:extLst>
                        <a:ext uri="{9D8B030D-6E8A-4147-A177-3AD203B41FA5}">
                          <a16:colId xmlns:a16="http://schemas.microsoft.com/office/drawing/2014/main" val="579311478"/>
                        </a:ext>
                      </a:extLst>
                    </a:gridCol>
                    <a:gridCol w="1471612">
                      <a:extLst>
                        <a:ext uri="{9D8B030D-6E8A-4147-A177-3AD203B41FA5}">
                          <a16:colId xmlns:a16="http://schemas.microsoft.com/office/drawing/2014/main" val="2588136607"/>
                        </a:ext>
                      </a:extLst>
                    </a:gridCol>
                    <a:gridCol w="1514475">
                      <a:extLst>
                        <a:ext uri="{9D8B030D-6E8A-4147-A177-3AD203B41FA5}">
                          <a16:colId xmlns:a16="http://schemas.microsoft.com/office/drawing/2014/main" val="554582070"/>
                        </a:ext>
                      </a:extLst>
                    </a:gridCol>
                    <a:gridCol w="1743075">
                      <a:extLst>
                        <a:ext uri="{9D8B030D-6E8A-4147-A177-3AD203B41FA5}">
                          <a16:colId xmlns:a16="http://schemas.microsoft.com/office/drawing/2014/main" val="3447742754"/>
                        </a:ext>
                      </a:extLst>
                    </a:gridCol>
                  </a:tblGrid>
                  <a:tr h="739677">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Notation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a:effectLst/>
                            </a:rPr>
                            <a:t>Sample Sizes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Chapter 7</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Chapter 8</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Chapter 9</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Chapter 10</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3095342"/>
                      </a:ext>
                    </a:extLst>
                  </a:tr>
                  <a:tr h="1517168">
                    <a:tc>
                      <a:txBody>
                        <a:bodyPr/>
                        <a:lstStyle/>
                        <a:p>
                          <a:pPr marL="0" marR="0">
                            <a:lnSpc>
                              <a:spcPct val="107000"/>
                            </a:lnSpc>
                            <a:spcBef>
                              <a:spcPts val="0"/>
                            </a:spcBef>
                            <a:spcAft>
                              <a:spcPts val="0"/>
                            </a:spcAft>
                          </a:pPr>
                          <a:r>
                            <a:rPr lang="en-US" sz="2000">
                              <a:effectLst/>
                            </a:rPr>
                            <a:t>Intervention vs Comparison</a:t>
                          </a:r>
                        </a:p>
                        <a:p>
                          <a:pPr marL="0" marR="0">
                            <a:lnSpc>
                              <a:spcPct val="107000"/>
                            </a:lnSpc>
                            <a:spcBef>
                              <a:spcPts val="0"/>
                            </a:spcBef>
                            <a:spcAft>
                              <a:spcPts val="0"/>
                            </a:spcAft>
                          </a:pPr>
                          <a:r>
                            <a:rPr lang="en-US" sz="2000">
                              <a:effectLst/>
                            </a:rPr>
                            <a:t>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rPr>
                                    </m:ctrlPr>
                                  </m:sSubPr>
                                  <m:e>
                                    <m:r>
                                      <a:rPr lang="en-US" sz="2000">
                                        <a:effectLst/>
                                        <a:latin typeface="Cambria Math" panose="02040503050406030204" pitchFamily="18" charset="0"/>
                                      </a:rPr>
                                      <m:t>𝛼</m:t>
                                    </m:r>
                                  </m:e>
                                  <m:sub>
                                    <m:r>
                                      <a:rPr lang="en-US" sz="2000">
                                        <a:effectLst/>
                                        <a:latin typeface="Cambria Math" panose="02040503050406030204" pitchFamily="18" charset="0"/>
                                      </a:rPr>
                                      <m:t>𝑖</m:t>
                                    </m:r>
                                  </m:sub>
                                </m:sSub>
                              </m:oMath>
                            </m:oMathPara>
                          </a14:m>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m:t>
                                </m:r>
                              </m:oMath>
                            </m:oMathPara>
                          </a14:m>
                          <a:endParaRPr lang="en-US" sz="2000" dirty="0">
                            <a:effectLst/>
                          </a:endParaRPr>
                        </a:p>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Individually Randomized Design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Randomized Block Design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Cluster Randomized Design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a:effectLst/>
                            </a:rPr>
                            <a:t>Multisite Cluster Randomized Design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1309073"/>
                      </a:ext>
                    </a:extLst>
                  </a:tr>
                  <a:tr h="420020">
                    <a:tc>
                      <a:txBody>
                        <a:bodyPr/>
                        <a:lstStyle/>
                        <a:p>
                          <a:pPr marL="0" marR="0">
                            <a:lnSpc>
                              <a:spcPct val="107000"/>
                            </a:lnSpc>
                            <a:spcBef>
                              <a:spcPts val="0"/>
                            </a:spcBef>
                            <a:spcAft>
                              <a:spcPts val="0"/>
                            </a:spcAft>
                          </a:pPr>
                          <a:r>
                            <a:rPr lang="en-US" sz="2000" dirty="0">
                              <a:effectLst/>
                            </a:rPr>
                            <a:t>Schools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rPr>
                                    </m:ctrlPr>
                                  </m:sSubPr>
                                  <m:e>
                                    <m:r>
                                      <a:rPr lang="en-US" sz="2000">
                                        <a:effectLst/>
                                        <a:latin typeface="Cambria Math" panose="02040503050406030204" pitchFamily="18" charset="0"/>
                                      </a:rPr>
                                      <m:t>𝛽</m:t>
                                    </m:r>
                                  </m:e>
                                  <m:sub>
                                    <m:r>
                                      <a:rPr lang="en-US" sz="2000">
                                        <a:effectLst/>
                                        <a:latin typeface="Cambria Math" panose="02040503050406030204" pitchFamily="18" charset="0"/>
                                      </a:rPr>
                                      <m:t>𝑗</m:t>
                                    </m:r>
                                  </m:sub>
                                </m:sSub>
                              </m:oMath>
                            </m:oMathPara>
                          </a14:m>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14:m>
                            <m:oMathPara xmlns:m="http://schemas.openxmlformats.org/officeDocument/2006/math">
                              <m:oMathParaPr>
                                <m:jc m:val="center"/>
                              </m:oMathParaPr>
                              <m:oMath xmlns:m="http://schemas.openxmlformats.org/officeDocument/2006/math">
                                <m:r>
                                  <a:rPr lang="en-US" sz="2000" b="0" i="1" smtClean="0">
                                    <a:effectLst/>
                                    <a:latin typeface="Cambria Math" panose="02040503050406030204" pitchFamily="18" charset="0"/>
                                    <a:ea typeface="Calibri" panose="020F0502020204030204" pitchFamily="34" charset="0"/>
                                    <a:cs typeface="Times New Roman" panose="02020603050405020304" pitchFamily="18" charset="0"/>
                                  </a:rPr>
                                  <m:t>𝑚</m:t>
                                </m:r>
                              </m:oMath>
                            </m:oMathPara>
                          </a14:m>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RE, RA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99860287"/>
                      </a:ext>
                    </a:extLst>
                  </a:tr>
                  <a:tr h="383552">
                    <a:tc>
                      <a:txBody>
                        <a:bodyPr/>
                        <a:lstStyle/>
                        <a:p>
                          <a:pPr marL="0" marR="0">
                            <a:lnSpc>
                              <a:spcPct val="107000"/>
                            </a:lnSpc>
                            <a:spcBef>
                              <a:spcPts val="0"/>
                            </a:spcBef>
                            <a:spcAft>
                              <a:spcPts val="0"/>
                            </a:spcAft>
                          </a:pPr>
                          <a:r>
                            <a:rPr lang="en-US" sz="2000" dirty="0">
                              <a:effectLst/>
                            </a:rPr>
                            <a:t>Students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rPr>
                                    </m:ctrlPr>
                                  </m:sSubPr>
                                  <m:e>
                                    <m:r>
                                      <a:rPr lang="en-US" sz="2000">
                                        <a:effectLst/>
                                        <a:latin typeface="Cambria Math" panose="02040503050406030204" pitchFamily="18" charset="0"/>
                                      </a:rPr>
                                      <m:t>𝜖</m:t>
                                    </m:r>
                                  </m:e>
                                  <m:sub>
                                    <m:r>
                                      <a:rPr lang="en-US" sz="2000">
                                        <a:effectLst/>
                                        <a:latin typeface="Cambria Math" panose="02040503050406030204" pitchFamily="18" charset="0"/>
                                      </a:rPr>
                                      <m:t>𝑘</m:t>
                                    </m:r>
                                  </m:sub>
                                </m:sSub>
                              </m:oMath>
                            </m:oMathPara>
                          </a14:m>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𝑛</m:t>
                                </m:r>
                              </m:oMath>
                            </m:oMathPara>
                          </a14:m>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RE, RA, O</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RA, O</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a:effectLst/>
                            </a:rPr>
                            <a:t>O</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O</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08329187"/>
                      </a:ext>
                    </a:extLst>
                  </a:tr>
                  <a:tr h="750059">
                    <a:tc>
                      <a:txBody>
                        <a:bodyPr/>
                        <a:lstStyle/>
                        <a:p>
                          <a:pPr marL="0" marR="0">
                            <a:lnSpc>
                              <a:spcPct val="107000"/>
                            </a:lnSpc>
                            <a:spcBef>
                              <a:spcPts val="0"/>
                            </a:spcBef>
                            <a:spcAft>
                              <a:spcPts val="0"/>
                            </a:spcAft>
                          </a:pPr>
                          <a:r>
                            <a:rPr lang="en-US" sz="2000" dirty="0">
                              <a:effectLst/>
                            </a:rPr>
                            <a:t>Classrooms / Teachers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rPr>
                                    </m:ctrlPr>
                                  </m:sSubPr>
                                  <m:e>
                                    <m:r>
                                      <a:rPr lang="en-US" sz="2000">
                                        <a:effectLst/>
                                        <a:latin typeface="Cambria Math" panose="02040503050406030204" pitchFamily="18" charset="0"/>
                                      </a:rPr>
                                      <m:t>𝛾</m:t>
                                    </m:r>
                                  </m:e>
                                  <m:sub>
                                    <m:r>
                                      <a:rPr lang="en-US" sz="2000">
                                        <a:effectLst/>
                                        <a:latin typeface="Cambria Math" panose="02040503050406030204" pitchFamily="18" charset="0"/>
                                      </a:rPr>
                                      <m:t>𝑗𝑙</m:t>
                                    </m:r>
                                  </m:sub>
                                </m:sSub>
                              </m:oMath>
                            </m:oMathPara>
                          </a14:m>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𝑝</m:t>
                                </m:r>
                              </m:oMath>
                            </m:oMathPara>
                          </a14:m>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a:effectLst/>
                            </a:rPr>
                            <a:t>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RA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87345785"/>
                      </a:ext>
                    </a:extLst>
                  </a:tr>
                  <a:tr h="1133613">
                    <a:tc>
                      <a:txBody>
                        <a:bodyPr/>
                        <a:lstStyle/>
                        <a:p>
                          <a:pPr marL="0" marR="0">
                            <a:lnSpc>
                              <a:spcPct val="107000"/>
                            </a:lnSpc>
                            <a:spcBef>
                              <a:spcPts val="0"/>
                            </a:spcBef>
                            <a:spcAft>
                              <a:spcPts val="0"/>
                            </a:spcAft>
                          </a:pPr>
                          <a:r>
                            <a:rPr lang="en-US" sz="2000">
                              <a:effectLst/>
                            </a:rPr>
                            <a:t>School x Intervention Interaction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𝛼</m:t>
                                </m:r>
                                <m:sSub>
                                  <m:sSubPr>
                                    <m:ctrlPr>
                                      <a:rPr lang="en-US" sz="2000" i="1">
                                        <a:effectLst/>
                                        <a:latin typeface="Cambria Math" panose="02040503050406030204" pitchFamily="18" charset="0"/>
                                      </a:rPr>
                                    </m:ctrlPr>
                                  </m:sSubPr>
                                  <m:e>
                                    <m:r>
                                      <a:rPr lang="en-US" sz="2000">
                                        <a:effectLst/>
                                        <a:latin typeface="Cambria Math" panose="02040503050406030204" pitchFamily="18" charset="0"/>
                                      </a:rPr>
                                      <m:t>𝛽</m:t>
                                    </m:r>
                                  </m:e>
                                  <m:sub>
                                    <m:r>
                                      <a:rPr lang="en-US" sz="2000">
                                        <a:effectLst/>
                                        <a:latin typeface="Cambria Math" panose="02040503050406030204" pitchFamily="18" charset="0"/>
                                      </a:rPr>
                                      <m:t>𝑖𝑗</m:t>
                                    </m:r>
                                  </m:sub>
                                </m:sSub>
                              </m:oMath>
                            </m:oMathPara>
                          </a14:m>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m:t>
                                </m:r>
                                <m:r>
                                  <a:rPr lang="en-US" sz="2000">
                                    <a:effectLst/>
                                    <a:latin typeface="Cambria Math" panose="02040503050406030204" pitchFamily="18" charset="0"/>
                                  </a:rPr>
                                  <m:t>𝑚</m:t>
                                </m:r>
                              </m:oMath>
                            </m:oMathPara>
                          </a14:m>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M*</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M</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5531769"/>
                      </a:ext>
                    </a:extLst>
                  </a:tr>
                </a:tbl>
              </a:graphicData>
            </a:graphic>
          </p:graphicFrame>
        </mc:Choice>
        <mc:Fallback>
          <p:graphicFrame>
            <p:nvGraphicFramePr>
              <p:cNvPr id="4" name="Content Placeholder 3">
                <a:extLst>
                  <a:ext uri="{FF2B5EF4-FFF2-40B4-BE49-F238E27FC236}">
                    <a16:creationId xmlns:a16="http://schemas.microsoft.com/office/drawing/2014/main" id="{8482798A-AE9C-D74C-B850-B3914290AF7E}"/>
                  </a:ext>
                </a:extLst>
              </p:cNvPr>
              <p:cNvGraphicFramePr>
                <a:graphicFrameLocks noGrp="1"/>
              </p:cNvGraphicFramePr>
              <p:nvPr>
                <p:ph idx="1"/>
                <p:extLst>
                  <p:ext uri="{D42A27DB-BD31-4B8C-83A1-F6EECF244321}">
                    <p14:modId xmlns:p14="http://schemas.microsoft.com/office/powerpoint/2010/main" val="1788484529"/>
                  </p:ext>
                </p:extLst>
              </p:nvPr>
            </p:nvGraphicFramePr>
            <p:xfrm>
              <a:off x="787400" y="465668"/>
              <a:ext cx="9842500" cy="4944089"/>
            </p:xfrm>
            <a:graphic>
              <a:graphicData uri="http://schemas.openxmlformats.org/drawingml/2006/table">
                <a:tbl>
                  <a:tblPr firstRow="1" firstCol="1" bandRow="1">
                    <a:tableStyleId>{5C22544A-7EE6-4342-B048-85BDC9FD1C3A}</a:tableStyleId>
                  </a:tblPr>
                  <a:tblGrid>
                    <a:gridCol w="1454990">
                      <a:extLst>
                        <a:ext uri="{9D8B030D-6E8A-4147-A177-3AD203B41FA5}">
                          <a16:colId xmlns:a16="http://schemas.microsoft.com/office/drawing/2014/main" val="3705834242"/>
                        </a:ext>
                      </a:extLst>
                    </a:gridCol>
                    <a:gridCol w="1071692">
                      <a:extLst>
                        <a:ext uri="{9D8B030D-6E8A-4147-A177-3AD203B41FA5}">
                          <a16:colId xmlns:a16="http://schemas.microsoft.com/office/drawing/2014/main" val="1138615199"/>
                        </a:ext>
                      </a:extLst>
                    </a:gridCol>
                    <a:gridCol w="1031143">
                      <a:extLst>
                        <a:ext uri="{9D8B030D-6E8A-4147-A177-3AD203B41FA5}">
                          <a16:colId xmlns:a16="http://schemas.microsoft.com/office/drawing/2014/main" val="1090820688"/>
                        </a:ext>
                      </a:extLst>
                    </a:gridCol>
                    <a:gridCol w="1555513">
                      <a:extLst>
                        <a:ext uri="{9D8B030D-6E8A-4147-A177-3AD203B41FA5}">
                          <a16:colId xmlns:a16="http://schemas.microsoft.com/office/drawing/2014/main" val="579311478"/>
                        </a:ext>
                      </a:extLst>
                    </a:gridCol>
                    <a:gridCol w="1471612">
                      <a:extLst>
                        <a:ext uri="{9D8B030D-6E8A-4147-A177-3AD203B41FA5}">
                          <a16:colId xmlns:a16="http://schemas.microsoft.com/office/drawing/2014/main" val="2588136607"/>
                        </a:ext>
                      </a:extLst>
                    </a:gridCol>
                    <a:gridCol w="1514475">
                      <a:extLst>
                        <a:ext uri="{9D8B030D-6E8A-4147-A177-3AD203B41FA5}">
                          <a16:colId xmlns:a16="http://schemas.microsoft.com/office/drawing/2014/main" val="554582070"/>
                        </a:ext>
                      </a:extLst>
                    </a:gridCol>
                    <a:gridCol w="1743075">
                      <a:extLst>
                        <a:ext uri="{9D8B030D-6E8A-4147-A177-3AD203B41FA5}">
                          <a16:colId xmlns:a16="http://schemas.microsoft.com/office/drawing/2014/main" val="3447742754"/>
                        </a:ext>
                      </a:extLst>
                    </a:gridCol>
                  </a:tblGrid>
                  <a:tr h="739677">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Notation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a:effectLst/>
                            </a:rPr>
                            <a:t>Sample Sizes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Chapter 7</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Chapter 8</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Chapter 9</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Chapter 10</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3095342"/>
                      </a:ext>
                    </a:extLst>
                  </a:tr>
                  <a:tr h="1517168">
                    <a:tc>
                      <a:txBody>
                        <a:bodyPr/>
                        <a:lstStyle/>
                        <a:p>
                          <a:pPr marL="0" marR="0">
                            <a:lnSpc>
                              <a:spcPct val="107000"/>
                            </a:lnSpc>
                            <a:spcBef>
                              <a:spcPts val="0"/>
                            </a:spcBef>
                            <a:spcAft>
                              <a:spcPts val="0"/>
                            </a:spcAft>
                          </a:pPr>
                          <a:r>
                            <a:rPr lang="en-US" sz="2000">
                              <a:effectLst/>
                            </a:rPr>
                            <a:t>Intervention vs Comparison</a:t>
                          </a:r>
                        </a:p>
                        <a:p>
                          <a:pPr marL="0" marR="0">
                            <a:lnSpc>
                              <a:spcPct val="107000"/>
                            </a:lnSpc>
                            <a:spcBef>
                              <a:spcPts val="0"/>
                            </a:spcBef>
                            <a:spcAft>
                              <a:spcPts val="0"/>
                            </a:spcAft>
                          </a:pPr>
                          <a:r>
                            <a:rPr lang="en-US" sz="2000">
                              <a:effectLst/>
                            </a:rPr>
                            <a:t>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138095" t="-53333" r="-689286" b="-178333"/>
                          </a:stretch>
                        </a:blipFill>
                      </a:tcPr>
                    </a:tc>
                    <a:tc>
                      <a:txBody>
                        <a:bodyPr/>
                        <a:lstStyle/>
                        <a:p>
                          <a:endParaRPr lang="en-US"/>
                        </a:p>
                      </a:txBody>
                      <a:tcPr marL="68580" marR="68580" marT="0" marB="0">
                        <a:blipFill>
                          <a:blip r:embed="rId2"/>
                          <a:stretch>
                            <a:fillRect l="-246914" t="-53333" r="-614815" b="-178333"/>
                          </a:stretch>
                        </a:blipFill>
                      </a:tcPr>
                    </a:tc>
                    <a:tc>
                      <a:txBody>
                        <a:bodyPr/>
                        <a:lstStyle/>
                        <a:p>
                          <a:pPr marL="0" marR="0" algn="ctr">
                            <a:lnSpc>
                              <a:spcPct val="107000"/>
                            </a:lnSpc>
                            <a:spcBef>
                              <a:spcPts val="0"/>
                            </a:spcBef>
                            <a:spcAft>
                              <a:spcPts val="0"/>
                            </a:spcAft>
                          </a:pPr>
                          <a:r>
                            <a:rPr lang="en-US" sz="2000" dirty="0">
                              <a:effectLst/>
                            </a:rPr>
                            <a:t>Individually Randomized Design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Randomized Block Design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Cluster Randomized Design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a:effectLst/>
                            </a:rPr>
                            <a:t>Multisite Cluster Randomized Design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1309073"/>
                      </a:ext>
                    </a:extLst>
                  </a:tr>
                  <a:tr h="420020">
                    <a:tc>
                      <a:txBody>
                        <a:bodyPr/>
                        <a:lstStyle/>
                        <a:p>
                          <a:pPr marL="0" marR="0">
                            <a:lnSpc>
                              <a:spcPct val="107000"/>
                            </a:lnSpc>
                            <a:spcBef>
                              <a:spcPts val="0"/>
                            </a:spcBef>
                            <a:spcAft>
                              <a:spcPts val="0"/>
                            </a:spcAft>
                          </a:pPr>
                          <a:r>
                            <a:rPr lang="en-US" sz="2000" dirty="0">
                              <a:effectLst/>
                            </a:rPr>
                            <a:t>Schools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138095" t="-557576" r="-689286" b="-548485"/>
                          </a:stretch>
                        </a:blipFill>
                      </a:tcPr>
                    </a:tc>
                    <a:tc>
                      <a:txBody>
                        <a:bodyPr/>
                        <a:lstStyle/>
                        <a:p>
                          <a:endParaRPr lang="en-US"/>
                        </a:p>
                      </a:txBody>
                      <a:tcPr marL="68580" marR="68580" marT="0" marB="0">
                        <a:blipFill>
                          <a:blip r:embed="rId2"/>
                          <a:stretch>
                            <a:fillRect l="-246914" t="-557576" r="-614815" b="-548485"/>
                          </a:stretch>
                        </a:blipFill>
                      </a:tcPr>
                    </a:tc>
                    <a:tc>
                      <a:txBody>
                        <a:bodyPr/>
                        <a:lstStyle/>
                        <a:p>
                          <a:pPr marL="45720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RE, RA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99860287"/>
                      </a:ext>
                    </a:extLst>
                  </a:tr>
                  <a:tr h="383552">
                    <a:tc>
                      <a:txBody>
                        <a:bodyPr/>
                        <a:lstStyle/>
                        <a:p>
                          <a:pPr marL="0" marR="0">
                            <a:lnSpc>
                              <a:spcPct val="107000"/>
                            </a:lnSpc>
                            <a:spcBef>
                              <a:spcPts val="0"/>
                            </a:spcBef>
                            <a:spcAft>
                              <a:spcPts val="0"/>
                            </a:spcAft>
                          </a:pPr>
                          <a:r>
                            <a:rPr lang="en-US" sz="2000" dirty="0">
                              <a:effectLst/>
                            </a:rPr>
                            <a:t>Students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138095" t="-723333" r="-689286" b="-503333"/>
                          </a:stretch>
                        </a:blipFill>
                      </a:tcPr>
                    </a:tc>
                    <a:tc>
                      <a:txBody>
                        <a:bodyPr/>
                        <a:lstStyle/>
                        <a:p>
                          <a:endParaRPr lang="en-US"/>
                        </a:p>
                      </a:txBody>
                      <a:tcPr marL="68580" marR="68580" marT="0" marB="0">
                        <a:blipFill>
                          <a:blip r:embed="rId2"/>
                          <a:stretch>
                            <a:fillRect l="-246914" t="-723333" r="-614815" b="-503333"/>
                          </a:stretch>
                        </a:blipFill>
                      </a:tcPr>
                    </a:tc>
                    <a:tc>
                      <a:txBody>
                        <a:bodyPr/>
                        <a:lstStyle/>
                        <a:p>
                          <a:pPr marL="0" marR="0" algn="ctr">
                            <a:lnSpc>
                              <a:spcPct val="107000"/>
                            </a:lnSpc>
                            <a:spcBef>
                              <a:spcPts val="0"/>
                            </a:spcBef>
                            <a:spcAft>
                              <a:spcPts val="0"/>
                            </a:spcAft>
                          </a:pPr>
                          <a:r>
                            <a:rPr lang="en-US" sz="2000" dirty="0">
                              <a:effectLst/>
                            </a:rPr>
                            <a:t>RE, RA, O</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RA, O</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a:effectLst/>
                            </a:rPr>
                            <a:t>O</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O</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08329187"/>
                      </a:ext>
                    </a:extLst>
                  </a:tr>
                  <a:tr h="750059">
                    <a:tc>
                      <a:txBody>
                        <a:bodyPr/>
                        <a:lstStyle/>
                        <a:p>
                          <a:pPr marL="0" marR="0">
                            <a:lnSpc>
                              <a:spcPct val="107000"/>
                            </a:lnSpc>
                            <a:spcBef>
                              <a:spcPts val="0"/>
                            </a:spcBef>
                            <a:spcAft>
                              <a:spcPts val="0"/>
                            </a:spcAft>
                          </a:pPr>
                          <a:r>
                            <a:rPr lang="en-US" sz="2000" dirty="0">
                              <a:effectLst/>
                            </a:rPr>
                            <a:t>Classrooms / Teachers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138095" t="-411667" r="-689286" b="-151667"/>
                          </a:stretch>
                        </a:blipFill>
                      </a:tcPr>
                    </a:tc>
                    <a:tc>
                      <a:txBody>
                        <a:bodyPr/>
                        <a:lstStyle/>
                        <a:p>
                          <a:endParaRPr lang="en-US"/>
                        </a:p>
                      </a:txBody>
                      <a:tcPr marL="68580" marR="68580" marT="0" marB="0">
                        <a:blipFill>
                          <a:blip r:embed="rId2"/>
                          <a:stretch>
                            <a:fillRect l="-246914" t="-411667" r="-614815" b="-151667"/>
                          </a:stretch>
                        </a:blipFill>
                      </a:tcPr>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a:effectLst/>
                            </a:rPr>
                            <a:t>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RA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87345785"/>
                      </a:ext>
                    </a:extLst>
                  </a:tr>
                  <a:tr h="1133613">
                    <a:tc>
                      <a:txBody>
                        <a:bodyPr/>
                        <a:lstStyle/>
                        <a:p>
                          <a:pPr marL="0" marR="0">
                            <a:lnSpc>
                              <a:spcPct val="107000"/>
                            </a:lnSpc>
                            <a:spcBef>
                              <a:spcPts val="0"/>
                            </a:spcBef>
                            <a:spcAft>
                              <a:spcPts val="0"/>
                            </a:spcAft>
                          </a:pPr>
                          <a:r>
                            <a:rPr lang="en-US" sz="2000">
                              <a:effectLst/>
                            </a:rPr>
                            <a:t>School x Intervention Interaction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138095" t="-344944" r="-689286" b="-2247"/>
                          </a:stretch>
                        </a:blipFill>
                      </a:tcPr>
                    </a:tc>
                    <a:tc>
                      <a:txBody>
                        <a:bodyPr/>
                        <a:lstStyle/>
                        <a:p>
                          <a:endParaRPr lang="en-US"/>
                        </a:p>
                      </a:txBody>
                      <a:tcPr marL="68580" marR="68580" marT="0" marB="0">
                        <a:blipFill>
                          <a:blip r:embed="rId2"/>
                          <a:stretch>
                            <a:fillRect l="-246914" t="-344944" r="-614815" b="-2247"/>
                          </a:stretch>
                        </a:blipFill>
                      </a:tcPr>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M*</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dirty="0">
                              <a:effectLst/>
                            </a:rPr>
                            <a:t>M</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5531769"/>
                      </a:ext>
                    </a:extLst>
                  </a:tr>
                </a:tbl>
              </a:graphicData>
            </a:graphic>
          </p:graphicFrame>
        </mc:Fallback>
      </mc:AlternateContent>
      <p:sp>
        <p:nvSpPr>
          <p:cNvPr id="5" name="TextBox 4">
            <a:extLst>
              <a:ext uri="{FF2B5EF4-FFF2-40B4-BE49-F238E27FC236}">
                <a16:creationId xmlns:a16="http://schemas.microsoft.com/office/drawing/2014/main" id="{339EBA09-7FB8-4D43-A976-0806357BD515}"/>
              </a:ext>
            </a:extLst>
          </p:cNvPr>
          <p:cNvSpPr txBox="1"/>
          <p:nvPr/>
        </p:nvSpPr>
        <p:spPr>
          <a:xfrm>
            <a:off x="940904" y="5724939"/>
            <a:ext cx="9992139" cy="369332"/>
          </a:xfrm>
          <a:prstGeom prst="rect">
            <a:avLst/>
          </a:prstGeom>
          <a:noFill/>
        </p:spPr>
        <p:txBody>
          <a:bodyPr wrap="square" rtlCol="0">
            <a:spAutoFit/>
          </a:bodyPr>
          <a:lstStyle/>
          <a:p>
            <a:r>
              <a:rPr lang="en-US" dirty="0"/>
              <a:t>RE = recruited, RA = randomized, O = observed/outcome, M = measured, * = in some models</a:t>
            </a:r>
          </a:p>
        </p:txBody>
      </p:sp>
    </p:spTree>
    <p:extLst>
      <p:ext uri="{BB962C8B-B14F-4D97-AF65-F5344CB8AC3E}">
        <p14:creationId xmlns:p14="http://schemas.microsoft.com/office/powerpoint/2010/main" val="41836426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375</TotalTime>
  <Words>1789</Words>
  <Application>Microsoft Macintosh PowerPoint</Application>
  <PresentationFormat>Widescreen</PresentationFormat>
  <Paragraphs>252</Paragraphs>
  <Slides>29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Cambria Math</vt:lpstr>
      <vt:lpstr>Office Theme</vt:lpstr>
      <vt:lpstr>Intro to Randomized Designs</vt:lpstr>
      <vt:lpstr>Random assignment “does not mean that the experimenter writes down the names of the varieties [treatments] in any order that occurs to him, but that he carries out a physical experimental process of randomization, using means that shall ensure that each variety [treatment] will have an equal chance of being tested on any particular plot of ground [unit] (Fisher, 1935, p. 51).” </vt:lpstr>
      <vt:lpstr>Randomization</vt:lpstr>
      <vt:lpstr>How to randomize?</vt:lpstr>
      <vt:lpstr>Deck of cards approach</vt:lpstr>
      <vt:lpstr>Example (n = 10)</vt:lpstr>
      <vt:lpstr>Example (n = 10)</vt:lpstr>
      <vt:lpstr>Is this random?</vt:lpstr>
      <vt:lpstr>Why does this seem not random?</vt:lpstr>
      <vt:lpstr>Computer generated random numbers</vt:lpstr>
      <vt:lpstr>What’s so wrong with alternation?</vt:lpstr>
      <vt:lpstr>Theoretical  Objections to Randomization</vt:lpstr>
      <vt:lpstr>Criticisms</vt:lpstr>
      <vt:lpstr>Experiments often fail</vt:lpstr>
      <vt:lpstr>Aren’t there alternatives?</vt:lpstr>
      <vt:lpstr>Are they unethical?</vt:lpstr>
      <vt:lpstr>Risks of being in an intervention</vt:lpstr>
      <vt:lpstr>The clinical equipoise principle states that it is ethical to randomly assign patients to a treatment or control if there is genuine uncertainty in the scientific community about whether the treatment is more effective than the control condition. </vt:lpstr>
      <vt:lpstr>Caveat</vt:lpstr>
      <vt:lpstr>Complex Randomization</vt:lpstr>
      <vt:lpstr>Randomization can be complex</vt:lpstr>
      <vt:lpstr>Complexities are your friend</vt:lpstr>
      <vt:lpstr>Restricted randomization</vt:lpstr>
      <vt:lpstr>Unequal probabilities</vt:lpstr>
      <vt:lpstr>Everyone eventually gets the intervention</vt:lpstr>
      <vt:lpstr>Every unit gets some of the intervention</vt:lpstr>
      <vt:lpstr>But you have to explain it</vt:lpstr>
      <vt:lpstr>Overview of 4 Designs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Validity of Research Designs</dc:title>
  <dc:creator>Elizabeth Tipton</dc:creator>
  <cp:lastModifiedBy>Elizabeth Tipton</cp:lastModifiedBy>
  <cp:revision>48</cp:revision>
  <dcterms:created xsi:type="dcterms:W3CDTF">2021-06-21T17:41:15Z</dcterms:created>
  <dcterms:modified xsi:type="dcterms:W3CDTF">2021-07-20T18:05:58Z</dcterms:modified>
</cp:coreProperties>
</file>