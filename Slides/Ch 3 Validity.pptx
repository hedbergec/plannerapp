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57"/>
    <p:restoredTop sz="94694"/>
  </p:normalViewPr>
  <p:slideViewPr>
    <p:cSldViewPr snapToGrid="0" snapToObjects="1">
      <p:cViewPr>
        <p:scale>
          <a:sx n="70" d="100"/>
          <a:sy n="70" d="100"/>
        </p:scale>
        <p:origin x="736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4AB71-9EB9-E446-AAB3-09AC74C2C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BEB74-4228-D44E-B924-D48D69C30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9193A-212C-104E-A18E-EBEC31A71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6E3F-087A-CF47-BE16-8DF4D23AA3AF}" type="datetimeFigureOut">
              <a:rPr lang="en-US" smtClean="0"/>
              <a:t>6/21/21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EB672-DF31-0D48-8E8D-0A1CCC86D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9EA60-6539-8E4E-925F-4382E0E7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8831-8806-DB40-B792-4185E4AE5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36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A28E-D132-AA46-B108-5FBBFFB68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FDC5F-73E8-C341-8B2C-1DD3EC263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454F3-5529-1D46-8868-16AEBD966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6E3F-087A-CF47-BE16-8DF4D23AA3AF}" type="datetimeFigureOut">
              <a:rPr lang="en-US" smtClean="0"/>
              <a:t>6/21/21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7FE36-9680-4F4B-B14B-8BF672899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9DC6E-4FB7-544B-819D-E21FB841D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8831-8806-DB40-B792-4185E4AE5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59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E7C6-9645-544E-BDB6-912A0F3D2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F986E-22A7-A04D-95BA-91220F3CA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AC57D-A8D1-954F-83E8-11F63946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6E3F-087A-CF47-BE16-8DF4D23AA3AF}" type="datetimeFigureOut">
              <a:rPr lang="en-US" smtClean="0"/>
              <a:t>6/21/21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C2EB0-F2F3-EB45-8C05-A1E46929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D7DD3-F993-DB4D-8976-23995DCE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8831-8806-DB40-B792-4185E4AE5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87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F1AF-9824-8A4A-8089-7C13C813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BD7FF-6295-1F49-A905-8A132A419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E189D-66D4-8841-95AC-81CD9FF11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587ED-89F1-A147-8B47-6946D6321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6E3F-087A-CF47-BE16-8DF4D23AA3AF}" type="datetimeFigureOut">
              <a:rPr lang="en-US" smtClean="0"/>
              <a:t>6/21/21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859C8-CCAE-F840-928E-95104D9A2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091BF-BF20-EB40-9D2D-607EF665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8831-8806-DB40-B792-4185E4AE5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2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55440-EA3A-3946-9A6E-B2CDBDA2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54976-EA5E-E443-90BB-C547953B3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C76C9-751C-EF46-83F9-C42077843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235042-45E2-CA44-A38A-217C25E33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9E870-D2CE-0E4C-AD39-72AACB79EA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CFED09-8D46-C047-9872-77319667B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6E3F-087A-CF47-BE16-8DF4D23AA3AF}" type="datetimeFigureOut">
              <a:rPr lang="en-US" smtClean="0"/>
              <a:t>6/21/21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72300-7ABD-494D-B069-F51CE8961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A07C5-7849-984D-91AD-F151827E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8831-8806-DB40-B792-4185E4AE5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41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51A06-A371-254E-9D18-8B0E52867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477C19-E89F-4B49-ABF5-E72986984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6E3F-087A-CF47-BE16-8DF4D23AA3AF}" type="datetimeFigureOut">
              <a:rPr lang="en-US" smtClean="0"/>
              <a:t>6/21/21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9F45AF-342A-0B4F-97B6-28DA7BE8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2002D-D689-9A41-9047-927C78B1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8831-8806-DB40-B792-4185E4AE5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249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B0B98A-1B2B-4844-BAA2-2DB6F21C0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6E3F-087A-CF47-BE16-8DF4D23AA3AF}" type="datetimeFigureOut">
              <a:rPr lang="en-US" smtClean="0"/>
              <a:t>6/21/21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C7EBD-D486-1B4A-9CCB-28FAF39F0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42F1A-AA84-3948-86CC-A1622707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8831-8806-DB40-B792-4185E4AE5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46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1C199-0259-CD4E-BC55-A0E9B2CA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8F571-B10E-9F42-BCFE-0B24FFB99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DBE9B-189A-C949-AC96-1838EE8D5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B09C7-5A8C-2748-9C59-8418F717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6E3F-087A-CF47-BE16-8DF4D23AA3AF}" type="datetimeFigureOut">
              <a:rPr lang="en-US" smtClean="0"/>
              <a:t>6/21/21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70773-F926-D541-BF02-B8EA87C91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E7BD9-4387-2849-B2DC-5BA3EAD50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8831-8806-DB40-B792-4185E4AE5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96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1673-9D6D-7D4F-A4CB-2471EA50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5FF368-75A1-0347-B53A-7659C198F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84B14-616F-2C47-9D92-56747BFD1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A0855-13A7-9B44-B07A-0DD1A2491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6E3F-087A-CF47-BE16-8DF4D23AA3AF}" type="datetimeFigureOut">
              <a:rPr lang="en-US" smtClean="0"/>
              <a:t>6/21/21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65B24-BC67-8244-B88B-C881550E2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406DD-22AD-5246-BDF6-853374302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8831-8806-DB40-B792-4185E4AE5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70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DC05-5CDB-1642-9DF4-8184626FA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33F3FE-D793-4241-9CD1-6D3066606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0FA14-CE44-9A45-A153-221289DB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6E3F-087A-CF47-BE16-8DF4D23AA3AF}" type="datetimeFigureOut">
              <a:rPr lang="en-US" smtClean="0"/>
              <a:t>6/21/21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9666D-B0A5-AE42-8BC1-25E89D2C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47523-1314-9448-8DB3-7E0A4A0A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8831-8806-DB40-B792-4185E4AE5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78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F5AA53-C47C-3147-80C3-A609FF649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5E96E5-5233-2B4C-BC75-1C64F5EDF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8582-9C44-A34D-A381-F5864737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6E3F-087A-CF47-BE16-8DF4D23AA3AF}" type="datetimeFigureOut">
              <a:rPr lang="en-US" smtClean="0"/>
              <a:t>6/21/21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C38C3-8EDE-0749-91D7-6414AEF2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FD96B-839D-A246-AD84-35213ED38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8831-8806-DB40-B792-4185E4AE5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6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C7A501-5E32-7845-B09E-91F962D23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154FA-5541-D447-96F4-44D06C676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A1732-6633-634D-B2C9-62F0C05A5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26E3F-087A-CF47-BE16-8DF4D23AA3AF}" type="datetimeFigureOut">
              <a:rPr lang="en-US" smtClean="0"/>
              <a:t>6/21/21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70E62-A5C7-A44A-813B-761A6E489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E4950-B17D-B440-806F-19B3930A3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C8831-8806-DB40-B792-4185E4AE5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8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2DE9-8657-D848-B382-C13002A43B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Validity of Research Designs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C0F68-8E69-1342-8EAC-BF2CEFA990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Elizabeth Tipton</a:t>
            </a:r>
          </a:p>
          <a:p>
            <a:endParaRPr lang="en-US" dirty="0"/>
          </a:p>
          <a:p>
            <a:r>
              <a:rPr lang="en-US" dirty="0"/>
              <a:t>NSF Improving Education R&amp;D Evaluations Workshop</a:t>
            </a:r>
          </a:p>
          <a:p>
            <a:r>
              <a:rPr lang="en-US" dirty="0"/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1221328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951B2-8852-954B-B45F-F4DC1089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959" y="226749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The principal function of research design is to support validity claims about the findings of research studies. </a:t>
            </a:r>
          </a:p>
        </p:txBody>
      </p:sp>
    </p:spTree>
    <p:extLst>
      <p:ext uri="{BB962C8B-B14F-4D97-AF65-F5344CB8AC3E}">
        <p14:creationId xmlns:p14="http://schemas.microsoft.com/office/powerpoint/2010/main" val="3848869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566D-08BB-024E-8D46-16BE56C37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validity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D2C97-6662-9248-A37D-1DB0886B8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err="1"/>
              <a:t>Shadish</a:t>
            </a:r>
            <a:r>
              <a:rPr lang="en-US" sz="3600" dirty="0"/>
              <a:t>, Cook, and Campbell (2002) define: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Internal validity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External validity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Statistical conclusion validity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Construct validity </a:t>
            </a:r>
          </a:p>
        </p:txBody>
      </p:sp>
    </p:spTree>
    <p:extLst>
      <p:ext uri="{BB962C8B-B14F-4D97-AF65-F5344CB8AC3E}">
        <p14:creationId xmlns:p14="http://schemas.microsoft.com/office/powerpoint/2010/main" val="689775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D3BC-3F08-D645-8F12-97C959836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56380"/>
            <a:ext cx="10544503" cy="1325563"/>
          </a:xfrm>
        </p:spPr>
        <p:txBody>
          <a:bodyPr/>
          <a:lstStyle/>
          <a:p>
            <a:pPr algn="ctr"/>
            <a:r>
              <a:rPr lang="en-US" dirty="0"/>
              <a:t>Potential outcomes</a:t>
            </a:r>
          </a:p>
        </p:txBody>
      </p:sp>
    </p:spTree>
    <p:extLst>
      <p:ext uri="{BB962C8B-B14F-4D97-AF65-F5344CB8AC3E}">
        <p14:creationId xmlns:p14="http://schemas.microsoft.com/office/powerpoint/2010/main" val="2482226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1DF83-5EA2-8F40-8F1A-4593AD12B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our goal?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500A2-EEED-974A-BB85-CE7D1BFA8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 an evaluation, our goal is to understand if an intervention </a:t>
            </a:r>
            <a:r>
              <a:rPr lang="en-US" b="1" dirty="0"/>
              <a:t>causes</a:t>
            </a:r>
            <a:r>
              <a:rPr lang="en-US" dirty="0"/>
              <a:t> a different outcome than what would have occurred without otherwise.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Embedded in this:</a:t>
            </a:r>
          </a:p>
          <a:p>
            <a:r>
              <a:rPr lang="en-US" dirty="0"/>
              <a:t>Intervention = a treatment, program, training, etc.</a:t>
            </a:r>
          </a:p>
          <a:p>
            <a:r>
              <a:rPr lang="en-US" dirty="0"/>
              <a:t>Outcome = any measure </a:t>
            </a:r>
          </a:p>
          <a:p>
            <a:r>
              <a:rPr lang="en-US" dirty="0"/>
              <a:t>Comparison = what would have occurred otherwise, often ‘business-as-usual’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Causal effects are inherently *comparative*. </a:t>
            </a:r>
          </a:p>
        </p:txBody>
      </p:sp>
    </p:spTree>
    <p:extLst>
      <p:ext uri="{BB962C8B-B14F-4D97-AF65-F5344CB8AC3E}">
        <p14:creationId xmlns:p14="http://schemas.microsoft.com/office/powerpoint/2010/main" val="2010634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03AC3-8B05-3845-AE34-59D0DBBFC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formally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E89CC5-34C3-1648-AFDE-F212C0E981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if you receives an intervention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if you just continue without any change.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example: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: Intervention = attending this workshop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</m:oMath>
                </a14:m>
                <a:r>
                  <a:rPr lang="en-US" dirty="0"/>
                  <a:t> Comparison = not attending this workshop … and doing whatever you would have with this time otherwise</a:t>
                </a:r>
              </a:p>
              <a:p>
                <a:pPr lvl="1"/>
                <a:r>
                  <a:rPr lang="en-US" dirty="0"/>
                  <a:t>What exactly is this? Could be writing a paper, vacationing, or even reading books about research design.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E89CC5-34C3-1648-AFDE-F212C0E981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939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FB10-5798-7F48-94E5-4B45B802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outcomes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3EE2B-5935-AE4C-BEC4-D6FB143FA7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be a measure taken *after* the intervention begins. </a:t>
                </a:r>
              </a:p>
              <a:p>
                <a:pPr marL="0" indent="0">
                  <a:buNone/>
                </a:pPr>
                <a:r>
                  <a:rPr lang="en-US" dirty="0"/>
                  <a:t>* For example,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might be ‘knowledge of research designs’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can *imagine* two different outcomes at the end of this week: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dirty="0"/>
                  <a:t> Your knowledge if you attend this workshop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b="0" dirty="0"/>
                  <a:t> Your knowledge if you continue with life as usual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Importantly, it is *impossible* to do both. We can observe one or the other of these, but not both.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is called the ‘Fundamental Problem of Causal Inference’ (Holland, 1986).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3EE2B-5935-AE4C-BEC4-D6FB143FA7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 r="-362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8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FF52-F5A4-7644-B191-C23CDA212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treatment effects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42F6D3-C3D8-ED46-A1B9-A8687B5F9A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Ideally, we would like to be able to know: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Which is the causal effect of attending this workshop (as opposed to not attending this workshop) on knowledge of research designs.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again, it is *impossible* to know the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can estimate it, yes, with data</a:t>
                </a:r>
              </a:p>
              <a:p>
                <a:r>
                  <a:rPr lang="en-US" dirty="0"/>
                  <a:t>But estimating it requires *assumptions*, some of which are more credible than others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42F6D3-C3D8-ED46-A1B9-A8687B5F9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0961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3973A-8925-9842-9ECC-87C420090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treatment effects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3E1413-A676-A047-8FBC-031C02C841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Now imagine that 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individuals in the study (e.g.,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≈30</m:t>
                    </m:r>
                  </m:oMath>
                </a14:m>
                <a:r>
                  <a:rPr lang="en-US" dirty="0"/>
                  <a:t> here). We can define the *average* treatment effect (ATE) in our sample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1</m:t>
                          </m:r>
                        </m:num>
                        <m:den>
                          <m:r>
                            <a:rPr lang="en-US" i="1"/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/>
                          </m:ctrlPr>
                        </m:naryPr>
                        <m:sub>
                          <m:r>
                            <a:rPr lang="en-US" i="1"/>
                            <m:t>𝑖</m:t>
                          </m:r>
                          <m:r>
                            <a:rPr lang="en-US" i="1"/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𝛿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1</m:t>
                          </m:r>
                        </m:num>
                        <m:den>
                          <m:r>
                            <a:rPr lang="en-US" i="1"/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/>
                          </m:ctrlPr>
                        </m:naryPr>
                        <m:sub>
                          <m:r>
                            <a:rPr lang="en-US" i="1"/>
                            <m:t>𝑖</m:t>
                          </m:r>
                          <m:r>
                            <a:rPr lang="en-US" i="1"/>
                            <m:t>=1</m:t>
                          </m:r>
                        </m:sub>
                        <m:sup>
                          <m:r>
                            <a:rPr lang="en-US" i="1"/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𝑌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1</m:t>
                              </m:r>
                            </m:e>
                          </m:d>
                          <m:r>
                            <a:rPr lang="en-US" i="1"/>
                            <m:t>−</m:t>
                          </m:r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a:rPr lang="en-US" i="1"/>
                                <m:t>1</m:t>
                              </m:r>
                            </m:num>
                            <m:den>
                              <m:r>
                                <a:rPr lang="en-US" i="1"/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/>
                              </m:ctrlPr>
                            </m:naryPr>
                            <m:sub>
                              <m:r>
                                <a:rPr lang="en-US" i="1"/>
                                <m:t>𝑖</m:t>
                              </m:r>
                              <m:r>
                                <a:rPr lang="en-US" i="1"/>
                                <m:t>=1</m:t>
                              </m:r>
                            </m:sub>
                            <m:sup>
                              <m:r>
                                <a:rPr lang="en-US" i="1"/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𝑌</m:t>
                                  </m:r>
                                </m:e>
                                <m:sub>
                                  <m:r>
                                    <a:rPr lang="en-US" i="1"/>
                                    <m:t>𝑖</m:t>
                                  </m:r>
                                </m:sub>
                              </m:sSub>
                              <m:r>
                                <a:rPr lang="en-US" i="1"/>
                                <m:t>(0)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Again, we can’t know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directly … because we don’t know each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’s (since each person can only receive or *not* the intervention, not both).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3E1413-A676-A047-8FBC-031C02C84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6686" r="-241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0963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161B-1850-E441-94B8-7D942556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mean impossible?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523F6-ECE8-FA49-A7AD-21226D6CE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Wait, you might think, can’t I figure this out?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example, I could compare:</a:t>
            </a:r>
          </a:p>
          <a:p>
            <a:r>
              <a:rPr lang="en-US" dirty="0"/>
              <a:t>Participant’s knowledge of research design before the workshop to their knowledge after. </a:t>
            </a:r>
          </a:p>
          <a:p>
            <a:r>
              <a:rPr lang="en-US" dirty="0"/>
              <a:t>Participant’s knowledge of research design at the end, compared to general knowledge of research design in the field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approaches are *imputing* the missing potential outcome using *assumptions* and extant data. </a:t>
            </a:r>
          </a:p>
        </p:txBody>
      </p:sp>
    </p:spTree>
    <p:extLst>
      <p:ext uri="{BB962C8B-B14F-4D97-AF65-F5344CB8AC3E}">
        <p14:creationId xmlns:p14="http://schemas.microsoft.com/office/powerpoint/2010/main" val="1396402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D3C4-A515-B146-B015-233636D59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would you have been doing otherwise?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78344-DD4C-A34F-8911-A3B70A82F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To see what we mean, ask yourself: If you didn’t attend this workshop, would you have done *nothing* at all to learn about research design this year?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Nothing?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 might you have:</a:t>
            </a:r>
          </a:p>
          <a:p>
            <a:r>
              <a:rPr lang="en-US" dirty="0"/>
              <a:t>Read a book</a:t>
            </a:r>
          </a:p>
          <a:p>
            <a:r>
              <a:rPr lang="en-US" dirty="0"/>
              <a:t>Attended another workshop</a:t>
            </a:r>
          </a:p>
          <a:p>
            <a:r>
              <a:rPr lang="en-US" dirty="0"/>
              <a:t>Consulted with an expert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235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7B2E6C4-169B-F740-9BD8-9CFC1840A5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It’s all about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7B2E6C4-169B-F740-9BD8-9CFC1840A5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F426D-6015-F24C-8FEB-C60E48ADF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As researchers developing interventions, you probably have a good sense of how to measure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problem is how to get a valid measure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dirty="0"/>
                  <a:t> for each participant.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is the problem of </a:t>
                </a:r>
                <a:r>
                  <a:rPr lang="en-US" b="1" dirty="0"/>
                  <a:t>internal validity</a:t>
                </a:r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F426D-6015-F24C-8FEB-C60E48ADF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897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F4B47-F582-1843-BE08-6EFF5D17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174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Internal Validity</a:t>
            </a:r>
          </a:p>
        </p:txBody>
      </p:sp>
    </p:spTree>
    <p:extLst>
      <p:ext uri="{BB962C8B-B14F-4D97-AF65-F5344CB8AC3E}">
        <p14:creationId xmlns:p14="http://schemas.microsoft.com/office/powerpoint/2010/main" val="2630347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A80A-87E5-244D-A4B6-CAB5307AA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713" y="217404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Internal validity refers to the extent to which a research design establishes a trustworthy </a:t>
            </a:r>
            <a:r>
              <a:rPr lang="en-US" b="1" dirty="0"/>
              <a:t>cause-and-effect relationship</a:t>
            </a:r>
            <a:r>
              <a:rPr lang="en-US" dirty="0"/>
              <a:t> between an intervention and an outcome. </a:t>
            </a:r>
          </a:p>
        </p:txBody>
      </p:sp>
    </p:spTree>
    <p:extLst>
      <p:ext uri="{BB962C8B-B14F-4D97-AF65-F5344CB8AC3E}">
        <p14:creationId xmlns:p14="http://schemas.microsoft.com/office/powerpoint/2010/main" val="4286901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F8C3893-8738-B741-A325-8E0B475E88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and 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F8C3893-8738-B741-A325-8E0B475E88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6539E1-526D-EC46-A95D-01C4D1676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are planning a study in which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/2 participants receiving an intervention. We know we can measure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for each of these participants.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 do we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(or so)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dirty="0"/>
                  <a:t> measurements to compare these with?</a:t>
                </a:r>
              </a:p>
              <a:p>
                <a:r>
                  <a:rPr lang="en-US" dirty="0"/>
                  <a:t>We could randomize participants to one or the other group</a:t>
                </a:r>
              </a:p>
              <a:p>
                <a:r>
                  <a:rPr lang="en-US" dirty="0"/>
                  <a:t>We could measure the participants at baseline </a:t>
                </a:r>
              </a:p>
              <a:p>
                <a:r>
                  <a:rPr lang="en-US" dirty="0"/>
                  <a:t>We could measure other people that applied but didn’t participate</a:t>
                </a:r>
              </a:p>
              <a:p>
                <a:r>
                  <a:rPr lang="en-US" dirty="0"/>
                  <a:t>And so on…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6539E1-526D-EC46-A95D-01C4D1676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3198" r="-1206" b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575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244ED-38E1-9E4F-B878-9EE5CE2A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common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DE2B9-9596-E84C-92D3-1076A7F45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order to determine causality, we need to rule out 7 threats: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Ambiguous temporal precedence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Maturation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Attrition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Testing effects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Instrumentation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2421133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E63B2-EF03-DD42-BF90-5DBA595AE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temporal precedence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4B22-20CE-9B4E-B1CB-6ABE6B9FF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4000" dirty="0"/>
              <a:t>Cause must precede effect.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(It’s not obvious that this is true in *cross-sectional* designs.)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50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F59C-B977-B248-9907-7C2C078E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B67EE-D785-DE4D-8E85-216BAF6C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Over time, individuals grow older, </a:t>
            </a:r>
          </a:p>
          <a:p>
            <a:pPr marL="0" indent="0" algn="ctr">
              <a:buNone/>
            </a:pPr>
            <a:r>
              <a:rPr lang="en-US" sz="4000" dirty="0"/>
              <a:t>wiser and more experienced for </a:t>
            </a:r>
          </a:p>
          <a:p>
            <a:pPr marL="0" indent="0" algn="ctr">
              <a:buNone/>
            </a:pPr>
            <a:r>
              <a:rPr lang="en-US" sz="4000" dirty="0"/>
              <a:t>reasons that have nothing to do with interventions.</a:t>
            </a:r>
            <a:r>
              <a:rPr lang="en-US" sz="4000" dirty="0">
                <a:effectLst/>
              </a:rPr>
              <a:t> 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2400" dirty="0"/>
              <a:t>(It’s possible you would have eventually learned research design without us.)</a:t>
            </a:r>
          </a:p>
          <a:p>
            <a:pPr marL="0" indent="0" algn="ctr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20219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D498-D0A9-0F45-91AA-94F17C0A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91F80-33D5-F848-BEB2-5CC2FF61C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Groups taking part (or not) in </a:t>
            </a:r>
          </a:p>
          <a:p>
            <a:pPr marL="0" indent="0" algn="ctr">
              <a:buNone/>
            </a:pPr>
            <a:r>
              <a:rPr lang="en-US" sz="4000" dirty="0"/>
              <a:t>interventions often differ in a </a:t>
            </a:r>
          </a:p>
          <a:p>
            <a:pPr marL="0" indent="0" algn="ctr">
              <a:buNone/>
            </a:pPr>
            <a:r>
              <a:rPr lang="en-US" sz="4000" dirty="0"/>
              <a:t>variety of ways other than the </a:t>
            </a:r>
          </a:p>
          <a:p>
            <a:pPr marL="0" indent="0" algn="ctr">
              <a:buNone/>
            </a:pPr>
            <a:r>
              <a:rPr lang="en-US" sz="4000" dirty="0"/>
              <a:t>use of the intervention. 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2400" dirty="0"/>
              <a:t>(Not everyone wants to spend a week learning research design.)</a:t>
            </a:r>
          </a:p>
        </p:txBody>
      </p:sp>
    </p:spTree>
    <p:extLst>
      <p:ext uri="{BB962C8B-B14F-4D97-AF65-F5344CB8AC3E}">
        <p14:creationId xmlns:p14="http://schemas.microsoft.com/office/powerpoint/2010/main" val="2997962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E030-4082-F140-86C0-A3740CE9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CE76B-53D3-4B4C-8221-FB86D95F8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Often, not every participant that begins </a:t>
            </a:r>
          </a:p>
          <a:p>
            <a:pPr marL="0" indent="0" algn="ctr">
              <a:buNone/>
            </a:pPr>
            <a:r>
              <a:rPr lang="en-US" sz="4000" dirty="0"/>
              <a:t>in a study persists throughout the </a:t>
            </a:r>
          </a:p>
          <a:p>
            <a:pPr marL="0" indent="0" algn="ctr">
              <a:buNone/>
            </a:pPr>
            <a:r>
              <a:rPr lang="en-US" sz="4000" dirty="0"/>
              <a:t>study. Quitting may be related to </a:t>
            </a:r>
          </a:p>
          <a:p>
            <a:pPr marL="0" indent="0" algn="ctr">
              <a:buNone/>
            </a:pPr>
            <a:r>
              <a:rPr lang="en-US" sz="4000" dirty="0"/>
              <a:t>both the intervention and the outcome. 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2400" dirty="0"/>
              <a:t>(Maybe we’re really boring? Maybe you already know this material?)</a:t>
            </a:r>
          </a:p>
        </p:txBody>
      </p:sp>
    </p:spTree>
    <p:extLst>
      <p:ext uri="{BB962C8B-B14F-4D97-AF65-F5344CB8AC3E}">
        <p14:creationId xmlns:p14="http://schemas.microsoft.com/office/powerpoint/2010/main" val="124025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123C-5DD7-CC42-AD83-CF5280D39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97016-9C6A-B84F-8618-EFC339182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The act of observing (or measuring) </a:t>
            </a:r>
          </a:p>
          <a:p>
            <a:pPr marL="0" indent="0" algn="ctr">
              <a:buNone/>
            </a:pPr>
            <a:r>
              <a:rPr lang="en-US" sz="4000" dirty="0"/>
              <a:t>may change the phenomenon being </a:t>
            </a:r>
          </a:p>
          <a:p>
            <a:pPr marL="0" indent="0" algn="ctr">
              <a:buNone/>
            </a:pPr>
            <a:r>
              <a:rPr lang="en-US" sz="4000" dirty="0"/>
              <a:t>observed in substantial ways. 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(Now that I’ve told you that your knowledge will be measured, might you pay attention more?)</a:t>
            </a:r>
          </a:p>
        </p:txBody>
      </p:sp>
    </p:spTree>
    <p:extLst>
      <p:ext uri="{BB962C8B-B14F-4D97-AF65-F5344CB8AC3E}">
        <p14:creationId xmlns:p14="http://schemas.microsoft.com/office/powerpoint/2010/main" val="3049676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9FD3-0DE7-6D41-AF22-4E316B31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CA4C1-63BE-F04B-9E45-2F975954D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The same instrument or observation </a:t>
            </a:r>
          </a:p>
          <a:p>
            <a:pPr marL="0" indent="0" algn="ctr">
              <a:buNone/>
            </a:pPr>
            <a:r>
              <a:rPr lang="en-US" sz="4000" dirty="0"/>
              <a:t>protocol might not measure the </a:t>
            </a:r>
          </a:p>
          <a:p>
            <a:pPr marL="0" indent="0" algn="ctr">
              <a:buNone/>
            </a:pPr>
            <a:r>
              <a:rPr lang="en-US" sz="4000" dirty="0"/>
              <a:t>same construct at different points in time.</a:t>
            </a:r>
            <a:r>
              <a:rPr lang="en-US" sz="4000" dirty="0">
                <a:effectLst/>
              </a:rPr>
              <a:t> 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2400" dirty="0"/>
              <a:t>(Might you think you know more about research design before you learn about research design? *Dunning-Kruger* effect?)</a:t>
            </a:r>
          </a:p>
        </p:txBody>
      </p:sp>
    </p:spTree>
    <p:extLst>
      <p:ext uri="{BB962C8B-B14F-4D97-AF65-F5344CB8AC3E}">
        <p14:creationId xmlns:p14="http://schemas.microsoft.com/office/powerpoint/2010/main" val="3932153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60519-A978-DE45-90AC-3C766CDD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0DF3A-33B8-8C49-9B3F-B17E51088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4000" dirty="0"/>
              <a:t>If participants are selected into the study </a:t>
            </a:r>
          </a:p>
          <a:p>
            <a:pPr marL="0" indent="0" algn="ctr">
              <a:buNone/>
            </a:pPr>
            <a:r>
              <a:rPr lang="en-US" sz="4000" dirty="0"/>
              <a:t>because they are above or below their </a:t>
            </a:r>
          </a:p>
          <a:p>
            <a:pPr marL="0" indent="0" algn="ctr">
              <a:buNone/>
            </a:pPr>
            <a:r>
              <a:rPr lang="en-US" sz="4000" dirty="0"/>
              <a:t>group mean on this pretest, then we would</a:t>
            </a:r>
          </a:p>
          <a:p>
            <a:pPr marL="0" indent="0" algn="ctr">
              <a:buNone/>
            </a:pPr>
            <a:r>
              <a:rPr lang="en-US" sz="4000" dirty="0"/>
              <a:t> expect their posttest scores to be closer to the mean.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2400" dirty="0"/>
              <a:t>(Why? Because the pre-test knowledge is not perfectly measured – there is error in it. This leads to ‘regression to the mean.’)</a:t>
            </a:r>
          </a:p>
        </p:txBody>
      </p:sp>
    </p:spTree>
    <p:extLst>
      <p:ext uri="{BB962C8B-B14F-4D97-AF65-F5344CB8AC3E}">
        <p14:creationId xmlns:p14="http://schemas.microsoft.com/office/powerpoint/2010/main" val="4059801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1F24-A130-7149-A50B-84D506D36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designs rule these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D3E67-A949-9E4B-84D0-CD26C119B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research design that has *strong internal validity* rules these threats out by *design*.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Weaker designs rule these out by *assumption*.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weakest designs don’t even rule them out. </a:t>
            </a:r>
          </a:p>
        </p:txBody>
      </p:sp>
    </p:spTree>
    <p:extLst>
      <p:ext uri="{BB962C8B-B14F-4D97-AF65-F5344CB8AC3E}">
        <p14:creationId xmlns:p14="http://schemas.microsoft.com/office/powerpoint/2010/main" val="3382659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FBA3-0096-014F-83EF-CC8ADA224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External Validity (Generalizability)</a:t>
            </a:r>
          </a:p>
        </p:txBody>
      </p:sp>
    </p:spTree>
    <p:extLst>
      <p:ext uri="{BB962C8B-B14F-4D97-AF65-F5344CB8AC3E}">
        <p14:creationId xmlns:p14="http://schemas.microsoft.com/office/powerpoint/2010/main" val="708707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C1D7D-88F0-FF46-ABE8-AE7405D17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454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External validity refers to the issue of whether the relation observed between </a:t>
            </a:r>
            <a:r>
              <a:rPr lang="en-US" dirty="0" err="1"/>
              <a:t>‘cause</a:t>
            </a:r>
            <a:r>
              <a:rPr lang="en-US" dirty="0"/>
              <a:t>’ and ‘effect’ can be generalized from the settings, persons and contexts studied to those in a broader population intended by the researcher.</a:t>
            </a:r>
          </a:p>
        </p:txBody>
      </p:sp>
    </p:spTree>
    <p:extLst>
      <p:ext uri="{BB962C8B-B14F-4D97-AF65-F5344CB8AC3E}">
        <p14:creationId xmlns:p14="http://schemas.microsoft.com/office/powerpoint/2010/main" val="3492420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50082-B43F-874E-B33A-77089CEA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to potential outcomes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2B52AF-FDE8-2A45-A5C5-D1AE7AE5C2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Let’s examine again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Notice that we are aggregating over the *sample*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total participants.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what about in a population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participants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That is, would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dirty="0"/>
                  <a:t> (Probably not)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2B52AF-FDE8-2A45-A5C5-D1AE7AE5C2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2093" b="-2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017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E37661-BEB7-644B-85A2-FE12606A86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can we leap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E37661-BEB7-644B-85A2-FE12606A86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9E216-6E48-4E4F-8E19-7F2F209F3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research design that has *strong external validity* connects the sample to the population via a strong *design*.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Weaker designs make this link using models and *assumptions*.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weakest designs don’t even acknowledge that they differ.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23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61C43-9FF4-D84B-A2C1-C328CB9A6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Generalizability isn’t generalizable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46293-6289-8649-AF28-97BA9EFF5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generalizability of a study’s results is an ambiguous concept without specifying the </a:t>
            </a:r>
            <a:r>
              <a:rPr lang="en-US" b="1" dirty="0"/>
              <a:t>target of generalization</a:t>
            </a:r>
            <a:r>
              <a:rPr lang="en-US" dirty="0"/>
              <a:t>—the supposed population or scope of applicability to which the study’s results are supposed to apply.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example, the target population could be:</a:t>
            </a:r>
          </a:p>
          <a:p>
            <a:r>
              <a:rPr lang="en-US" dirty="0"/>
              <a:t>Education researchers interested in colleges of education</a:t>
            </a:r>
          </a:p>
          <a:p>
            <a:r>
              <a:rPr lang="en-US" dirty="0"/>
              <a:t>NSF funded education researchers </a:t>
            </a:r>
          </a:p>
          <a:p>
            <a:r>
              <a:rPr lang="en-US" dirty="0"/>
              <a:t>And so on….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7615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40ED2-A4E6-B040-B7CA-6A751E226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field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73FCE-AD63-4B4C-9C9B-B60C36A48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 is *very hard* to conduct an evaluation that has good internal validity.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even *harder* to conduct a study with both strong internal and external validity.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this reason, we think that initial field studies should worry less about external validity than internal validity.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4746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F1D9-6B9C-F647-AD53-59D1EDF81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field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1A8E1-6C71-9340-8B55-5D59BF927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Our position is that initial field studies should worry the most about having strong internal validity and save questions of external validity for efficacy and effectiveness evaluations.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practice, this means treating the sample of participants / schools as ’fixed’ (instead of as a ‘random’ sample).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choice and its implications should be made very clear in all research reports.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516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7A16B-495F-9145-90AE-E466510D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08" y="244995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Statistical Conclusion Validity</a:t>
            </a:r>
          </a:p>
        </p:txBody>
      </p:sp>
    </p:spTree>
    <p:extLst>
      <p:ext uri="{BB962C8B-B14F-4D97-AF65-F5344CB8AC3E}">
        <p14:creationId xmlns:p14="http://schemas.microsoft.com/office/powerpoint/2010/main" val="31129764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CB79E15-20ED-8343-80D1-9FD382889E9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2614549"/>
                <a:ext cx="10515600" cy="1325563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en-US" dirty="0"/>
                  <a:t>Statistical conclusion validity focuses on the trustworthiness of the measures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collected and analysis methods used to draw conclusions.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CB79E15-20ED-8343-80D1-9FD382889E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2614549"/>
                <a:ext cx="10515600" cy="1325563"/>
              </a:xfrm>
              <a:blipFill>
                <a:blip r:embed="rId2"/>
                <a:stretch>
                  <a:fillRect t="-47170" b="-5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6253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87F4-69C5-1D40-8BB6-A74EC10F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threats to worry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05F2C-EF80-F349-BED8-A79F55EDB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4000" dirty="0"/>
              <a:t>Unreliable measures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/>
              <a:t>Incorrect data elements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/>
              <a:t>Incorrect analyses</a:t>
            </a:r>
          </a:p>
        </p:txBody>
      </p:sp>
    </p:spTree>
    <p:extLst>
      <p:ext uri="{BB962C8B-B14F-4D97-AF65-F5344CB8AC3E}">
        <p14:creationId xmlns:p14="http://schemas.microsoft.com/office/powerpoint/2010/main" val="2989617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76D00-4DCD-4B42-B790-1715D445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Unreliable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1C9B3-4DA9-A34A-8E20-0654DDAE3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A measure is reliability if it would give the </a:t>
            </a:r>
          </a:p>
          <a:p>
            <a:pPr marL="0" indent="0" algn="ctr">
              <a:buNone/>
            </a:pPr>
            <a:r>
              <a:rPr lang="en-US" sz="4000" dirty="0"/>
              <a:t>same result if collected again.  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2400" dirty="0"/>
              <a:t>(Check those Cronbach alphas …)</a:t>
            </a:r>
          </a:p>
        </p:txBody>
      </p:sp>
    </p:spTree>
    <p:extLst>
      <p:ext uri="{BB962C8B-B14F-4D97-AF65-F5344CB8AC3E}">
        <p14:creationId xmlns:p14="http://schemas.microsoft.com/office/powerpoint/2010/main" val="17433824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3548-2D81-314C-A5CF-8FBAEBC2D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Incorrect data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889DA-19CB-FA4E-AAAD-22FB06B16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In quantitative studies, this can happen </a:t>
            </a:r>
          </a:p>
          <a:p>
            <a:pPr marL="0" indent="0" algn="ctr">
              <a:buNone/>
            </a:pPr>
            <a:r>
              <a:rPr lang="en-US" sz="4000" dirty="0"/>
              <a:t>when data is coded incorrectly </a:t>
            </a:r>
          </a:p>
          <a:p>
            <a:pPr marL="0" indent="0" algn="ctr">
              <a:buNone/>
            </a:pPr>
            <a:r>
              <a:rPr lang="en-US" sz="4000" dirty="0"/>
              <a:t>(e.g., there are errors in tabulation, </a:t>
            </a:r>
          </a:p>
          <a:p>
            <a:pPr marL="0" indent="0" algn="ctr">
              <a:buNone/>
            </a:pPr>
            <a:r>
              <a:rPr lang="en-US" sz="4000" dirty="0"/>
              <a:t>matching, or aggregation). 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2400" dirty="0"/>
              <a:t>(This is where using careful, reproducible code can help, as can double checking any ‘surprising’ findings.)</a:t>
            </a:r>
          </a:p>
        </p:txBody>
      </p:sp>
    </p:spTree>
    <p:extLst>
      <p:ext uri="{BB962C8B-B14F-4D97-AF65-F5344CB8AC3E}">
        <p14:creationId xmlns:p14="http://schemas.microsoft.com/office/powerpoint/2010/main" val="3218489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827B5-4DB3-4947-8E43-6DA8127DD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Incorrect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3EDA6-D04C-F94E-B50B-F9621353E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There must be alignment between the </a:t>
            </a:r>
          </a:p>
          <a:p>
            <a:pPr marL="0" indent="0" algn="ctr">
              <a:buNone/>
            </a:pPr>
            <a:r>
              <a:rPr lang="en-US" sz="4000" dirty="0"/>
              <a:t>research design chosen and the statistical </a:t>
            </a:r>
          </a:p>
          <a:p>
            <a:pPr marL="0" indent="0" algn="ctr">
              <a:buNone/>
            </a:pPr>
            <a:r>
              <a:rPr lang="en-US" sz="4000" dirty="0"/>
              <a:t>analysis conducted. 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2400" dirty="0"/>
              <a:t>(For example, an ANOVA only results in the correct treatment effect estimate if the groups were randomized.)</a:t>
            </a:r>
          </a:p>
        </p:txBody>
      </p:sp>
    </p:spTree>
    <p:extLst>
      <p:ext uri="{BB962C8B-B14F-4D97-AF65-F5344CB8AC3E}">
        <p14:creationId xmlns:p14="http://schemas.microsoft.com/office/powerpoint/2010/main" val="36552318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EFE80-3C27-5A47-BAF7-3D518F5C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08" y="259626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Construct Validity</a:t>
            </a:r>
          </a:p>
        </p:txBody>
      </p:sp>
    </p:spTree>
    <p:extLst>
      <p:ext uri="{BB962C8B-B14F-4D97-AF65-F5344CB8AC3E}">
        <p14:creationId xmlns:p14="http://schemas.microsoft.com/office/powerpoint/2010/main" val="4721135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856E-DABE-6244-995B-E410B559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59019"/>
          </a:xfrm>
        </p:spPr>
        <p:txBody>
          <a:bodyPr>
            <a:normAutofit/>
          </a:bodyPr>
          <a:lstStyle/>
          <a:p>
            <a:r>
              <a:rPr lang="en-US" dirty="0"/>
              <a:t>The final validity threat concerns whether the explanation given by the study has </a:t>
            </a:r>
            <a:r>
              <a:rPr lang="en-US" b="1" dirty="0"/>
              <a:t>correctly identified the constructs</a:t>
            </a:r>
            <a:r>
              <a:rPr lang="en-US" dirty="0"/>
              <a:t> </a:t>
            </a:r>
            <a:r>
              <a:rPr lang="en-US" b="1" dirty="0"/>
              <a:t>in the interpretation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92677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26395-C6C6-4A4F-90B1-B1335C62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992DD-CFCA-F946-B733-6E55F9EBC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Hawthorne effects</a:t>
            </a:r>
          </a:p>
          <a:p>
            <a:r>
              <a:rPr lang="en-US" sz="4000" dirty="0"/>
              <a:t>Novelty effects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5313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9B254-3178-EF42-A1A7-FCCF9CFE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in mind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7EF3E-E5EC-8C43-BA0A-132233A8E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 validity of explanation is </a:t>
            </a:r>
            <a:r>
              <a:rPr lang="en-US" b="1" dirty="0"/>
              <a:t>not</a:t>
            </a:r>
            <a:r>
              <a:rPr lang="en-US" dirty="0"/>
              <a:t> a property of designs, but of interpretation of evidence from designs, which inevitably involve the </a:t>
            </a:r>
            <a:r>
              <a:rPr lang="en-US" b="1" dirty="0"/>
              <a:t>theoretical framework </a:t>
            </a:r>
            <a:r>
              <a:rPr lang="en-US" dirty="0"/>
              <a:t>in which the research is embedded.</a:t>
            </a:r>
          </a:p>
          <a:p>
            <a:endParaRPr lang="en-US" dirty="0"/>
          </a:p>
          <a:p>
            <a:r>
              <a:rPr lang="en-US" dirty="0"/>
              <a:t>While construct validity of explanation is crucial in the broader interpretation of evaluation research, </a:t>
            </a:r>
            <a:r>
              <a:rPr lang="en-US" b="1" dirty="0"/>
              <a:t>it is difficult for a single evaluation study</a:t>
            </a:r>
            <a:r>
              <a:rPr lang="en-US" dirty="0"/>
              <a:t>, particularly a small-scale study conducted in the development process, to address it.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5001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C887-B0C6-7741-BF50-C77F5B23E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310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7560370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CFCC9-17E2-E448-A0E2-13F2D2B94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995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Developing a strong research design involves careful consideration of a variety of potential threats. </a:t>
            </a:r>
          </a:p>
        </p:txBody>
      </p:sp>
    </p:spTree>
    <p:extLst>
      <p:ext uri="{BB962C8B-B14F-4D97-AF65-F5344CB8AC3E}">
        <p14:creationId xmlns:p14="http://schemas.microsoft.com/office/powerpoint/2010/main" val="384893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1740</Words>
  <Application>Microsoft Macintosh PowerPoint</Application>
  <PresentationFormat>Widescreen</PresentationFormat>
  <Paragraphs>221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Office Theme</vt:lpstr>
      <vt:lpstr>Validity of Research Designs</vt:lpstr>
      <vt:lpstr>The principal function of research design is to support validity claims about the findings of research studies. </vt:lpstr>
      <vt:lpstr>Four validity types</vt:lpstr>
      <vt:lpstr>Potential outcomes</vt:lpstr>
      <vt:lpstr>What is our goal?</vt:lpstr>
      <vt:lpstr>More formally</vt:lpstr>
      <vt:lpstr>Potential outcomes</vt:lpstr>
      <vt:lpstr>Individual treatment effects</vt:lpstr>
      <vt:lpstr>Average treatment effects</vt:lpstr>
      <vt:lpstr>What do you mean impossible?</vt:lpstr>
      <vt:lpstr>What would you have been doing otherwise?</vt:lpstr>
      <vt:lpstr>It’s all about Y(0)</vt:lpstr>
      <vt:lpstr>Internal Validity</vt:lpstr>
      <vt:lpstr>Internal validity refers to the extent to which a research design establishes a trustworthy cause-and-effect relationship between an intervention and an outcome. </vt:lpstr>
      <vt:lpstr>We have Y(1) and choose Y(0)</vt:lpstr>
      <vt:lpstr>7 common threats</vt:lpstr>
      <vt:lpstr>Ambiguous temporal precedence</vt:lpstr>
      <vt:lpstr>Maturation</vt:lpstr>
      <vt:lpstr>Selection</vt:lpstr>
      <vt:lpstr>Attrition</vt:lpstr>
      <vt:lpstr>Testing effects</vt:lpstr>
      <vt:lpstr>Instrumentation</vt:lpstr>
      <vt:lpstr>Regression</vt:lpstr>
      <vt:lpstr>Research designs rule these out</vt:lpstr>
      <vt:lpstr>External Validity (Generalizability)</vt:lpstr>
      <vt:lpstr>External validity refers to the issue of whether the relation observed between ‘cause’ and ‘effect’ can be generalized from the settings, persons and contexts studied to those in a broader population intended by the researcher.</vt:lpstr>
      <vt:lpstr>Return to potential outcomes</vt:lpstr>
      <vt:lpstr>How can we leap from δ_s to δ_p?</vt:lpstr>
      <vt:lpstr>Generalizability isn’t generalizable</vt:lpstr>
      <vt:lpstr>Initial field studies</vt:lpstr>
      <vt:lpstr>Initial field studies</vt:lpstr>
      <vt:lpstr>Statistical Conclusion Validity</vt:lpstr>
      <vt:lpstr>Statistical conclusion validity focuses on the trustworthiness of the measures (e.g., Y_i) collected and analysis methods used to draw conclusions. </vt:lpstr>
      <vt:lpstr>3 threats to worry about</vt:lpstr>
      <vt:lpstr>Unreliable measures</vt:lpstr>
      <vt:lpstr>Incorrect data elements</vt:lpstr>
      <vt:lpstr>Incorrect analyses</vt:lpstr>
      <vt:lpstr>Construct Validity</vt:lpstr>
      <vt:lpstr>The final validity threat concerns whether the explanation given by the study has correctly identified the constructs in the interpretation. </vt:lpstr>
      <vt:lpstr>Examples of problems</vt:lpstr>
      <vt:lpstr>Keep in mind</vt:lpstr>
      <vt:lpstr>Conclusion</vt:lpstr>
      <vt:lpstr>Developing a strong research design involves careful consideration of a variety of potential threats.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Validity of Research Designs</dc:title>
  <dc:creator>Elizabeth Tipton</dc:creator>
  <cp:lastModifiedBy>Elizabeth Tipton</cp:lastModifiedBy>
  <cp:revision>32</cp:revision>
  <dcterms:created xsi:type="dcterms:W3CDTF">2021-06-21T17:41:15Z</dcterms:created>
  <dcterms:modified xsi:type="dcterms:W3CDTF">2021-06-21T18:58:57Z</dcterms:modified>
</cp:coreProperties>
</file>