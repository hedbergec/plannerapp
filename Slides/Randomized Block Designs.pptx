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8" r:id="rId4"/>
    <p:sldId id="259" r:id="rId5"/>
    <p:sldId id="261" r:id="rId6"/>
    <p:sldId id="262" r:id="rId7"/>
    <p:sldId id="265" r:id="rId8"/>
    <p:sldId id="266" r:id="rId9"/>
    <p:sldId id="269" r:id="rId10"/>
    <p:sldId id="271" r:id="rId11"/>
    <p:sldId id="272" r:id="rId12"/>
    <p:sldId id="273" r:id="rId13"/>
    <p:sldId id="274" r:id="rId14"/>
    <p:sldId id="275" r:id="rId15"/>
    <p:sldId id="284" r:id="rId16"/>
    <p:sldId id="285" r:id="rId17"/>
    <p:sldId id="277" r:id="rId18"/>
    <p:sldId id="276" r:id="rId19"/>
    <p:sldId id="280" r:id="rId20"/>
    <p:sldId id="282" r:id="rId21"/>
    <p:sldId id="283" r:id="rId22"/>
    <p:sldId id="286" r:id="rId23"/>
    <p:sldId id="278" r:id="rId24"/>
    <p:sldId id="288" r:id="rId25"/>
    <p:sldId id="289" r:id="rId26"/>
    <p:sldId id="287" r:id="rId27"/>
    <p:sldId id="290"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98" d="100"/>
          <a:sy n="98" d="100"/>
        </p:scale>
        <p:origin x="60" y="10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700D9-BC7C-4829-A1E2-0DD1C25DE6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B72EEE-722D-40F7-993E-E2311EA517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3AB62D7-8C1E-49F7-A11F-299F1F51C34D}"/>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5" name="Footer Placeholder 4">
            <a:extLst>
              <a:ext uri="{FF2B5EF4-FFF2-40B4-BE49-F238E27FC236}">
                <a16:creationId xmlns:a16="http://schemas.microsoft.com/office/drawing/2014/main" id="{8A3EB5A9-EEF7-423B-88E2-2E93403D7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ED804B-9589-4F02-9B7C-83FC954475CD}"/>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2418563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C13F-F256-4D6E-93B8-57D253036235}"/>
              </a:ext>
            </a:extLst>
          </p:cNvPr>
          <p:cNvSpPr>
            <a:spLocks noGrp="1"/>
          </p:cNvSpPr>
          <p:nvPr>
            <p:ph type="title"/>
          </p:nvPr>
        </p:nvSpPr>
        <p:spPr/>
        <p:txBody>
          <a:bodyPr>
            <a:normAutofit/>
          </a:bodyPr>
          <a:lstStyle>
            <a:lvl1pPr algn="ctr">
              <a:defRPr sz="3600">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181E5573-ED38-45E8-83BF-1C38CDDD7EFB}"/>
              </a:ext>
            </a:extLst>
          </p:cNvPr>
          <p:cNvSpPr>
            <a:spLocks noGrp="1"/>
          </p:cNvSpPr>
          <p:nvPr>
            <p:ph idx="1"/>
          </p:nvPr>
        </p:nvSpPr>
        <p:spPr/>
        <p:txBody>
          <a:bodyPr>
            <a:normAutofit/>
          </a:bodyPr>
          <a:lstStyle>
            <a:lvl1pPr>
              <a:spcBef>
                <a:spcPts val="0"/>
              </a:spcBef>
              <a:defRPr sz="2000"/>
            </a:lvl1pPr>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F1A5E10-222B-49D8-9C51-0FFB3BBDB003}"/>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5" name="Footer Placeholder 4">
            <a:extLst>
              <a:ext uri="{FF2B5EF4-FFF2-40B4-BE49-F238E27FC236}">
                <a16:creationId xmlns:a16="http://schemas.microsoft.com/office/drawing/2014/main" id="{7498BB34-3E2B-41E4-BC1A-EF32C88503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22025-C01A-4B6A-AB9F-3DD06C63C813}"/>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30723233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84AD-73AF-4BA8-B707-FFFC8FBB6D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4C327D4-B9E4-4F56-AD9E-9931ACBE8C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66B33-01C1-4919-8C9F-A457D744AE49}"/>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5" name="Footer Placeholder 4">
            <a:extLst>
              <a:ext uri="{FF2B5EF4-FFF2-40B4-BE49-F238E27FC236}">
                <a16:creationId xmlns:a16="http://schemas.microsoft.com/office/drawing/2014/main" id="{EFA298A0-2C33-4CAE-9F1B-B129E7791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6D2D6C-05C8-42AF-AF1C-1D3C680CA11F}"/>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346279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8A79F-EF2B-411E-BCEB-7070023B47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2C23BE-5E44-4E87-A307-8502DB156F4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7889357-38D6-4FD8-8D33-4BE1C3E610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715642-C737-46A3-843C-3B8C2CEE158F}"/>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6" name="Footer Placeholder 5">
            <a:extLst>
              <a:ext uri="{FF2B5EF4-FFF2-40B4-BE49-F238E27FC236}">
                <a16:creationId xmlns:a16="http://schemas.microsoft.com/office/drawing/2014/main" id="{B2B4CCEB-80FC-487F-95D3-BEC66F0C57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40CFBEA-1321-4349-91DE-78A11134611A}"/>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13276347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45C34-BD65-4EC3-9C45-4AF5C9DFAD6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5A9FC9-2CA9-4F6C-8DDB-7C8A1F21CD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47DE5D7-61FB-4685-B9CC-1697B65FD0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CB57617-6E6C-45F8-988F-153C5D165A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118FDC-EED5-4407-B5DC-616F2642B4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A2B2E8D-D0E1-4A41-9FAE-4D915F222BED}"/>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8" name="Footer Placeholder 7">
            <a:extLst>
              <a:ext uri="{FF2B5EF4-FFF2-40B4-BE49-F238E27FC236}">
                <a16:creationId xmlns:a16="http://schemas.microsoft.com/office/drawing/2014/main" id="{732864A1-B8A6-4E7C-898D-1DA2B0C00F0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1EE10A7-2485-42B8-A3FE-88B7409C2B41}"/>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4246539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B1EBD-F6F2-49BC-9E48-72BA3122155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E98952-F54B-4E71-960F-A1256CF028F4}"/>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4" name="Footer Placeholder 3">
            <a:extLst>
              <a:ext uri="{FF2B5EF4-FFF2-40B4-BE49-F238E27FC236}">
                <a16:creationId xmlns:a16="http://schemas.microsoft.com/office/drawing/2014/main" id="{180ECBEB-2A84-4EFB-8B20-023ADB22412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22A341F-3E93-452F-A2DC-59F91E596F43}"/>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17544722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F4AA32-14A4-41C9-BA00-4BA21069F1EB}"/>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3" name="Footer Placeholder 2">
            <a:extLst>
              <a:ext uri="{FF2B5EF4-FFF2-40B4-BE49-F238E27FC236}">
                <a16:creationId xmlns:a16="http://schemas.microsoft.com/office/drawing/2014/main" id="{4B2C0CE9-942B-40CC-819A-E6A0414668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07A2DBA-373B-4E86-90AC-806F2C67D898}"/>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7243580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8C65F-A2A8-45A4-AB62-DA26C84E7D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8CFFC1-F6F7-4ADF-B334-42D04F3DDD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5C5A3E-4E7F-4C6D-BFB6-24BA4919B6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46BFA0-6BD6-4281-86B5-5581F0A21647}"/>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6" name="Footer Placeholder 5">
            <a:extLst>
              <a:ext uri="{FF2B5EF4-FFF2-40B4-BE49-F238E27FC236}">
                <a16:creationId xmlns:a16="http://schemas.microsoft.com/office/drawing/2014/main" id="{4171BA5C-CB68-43D8-9A77-4C19986E8F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B151E5-63E1-42E0-9119-36B13053EA1C}"/>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6712003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663FF-732A-483B-969D-1CA82D8C09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39AA9DA-C257-4B0F-A6E8-B71FDEECC9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0987A0-361D-475F-8D5B-272D52D84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2C1DBE-6CD9-4643-9CC2-A23FD93DC0E4}"/>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6" name="Footer Placeholder 5">
            <a:extLst>
              <a:ext uri="{FF2B5EF4-FFF2-40B4-BE49-F238E27FC236}">
                <a16:creationId xmlns:a16="http://schemas.microsoft.com/office/drawing/2014/main" id="{DFF5DBD6-81AE-4E53-BA40-38F1C8F8A07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279C272-26F8-4FD3-8738-F311E11DCACD}"/>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1384055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4361B-549D-4EA7-B939-E7211B9B4D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9B1C84-CF25-479B-85EC-AD9EB0F104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131AB9-6D08-4950-983B-38524E7F0A98}"/>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5" name="Footer Placeholder 4">
            <a:extLst>
              <a:ext uri="{FF2B5EF4-FFF2-40B4-BE49-F238E27FC236}">
                <a16:creationId xmlns:a16="http://schemas.microsoft.com/office/drawing/2014/main" id="{35D5DE11-EA58-44C6-A077-8BC5ECFA3D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606903-68D6-4C20-96C8-2F3757281697}"/>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1104592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791A58-F36B-4B41-9E80-A2BFF73379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8C5F4DC-E9A0-49AD-BA7D-56D7E10D8E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A57E7-8395-4056-AED7-90183FD39D8B}"/>
              </a:ext>
            </a:extLst>
          </p:cNvPr>
          <p:cNvSpPr>
            <a:spLocks noGrp="1"/>
          </p:cNvSpPr>
          <p:nvPr>
            <p:ph type="dt" sz="half" idx="10"/>
          </p:nvPr>
        </p:nvSpPr>
        <p:spPr/>
        <p:txBody>
          <a:bodyPr/>
          <a:lstStyle/>
          <a:p>
            <a:fld id="{1481616F-EAA7-4EBC-9949-5F05E1A528B3}" type="datetimeFigureOut">
              <a:rPr lang="en-US" smtClean="0"/>
              <a:t>7/4/2021</a:t>
            </a:fld>
            <a:endParaRPr lang="en-US"/>
          </a:p>
        </p:txBody>
      </p:sp>
      <p:sp>
        <p:nvSpPr>
          <p:cNvPr id="5" name="Footer Placeholder 4">
            <a:extLst>
              <a:ext uri="{FF2B5EF4-FFF2-40B4-BE49-F238E27FC236}">
                <a16:creationId xmlns:a16="http://schemas.microsoft.com/office/drawing/2014/main" id="{8F4C8F55-C783-44E0-A018-139662999F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C67D7C-CE01-4B80-971A-F106EA4F7360}"/>
              </a:ext>
            </a:extLst>
          </p:cNvPr>
          <p:cNvSpPr>
            <a:spLocks noGrp="1"/>
          </p:cNvSpPr>
          <p:nvPr>
            <p:ph type="sldNum" sz="quarter" idx="12"/>
          </p:nvPr>
        </p:nvSpPr>
        <p:spPr/>
        <p:txBody>
          <a:bodyPr/>
          <a:lstStyle/>
          <a:p>
            <a:fld id="{512713D7-99B6-4998-AD46-A90143C21DFC}" type="slidenum">
              <a:rPr lang="en-US" smtClean="0"/>
              <a:t>‹#›</a:t>
            </a:fld>
            <a:endParaRPr lang="en-US"/>
          </a:p>
        </p:txBody>
      </p:sp>
    </p:spTree>
    <p:extLst>
      <p:ext uri="{BB962C8B-B14F-4D97-AF65-F5344CB8AC3E}">
        <p14:creationId xmlns:p14="http://schemas.microsoft.com/office/powerpoint/2010/main" val="3489661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DB1B4-00B2-464F-AAB7-808087F539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792CB57-DE65-4DD7-987D-8918F8A3FF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FE9A8B-01AC-4A27-8C3E-C61BF6B2F6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81616F-EAA7-4EBC-9949-5F05E1A528B3}" type="datetimeFigureOut">
              <a:rPr lang="en-US" smtClean="0"/>
              <a:t>7/4/2021</a:t>
            </a:fld>
            <a:endParaRPr lang="en-US"/>
          </a:p>
        </p:txBody>
      </p:sp>
      <p:sp>
        <p:nvSpPr>
          <p:cNvPr id="5" name="Footer Placeholder 4">
            <a:extLst>
              <a:ext uri="{FF2B5EF4-FFF2-40B4-BE49-F238E27FC236}">
                <a16:creationId xmlns:a16="http://schemas.microsoft.com/office/drawing/2014/main" id="{7FEC10E8-880F-4B16-8B28-6B0508EE6A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0D3E84-B751-4B76-B7C2-7AF2E8A53C6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2713D7-99B6-4998-AD46-A90143C21DFC}" type="slidenum">
              <a:rPr lang="en-US" smtClean="0"/>
              <a:t>‹#›</a:t>
            </a:fld>
            <a:endParaRPr lang="en-US"/>
          </a:p>
        </p:txBody>
      </p:sp>
    </p:spTree>
    <p:extLst>
      <p:ext uri="{BB962C8B-B14F-4D97-AF65-F5344CB8AC3E}">
        <p14:creationId xmlns:p14="http://schemas.microsoft.com/office/powerpoint/2010/main" val="3982638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wm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CC4AB-651B-4EC8-958F-45B23C1E5941}"/>
              </a:ext>
            </a:extLst>
          </p:cNvPr>
          <p:cNvSpPr>
            <a:spLocks noGrp="1"/>
          </p:cNvSpPr>
          <p:nvPr>
            <p:ph type="ctrTitle"/>
          </p:nvPr>
        </p:nvSpPr>
        <p:spPr/>
        <p:txBody>
          <a:bodyPr anchor="ctr">
            <a:normAutofit/>
          </a:bodyPr>
          <a:lstStyle/>
          <a:p>
            <a:r>
              <a:rPr lang="en-US" sz="5400" dirty="0"/>
              <a:t>Randomized Block Designs</a:t>
            </a:r>
          </a:p>
        </p:txBody>
      </p:sp>
      <p:sp>
        <p:nvSpPr>
          <p:cNvPr id="3" name="Subtitle 2">
            <a:extLst>
              <a:ext uri="{FF2B5EF4-FFF2-40B4-BE49-F238E27FC236}">
                <a16:creationId xmlns:a16="http://schemas.microsoft.com/office/drawing/2014/main" id="{F715EBE6-D173-4EF5-B273-F7F09F43D3BF}"/>
              </a:ext>
            </a:extLst>
          </p:cNvPr>
          <p:cNvSpPr>
            <a:spLocks noGrp="1"/>
          </p:cNvSpPr>
          <p:nvPr>
            <p:ph type="subTitle" idx="1"/>
          </p:nvPr>
        </p:nvSpPr>
        <p:spPr/>
        <p:txBody>
          <a:bodyPr>
            <a:normAutofit/>
          </a:bodyPr>
          <a:lstStyle/>
          <a:p>
            <a:r>
              <a:rPr lang="en-US" dirty="0"/>
              <a:t>Larry V. Hedges</a:t>
            </a:r>
          </a:p>
          <a:p>
            <a:r>
              <a:rPr lang="en-US" dirty="0"/>
              <a:t>Northwestern University</a:t>
            </a:r>
          </a:p>
          <a:p>
            <a:r>
              <a:rPr lang="en-US" sz="1400" dirty="0"/>
              <a:t>Presented at the NSF Institute on Improving the Design of Evaluation studies in STEM Education Research, July 20, 2021</a:t>
            </a:r>
          </a:p>
        </p:txBody>
      </p:sp>
    </p:spTree>
    <p:extLst>
      <p:ext uri="{BB962C8B-B14F-4D97-AF65-F5344CB8AC3E}">
        <p14:creationId xmlns:p14="http://schemas.microsoft.com/office/powerpoint/2010/main" val="3634080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6FF33-1CCC-438E-A14D-31E803867F47}"/>
              </a:ext>
            </a:extLst>
          </p:cNvPr>
          <p:cNvSpPr>
            <a:spLocks noGrp="1"/>
          </p:cNvSpPr>
          <p:nvPr>
            <p:ph type="title"/>
          </p:nvPr>
        </p:nvSpPr>
        <p:spPr/>
        <p:txBody>
          <a:bodyPr/>
          <a:lstStyle/>
          <a:p>
            <a:r>
              <a:rPr lang="en-US" dirty="0"/>
              <a:t>What is a Randomized Block Design?</a:t>
            </a:r>
          </a:p>
        </p:txBody>
      </p:sp>
      <p:sp>
        <p:nvSpPr>
          <p:cNvPr id="3" name="Content Placeholder 2">
            <a:extLst>
              <a:ext uri="{FF2B5EF4-FFF2-40B4-BE49-F238E27FC236}">
                <a16:creationId xmlns:a16="http://schemas.microsoft.com/office/drawing/2014/main" id="{3BECD7C1-1B16-4C69-BC85-3AB4539F9216}"/>
              </a:ext>
            </a:extLst>
          </p:cNvPr>
          <p:cNvSpPr>
            <a:spLocks noGrp="1"/>
          </p:cNvSpPr>
          <p:nvPr>
            <p:ph idx="1"/>
          </p:nvPr>
        </p:nvSpPr>
        <p:spPr>
          <a:xfrm>
            <a:off x="838200" y="1825625"/>
            <a:ext cx="10515600" cy="607060"/>
          </a:xfrm>
        </p:spPr>
        <p:txBody>
          <a:bodyPr>
            <a:normAutofit lnSpcReduction="10000"/>
          </a:bodyPr>
          <a:lstStyle/>
          <a:p>
            <a:pPr marL="0" indent="0">
              <a:buNone/>
            </a:pPr>
            <a:r>
              <a:rPr lang="en-US" dirty="0"/>
              <a:t>In the most abstract sense, a randomized block design is one that assigns individuals to treatments not overall but </a:t>
            </a:r>
            <a:r>
              <a:rPr lang="en-US" b="1" i="1" dirty="0"/>
              <a:t>within pre-existing groups</a:t>
            </a:r>
            <a:r>
              <a:rPr lang="en-US" dirty="0"/>
              <a:t> (called blocks in the experimental design literature)</a:t>
            </a:r>
          </a:p>
          <a:p>
            <a:pPr marL="0" indent="0">
              <a:buNone/>
            </a:pPr>
            <a:endParaRPr lang="en-US" dirty="0"/>
          </a:p>
          <a:p>
            <a:pPr marL="0" indent="0">
              <a:buNone/>
            </a:pPr>
            <a:endParaRPr lang="en-US" dirty="0"/>
          </a:p>
        </p:txBody>
      </p:sp>
      <p:sp>
        <p:nvSpPr>
          <p:cNvPr id="4" name="Oval 3">
            <a:extLst>
              <a:ext uri="{FF2B5EF4-FFF2-40B4-BE49-F238E27FC236}">
                <a16:creationId xmlns:a16="http://schemas.microsoft.com/office/drawing/2014/main" id="{DD177171-6D2D-446A-BCB0-6A2D9FBDBC2B}"/>
              </a:ext>
            </a:extLst>
          </p:cNvPr>
          <p:cNvSpPr/>
          <p:nvPr/>
        </p:nvSpPr>
        <p:spPr>
          <a:xfrm>
            <a:off x="1204080" y="3893935"/>
            <a:ext cx="2092325" cy="607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5" name="Oval 4">
            <a:extLst>
              <a:ext uri="{FF2B5EF4-FFF2-40B4-BE49-F238E27FC236}">
                <a16:creationId xmlns:a16="http://schemas.microsoft.com/office/drawing/2014/main" id="{BDBB60AF-0005-45B9-9A77-6C19E5D6A979}"/>
              </a:ext>
            </a:extLst>
          </p:cNvPr>
          <p:cNvSpPr/>
          <p:nvPr/>
        </p:nvSpPr>
        <p:spPr>
          <a:xfrm>
            <a:off x="838447" y="4925209"/>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6" name="Oval 5">
            <a:extLst>
              <a:ext uri="{FF2B5EF4-FFF2-40B4-BE49-F238E27FC236}">
                <a16:creationId xmlns:a16="http://schemas.microsoft.com/office/drawing/2014/main" id="{FC5FCC8B-D8CC-4954-8D6D-2391F6CC4AC5}"/>
              </a:ext>
            </a:extLst>
          </p:cNvPr>
          <p:cNvSpPr/>
          <p:nvPr/>
        </p:nvSpPr>
        <p:spPr>
          <a:xfrm>
            <a:off x="2644704" y="4925209"/>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7" name="Straight Arrow Connector 6">
            <a:extLst>
              <a:ext uri="{FF2B5EF4-FFF2-40B4-BE49-F238E27FC236}">
                <a16:creationId xmlns:a16="http://schemas.microsoft.com/office/drawing/2014/main" id="{3EBEAA9B-0218-4BC1-BF26-188515D5B800}"/>
              </a:ext>
            </a:extLst>
          </p:cNvPr>
          <p:cNvCxnSpPr>
            <a:cxnSpLocks/>
          </p:cNvCxnSpPr>
          <p:nvPr/>
        </p:nvCxnSpPr>
        <p:spPr>
          <a:xfrm flipH="1">
            <a:off x="1603426" y="4520430"/>
            <a:ext cx="568205" cy="438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25209D9-90F5-4ED5-A3C7-6DE98DAF08C1}"/>
              </a:ext>
            </a:extLst>
          </p:cNvPr>
          <p:cNvCxnSpPr/>
          <p:nvPr/>
        </p:nvCxnSpPr>
        <p:spPr>
          <a:xfrm>
            <a:off x="2174804" y="4520430"/>
            <a:ext cx="786765" cy="438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 Box 21">
            <a:extLst>
              <a:ext uri="{FF2B5EF4-FFF2-40B4-BE49-F238E27FC236}">
                <a16:creationId xmlns:a16="http://schemas.microsoft.com/office/drawing/2014/main" id="{F03FDB2A-F125-457F-9BCA-70B9A3518F1F}"/>
              </a:ext>
            </a:extLst>
          </p:cNvPr>
          <p:cNvSpPr txBox="1">
            <a:spLocks noChangeArrowheads="1"/>
          </p:cNvSpPr>
          <p:nvPr/>
        </p:nvSpPr>
        <p:spPr bwMode="auto">
          <a:xfrm>
            <a:off x="1859844" y="4053232"/>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latin typeface="Calibri" panose="020F0502020204030204" pitchFamily="34" charset="0"/>
                <a:cs typeface="Times New Roman" panose="02020603050405020304" pitchFamily="18" charset="0"/>
              </a:rPr>
              <a:t>Block 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 name="Text Box 22">
            <a:extLst>
              <a:ext uri="{FF2B5EF4-FFF2-40B4-BE49-F238E27FC236}">
                <a16:creationId xmlns:a16="http://schemas.microsoft.com/office/drawing/2014/main" id="{AF835858-ADAC-49F9-AAA7-6B3643E81CAC}"/>
              </a:ext>
            </a:extLst>
          </p:cNvPr>
          <p:cNvSpPr txBox="1">
            <a:spLocks noChangeArrowheads="1"/>
          </p:cNvSpPr>
          <p:nvPr/>
        </p:nvSpPr>
        <p:spPr bwMode="auto">
          <a:xfrm>
            <a:off x="993545" y="5065895"/>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Intervention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 Box 23">
            <a:extLst>
              <a:ext uri="{FF2B5EF4-FFF2-40B4-BE49-F238E27FC236}">
                <a16:creationId xmlns:a16="http://schemas.microsoft.com/office/drawing/2014/main" id="{38105B30-8C3D-4A82-86BC-6A01104E4F48}"/>
              </a:ext>
            </a:extLst>
          </p:cNvPr>
          <p:cNvSpPr txBox="1">
            <a:spLocks noChangeArrowheads="1"/>
          </p:cNvSpPr>
          <p:nvPr/>
        </p:nvSpPr>
        <p:spPr bwMode="auto">
          <a:xfrm>
            <a:off x="2772150" y="5106428"/>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Comparison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Oval 11">
            <a:extLst>
              <a:ext uri="{FF2B5EF4-FFF2-40B4-BE49-F238E27FC236}">
                <a16:creationId xmlns:a16="http://schemas.microsoft.com/office/drawing/2014/main" id="{66D12542-A2DB-417E-A71A-0522795E75AA}"/>
              </a:ext>
            </a:extLst>
          </p:cNvPr>
          <p:cNvSpPr/>
          <p:nvPr/>
        </p:nvSpPr>
        <p:spPr>
          <a:xfrm>
            <a:off x="4452875" y="3892368"/>
            <a:ext cx="2092325" cy="607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3" name="Oval 12">
            <a:extLst>
              <a:ext uri="{FF2B5EF4-FFF2-40B4-BE49-F238E27FC236}">
                <a16:creationId xmlns:a16="http://schemas.microsoft.com/office/drawing/2014/main" id="{8B17CDBB-64BF-478F-864D-62F3F1958C37}"/>
              </a:ext>
            </a:extLst>
          </p:cNvPr>
          <p:cNvSpPr/>
          <p:nvPr/>
        </p:nvSpPr>
        <p:spPr>
          <a:xfrm>
            <a:off x="4093148" y="4901032"/>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14" name="Oval 13">
            <a:extLst>
              <a:ext uri="{FF2B5EF4-FFF2-40B4-BE49-F238E27FC236}">
                <a16:creationId xmlns:a16="http://schemas.microsoft.com/office/drawing/2014/main" id="{997E5AC7-85ED-4124-9614-163C0C74B160}"/>
              </a:ext>
            </a:extLst>
          </p:cNvPr>
          <p:cNvSpPr/>
          <p:nvPr/>
        </p:nvSpPr>
        <p:spPr>
          <a:xfrm>
            <a:off x="5746370" y="4934403"/>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15" name="Straight Arrow Connector 14">
            <a:extLst>
              <a:ext uri="{FF2B5EF4-FFF2-40B4-BE49-F238E27FC236}">
                <a16:creationId xmlns:a16="http://schemas.microsoft.com/office/drawing/2014/main" id="{593E2899-F01D-498D-B337-D4D8C8E80DF1}"/>
              </a:ext>
            </a:extLst>
          </p:cNvPr>
          <p:cNvCxnSpPr>
            <a:cxnSpLocks/>
          </p:cNvCxnSpPr>
          <p:nvPr/>
        </p:nvCxnSpPr>
        <p:spPr>
          <a:xfrm flipH="1">
            <a:off x="4858127" y="4496253"/>
            <a:ext cx="568205" cy="438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47D1CF5-B5BB-45B6-BE30-8A3AB3A6E91D}"/>
              </a:ext>
            </a:extLst>
          </p:cNvPr>
          <p:cNvCxnSpPr/>
          <p:nvPr/>
        </p:nvCxnSpPr>
        <p:spPr>
          <a:xfrm>
            <a:off x="5429505" y="4496253"/>
            <a:ext cx="786765" cy="438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 Box 21">
            <a:extLst>
              <a:ext uri="{FF2B5EF4-FFF2-40B4-BE49-F238E27FC236}">
                <a16:creationId xmlns:a16="http://schemas.microsoft.com/office/drawing/2014/main" id="{6A74F962-70D1-4DB1-B25C-333CE320320E}"/>
              </a:ext>
            </a:extLst>
          </p:cNvPr>
          <p:cNvSpPr txBox="1">
            <a:spLocks noChangeArrowheads="1"/>
          </p:cNvSpPr>
          <p:nvPr/>
        </p:nvSpPr>
        <p:spPr bwMode="auto">
          <a:xfrm>
            <a:off x="5114545" y="4029055"/>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latin typeface="Calibri" panose="020F0502020204030204" pitchFamily="34" charset="0"/>
                <a:cs typeface="Times New Roman" panose="02020603050405020304" pitchFamily="18" charset="0"/>
              </a:rPr>
              <a:t>Block 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Text Box 22">
            <a:extLst>
              <a:ext uri="{FF2B5EF4-FFF2-40B4-BE49-F238E27FC236}">
                <a16:creationId xmlns:a16="http://schemas.microsoft.com/office/drawing/2014/main" id="{72BBA63F-C9F1-4F7E-8796-AB264E138EED}"/>
              </a:ext>
            </a:extLst>
          </p:cNvPr>
          <p:cNvSpPr txBox="1">
            <a:spLocks noChangeArrowheads="1"/>
          </p:cNvSpPr>
          <p:nvPr/>
        </p:nvSpPr>
        <p:spPr bwMode="auto">
          <a:xfrm>
            <a:off x="4248246" y="5041718"/>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Intervention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Text Box 23">
            <a:extLst>
              <a:ext uri="{FF2B5EF4-FFF2-40B4-BE49-F238E27FC236}">
                <a16:creationId xmlns:a16="http://schemas.microsoft.com/office/drawing/2014/main" id="{78547230-1690-4417-93B5-A2B782A67BEE}"/>
              </a:ext>
            </a:extLst>
          </p:cNvPr>
          <p:cNvSpPr txBox="1">
            <a:spLocks noChangeArrowheads="1"/>
          </p:cNvSpPr>
          <p:nvPr/>
        </p:nvSpPr>
        <p:spPr bwMode="auto">
          <a:xfrm>
            <a:off x="5873816" y="5115622"/>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Comparison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0" name="Oval 19">
            <a:extLst>
              <a:ext uri="{FF2B5EF4-FFF2-40B4-BE49-F238E27FC236}">
                <a16:creationId xmlns:a16="http://schemas.microsoft.com/office/drawing/2014/main" id="{7AD15CBD-1E3B-43FC-9A94-3E4160545902}"/>
              </a:ext>
            </a:extLst>
          </p:cNvPr>
          <p:cNvSpPr/>
          <p:nvPr/>
        </p:nvSpPr>
        <p:spPr>
          <a:xfrm>
            <a:off x="8905424" y="3887119"/>
            <a:ext cx="2092325" cy="607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1" name="Oval 20">
            <a:extLst>
              <a:ext uri="{FF2B5EF4-FFF2-40B4-BE49-F238E27FC236}">
                <a16:creationId xmlns:a16="http://schemas.microsoft.com/office/drawing/2014/main" id="{4046CEAF-ECEC-40F2-A4BC-87CC1651BE39}"/>
              </a:ext>
            </a:extLst>
          </p:cNvPr>
          <p:cNvSpPr/>
          <p:nvPr/>
        </p:nvSpPr>
        <p:spPr>
          <a:xfrm>
            <a:off x="8545697" y="4895783"/>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
        <p:nvSpPr>
          <p:cNvPr id="22" name="Oval 21">
            <a:extLst>
              <a:ext uri="{FF2B5EF4-FFF2-40B4-BE49-F238E27FC236}">
                <a16:creationId xmlns:a16="http://schemas.microsoft.com/office/drawing/2014/main" id="{B9ABAB63-2651-4CBC-B902-50CF63CC2F3D}"/>
              </a:ext>
            </a:extLst>
          </p:cNvPr>
          <p:cNvSpPr/>
          <p:nvPr/>
        </p:nvSpPr>
        <p:spPr>
          <a:xfrm>
            <a:off x="10198919" y="4929154"/>
            <a:ext cx="1177290" cy="6508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cxnSp>
        <p:nvCxnSpPr>
          <p:cNvPr id="23" name="Straight Arrow Connector 22">
            <a:extLst>
              <a:ext uri="{FF2B5EF4-FFF2-40B4-BE49-F238E27FC236}">
                <a16:creationId xmlns:a16="http://schemas.microsoft.com/office/drawing/2014/main" id="{FD120025-7781-40AE-B4CA-68498E2ACF5D}"/>
              </a:ext>
            </a:extLst>
          </p:cNvPr>
          <p:cNvCxnSpPr>
            <a:cxnSpLocks/>
          </p:cNvCxnSpPr>
          <p:nvPr/>
        </p:nvCxnSpPr>
        <p:spPr>
          <a:xfrm flipH="1">
            <a:off x="9310676" y="4491004"/>
            <a:ext cx="568205" cy="4381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A3C17A4-D5A7-41E3-99D5-A8DCACC78E2F}"/>
              </a:ext>
            </a:extLst>
          </p:cNvPr>
          <p:cNvCxnSpPr/>
          <p:nvPr/>
        </p:nvCxnSpPr>
        <p:spPr>
          <a:xfrm>
            <a:off x="9882054" y="4491004"/>
            <a:ext cx="786765" cy="4387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 Box 21">
            <a:extLst>
              <a:ext uri="{FF2B5EF4-FFF2-40B4-BE49-F238E27FC236}">
                <a16:creationId xmlns:a16="http://schemas.microsoft.com/office/drawing/2014/main" id="{7C858CDA-7CD4-450B-A5EB-8BF6D8D860AB}"/>
              </a:ext>
            </a:extLst>
          </p:cNvPr>
          <p:cNvSpPr txBox="1">
            <a:spLocks noChangeArrowheads="1"/>
          </p:cNvSpPr>
          <p:nvPr/>
        </p:nvSpPr>
        <p:spPr bwMode="auto">
          <a:xfrm>
            <a:off x="9567094" y="4023806"/>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100" dirty="0">
                <a:latin typeface="Calibri" panose="020F0502020204030204" pitchFamily="34" charset="0"/>
                <a:cs typeface="Times New Roman" panose="02020603050405020304" pitchFamily="18" charset="0"/>
              </a:rPr>
              <a:t>Block </a:t>
            </a:r>
            <a:r>
              <a:rPr lang="en-US" altLang="en-US" sz="1100" i="1" dirty="0">
                <a:latin typeface="Times New Roman" panose="02020603050405020304" pitchFamily="18" charset="0"/>
                <a:cs typeface="Times New Roman" panose="02020603050405020304" pitchFamily="18" charset="0"/>
              </a:rPr>
              <a:t>m</a:t>
            </a:r>
            <a:endParaRPr kumimoji="0" lang="en-US" altLang="en-US" sz="1800" b="0" i="1"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26" name="Text Box 22">
            <a:extLst>
              <a:ext uri="{FF2B5EF4-FFF2-40B4-BE49-F238E27FC236}">
                <a16:creationId xmlns:a16="http://schemas.microsoft.com/office/drawing/2014/main" id="{5443E4C5-FE3E-4F9F-98A2-167D591FC50A}"/>
              </a:ext>
            </a:extLst>
          </p:cNvPr>
          <p:cNvSpPr txBox="1">
            <a:spLocks noChangeArrowheads="1"/>
          </p:cNvSpPr>
          <p:nvPr/>
        </p:nvSpPr>
        <p:spPr bwMode="auto">
          <a:xfrm>
            <a:off x="8700795" y="5036469"/>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Intervention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7" name="Text Box 23">
            <a:extLst>
              <a:ext uri="{FF2B5EF4-FFF2-40B4-BE49-F238E27FC236}">
                <a16:creationId xmlns:a16="http://schemas.microsoft.com/office/drawing/2014/main" id="{2202149B-B863-4D02-961F-B5023E6390F0}"/>
              </a:ext>
            </a:extLst>
          </p:cNvPr>
          <p:cNvSpPr txBox="1">
            <a:spLocks noChangeArrowheads="1"/>
          </p:cNvSpPr>
          <p:nvPr/>
        </p:nvSpPr>
        <p:spPr bwMode="auto">
          <a:xfrm>
            <a:off x="10326365" y="5110373"/>
            <a:ext cx="110172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Comparison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8" name="Oval 27">
            <a:extLst>
              <a:ext uri="{FF2B5EF4-FFF2-40B4-BE49-F238E27FC236}">
                <a16:creationId xmlns:a16="http://schemas.microsoft.com/office/drawing/2014/main" id="{126D5B82-4703-49D4-9A01-17D75455727C}"/>
              </a:ext>
            </a:extLst>
          </p:cNvPr>
          <p:cNvSpPr/>
          <p:nvPr/>
        </p:nvSpPr>
        <p:spPr>
          <a:xfrm>
            <a:off x="5499037" y="2474666"/>
            <a:ext cx="2092325" cy="60706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r>
              <a:rPr lang="en-US" dirty="0"/>
              <a:t>      Sample</a:t>
            </a:r>
          </a:p>
        </p:txBody>
      </p:sp>
      <p:cxnSp>
        <p:nvCxnSpPr>
          <p:cNvPr id="29" name="Straight Arrow Connector 28">
            <a:extLst>
              <a:ext uri="{FF2B5EF4-FFF2-40B4-BE49-F238E27FC236}">
                <a16:creationId xmlns:a16="http://schemas.microsoft.com/office/drawing/2014/main" id="{5818EC8B-A653-4425-A90D-4E959A277679}"/>
              </a:ext>
            </a:extLst>
          </p:cNvPr>
          <p:cNvCxnSpPr>
            <a:cxnSpLocks/>
            <a:stCxn id="28" idx="4"/>
          </p:cNvCxnSpPr>
          <p:nvPr/>
        </p:nvCxnSpPr>
        <p:spPr>
          <a:xfrm flipH="1">
            <a:off x="2373550" y="3081726"/>
            <a:ext cx="4171650" cy="8014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EDCDD26C-BA39-46F8-9B9D-FB59E1449DA4}"/>
              </a:ext>
            </a:extLst>
          </p:cNvPr>
          <p:cNvCxnSpPr>
            <a:cxnSpLocks/>
            <a:stCxn id="28" idx="4"/>
            <a:endCxn id="12" idx="0"/>
          </p:cNvCxnSpPr>
          <p:nvPr/>
        </p:nvCxnSpPr>
        <p:spPr>
          <a:xfrm flipH="1">
            <a:off x="5499038" y="3081726"/>
            <a:ext cx="1046162" cy="8106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DEF773FE-5072-4FA9-96B6-2E29DF1CE42F}"/>
              </a:ext>
            </a:extLst>
          </p:cNvPr>
          <p:cNvCxnSpPr>
            <a:cxnSpLocks/>
            <a:stCxn id="28" idx="4"/>
            <a:endCxn id="20" idx="0"/>
          </p:cNvCxnSpPr>
          <p:nvPr/>
        </p:nvCxnSpPr>
        <p:spPr>
          <a:xfrm>
            <a:off x="6545200" y="3081726"/>
            <a:ext cx="3406387" cy="8053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825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6075E-09E0-46EF-B294-5E45AB49FAE4}"/>
              </a:ext>
            </a:extLst>
          </p:cNvPr>
          <p:cNvSpPr>
            <a:spLocks noGrp="1"/>
          </p:cNvSpPr>
          <p:nvPr>
            <p:ph type="title"/>
          </p:nvPr>
        </p:nvSpPr>
        <p:spPr/>
        <p:txBody>
          <a:bodyPr/>
          <a:lstStyle/>
          <a:p>
            <a:r>
              <a:rPr lang="en-US" dirty="0"/>
              <a:t>What is a Randomized Block Design?</a:t>
            </a:r>
          </a:p>
        </p:txBody>
      </p:sp>
      <p:sp>
        <p:nvSpPr>
          <p:cNvPr id="3" name="Content Placeholder 2">
            <a:extLst>
              <a:ext uri="{FF2B5EF4-FFF2-40B4-BE49-F238E27FC236}">
                <a16:creationId xmlns:a16="http://schemas.microsoft.com/office/drawing/2014/main" id="{FA8E8FD2-2215-4EFD-AD34-C5A5C08AEB1B}"/>
              </a:ext>
            </a:extLst>
          </p:cNvPr>
          <p:cNvSpPr>
            <a:spLocks noGrp="1"/>
          </p:cNvSpPr>
          <p:nvPr>
            <p:ph idx="1"/>
          </p:nvPr>
        </p:nvSpPr>
        <p:spPr/>
        <p:txBody>
          <a:bodyPr/>
          <a:lstStyle/>
          <a:p>
            <a:pPr marL="0" indent="0">
              <a:buNone/>
            </a:pPr>
            <a:r>
              <a:rPr lang="en-US" dirty="0"/>
              <a:t>Randomized block designs are also called multisite designs because the blocks are often geographical or organizational sites (like classrooms or schools)</a:t>
            </a:r>
          </a:p>
          <a:p>
            <a:pPr marL="0" indent="0">
              <a:buNone/>
            </a:pPr>
            <a:endParaRPr lang="en-US" dirty="0"/>
          </a:p>
          <a:p>
            <a:pPr marL="0" indent="0">
              <a:buNone/>
            </a:pPr>
            <a:r>
              <a:rPr lang="en-US" dirty="0"/>
              <a:t>The individuals within blocks are implicitly matched on everything blocks have in common</a:t>
            </a:r>
          </a:p>
          <a:p>
            <a:pPr marL="0" indent="0">
              <a:buNone/>
            </a:pPr>
            <a:endParaRPr lang="en-US" dirty="0"/>
          </a:p>
          <a:p>
            <a:pPr marL="0" indent="0">
              <a:buNone/>
            </a:pPr>
            <a:r>
              <a:rPr lang="en-US" dirty="0"/>
              <a:t>Often these designs arise because of multi-stage sampling: Individuals are nested within sites or statistical clusters (hence the name multisite design)</a:t>
            </a:r>
          </a:p>
          <a:p>
            <a:pPr marL="0" indent="0">
              <a:buNone/>
            </a:pPr>
            <a:endParaRPr lang="en-US" dirty="0"/>
          </a:p>
          <a:p>
            <a:pPr marL="0" indent="0">
              <a:buNone/>
            </a:pPr>
            <a:r>
              <a:rPr lang="en-US" dirty="0"/>
              <a:t>For example: You need to go to several schools in order to obtain the required sample size, so you randomly assign individuals to treatments </a:t>
            </a:r>
            <a:r>
              <a:rPr lang="en-US" b="1" i="1" dirty="0"/>
              <a:t>within schools</a:t>
            </a:r>
          </a:p>
          <a:p>
            <a:pPr marL="0" indent="0">
              <a:buNone/>
            </a:pPr>
            <a:endParaRPr lang="en-US" dirty="0"/>
          </a:p>
          <a:p>
            <a:pPr marL="0" indent="0">
              <a:buNone/>
            </a:pPr>
            <a:r>
              <a:rPr lang="en-US" dirty="0"/>
              <a:t>In a balanced design, the same number </a:t>
            </a:r>
            <a:r>
              <a:rPr lang="en-US" i="1" dirty="0">
                <a:latin typeface="Times New Roman" panose="02020603050405020304" pitchFamily="18" charset="0"/>
                <a:cs typeface="Times New Roman" panose="02020603050405020304" pitchFamily="18" charset="0"/>
              </a:rPr>
              <a:t>n</a:t>
            </a:r>
            <a:r>
              <a:rPr lang="en-US" dirty="0"/>
              <a:t> of individuals will be assigned to each treatment within each site or block, for a total of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n</a:t>
            </a:r>
            <a:r>
              <a:rPr lang="en-US" dirty="0"/>
              <a:t> individuals per site or block, with </a:t>
            </a:r>
            <a:r>
              <a:rPr lang="en-US" i="1" dirty="0">
                <a:latin typeface="Times New Roman" panose="02020603050405020304" pitchFamily="18" charset="0"/>
                <a:cs typeface="Times New Roman" panose="02020603050405020304" pitchFamily="18" charset="0"/>
              </a:rPr>
              <a:t>m</a:t>
            </a:r>
            <a:r>
              <a:rPr lang="en-US" dirty="0"/>
              <a:t> sites or blocks, and  a total sample size of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2</a:t>
            </a:r>
            <a:r>
              <a:rPr lang="en-US" i="1" dirty="0">
                <a:latin typeface="Times New Roman" panose="02020603050405020304" pitchFamily="18" charset="0"/>
                <a:cs typeface="Times New Roman" panose="02020603050405020304" pitchFamily="18" charset="0"/>
              </a:rPr>
              <a:t>mn</a:t>
            </a:r>
            <a:endParaRPr lang="en-US" i="1" dirty="0"/>
          </a:p>
        </p:txBody>
      </p:sp>
    </p:spTree>
    <p:extLst>
      <p:ext uri="{BB962C8B-B14F-4D97-AF65-F5344CB8AC3E}">
        <p14:creationId xmlns:p14="http://schemas.microsoft.com/office/powerpoint/2010/main" val="21618748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BD3D-D50F-4746-AC59-BEB1B690F2A8}"/>
              </a:ext>
            </a:extLst>
          </p:cNvPr>
          <p:cNvSpPr>
            <a:spLocks noGrp="1"/>
          </p:cNvSpPr>
          <p:nvPr>
            <p:ph type="title"/>
          </p:nvPr>
        </p:nvSpPr>
        <p:spPr/>
        <p:txBody>
          <a:bodyPr/>
          <a:lstStyle/>
          <a:p>
            <a:r>
              <a:rPr lang="en-US" dirty="0"/>
              <a:t>How is this Design Different from </a:t>
            </a:r>
            <a:br>
              <a:rPr lang="en-US" dirty="0"/>
            </a:br>
            <a:r>
              <a:rPr lang="en-US" dirty="0"/>
              <a:t>the Individually Randomized Design?</a:t>
            </a:r>
          </a:p>
        </p:txBody>
      </p:sp>
      <p:sp>
        <p:nvSpPr>
          <p:cNvPr id="3" name="Content Placeholder 2">
            <a:extLst>
              <a:ext uri="{FF2B5EF4-FFF2-40B4-BE49-F238E27FC236}">
                <a16:creationId xmlns:a16="http://schemas.microsoft.com/office/drawing/2014/main" id="{3F5AB517-3FA0-4A0A-8144-0726803E23DD}"/>
              </a:ext>
            </a:extLst>
          </p:cNvPr>
          <p:cNvSpPr>
            <a:spLocks noGrp="1"/>
          </p:cNvSpPr>
          <p:nvPr>
            <p:ph idx="1"/>
          </p:nvPr>
        </p:nvSpPr>
        <p:spPr/>
        <p:txBody>
          <a:bodyPr/>
          <a:lstStyle/>
          <a:p>
            <a:pPr marL="0" indent="0">
              <a:buNone/>
            </a:pPr>
            <a:r>
              <a:rPr lang="en-US" dirty="0"/>
              <a:t>Suppose the sample comes from five schools</a:t>
            </a:r>
          </a:p>
          <a:p>
            <a:pPr marL="0" indent="0">
              <a:buNone/>
            </a:pPr>
            <a:endParaRPr lang="en-US" dirty="0"/>
          </a:p>
          <a:p>
            <a:pPr marL="0" indent="0">
              <a:buNone/>
            </a:pPr>
            <a:r>
              <a:rPr lang="en-US" dirty="0"/>
              <a:t>In the individually randomized design, you would make a list of all participants and randomize participants into treatments regardless of which school they were in—you might wind up with different numbers of treatment or control participants in different schools</a:t>
            </a:r>
          </a:p>
          <a:p>
            <a:pPr marL="0" indent="0">
              <a:buNone/>
            </a:pPr>
            <a:endParaRPr lang="en-US" dirty="0"/>
          </a:p>
          <a:p>
            <a:pPr marL="0" indent="0">
              <a:buNone/>
            </a:pPr>
            <a:r>
              <a:rPr lang="en-US" dirty="0"/>
              <a:t>In a randomized block design, you would make up a list of participants in each school and carry out a separate randomization within each schools separately</a:t>
            </a:r>
          </a:p>
          <a:p>
            <a:pPr marL="0" indent="0">
              <a:buNone/>
            </a:pPr>
            <a:endParaRPr lang="en-US" dirty="0"/>
          </a:p>
          <a:p>
            <a:pPr marL="0" indent="0">
              <a:buNone/>
            </a:pPr>
            <a:r>
              <a:rPr lang="en-US" dirty="0"/>
              <a:t>This doesn’t sound like much of a difference, but it can make a huge difference in design sensitivity</a:t>
            </a:r>
          </a:p>
          <a:p>
            <a:pPr marL="0" indent="0">
              <a:buNone/>
            </a:pPr>
            <a:endParaRPr lang="en-US" dirty="0"/>
          </a:p>
          <a:p>
            <a:pPr marL="0" indent="0">
              <a:buNone/>
            </a:pPr>
            <a:r>
              <a:rPr lang="en-US" dirty="0"/>
              <a:t>Why? </a:t>
            </a:r>
          </a:p>
          <a:p>
            <a:pPr marL="0" indent="0">
              <a:buNone/>
            </a:pPr>
            <a:endParaRPr lang="en-US" dirty="0"/>
          </a:p>
          <a:p>
            <a:pPr marL="0" indent="0">
              <a:buNone/>
            </a:pPr>
            <a:r>
              <a:rPr lang="en-US" dirty="0"/>
              <a:t>Because participants are matched within blocks, differences between blocks do not contribute toe experimental error (noise)</a:t>
            </a:r>
          </a:p>
        </p:txBody>
      </p:sp>
    </p:spTree>
    <p:extLst>
      <p:ext uri="{BB962C8B-B14F-4D97-AF65-F5344CB8AC3E}">
        <p14:creationId xmlns:p14="http://schemas.microsoft.com/office/powerpoint/2010/main" val="537144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ADE23-7AE0-400E-8EA5-8E440561FD9F}"/>
              </a:ext>
            </a:extLst>
          </p:cNvPr>
          <p:cNvSpPr>
            <a:spLocks noGrp="1"/>
          </p:cNvSpPr>
          <p:nvPr>
            <p:ph type="title"/>
          </p:nvPr>
        </p:nvSpPr>
        <p:spPr/>
        <p:txBody>
          <a:bodyPr/>
          <a:lstStyle/>
          <a:p>
            <a:r>
              <a:rPr lang="en-US" dirty="0"/>
              <a:t>Examples Slides</a:t>
            </a:r>
          </a:p>
        </p:txBody>
      </p:sp>
      <p:sp>
        <p:nvSpPr>
          <p:cNvPr id="3" name="Content Placeholder 2">
            <a:extLst>
              <a:ext uri="{FF2B5EF4-FFF2-40B4-BE49-F238E27FC236}">
                <a16:creationId xmlns:a16="http://schemas.microsoft.com/office/drawing/2014/main" id="{17F47A2A-C207-4FE7-ABD5-05842253784B}"/>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6362493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80C7A-35EB-4D63-9817-6D719AA88DD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67DB5B9-F0F6-4705-B1A4-F8EEE3697EE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283907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5C40-F18F-468B-9097-207591A7BA72}"/>
              </a:ext>
            </a:extLst>
          </p:cNvPr>
          <p:cNvSpPr>
            <a:spLocks noGrp="1"/>
          </p:cNvSpPr>
          <p:nvPr>
            <p:ph type="title"/>
          </p:nvPr>
        </p:nvSpPr>
        <p:spPr/>
        <p:txBody>
          <a:bodyPr/>
          <a:lstStyle/>
          <a:p>
            <a:r>
              <a:rPr lang="en-US" dirty="0"/>
              <a:t>A Statistical Model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F89E80-6DEE-41DB-A2AC-94E6977BDB0F}"/>
                  </a:ext>
                </a:extLst>
              </p:cNvPr>
              <p:cNvSpPr>
                <a:spLocks noGrp="1"/>
              </p:cNvSpPr>
              <p:nvPr>
                <p:ph idx="1"/>
              </p:nvPr>
            </p:nvSpPr>
            <p:spPr/>
            <p:txBody>
              <a:bodyPr>
                <a:normAutofit/>
              </a:bodyPr>
              <a:lstStyle/>
              <a:p>
                <a:pPr marL="0" indent="0">
                  <a:buNone/>
                </a:pPr>
                <a:r>
                  <a:rPr lang="en-US" dirty="0"/>
                  <a:t>Suppose we assign the same number </a:t>
                </a:r>
                <a:r>
                  <a:rPr lang="en-US" i="1" dirty="0">
                    <a:latin typeface="Times New Roman" panose="02020603050405020304" pitchFamily="18" charset="0"/>
                    <a:cs typeface="Times New Roman" panose="02020603050405020304" pitchFamily="18" charset="0"/>
                  </a:rPr>
                  <a:t>n</a:t>
                </a:r>
                <a:r>
                  <a:rPr lang="en-US" dirty="0"/>
                  <a:t> of individuals to each treatment group within each block</a:t>
                </a:r>
              </a:p>
              <a:p>
                <a:pPr marL="0" indent="0">
                  <a:buNone/>
                </a:pPr>
                <a:endParaRPr lang="en-US" dirty="0"/>
              </a:p>
              <a:p>
                <a:pPr marL="0" indent="0">
                  <a:buNone/>
                </a:pPr>
                <a:r>
                  <a:rPr lang="en-US" dirty="0"/>
                  <a:t>Let </a:t>
                </a:r>
                <a:r>
                  <a:rPr lang="en-US" dirty="0">
                    <a:effectLst/>
                    <a:ea typeface="Calibri" panose="020F0502020204030204" pitchFamily="34" charset="0"/>
                  </a:rPr>
                  <a:t>the outcome measurement of the </a:t>
                </a:r>
                <a14:m>
                  <m:oMath xmlns:m="http://schemas.openxmlformats.org/officeDocument/2006/math">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𝑘</m:t>
                        </m:r>
                      </m:e>
                      <m:sup>
                        <m:r>
                          <a:rPr lang="en-US" i="1">
                            <a:effectLst/>
                            <a:latin typeface="Cambria Math" panose="02040503050406030204" pitchFamily="18" charset="0"/>
                            <a:ea typeface="Calibri" panose="020F0502020204030204" pitchFamily="34" charset="0"/>
                            <a:cs typeface="Times New Roman" panose="02020603050405020304" pitchFamily="18" charset="0"/>
                          </a:rPr>
                          <m:t>𝑡h</m:t>
                        </m:r>
                      </m:sup>
                    </m:sSup>
                  </m:oMath>
                </a14:m>
                <a:r>
                  <a:rPr lang="en-US" dirty="0">
                    <a:effectLst/>
                    <a:latin typeface="Times New Roman" panose="02020603050405020304" pitchFamily="18" charset="0"/>
                    <a:ea typeface="Calibri" panose="020F0502020204030204" pitchFamily="34" charset="0"/>
                  </a:rPr>
                  <a:t> </a:t>
                </a:r>
                <a:r>
                  <a:rPr lang="en-US" dirty="0">
                    <a:effectLst/>
                    <a:ea typeface="Calibri" panose="020F0502020204030204" pitchFamily="34" charset="0"/>
                  </a:rPr>
                  <a:t>student in the </a:t>
                </a:r>
                <a14:m>
                  <m:oMath xmlns:m="http://schemas.openxmlformats.org/officeDocument/2006/math">
                    <m:r>
                      <a:rPr lang="en-US" b="0" i="1" smtClean="0">
                        <a:effectLst/>
                        <a:latin typeface="Cambria Math" panose="02040503050406030204" pitchFamily="18" charset="0"/>
                        <a:cs typeface="Times New Roman" panose="02020603050405020304" pitchFamily="18" charset="0"/>
                      </a:rPr>
                      <m:t>𝑖</m:t>
                    </m:r>
                    <m:r>
                      <a:rPr lang="en-US" b="0" i="1" baseline="30000" smtClean="0">
                        <a:effectLst/>
                        <a:latin typeface="Cambria Math" panose="02040503050406030204" pitchFamily="18" charset="0"/>
                        <a:cs typeface="Times New Roman" panose="02020603050405020304" pitchFamily="18" charset="0"/>
                      </a:rPr>
                      <m:t>𝑡h</m:t>
                    </m:r>
                    <m:r>
                      <a:rPr lang="en-US" i="1">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effectLst/>
                    <a:ea typeface="Calibri" panose="020F0502020204030204" pitchFamily="34" charset="0"/>
                  </a:rPr>
                  <a:t>treatment group</a:t>
                </a:r>
                <a:r>
                  <a:rPr lang="en-US" dirty="0">
                    <a:ea typeface="Calibri" panose="020F0502020204030204" pitchFamily="34" charset="0"/>
                  </a:rPr>
                  <a:t> within the </a:t>
                </a:r>
                <a:r>
                  <a:rPr lang="en-US" i="1" dirty="0" err="1">
                    <a:ea typeface="Calibri" panose="020F0502020204030204" pitchFamily="34" charset="0"/>
                  </a:rPr>
                  <a:t>j</a:t>
                </a:r>
                <a:r>
                  <a:rPr lang="en-US" baseline="30000" dirty="0" err="1">
                    <a:ea typeface="Calibri" panose="020F0502020204030204" pitchFamily="34" charset="0"/>
                  </a:rPr>
                  <a:t>th</a:t>
                </a:r>
                <a:r>
                  <a:rPr lang="en-US" dirty="0">
                    <a:ea typeface="Calibri" panose="020F0502020204030204" pitchFamily="34" charset="0"/>
                  </a:rPr>
                  <a:t> block be denoted </a:t>
                </a:r>
                <a:r>
                  <a:rPr lang="en-US" i="1" dirty="0" err="1">
                    <a:latin typeface="Times New Roman" panose="02020603050405020304" pitchFamily="18" charset="0"/>
                    <a:ea typeface="Calibri" panose="020F0502020204030204" pitchFamily="34" charset="0"/>
                    <a:cs typeface="Times New Roman" panose="02020603050405020304" pitchFamily="18" charset="0"/>
                  </a:rPr>
                  <a:t>Y</a:t>
                </a:r>
                <a:r>
                  <a:rPr lang="en-US" i="1" baseline="-25000" dirty="0" err="1">
                    <a:latin typeface="Times New Roman" panose="02020603050405020304" pitchFamily="18" charset="0"/>
                    <a:ea typeface="Calibri" panose="020F0502020204030204" pitchFamily="34" charset="0"/>
                    <a:cs typeface="Times New Roman" panose="02020603050405020304" pitchFamily="18" charset="0"/>
                  </a:rPr>
                  <a:t>ijk</a:t>
                </a:r>
                <a:r>
                  <a:rPr lang="en-US" dirty="0">
                    <a:ea typeface="Calibri" panose="020F0502020204030204" pitchFamily="34" charset="0"/>
                  </a:rPr>
                  <a:t> </a:t>
                </a:r>
                <a:r>
                  <a:rPr lang="en-US" dirty="0">
                    <a:latin typeface="Times New Roman" panose="02020603050405020304" pitchFamily="18" charset="0"/>
                    <a:ea typeface="Times New Roman" panose="02020603050405020304" pitchFamily="18" charset="0"/>
                  </a:rPr>
                  <a:t>(</a:t>
                </a:r>
                <a:r>
                  <a:rPr lang="en-US" i="1"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 = 1</a:t>
                </a:r>
                <a:r>
                  <a:rPr lang="en-US" dirty="0">
                    <a:ea typeface="Times New Roman" panose="02020603050405020304" pitchFamily="18" charset="0"/>
                  </a:rPr>
                  <a:t> implies treatment and</a:t>
                </a:r>
                <a:r>
                  <a:rPr lang="en-US" dirty="0">
                    <a:latin typeface="Times New Roman" panose="02020603050405020304" pitchFamily="18" charset="0"/>
                    <a:ea typeface="Times New Roman" panose="02020603050405020304" pitchFamily="18" charset="0"/>
                  </a:rPr>
                  <a:t> </a:t>
                </a:r>
                <a:r>
                  <a:rPr lang="en-US" i="1" dirty="0">
                    <a:latin typeface="Times New Roman" panose="02020603050405020304" pitchFamily="18" charset="0"/>
                    <a:ea typeface="Times New Roman" panose="02020603050405020304" pitchFamily="18" charset="0"/>
                  </a:rPr>
                  <a:t>i</a:t>
                </a:r>
                <a:r>
                  <a:rPr lang="en-US" dirty="0">
                    <a:latin typeface="Times New Roman" panose="02020603050405020304" pitchFamily="18" charset="0"/>
                    <a:ea typeface="Times New Roman" panose="02020603050405020304" pitchFamily="18" charset="0"/>
                  </a:rPr>
                  <a:t> = 2 </a:t>
                </a:r>
                <a:r>
                  <a:rPr lang="en-US" dirty="0">
                    <a:ea typeface="Times New Roman" panose="02020603050405020304" pitchFamily="18" charset="0"/>
                  </a:rPr>
                  <a:t>implies control)</a:t>
                </a:r>
              </a:p>
              <a:p>
                <a:pPr marL="0" indent="0">
                  <a:buNone/>
                </a:pPr>
                <a:endParaRPr lang="en-US" dirty="0">
                  <a:latin typeface="Times New Roman" panose="02020603050405020304" pitchFamily="18" charset="0"/>
                </a:endParaRPr>
              </a:p>
              <a:p>
                <a:pPr marL="0" indent="0">
                  <a:buNone/>
                </a:pPr>
                <a:r>
                  <a:rPr lang="en-US" dirty="0"/>
                  <a:t>The structural model is</a:t>
                </a:r>
              </a:p>
              <a:p>
                <a:pPr marL="0" indent="0">
                  <a:buNone/>
                </a:pPr>
                <a:endParaRPr lang="en-US" dirty="0"/>
              </a:p>
              <a:p>
                <a:pPr marL="0" indent="0">
                  <a:buNone/>
                </a:pPr>
                <a:r>
                  <a:rPr lang="en-US" dirty="0"/>
                  <a:t>	</a:t>
                </a:r>
                <a:r>
                  <a:rPr lang="en-US" dirty="0">
                    <a:effectLst/>
                    <a:cs typeface="Times New Roman" panose="02020603050405020304" pitchFamily="18" charset="0"/>
                  </a:rPr>
                  <a:t> </a:t>
                </a:r>
                <a14:m>
                  <m:oMath xmlns:m="http://schemas.openxmlformats.org/officeDocument/2006/math">
                    <m:sSub>
                      <m:sSubPr>
                        <m:ctrlPr>
                          <a:rPr lang="en-US" i="1">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𝑌</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𝑖𝑘</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 </m:t>
                    </m:r>
                    <m:r>
                      <a:rPr lang="en-US" i="1">
                        <a:effectLst/>
                        <a:latin typeface="Cambria Math" panose="02040503050406030204" pitchFamily="18" charset="0"/>
                        <a:ea typeface="Calibri" panose="020F0502020204030204" pitchFamily="34" charset="0"/>
                        <a:cs typeface="Times New Roman" panose="02020603050405020304" pitchFamily="18" charset="0"/>
                      </a:rPr>
                      <m:t>𝜇</m:t>
                    </m:r>
                    <m:r>
                      <a:rPr lang="en-US" i="1">
                        <a:effectLst/>
                        <a:latin typeface="Cambria Math" panose="02040503050406030204" pitchFamily="18" charset="0"/>
                        <a:ea typeface="Calibri" panose="020F0502020204030204" pitchFamily="34" charset="0"/>
                        <a:cs typeface="Times New Roman" panose="02020603050405020304" pitchFamily="18" charset="0"/>
                      </a:rPr>
                      <m:t> + </m:t>
                    </m:r>
                    <m:sSub>
                      <m:sSubPr>
                        <m:ctrlPr>
                          <a:rPr lang="en-US" i="1">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l-GR" b="0" i="1" smtClean="0">
                        <a:effectLst/>
                        <a:latin typeface="Cambria Math" panose="02040503050406030204" pitchFamily="18" charset="0"/>
                        <a:ea typeface="Calibri" panose="020F0502020204030204" pitchFamily="34" charset="0"/>
                        <a:cs typeface="Times New Roman" panose="02020603050405020304" pitchFamily="18" charset="0"/>
                      </a:rPr>
                      <m:t>β</m:t>
                    </m:r>
                    <m:r>
                      <a:rPr lang="en-US" b="0" i="1" baseline="-25000"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mbria Math" panose="02040503050406030204" pitchFamily="18" charset="0"/>
                        <a:cs typeface="Times New Roman" panose="02020603050405020304" pitchFamily="18" charset="0"/>
                      </a:rPr>
                      <m:t>𝛾</m:t>
                    </m:r>
                    <m:sSub>
                      <m:sSubPr>
                        <m:ctrlPr>
                          <a:rPr lang="en-US" i="1">
                            <a:effectLst/>
                            <a:latin typeface="Cambria Math" panose="02040503050406030204" pitchFamily="18" charset="0"/>
                            <a:cs typeface="Times New Roman" panose="02020603050405020304" pitchFamily="18" charset="0"/>
                          </a:rPr>
                        </m:ctrlPr>
                      </m:sSubPr>
                      <m:e>
                        <m:r>
                          <a:rPr lang="en-US" b="0" i="1" baseline="-25000" smtClean="0">
                            <a:effectLst/>
                            <a:latin typeface="Cambria Math" panose="02040503050406030204" pitchFamily="18" charset="0"/>
                            <a:cs typeface="Times New Roman" panose="02020603050405020304" pitchFamily="18" charset="0"/>
                          </a:rPr>
                          <m:t>𝑖𝑗</m:t>
                        </m:r>
                        <m:r>
                          <a:rPr lang="en-US" b="0" i="1" smtClean="0">
                            <a:effectLst/>
                            <a:latin typeface="Cambria Math" panose="02040503050406030204" pitchFamily="18" charset="0"/>
                            <a:cs typeface="Times New Roman" panose="02020603050405020304" pitchFamily="18" charset="0"/>
                          </a:rPr>
                          <m:t>+ </m:t>
                        </m:r>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i="1">
                            <a:effectLst/>
                            <a:latin typeface="Cambria Math" panose="02040503050406030204" pitchFamily="18" charset="0"/>
                            <a:ea typeface="Calibri" panose="020F0502020204030204" pitchFamily="34" charset="0"/>
                            <a:cs typeface="Times New Roman" panose="02020603050405020304" pitchFamily="18" charset="0"/>
                          </a:rPr>
                          <m:t>𝑘</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i="1">
                        <a:effectLst/>
                        <a:latin typeface="Cambria Math" panose="02040503050406030204" pitchFamily="18" charset="0"/>
                        <a:ea typeface="Calibri" panose="020F0502020204030204" pitchFamily="34" charset="0"/>
                        <a:cs typeface="Times New Roman" panose="02020603050405020304" pitchFamily="18" charset="0"/>
                      </a:rPr>
                      <m:t> = 1, 2;</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=1, …,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𝑚</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i="1">
                        <a:effectLst/>
                        <a:latin typeface="Cambria Math" panose="02040503050406030204" pitchFamily="18" charset="0"/>
                        <a:ea typeface="Calibri" panose="020F0502020204030204" pitchFamily="34" charset="0"/>
                        <a:cs typeface="Times New Roman" panose="02020603050405020304" pitchFamily="18" charset="0"/>
                      </a:rPr>
                      <m:t>𝑘</m:t>
                    </m:r>
                    <m:r>
                      <a:rPr lang="en-US" i="1">
                        <a:effectLst/>
                        <a:latin typeface="Cambria Math" panose="02040503050406030204" pitchFamily="18" charset="0"/>
                        <a:ea typeface="Calibri" panose="020F0502020204030204" pitchFamily="34" charset="0"/>
                        <a:cs typeface="Times New Roman" panose="02020603050405020304" pitchFamily="18" charset="0"/>
                      </a:rPr>
                      <m:t>= 1, …, </m:t>
                    </m:r>
                    <m:r>
                      <a:rPr lang="en-US" i="1">
                        <a:effectLst/>
                        <a:latin typeface="Cambria Math" panose="02040503050406030204" pitchFamily="18" charset="0"/>
                        <a:ea typeface="Calibri" panose="020F0502020204030204" pitchFamily="34" charset="0"/>
                        <a:cs typeface="Times New Roman" panose="02020603050405020304" pitchFamily="18" charset="0"/>
                      </a:rPr>
                      <m:t>𝑛</m:t>
                    </m:r>
                  </m:oMath>
                </a14:m>
                <a:endParaRPr lang="en-US" dirty="0"/>
              </a:p>
              <a:p>
                <a:pPr marL="0" indent="0">
                  <a:buNone/>
                </a:pPr>
                <a:endParaRPr lang="en-US" i="1" baseline="-25000" dirty="0"/>
              </a:p>
              <a:p>
                <a:pPr marL="0" indent="0">
                  <a:buNone/>
                </a:pPr>
                <a:r>
                  <a:rPr lang="en-US" dirty="0"/>
                  <a:t>This structural model has two new elements: the block effect  and </a:t>
                </a:r>
                <a14:m>
                  <m:oMath xmlns:m="http://schemas.openxmlformats.org/officeDocument/2006/math">
                    <m:r>
                      <a:rPr lang="el-GR" b="0" i="1" smtClean="0">
                        <a:effectLst/>
                        <a:latin typeface="Cambria Math" panose="02040503050406030204" pitchFamily="18" charset="0"/>
                        <a:ea typeface="Calibri" panose="020F0502020204030204" pitchFamily="34" charset="0"/>
                        <a:cs typeface="Times New Roman" panose="02020603050405020304" pitchFamily="18" charset="0"/>
                      </a:rPr>
                      <m:t>𝛽</m:t>
                    </m:r>
                    <m:r>
                      <a:rPr lang="en-US" b="0" i="1" baseline="-25000" smtClean="0">
                        <a:effectLst/>
                        <a:latin typeface="Cambria Math" panose="02040503050406030204" pitchFamily="18" charset="0"/>
                        <a:ea typeface="Calibri" panose="020F0502020204030204" pitchFamily="34" charset="0"/>
                        <a:cs typeface="Times New Roman" panose="02020603050405020304" pitchFamily="18" charset="0"/>
                      </a:rPr>
                      <m:t>𝑗</m:t>
                    </m:r>
                  </m:oMath>
                </a14:m>
                <a:r>
                  <a:rPr lang="en-US" dirty="0"/>
                  <a:t> and the interaction effect </a:t>
                </a:r>
                <a14:m>
                  <m:oMath xmlns:m="http://schemas.openxmlformats.org/officeDocument/2006/math">
                    <m:r>
                      <a:rPr lang="en-US" b="0" i="1" smtClean="0">
                        <a:effectLst/>
                        <a:latin typeface="Cambria Math" panose="02040503050406030204" pitchFamily="18" charset="0"/>
                        <a:ea typeface="Cambria Math" panose="02040503050406030204" pitchFamily="18" charset="0"/>
                        <a:cs typeface="Times New Roman" panose="02020603050405020304" pitchFamily="18" charset="0"/>
                      </a:rPr>
                      <m:t>𝛾</m:t>
                    </m:r>
                  </m:oMath>
                </a14:m>
                <a:r>
                  <a:rPr lang="en-US" i="1" baseline="-25000" dirty="0">
                    <a:latin typeface="Times New Roman" panose="02020603050405020304" pitchFamily="18" charset="0"/>
                    <a:cs typeface="Times New Roman" panose="02020603050405020304" pitchFamily="18" charset="0"/>
                  </a:rPr>
                  <a:t>ij</a:t>
                </a:r>
              </a:p>
              <a:p>
                <a:pPr marL="0" indent="0">
                  <a:buNone/>
                </a:pPr>
                <a:endParaRPr lang="en-US" dirty="0"/>
              </a:p>
              <a:p>
                <a:pPr marL="0" indent="0">
                  <a:buNone/>
                </a:pPr>
                <a:r>
                  <a:rPr lang="en-US" dirty="0"/>
                  <a:t>The block effect </a:t>
                </a:r>
                <a14:m>
                  <m:oMath xmlns:m="http://schemas.openxmlformats.org/officeDocument/2006/math">
                    <m:r>
                      <a:rPr lang="el-GR" b="0" i="1" smtClean="0">
                        <a:effectLst/>
                        <a:latin typeface="Cambria Math" panose="02040503050406030204" pitchFamily="18" charset="0"/>
                        <a:ea typeface="Calibri" panose="020F0502020204030204" pitchFamily="34" charset="0"/>
                        <a:cs typeface="Times New Roman" panose="02020603050405020304" pitchFamily="18" charset="0"/>
                      </a:rPr>
                      <m:t>𝛽</m:t>
                    </m:r>
                    <m:r>
                      <a:rPr lang="en-US" b="0" i="1" baseline="-25000" smtClean="0">
                        <a:effectLst/>
                        <a:latin typeface="Cambria Math" panose="02040503050406030204" pitchFamily="18" charset="0"/>
                        <a:ea typeface="Calibri" panose="020F0502020204030204" pitchFamily="34" charset="0"/>
                        <a:cs typeface="Times New Roman" panose="02020603050405020304" pitchFamily="18" charset="0"/>
                      </a:rPr>
                      <m:t>𝑗</m:t>
                    </m:r>
                  </m:oMath>
                </a14:m>
                <a:r>
                  <a:rPr lang="en-US" dirty="0"/>
                  <a:t> reflects how different each block is, on the average from the others</a:t>
                </a:r>
              </a:p>
              <a:p>
                <a:pPr marL="0" indent="0">
                  <a:buNone/>
                </a:pPr>
                <a:endParaRPr lang="en-US" dirty="0"/>
              </a:p>
              <a:p>
                <a:pPr marL="0" indent="0">
                  <a:buNone/>
                </a:pPr>
                <a:r>
                  <a:rPr lang="en-US" dirty="0"/>
                  <a:t>The interaction effect </a:t>
                </a:r>
                <a14:m>
                  <m:oMath xmlns:m="http://schemas.openxmlformats.org/officeDocument/2006/math">
                    <m:r>
                      <a:rPr lang="en-US" b="0" i="1" smtClean="0">
                        <a:effectLst/>
                        <a:latin typeface="Cambria Math" panose="02040503050406030204" pitchFamily="18" charset="0"/>
                        <a:ea typeface="Cambria Math" panose="02040503050406030204" pitchFamily="18" charset="0"/>
                        <a:cs typeface="Times New Roman" panose="02020603050405020304" pitchFamily="18" charset="0"/>
                      </a:rPr>
                      <m:t>𝛾</m:t>
                    </m:r>
                  </m:oMath>
                </a14:m>
                <a:r>
                  <a:rPr lang="en-US" i="1" baseline="-25000" dirty="0">
                    <a:latin typeface="Times New Roman" panose="02020603050405020304" pitchFamily="18" charset="0"/>
                    <a:cs typeface="Times New Roman" panose="02020603050405020304" pitchFamily="18" charset="0"/>
                  </a:rPr>
                  <a:t>ij</a:t>
                </a:r>
                <a:r>
                  <a:rPr lang="en-US" dirty="0"/>
                  <a:t> reflects how different the treatment effect in the </a:t>
                </a:r>
                <a:r>
                  <a:rPr lang="en-US" i="1" dirty="0" err="1">
                    <a:latin typeface="Times New Roman" panose="02020603050405020304" pitchFamily="18" charset="0"/>
                    <a:cs typeface="Times New Roman" panose="02020603050405020304" pitchFamily="18" charset="0"/>
                  </a:rPr>
                  <a:t>j</a:t>
                </a:r>
                <a:r>
                  <a:rPr lang="en-US" baseline="30000" dirty="0" err="1"/>
                  <a:t>th</a:t>
                </a:r>
                <a:r>
                  <a:rPr lang="en-US" dirty="0"/>
                  <a:t> block is from the average treatment effect across all blocks</a:t>
                </a:r>
              </a:p>
            </p:txBody>
          </p:sp>
        </mc:Choice>
        <mc:Fallback xmlns="">
          <p:sp>
            <p:nvSpPr>
              <p:cNvPr id="3" name="Content Placeholder 2">
                <a:extLst>
                  <a:ext uri="{FF2B5EF4-FFF2-40B4-BE49-F238E27FC236}">
                    <a16:creationId xmlns:a16="http://schemas.microsoft.com/office/drawing/2014/main" id="{8EF89E80-6DEE-41DB-A2AC-94E6977BDB0F}"/>
                  </a:ext>
                </a:extLst>
              </p:cNvPr>
              <p:cNvSpPr>
                <a:spLocks noGrp="1" noRot="1" noChangeAspect="1" noMove="1" noResize="1" noEditPoints="1" noAdjustHandles="1" noChangeArrowheads="1" noChangeShapeType="1" noTextEdit="1"/>
              </p:cNvSpPr>
              <p:nvPr>
                <p:ph idx="1"/>
              </p:nvPr>
            </p:nvSpPr>
            <p:spPr>
              <a:blipFill>
                <a:blip r:embed="rId2"/>
                <a:stretch>
                  <a:fillRect l="-638" t="-1541"/>
                </a:stretch>
              </a:blipFill>
            </p:spPr>
            <p:txBody>
              <a:bodyPr/>
              <a:lstStyle/>
              <a:p>
                <a:r>
                  <a:rPr lang="en-US">
                    <a:noFill/>
                  </a:rPr>
                  <a:t> </a:t>
                </a:r>
              </a:p>
            </p:txBody>
          </p:sp>
        </mc:Fallback>
      </mc:AlternateContent>
    </p:spTree>
    <p:extLst>
      <p:ext uri="{BB962C8B-B14F-4D97-AF65-F5344CB8AC3E}">
        <p14:creationId xmlns:p14="http://schemas.microsoft.com/office/powerpoint/2010/main" val="26103990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5C40-F18F-468B-9097-207591A7BA72}"/>
              </a:ext>
            </a:extLst>
          </p:cNvPr>
          <p:cNvSpPr>
            <a:spLocks noGrp="1"/>
          </p:cNvSpPr>
          <p:nvPr>
            <p:ph type="title"/>
          </p:nvPr>
        </p:nvSpPr>
        <p:spPr/>
        <p:txBody>
          <a:bodyPr/>
          <a:lstStyle/>
          <a:p>
            <a:r>
              <a:rPr lang="en-US" dirty="0"/>
              <a:t>A Statistical Model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F89E80-6DEE-41DB-A2AC-94E6977BDB0F}"/>
                  </a:ext>
                </a:extLst>
              </p:cNvPr>
              <p:cNvSpPr>
                <a:spLocks noGrp="1"/>
              </p:cNvSpPr>
              <p:nvPr>
                <p:ph idx="1"/>
              </p:nvPr>
            </p:nvSpPr>
            <p:spPr/>
            <p:txBody>
              <a:bodyPr>
                <a:normAutofit/>
              </a:bodyPr>
              <a:lstStyle/>
              <a:p>
                <a:pPr marL="0" indent="0">
                  <a:buNone/>
                </a:pPr>
                <a:r>
                  <a:rPr lang="en-US" dirty="0"/>
                  <a:t>The “usual” stochastic specification for the randomized block design has same three parts as that for the individually randomized design:</a:t>
                </a:r>
              </a:p>
              <a:p>
                <a:pPr marL="0" indent="0">
                  <a:buNone/>
                </a:pPr>
                <a:endParaRPr lang="en-US" dirty="0"/>
              </a:p>
              <a:p>
                <a:pPr marL="457200" indent="-457200">
                  <a:buAutoNum type="arabicPeriod"/>
                </a:pPr>
                <a:r>
                  <a:rPr lang="en-US" dirty="0"/>
                  <a:t>The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𝑗𝑘</m:t>
                        </m:r>
                      </m:sub>
                    </m:sSub>
                  </m:oMath>
                </a14:m>
                <a:r>
                  <a:rPr lang="en-US" dirty="0"/>
                  <a:t> are independent of one another, </a:t>
                </a:r>
              </a:p>
              <a:p>
                <a:pPr marL="457200" indent="-457200">
                  <a:buAutoNum type="arabicPeriod"/>
                </a:pPr>
                <a:endParaRPr lang="en-US" dirty="0"/>
              </a:p>
              <a:p>
                <a:pPr marL="457200" indent="-457200">
                  <a:buAutoNum type="arabicPeriod"/>
                </a:pPr>
                <a:r>
                  <a:rPr lang="en-US" dirty="0"/>
                  <a:t>The</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𝑗𝑘</m:t>
                        </m:r>
                      </m:sub>
                    </m:sSub>
                  </m:oMath>
                </a14:m>
                <a:r>
                  <a:rPr lang="en-US" dirty="0"/>
                  <a:t>are normally distributed, and </a:t>
                </a:r>
              </a:p>
              <a:p>
                <a:pPr marL="457200" indent="-457200">
                  <a:buAutoNum type="arabicPeriod"/>
                </a:pPr>
                <a:endParaRPr lang="en-US" dirty="0"/>
              </a:p>
              <a:p>
                <a:pPr marL="457200" indent="-457200">
                  <a:buAutoNum type="arabicPeriod"/>
                </a:pPr>
                <a:r>
                  <a:rPr lang="en-US" dirty="0"/>
                  <a:t>The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𝑗𝑘</m:t>
                        </m:r>
                      </m:sub>
                    </m:sSub>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t>have the same variance </a:t>
                </a:r>
                <a:r>
                  <a:rPr lang="en-US" i="1" dirty="0">
                    <a:latin typeface="Cambria Math" panose="02040503050406030204" pitchFamily="18" charset="0"/>
                    <a:ea typeface="Cambria Math" panose="02040503050406030204" pitchFamily="18" charset="0"/>
                  </a:rPr>
                  <a:t>𝜎</a:t>
                </a:r>
                <a:r>
                  <a:rPr lang="el-GR" i="1" baseline="-25000" dirty="0">
                    <a:latin typeface="Times New Roman" panose="02020603050405020304" pitchFamily="18" charset="0"/>
                    <a:ea typeface="Cambria Math" panose="02040503050406030204" pitchFamily="18" charset="0"/>
                    <a:cs typeface="Times New Roman" panose="02020603050405020304" pitchFamily="18" charset="0"/>
                  </a:rPr>
                  <a:t>ε</a:t>
                </a:r>
                <a:r>
                  <a:rPr lang="en-US" i="1" baseline="30000" dirty="0">
                    <a:latin typeface="Times New Roman" panose="02020603050405020304" pitchFamily="18" charset="0"/>
                    <a:ea typeface="Cambria Math" panose="02040503050406030204" pitchFamily="18" charset="0"/>
                    <a:cs typeface="Times New Roman" panose="02020603050405020304" pitchFamily="18" charset="0"/>
                  </a:rPr>
                  <a:t>2</a:t>
                </a:r>
                <a:endParaRPr lang="en-US" i="1" dirty="0">
                  <a:latin typeface="Times New Roman" panose="02020603050405020304" pitchFamily="18" charset="0"/>
                  <a:ea typeface="Cambria Math" panose="02040503050406030204" pitchFamily="18" charset="0"/>
                  <a:cs typeface="Times New Roman" panose="02020603050405020304" pitchFamily="18" charset="0"/>
                </a:endParaRPr>
              </a:p>
              <a:p>
                <a:pPr marL="457200" indent="-457200">
                  <a:buAutoNum type="arabicPeriod"/>
                </a:pPr>
                <a:endParaRPr lang="en-US" i="1" baseline="30000" dirty="0">
                  <a:latin typeface="Times New Roman" panose="02020603050405020304" pitchFamily="18" charset="0"/>
                  <a:ea typeface="Cambria Math" panose="02040503050406030204" pitchFamily="18" charset="0"/>
                  <a:cs typeface="Times New Roman" panose="02020603050405020304" pitchFamily="18" charset="0"/>
                </a:endParaRPr>
              </a:p>
              <a:p>
                <a:pPr marL="0" indent="0">
                  <a:buNone/>
                </a:pPr>
                <a:r>
                  <a:rPr lang="en-US" dirty="0">
                    <a:ea typeface="Cambria Math" panose="02040503050406030204" pitchFamily="18" charset="0"/>
                    <a:cs typeface="Times New Roman" panose="02020603050405020304" pitchFamily="18" charset="0"/>
                  </a:rPr>
                  <a:t>As in the case of the individually randomized design, the only part that matters much is that the observations are independent</a:t>
                </a:r>
              </a:p>
              <a:p>
                <a:pPr marL="0" indent="0">
                  <a:buNone/>
                </a:pPr>
                <a:endParaRPr lang="en-US" dirty="0"/>
              </a:p>
            </p:txBody>
          </p:sp>
        </mc:Choice>
        <mc:Fallback xmlns="">
          <p:sp>
            <p:nvSpPr>
              <p:cNvPr id="3" name="Content Placeholder 2">
                <a:extLst>
                  <a:ext uri="{FF2B5EF4-FFF2-40B4-BE49-F238E27FC236}">
                    <a16:creationId xmlns:a16="http://schemas.microsoft.com/office/drawing/2014/main" id="{8EF89E80-6DEE-41DB-A2AC-94E6977BDB0F}"/>
                  </a:ext>
                </a:extLst>
              </p:cNvPr>
              <p:cNvSpPr>
                <a:spLocks noGrp="1" noRot="1" noChangeAspect="1" noMove="1" noResize="1" noEditPoints="1" noAdjustHandles="1" noChangeArrowheads="1" noChangeShapeType="1" noTextEdit="1"/>
              </p:cNvSpPr>
              <p:nvPr>
                <p:ph idx="1"/>
              </p:nvPr>
            </p:nvSpPr>
            <p:spPr>
              <a:blipFill>
                <a:blip r:embed="rId2"/>
                <a:stretch>
                  <a:fillRect l="-638" t="-1401"/>
                </a:stretch>
              </a:blipFill>
            </p:spPr>
            <p:txBody>
              <a:bodyPr/>
              <a:lstStyle/>
              <a:p>
                <a:r>
                  <a:rPr lang="en-US">
                    <a:noFill/>
                  </a:rPr>
                  <a:t> </a:t>
                </a:r>
              </a:p>
            </p:txBody>
          </p:sp>
        </mc:Fallback>
      </mc:AlternateContent>
    </p:spTree>
    <p:extLst>
      <p:ext uri="{BB962C8B-B14F-4D97-AF65-F5344CB8AC3E}">
        <p14:creationId xmlns:p14="http://schemas.microsoft.com/office/powerpoint/2010/main" val="4223932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6768E-9636-4303-B51C-96BA798FC97E}"/>
              </a:ext>
            </a:extLst>
          </p:cNvPr>
          <p:cNvSpPr>
            <a:spLocks noGrp="1"/>
          </p:cNvSpPr>
          <p:nvPr>
            <p:ph type="title"/>
          </p:nvPr>
        </p:nvSpPr>
        <p:spPr/>
        <p:txBody>
          <a:bodyPr/>
          <a:lstStyle/>
          <a:p>
            <a:r>
              <a:rPr lang="en-US" dirty="0"/>
              <a:t>Effect Size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2E2702-2B37-4BE2-BD46-AB8B6D01325F}"/>
                  </a:ext>
                </a:extLst>
              </p:cNvPr>
              <p:cNvSpPr>
                <a:spLocks noGrp="1"/>
              </p:cNvSpPr>
              <p:nvPr>
                <p:ph idx="1"/>
              </p:nvPr>
            </p:nvSpPr>
            <p:spPr/>
            <p:txBody>
              <a:bodyPr>
                <a:normAutofit fontScale="92500" lnSpcReduction="10000"/>
              </a:bodyPr>
              <a:lstStyle/>
              <a:p>
                <a:pPr marL="0" indent="0">
                  <a:buNone/>
                </a:pPr>
                <a:r>
                  <a:rPr lang="en-US" dirty="0"/>
                  <a:t>The treatment effect size parameter (note the Greek letter </a:t>
                </a:r>
                <a:r>
                  <a:rPr lang="el-GR" i="1" dirty="0">
                    <a:latin typeface="Times New Roman" panose="02020603050405020304" pitchFamily="18" charset="0"/>
                    <a:cs typeface="Times New Roman" panose="02020603050405020304" pitchFamily="18" charset="0"/>
                  </a:rPr>
                  <a:t>δ</a:t>
                </a:r>
                <a:r>
                  <a:rPr lang="en-US" dirty="0">
                    <a:latin typeface="Times New Roman" panose="02020603050405020304" pitchFamily="18" charset="0"/>
                    <a:cs typeface="Times New Roman" panose="02020603050405020304" pitchFamily="18" charset="0"/>
                  </a:rPr>
                  <a:t>) </a:t>
                </a:r>
                <a:r>
                  <a:rPr lang="en-US" dirty="0"/>
                  <a:t>is the standardized mean difference</a:t>
                </a:r>
              </a:p>
              <a:p>
                <a:pPr marL="0" marR="0" indent="0">
                  <a:lnSpc>
                    <a:spcPct val="107000"/>
                  </a:lnSpc>
                  <a:spcBef>
                    <a:spcPts val="0"/>
                  </a:spcBef>
                  <a:spcAft>
                    <a:spcPts val="0"/>
                  </a:spcAft>
                  <a:buNone/>
                  <a:tabLst>
                    <a:tab pos="400050" algn="l"/>
                    <a:tab pos="457200" algn="l"/>
                  </a:tabLst>
                </a:pPr>
                <a:endParaRPr lang="en-US" dirty="0"/>
              </a:p>
              <a:p>
                <a:pPr marL="0" marR="0" indent="0">
                  <a:lnSpc>
                    <a:spcPct val="107000"/>
                  </a:lnSpc>
                  <a:spcBef>
                    <a:spcPts val="0"/>
                  </a:spcBef>
                  <a:spcAft>
                    <a:spcPts val="0"/>
                  </a:spcAft>
                  <a:buNone/>
                  <a:tabLst>
                    <a:tab pos="400050" algn="l"/>
                    <a:tab pos="457200" algn="l"/>
                  </a:tabLst>
                </a:pPr>
                <a:r>
                  <a:rPr lang="en-US" dirty="0">
                    <a:latin typeface="Times New Roman" panose="02020603050405020304" pitchFamily="18"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i="1">
                        <a:effectLst/>
                        <a:latin typeface="Cambria Math" panose="02040503050406030204" pitchFamily="18" charset="0"/>
                        <a:ea typeface="Calibri" panose="020F0502020204030204" pitchFamily="34" charset="0"/>
                        <a:cs typeface="Times New Roman" panose="02020603050405020304" pitchFamily="18" charset="0"/>
                      </a:rPr>
                      <m:t>𝛿</m:t>
                    </m:r>
                    <m:r>
                      <a:rPr lang="en-US"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i="1">
                                <a:effectLst/>
                                <a:latin typeface="Cambria Math" panose="02040503050406030204" pitchFamily="18" charset="0"/>
                                <a:ea typeface="Calibri" panose="020F0502020204030204" pitchFamily="34" charset="0"/>
                                <a:cs typeface="Times New Roman" panose="02020603050405020304" pitchFamily="18" charset="0"/>
                              </a:rPr>
                              <m:t>1</m:t>
                            </m:r>
                          </m:sub>
                        </m:sSub>
                        <m:r>
                          <a:rPr lang="en-US"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𝛼</m:t>
                            </m:r>
                          </m:e>
                          <m:sub>
                            <m:r>
                              <a:rPr lang="en-US" i="1">
                                <a:effectLst/>
                                <a:latin typeface="Cambria Math" panose="02040503050406030204" pitchFamily="18" charset="0"/>
                                <a:ea typeface="Calibri" panose="020F0502020204030204" pitchFamily="34" charset="0"/>
                                <a:cs typeface="Times New Roman" panose="02020603050405020304" pitchFamily="18" charset="0"/>
                              </a:rPr>
                              <m:t>2</m:t>
                            </m:r>
                          </m:sub>
                        </m:sSub>
                      </m:num>
                      <m:den>
                        <m:sSub>
                          <m:sSubPr>
                            <m:ctrlPr>
                              <a:rPr lang="en-US"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𝜎</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𝜖</m:t>
                            </m:r>
                          </m:sub>
                        </m:sSub>
                      </m:den>
                    </m:f>
                    <m:r>
                      <a:rPr lang="en-US" i="1">
                        <a:effectLst/>
                        <a:latin typeface="Cambria Math" panose="02040503050406030204" pitchFamily="18" charset="0"/>
                        <a:ea typeface="Calibri" panose="020F0502020204030204" pitchFamily="34" charset="0"/>
                        <a:cs typeface="Times New Roman" panose="02020603050405020304" pitchFamily="18" charset="0"/>
                      </a:rPr>
                      <m:t>,</m:t>
                    </m:r>
                  </m:oMath>
                </a14:m>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a:p>
                <a:pPr marL="0" indent="0">
                  <a:buNone/>
                </a:pPr>
                <a:r>
                  <a:rPr lang="en-US" dirty="0"/>
                  <a:t>This corresponds the treatment group mean minus the control group mean divided by the within-group standard deviation  (sometimes called Cohen’s </a:t>
                </a:r>
                <a:r>
                  <a:rPr lang="en-US" b="1" dirty="0"/>
                  <a:t>d</a:t>
                </a:r>
                <a:r>
                  <a:rPr lang="en-US" dirty="0"/>
                  <a:t>)</a:t>
                </a:r>
              </a:p>
              <a:p>
                <a:pPr marL="0" indent="0">
                  <a:buNone/>
                </a:pPr>
                <a:endParaRPr lang="en-US" dirty="0"/>
              </a:p>
              <a:p>
                <a:pPr marL="0" indent="0">
                  <a:buNone/>
                </a:pPr>
                <a:r>
                  <a:rPr lang="en-US" dirty="0"/>
                  <a:t>This looks like the same effect size used in the individually randomized design, but it is subtly different</a:t>
                </a:r>
              </a:p>
              <a:p>
                <a:pPr marL="0" indent="0">
                  <a:buNone/>
                </a:pPr>
                <a:endParaRPr lang="en-US" dirty="0"/>
              </a:p>
              <a:p>
                <a:pPr marL="0" indent="0">
                  <a:buNone/>
                </a:pPr>
                <a:r>
                  <a:rPr lang="en-US" dirty="0"/>
                  <a:t>Here the residual </a:t>
                </a:r>
                <a14:m>
                  <m:oMath xmlns:m="http://schemas.openxmlformats.org/officeDocument/2006/math">
                    <m:sSub>
                      <m:sSubPr>
                        <m:ctrlPr>
                          <a:rPr lang="en-US" i="1" smtClean="0">
                            <a:effectLst/>
                            <a:latin typeface="Cambria Math" panose="02040503050406030204" pitchFamily="18" charset="0"/>
                            <a:cs typeface="Times New Roman" panose="02020603050405020304" pitchFamily="18" charset="0"/>
                          </a:rPr>
                        </m:ctrlPr>
                      </m:sSubPr>
                      <m:e>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𝑗𝑘</m:t>
                        </m:r>
                      </m:sub>
                    </m:sSub>
                  </m:oMath>
                </a14:m>
                <a:r>
                  <a:rPr lang="en-US" dirty="0"/>
                  <a:t> does not include block effects (or interaction effects)</a:t>
                </a:r>
              </a:p>
              <a:p>
                <a:pPr marL="0" indent="0">
                  <a:buNone/>
                </a:pPr>
                <a:endParaRPr lang="en-US" dirty="0"/>
              </a:p>
              <a:p>
                <a:pPr marL="0" indent="0">
                  <a:buNone/>
                </a:pPr>
                <a:r>
                  <a:rPr lang="en-US" dirty="0"/>
                  <a:t>If the data came from multiple blocks which were ignored in the individually randomized design, the residual in the individually randomized design would be </a:t>
                </a:r>
                <a14:m>
                  <m:oMath xmlns:m="http://schemas.openxmlformats.org/officeDocument/2006/math">
                    <m:r>
                      <m:rPr>
                        <m:sty m:val="p"/>
                      </m:rPr>
                      <a:rPr lang="el-GR" b="0" i="1" smtClean="0">
                        <a:effectLst/>
                        <a:latin typeface="Cambria Math" panose="02040503050406030204" pitchFamily="18" charset="0"/>
                        <a:ea typeface="Calibri" panose="020F0502020204030204" pitchFamily="34" charset="0"/>
                        <a:cs typeface="Times New Roman" panose="02020603050405020304" pitchFamily="18" charset="0"/>
                      </a:rPr>
                      <m:t>β</m:t>
                    </m:r>
                    <m:r>
                      <a:rPr lang="en-US" b="0" i="1" baseline="-25000"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mbria Math" panose="02040503050406030204" pitchFamily="18" charset="0"/>
                        <a:cs typeface="Times New Roman" panose="02020603050405020304" pitchFamily="18" charset="0"/>
                      </a:rPr>
                      <m:t>𝛾</m:t>
                    </m:r>
                    <m:sSub>
                      <m:sSubPr>
                        <m:ctrlPr>
                          <a:rPr lang="en-US" i="1">
                            <a:effectLst/>
                            <a:latin typeface="Cambria Math" panose="02040503050406030204" pitchFamily="18" charset="0"/>
                            <a:cs typeface="Times New Roman" panose="02020603050405020304" pitchFamily="18" charset="0"/>
                          </a:rPr>
                        </m:ctrlPr>
                      </m:sSubPr>
                      <m:e>
                        <m:r>
                          <a:rPr lang="en-US" b="0" i="1" baseline="-25000" smtClean="0">
                            <a:effectLst/>
                            <a:latin typeface="Cambria Math" panose="02040503050406030204" pitchFamily="18" charset="0"/>
                            <a:cs typeface="Times New Roman" panose="02020603050405020304" pitchFamily="18" charset="0"/>
                          </a:rPr>
                          <m:t>𝑖𝑗</m:t>
                        </m:r>
                        <m:r>
                          <a:rPr lang="en-US" b="0" i="1" smtClean="0">
                            <a:effectLst/>
                            <a:latin typeface="Cambria Math" panose="02040503050406030204" pitchFamily="18" charset="0"/>
                            <a:cs typeface="Times New Roman" panose="02020603050405020304" pitchFamily="18" charset="0"/>
                          </a:rPr>
                          <m:t>+ </m:t>
                        </m:r>
                        <m:r>
                          <a:rPr lang="en-US" i="1">
                            <a:effectLst/>
                            <a:latin typeface="Cambria Math" panose="02040503050406030204" pitchFamily="18" charset="0"/>
                            <a:ea typeface="Calibri" panose="020F0502020204030204" pitchFamily="34" charset="0"/>
                            <a:cs typeface="Times New Roman" panose="02020603050405020304" pitchFamily="18" charset="0"/>
                          </a:rPr>
                          <m:t>𝜀</m:t>
                        </m:r>
                      </m:e>
                      <m:sub>
                        <m:r>
                          <a:rPr lang="en-US" i="1">
                            <a:effectLst/>
                            <a:latin typeface="Cambria Math" panose="02040503050406030204" pitchFamily="18" charset="0"/>
                            <a:ea typeface="Calibri" panose="020F0502020204030204" pitchFamily="34" charset="0"/>
                            <a:cs typeface="Times New Roman" panose="02020603050405020304" pitchFamily="18" charset="0"/>
                          </a:rPr>
                          <m:t>𝑖</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𝑗</m:t>
                        </m:r>
                        <m:r>
                          <a:rPr lang="en-US" i="1">
                            <a:effectLst/>
                            <a:latin typeface="Cambria Math" panose="02040503050406030204" pitchFamily="18" charset="0"/>
                            <a:ea typeface="Calibri" panose="020F0502020204030204" pitchFamily="34" charset="0"/>
                            <a:cs typeface="Times New Roman" panose="02020603050405020304" pitchFamily="18" charset="0"/>
                          </a:rPr>
                          <m:t>𝑘</m:t>
                        </m:r>
                      </m:sub>
                    </m:sSub>
                  </m:oMath>
                </a14:m>
                <a:endParaRPr lang="en-US" dirty="0"/>
              </a:p>
              <a:p>
                <a:pPr marL="0" indent="0">
                  <a:buNone/>
                </a:pPr>
                <a:endParaRPr lang="en-US" dirty="0"/>
              </a:p>
              <a:p>
                <a:pPr marL="0" indent="0">
                  <a:buNone/>
                </a:pPr>
                <a:r>
                  <a:rPr lang="en-US" dirty="0"/>
                  <a:t>Thus the residuals in the randomized  design are generally “smaller” than those in the individually randomized design</a:t>
                </a:r>
              </a:p>
            </p:txBody>
          </p:sp>
        </mc:Choice>
        <mc:Fallback xmlns="">
          <p:sp>
            <p:nvSpPr>
              <p:cNvPr id="3" name="Content Placeholder 2">
                <a:extLst>
                  <a:ext uri="{FF2B5EF4-FFF2-40B4-BE49-F238E27FC236}">
                    <a16:creationId xmlns:a16="http://schemas.microsoft.com/office/drawing/2014/main" id="{E02E2702-2B37-4BE2-BD46-AB8B6D01325F}"/>
                  </a:ext>
                </a:extLst>
              </p:cNvPr>
              <p:cNvSpPr>
                <a:spLocks noGrp="1" noRot="1" noChangeAspect="1" noMove="1" noResize="1" noEditPoints="1" noAdjustHandles="1" noChangeArrowheads="1" noChangeShapeType="1" noTextEdit="1"/>
              </p:cNvSpPr>
              <p:nvPr>
                <p:ph idx="1"/>
              </p:nvPr>
            </p:nvSpPr>
            <p:spPr>
              <a:blipFill>
                <a:blip r:embed="rId2"/>
                <a:stretch>
                  <a:fillRect l="-580" t="-1961"/>
                </a:stretch>
              </a:blipFill>
            </p:spPr>
            <p:txBody>
              <a:bodyPr/>
              <a:lstStyle/>
              <a:p>
                <a:r>
                  <a:rPr lang="en-US">
                    <a:noFill/>
                  </a:rPr>
                  <a:t> </a:t>
                </a:r>
              </a:p>
            </p:txBody>
          </p:sp>
        </mc:Fallback>
      </mc:AlternateContent>
    </p:spTree>
    <p:extLst>
      <p:ext uri="{BB962C8B-B14F-4D97-AF65-F5344CB8AC3E}">
        <p14:creationId xmlns:p14="http://schemas.microsoft.com/office/powerpoint/2010/main" val="4167377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3243-FBFA-4C22-AB92-C26884140A91}"/>
              </a:ext>
            </a:extLst>
          </p:cNvPr>
          <p:cNvSpPr>
            <a:spLocks noGrp="1"/>
          </p:cNvSpPr>
          <p:nvPr>
            <p:ph type="title"/>
          </p:nvPr>
        </p:nvSpPr>
        <p:spPr/>
        <p:txBody>
          <a:bodyPr/>
          <a:lstStyle/>
          <a:p>
            <a:r>
              <a:rPr lang="en-US" dirty="0"/>
              <a:t>Testing the Significance of the Treatment Effect</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0584E42-A6E7-4A68-A83A-F30C09C7A139}"/>
                  </a:ext>
                </a:extLst>
              </p:cNvPr>
              <p:cNvSpPr>
                <a:spLocks noGrp="1"/>
              </p:cNvSpPr>
              <p:nvPr>
                <p:ph idx="1"/>
              </p:nvPr>
            </p:nvSpPr>
            <p:spPr/>
            <p:txBody>
              <a:bodyPr/>
              <a:lstStyle/>
              <a:p>
                <a:pPr marL="0" indent="0">
                  <a:buNone/>
                </a:pPr>
                <a:r>
                  <a:rPr lang="en-US" dirty="0"/>
                  <a:t>Let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and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2 ●●</a:t>
                </a:r>
                <a:r>
                  <a:rPr lang="en-US" i="1"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be the </a:t>
                </a:r>
                <a:r>
                  <a:rPr lang="en-US" dirty="0">
                    <a:effectLst/>
                    <a:ea typeface="Calibri" panose="020F0502020204030204" pitchFamily="34" charset="0"/>
                  </a:rPr>
                  <a:t>means of the treatment and comparison groups, respectively</a:t>
                </a:r>
              </a:p>
              <a:p>
                <a:pPr marL="0" indent="0">
                  <a:buNone/>
                </a:pPr>
                <a:endParaRPr lang="en-US" dirty="0">
                  <a:ea typeface="Calibri" panose="020F0502020204030204" pitchFamily="34" charset="0"/>
                </a:endParaRPr>
              </a:p>
              <a:p>
                <a:pPr marL="0" indent="0">
                  <a:buNone/>
                </a:pPr>
                <a:r>
                  <a:rPr lang="en-US" dirty="0">
                    <a:effectLst/>
                    <a:ea typeface="Calibri" panose="020F0502020204030204" pitchFamily="34" charset="0"/>
                  </a:rPr>
                  <a:t>Then the treatment effect </a:t>
                </a:r>
                <a:r>
                  <a:rPr lang="en-US" dirty="0">
                    <a:ea typeface="Calibri" panose="020F0502020204030204" pitchFamily="34" charset="0"/>
                  </a:rPr>
                  <a:t>e</a:t>
                </a:r>
                <a:r>
                  <a:rPr lang="en-US" dirty="0">
                    <a:effectLst/>
                    <a:ea typeface="Calibri" panose="020F0502020204030204" pitchFamily="34" charset="0"/>
                  </a:rPr>
                  <a:t>stimate (the estimate of  </a:t>
                </a:r>
                <a:r>
                  <a:rPr lang="el-GR"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i="1" baseline="-25000" dirty="0">
                    <a:effectLst/>
                    <a:latin typeface="Times New Roman" panose="02020603050405020304" pitchFamily="18" charset="0"/>
                    <a:ea typeface="Calibri" panose="020F0502020204030204" pitchFamily="34" charset="0"/>
                    <a:cs typeface="Times New Roman" panose="02020603050405020304" pitchFamily="18" charset="0"/>
                  </a:rPr>
                  <a:t>1</a:t>
                </a:r>
                <a:r>
                  <a:rPr lang="en-US"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i="1" dirty="0">
                    <a:effectLst/>
                    <a:ea typeface="Calibri" panose="020F0502020204030204" pitchFamily="34" charset="0"/>
                  </a:rPr>
                  <a:t>–  </a:t>
                </a:r>
                <a:r>
                  <a:rPr lang="el-GR" i="1" dirty="0">
                    <a:effectLst/>
                    <a:latin typeface="Times New Roman" panose="02020603050405020304" pitchFamily="18" charset="0"/>
                    <a:ea typeface="Calibri" panose="020F0502020204030204" pitchFamily="34" charset="0"/>
                    <a:cs typeface="Times New Roman" panose="02020603050405020304" pitchFamily="18" charset="0"/>
                  </a:rPr>
                  <a:t>α</a:t>
                </a:r>
                <a:r>
                  <a:rPr lang="en-US" i="1" baseline="-25000" dirty="0">
                    <a:effectLst/>
                    <a:latin typeface="Times New Roman" panose="02020603050405020304" pitchFamily="18" charset="0"/>
                    <a:ea typeface="Calibri" panose="020F0502020204030204" pitchFamily="34" charset="0"/>
                    <a:cs typeface="Times New Roman" panose="02020603050405020304" pitchFamily="18" charset="0"/>
                  </a:rPr>
                  <a:t>2</a:t>
                </a:r>
                <a:r>
                  <a:rPr lang="en-US" dirty="0">
                    <a:effectLst/>
                    <a:ea typeface="Calibri" panose="020F0502020204030204" pitchFamily="34" charset="0"/>
                  </a:rPr>
                  <a:t>) </a:t>
                </a:r>
                <a:r>
                  <a:rPr lang="en-US" dirty="0">
                    <a:ea typeface="Calibri" panose="020F0502020204030204" pitchFamily="34" charset="0"/>
                  </a:rPr>
                  <a:t>i</a:t>
                </a:r>
                <a:r>
                  <a:rPr lang="en-US" dirty="0">
                    <a:effectLst/>
                    <a:ea typeface="Calibri" panose="020F0502020204030204" pitchFamily="34" charset="0"/>
                  </a:rPr>
                  <a:t>s </a:t>
                </a:r>
                <a:r>
                  <a:rPr lang="en-US" i="1" dirty="0">
                    <a:latin typeface="Times New Roman" panose="02020603050405020304" pitchFamily="18" charset="0"/>
                    <a:cs typeface="Times New Roman" panose="02020603050405020304" pitchFamily="18" charset="0"/>
                  </a:rPr>
                  <a:t>D = Y</a:t>
                </a:r>
                <a:r>
                  <a:rPr lang="en-US" i="1" baseline="-25000" dirty="0">
                    <a:latin typeface="Times New Roman" panose="02020603050405020304" pitchFamily="18" charset="0"/>
                    <a:cs typeface="Times New Roman" panose="02020603050405020304" pitchFamily="18" charset="0"/>
                  </a:rPr>
                  <a:t>1●●</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Y</a:t>
                </a:r>
                <a:r>
                  <a:rPr lang="en-US" i="1" baseline="-25000"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 </a:t>
                </a:r>
                <a:endParaRPr lang="en-US" dirty="0">
                  <a:effectLst/>
                  <a:ea typeface="Calibri" panose="020F0502020204030204" pitchFamily="34" charset="0"/>
                </a:endParaRPr>
              </a:p>
              <a:p>
                <a:pPr marL="0" indent="0">
                  <a:buNone/>
                </a:pPr>
                <a:endParaRPr lang="en-US" dirty="0"/>
              </a:p>
              <a:p>
                <a:pPr marL="0" marR="0" indent="0">
                  <a:lnSpc>
                    <a:spcPct val="107000"/>
                  </a:lnSpc>
                  <a:spcBef>
                    <a:spcPts val="0"/>
                  </a:spcBef>
                  <a:spcAft>
                    <a:spcPts val="0"/>
                  </a:spcAft>
                  <a:buNone/>
                  <a:tabLst>
                    <a:tab pos="457200" algn="l"/>
                  </a:tabLst>
                </a:pPr>
                <a:r>
                  <a:rPr lang="en-US" dirty="0">
                    <a:effectLst/>
                    <a:ea typeface="Calibri" panose="020F0502020204030204" pitchFamily="34" charset="0"/>
                    <a:cs typeface="Times New Roman" panose="02020603050405020304" pitchFamily="18" charset="0"/>
                  </a:rPr>
                  <a:t>The test statistic used for testing if the treatment effect is non-zero is</a:t>
                </a:r>
              </a:p>
              <a:p>
                <a:pPr marL="0" marR="0" indent="0">
                  <a:lnSpc>
                    <a:spcPct val="107000"/>
                  </a:lnSpc>
                  <a:spcBef>
                    <a:spcPts val="0"/>
                  </a:spcBef>
                  <a:spcAft>
                    <a:spcPts val="0"/>
                  </a:spcAft>
                  <a:buNone/>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14:m>
                  <m:oMath xmlns:m="http://schemas.openxmlformats.org/officeDocument/2006/math">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𝑇</m:t>
                    </m:r>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𝐷</m:t>
                    </m:r>
                    <m:r>
                      <a:rPr lang="en-US" i="1">
                        <a:effectLst/>
                        <a:latin typeface="Cambria Math" panose="02040503050406030204" pitchFamily="18" charset="0"/>
                        <a:ea typeface="Calibri" panose="020F0502020204030204" pitchFamily="34" charset="0"/>
                        <a:cs typeface="Times New Roman" panose="02020603050405020304" pitchFamily="18" charset="0"/>
                      </a:rPr>
                      <m:t>/</m:t>
                    </m:r>
                    <m:r>
                      <a:rPr lang="en-US" i="1">
                        <a:effectLst/>
                        <a:latin typeface="Cambria Math" panose="02040503050406030204" pitchFamily="18" charset="0"/>
                        <a:ea typeface="Calibri" panose="020F0502020204030204" pitchFamily="34" charset="0"/>
                        <a:cs typeface="Times New Roman" panose="02020603050405020304" pitchFamily="18" charset="0"/>
                      </a:rPr>
                      <m:t>𝑆</m:t>
                    </m:r>
                  </m:oMath>
                </a14:m>
                <a:r>
                  <a:rPr lang="en-US" i="1" dirty="0">
                    <a:effectLst/>
                    <a:latin typeface="Times New Roman" panose="02020603050405020304" pitchFamily="18" charset="0"/>
                    <a:ea typeface="Calibri" panose="020F0502020204030204" pitchFamily="34" charset="0"/>
                    <a:cs typeface="Times New Roman" panose="02020603050405020304" pitchFamily="18" charset="0"/>
                  </a:rPr>
                  <a:t>E</a:t>
                </a:r>
                <a:r>
                  <a:rPr lang="en-US" dirty="0">
                    <a:effectLst/>
                    <a:latin typeface="Times New Roman" panose="02020603050405020304" pitchFamily="18" charset="0"/>
                    <a:ea typeface="Calibri" panose="020F0502020204030204" pitchFamily="34" charset="0"/>
                    <a:cs typeface="Times New Roman" panose="02020603050405020304" pitchFamily="18" charset="0"/>
                  </a:rPr>
                  <a:t>,</a:t>
                </a:r>
              </a:p>
              <a:p>
                <a:pPr marL="0" marR="0" indent="0">
                  <a:lnSpc>
                    <a:spcPct val="107000"/>
                  </a:lnSpc>
                  <a:spcBef>
                    <a:spcPts val="0"/>
                  </a:spcBef>
                  <a:spcAft>
                    <a:spcPts val="0"/>
                  </a:spcAft>
                  <a:buNone/>
                  <a:tabLst>
                    <a:tab pos="457200" algn="l"/>
                  </a:tabLst>
                </a:pPr>
                <a:r>
                  <a:rPr lang="en-US" dirty="0">
                    <a:effectLst/>
                    <a:ea typeface="Calibri" panose="020F0502020204030204" pitchFamily="34" charset="0"/>
                    <a:cs typeface="Times New Roman" panose="02020603050405020304" pitchFamily="18" charset="0"/>
                  </a:rPr>
                  <a:t>where </a:t>
                </a:r>
                <a14:m>
                  <m:oMath xmlns:m="http://schemas.openxmlformats.org/officeDocument/2006/math">
                    <m:r>
                      <a:rPr lang="en-US" b="0" i="1" smtClean="0">
                        <a:effectLst/>
                        <a:latin typeface="Cambria Math" panose="02040503050406030204" pitchFamily="18" charset="0"/>
                        <a:ea typeface="Calibri" panose="020F0502020204030204" pitchFamily="34" charset="0"/>
                        <a:cs typeface="Times New Roman" panose="02020603050405020304" pitchFamily="18" charset="0"/>
                      </a:rPr>
                      <m:t>𝑆𝐸</m:t>
                    </m:r>
                    <m:r>
                      <a:rPr lang="en-US" i="1">
                        <a:effectLst/>
                        <a:latin typeface="Cambria Math" panose="02040503050406030204" pitchFamily="18" charset="0"/>
                        <a:ea typeface="Calibri" panose="020F0502020204030204" pitchFamily="34" charset="0"/>
                        <a:cs typeface="Times New Roman" panose="02020603050405020304" pitchFamily="18" charset="0"/>
                      </a:rPr>
                      <m:t> </m:t>
                    </m:r>
                    <m:r>
                      <a:rPr lang="en-US" b="0" i="1"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dirty="0">
                    <a:effectLst/>
                    <a:ea typeface="Calibri" panose="020F0502020204030204" pitchFamily="34" charset="0"/>
                    <a:cs typeface="Times New Roman" panose="02020603050405020304" pitchFamily="18" charset="0"/>
                  </a:rPr>
                  <a:t>is the standard error </a:t>
                </a:r>
                <a:r>
                  <a:rPr lang="en-US" dirty="0">
                    <a:ea typeface="Calibri" panose="020F0502020204030204" pitchFamily="34" charset="0"/>
                    <a:cs typeface="Times New Roman" panose="02020603050405020304" pitchFamily="18" charset="0"/>
                  </a:rPr>
                  <a:t>of the treatment effect estimate </a:t>
                </a:r>
                <a:r>
                  <a:rPr lang="en-US" dirty="0">
                    <a:effectLst/>
                    <a:ea typeface="Calibri" panose="020F0502020204030204" pitchFamily="34" charset="0"/>
                    <a:cs typeface="Times New Roman" panose="02020603050405020304" pitchFamily="18" charset="0"/>
                  </a:rPr>
                  <a:t>defined (in the balanced case) by</a:t>
                </a:r>
              </a:p>
              <a:p>
                <a:pPr marL="0" marR="0" indent="0">
                  <a:lnSpc>
                    <a:spcPct val="107000"/>
                  </a:lnSpc>
                  <a:spcBef>
                    <a:spcPts val="0"/>
                  </a:spcBef>
                  <a:spcAft>
                    <a:spcPts val="0"/>
                  </a:spcAft>
                  <a:buNone/>
                  <a:tabLst>
                    <a:tab pos="457200" algn="l"/>
                  </a:tabLst>
                </a:pPr>
                <a:endParaRPr lang="en-US" dirty="0"/>
              </a:p>
              <a:p>
                <a:pPr marL="0" indent="0">
                  <a:lnSpc>
                    <a:spcPct val="107000"/>
                  </a:lnSpc>
                  <a:buNone/>
                  <a:tabLst>
                    <a:tab pos="457200" algn="l"/>
                  </a:tabLs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sz="2800" dirty="0"/>
              </a:p>
              <a:p>
                <a:pPr marL="0" indent="0">
                  <a:buNone/>
                </a:pPr>
                <a:r>
                  <a:rPr lang="en-US" dirty="0"/>
                  <a:t>If the true treatment effect is zero, then the statistic </a:t>
                </a:r>
                <a:r>
                  <a:rPr lang="en-US" i="1" dirty="0">
                    <a:latin typeface="Times New Roman" panose="02020603050405020304" pitchFamily="18" charset="0"/>
                    <a:cs typeface="Times New Roman" panose="02020603050405020304" pitchFamily="18" charset="0"/>
                  </a:rPr>
                  <a:t>T</a:t>
                </a:r>
                <a:r>
                  <a:rPr lang="en-US" dirty="0"/>
                  <a:t> has the </a:t>
                </a:r>
                <a:r>
                  <a:rPr lang="en-US" i="1" dirty="0"/>
                  <a:t>t</a:t>
                </a:r>
                <a:r>
                  <a:rPr lang="en-US" dirty="0"/>
                  <a:t>-distribution with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1) </a:t>
                </a:r>
                <a:r>
                  <a:rPr lang="en-US" dirty="0"/>
                  <a:t>degrees of freedom</a:t>
                </a:r>
              </a:p>
            </p:txBody>
          </p:sp>
        </mc:Choice>
        <mc:Fallback>
          <p:sp>
            <p:nvSpPr>
              <p:cNvPr id="3" name="Content Placeholder 2">
                <a:extLst>
                  <a:ext uri="{FF2B5EF4-FFF2-40B4-BE49-F238E27FC236}">
                    <a16:creationId xmlns:a16="http://schemas.microsoft.com/office/drawing/2014/main" id="{00584E42-A6E7-4A68-A83A-F30C09C7A139}"/>
                  </a:ext>
                </a:extLst>
              </p:cNvPr>
              <p:cNvSpPr>
                <a:spLocks noGrp="1" noRot="1" noChangeAspect="1" noMove="1" noResize="1" noEditPoints="1" noAdjustHandles="1" noChangeArrowheads="1" noChangeShapeType="1" noTextEdit="1"/>
              </p:cNvSpPr>
              <p:nvPr>
                <p:ph idx="1"/>
              </p:nvPr>
            </p:nvSpPr>
            <p:spPr>
              <a:blipFill>
                <a:blip r:embed="rId2"/>
                <a:stretch>
                  <a:fillRect l="-638" t="-1541" r="-174"/>
                </a:stretch>
              </a:blipFill>
            </p:spPr>
            <p:txBody>
              <a:bodyPr/>
              <a:lstStyle/>
              <a:p>
                <a:r>
                  <a:rPr lang="en-US">
                    <a:noFill/>
                  </a:rPr>
                  <a:t> </a:t>
                </a:r>
              </a:p>
            </p:txBody>
          </p:sp>
        </mc:Fallback>
      </mc:AlternateContent>
      <p:graphicFrame>
        <p:nvGraphicFramePr>
          <p:cNvPr id="4" name="Object 3">
            <a:extLst>
              <a:ext uri="{FF2B5EF4-FFF2-40B4-BE49-F238E27FC236}">
                <a16:creationId xmlns:a16="http://schemas.microsoft.com/office/drawing/2014/main" id="{9BBB4335-AD23-47D7-BBBA-119FAB9F14CC}"/>
              </a:ext>
            </a:extLst>
          </p:cNvPr>
          <p:cNvGraphicFramePr>
            <a:graphicFrameLocks noChangeAspect="1"/>
          </p:cNvGraphicFramePr>
          <p:nvPr>
            <p:extLst>
              <p:ext uri="{D42A27DB-BD31-4B8C-83A1-F6EECF244321}">
                <p14:modId xmlns:p14="http://schemas.microsoft.com/office/powerpoint/2010/main" val="3685399549"/>
              </p:ext>
            </p:extLst>
          </p:nvPr>
        </p:nvGraphicFramePr>
        <p:xfrm>
          <a:off x="1395923" y="3893932"/>
          <a:ext cx="4198410" cy="1002323"/>
        </p:xfrm>
        <a:graphic>
          <a:graphicData uri="http://schemas.openxmlformats.org/presentationml/2006/ole">
            <mc:AlternateContent xmlns:mc="http://schemas.openxmlformats.org/markup-compatibility/2006">
              <mc:Choice xmlns:v="urn:schemas-microsoft-com:vml" Requires="v">
                <p:oleObj name="Equation" r:id="rId3" imgW="2819160" imgH="672840" progId="Equation.DSMT4">
                  <p:embed/>
                </p:oleObj>
              </mc:Choice>
              <mc:Fallback>
                <p:oleObj name="Equation" r:id="rId3" imgW="2819160" imgH="672840" progId="Equation.DSMT4">
                  <p:embed/>
                  <p:pic>
                    <p:nvPicPr>
                      <p:cNvPr id="0" name=""/>
                      <p:cNvPicPr/>
                      <p:nvPr/>
                    </p:nvPicPr>
                    <p:blipFill>
                      <a:blip r:embed="rId4"/>
                      <a:stretch>
                        <a:fillRect/>
                      </a:stretch>
                    </p:blipFill>
                    <p:spPr>
                      <a:xfrm>
                        <a:off x="1395923" y="3893932"/>
                        <a:ext cx="4198410" cy="1002323"/>
                      </a:xfrm>
                      <a:prstGeom prst="rect">
                        <a:avLst/>
                      </a:prstGeom>
                    </p:spPr>
                  </p:pic>
                </p:oleObj>
              </mc:Fallback>
            </mc:AlternateContent>
          </a:graphicData>
        </a:graphic>
      </p:graphicFrame>
    </p:spTree>
    <p:extLst>
      <p:ext uri="{BB962C8B-B14F-4D97-AF65-F5344CB8AC3E}">
        <p14:creationId xmlns:p14="http://schemas.microsoft.com/office/powerpoint/2010/main" val="3840943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DDD1C-7BD7-4D4F-8A8C-6E7FD7AD7496}"/>
              </a:ext>
            </a:extLst>
          </p:cNvPr>
          <p:cNvSpPr>
            <a:spLocks noGrp="1"/>
          </p:cNvSpPr>
          <p:nvPr>
            <p:ph type="title"/>
          </p:nvPr>
        </p:nvSpPr>
        <p:spPr/>
        <p:txBody>
          <a:bodyPr/>
          <a:lstStyle/>
          <a:p>
            <a:r>
              <a:rPr lang="en-US" dirty="0"/>
              <a:t>Testing the Significance of the Treatment Effect</a:t>
            </a:r>
          </a:p>
        </p:txBody>
      </p:sp>
      <p:sp>
        <p:nvSpPr>
          <p:cNvPr id="3" name="Content Placeholder 2">
            <a:extLst>
              <a:ext uri="{FF2B5EF4-FFF2-40B4-BE49-F238E27FC236}">
                <a16:creationId xmlns:a16="http://schemas.microsoft.com/office/drawing/2014/main" id="{FDA875A3-B830-4964-8487-DE6D6E9011B8}"/>
              </a:ext>
            </a:extLst>
          </p:cNvPr>
          <p:cNvSpPr>
            <a:spLocks noGrp="1"/>
          </p:cNvSpPr>
          <p:nvPr>
            <p:ph idx="1"/>
          </p:nvPr>
        </p:nvSpPr>
        <p:spPr/>
        <p:txBody>
          <a:bodyPr/>
          <a:lstStyle/>
          <a:p>
            <a:pPr marL="0" indent="0">
              <a:buNone/>
            </a:pPr>
            <a:r>
              <a:rPr lang="en-US" dirty="0"/>
              <a:t>The significance testing process involves</a:t>
            </a:r>
          </a:p>
          <a:p>
            <a:pPr marL="0" indent="0">
              <a:buNone/>
            </a:pPr>
            <a:endParaRPr lang="en-US" dirty="0"/>
          </a:p>
          <a:p>
            <a:pPr marL="457200" indent="-457200">
              <a:buAutoNum type="arabicPeriod"/>
            </a:pPr>
            <a:r>
              <a:rPr lang="en-US" dirty="0"/>
              <a:t>Picking a significance level (this is up to you, but 0.05 is conventional)</a:t>
            </a:r>
          </a:p>
          <a:p>
            <a:pPr marL="457200" indent="-457200">
              <a:buAutoNum type="arabicPeriod"/>
            </a:pPr>
            <a:endParaRPr lang="en-US" dirty="0"/>
          </a:p>
          <a:p>
            <a:pPr marL="457200" indent="-457200">
              <a:buAutoNum type="arabicPeriod"/>
            </a:pPr>
            <a:r>
              <a:rPr lang="en-US" dirty="0"/>
              <a:t>Computing the value of </a:t>
            </a:r>
            <a:r>
              <a:rPr lang="en-US" i="1" dirty="0">
                <a:latin typeface="Times New Roman" panose="02020603050405020304" pitchFamily="18" charset="0"/>
                <a:cs typeface="Times New Roman" panose="02020603050405020304" pitchFamily="18" charset="0"/>
              </a:rPr>
              <a:t>T</a:t>
            </a:r>
            <a:r>
              <a:rPr lang="en-US" dirty="0"/>
              <a:t> from the data </a:t>
            </a:r>
          </a:p>
          <a:p>
            <a:pPr marL="457200" indent="-457200">
              <a:buAutoNum type="arabicPeriod"/>
            </a:pPr>
            <a:endParaRPr lang="en-US" dirty="0"/>
          </a:p>
          <a:p>
            <a:pPr marL="457200" indent="-457200">
              <a:buAutoNum type="arabicPeriod"/>
            </a:pPr>
            <a:r>
              <a:rPr lang="en-US" dirty="0"/>
              <a:t>Obtaining the critical value of the </a:t>
            </a:r>
            <a:r>
              <a:rPr lang="en-US" i="1" dirty="0"/>
              <a:t>t</a:t>
            </a:r>
            <a:r>
              <a:rPr lang="en-US" dirty="0"/>
              <a:t>-distribution with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1)</a:t>
            </a:r>
            <a:r>
              <a:rPr lang="en-US" dirty="0"/>
              <a:t> degrees of freedom (which will be about 2 for the for all but the smallest degrees of freedom)</a:t>
            </a:r>
          </a:p>
          <a:p>
            <a:pPr marL="457200" indent="-457200">
              <a:buAutoNum type="arabicPeriod"/>
            </a:pPr>
            <a:endParaRPr lang="en-US" dirty="0"/>
          </a:p>
          <a:p>
            <a:pPr marL="457200" indent="-457200">
              <a:buAutoNum type="arabicPeriod"/>
            </a:pPr>
            <a:r>
              <a:rPr lang="en-US" dirty="0"/>
              <a:t>Reject the null hypothesis of no treatment effect (in other words conclude that the treatment effect is significant) if </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a:t>
            </a:r>
            <a:r>
              <a:rPr lang="en-US" dirty="0"/>
              <a:t> exceeds the critical value</a:t>
            </a:r>
          </a:p>
          <a:p>
            <a:pPr marL="0" indent="0">
              <a:buNone/>
            </a:pPr>
            <a:endParaRPr lang="en-US" dirty="0"/>
          </a:p>
          <a:p>
            <a:pPr marL="0" indent="0">
              <a:buNone/>
            </a:pPr>
            <a:r>
              <a:rPr lang="en-US" dirty="0"/>
              <a:t>You could also use software that computes the “exact </a:t>
            </a:r>
            <a:r>
              <a:rPr lang="en-US" i="1" dirty="0"/>
              <a:t>p</a:t>
            </a:r>
            <a:r>
              <a:rPr lang="en-US" dirty="0"/>
              <a:t>-value.”  In that method, conclude that the treatment effect is significant if the two-tailed </a:t>
            </a:r>
            <a:r>
              <a:rPr lang="en-US" i="1" dirty="0"/>
              <a:t>p</a:t>
            </a:r>
            <a:r>
              <a:rPr lang="en-US" dirty="0"/>
              <a:t>-value is less than 0.05</a:t>
            </a:r>
          </a:p>
        </p:txBody>
      </p:sp>
    </p:spTree>
    <p:extLst>
      <p:ext uri="{BB962C8B-B14F-4D97-AF65-F5344CB8AC3E}">
        <p14:creationId xmlns:p14="http://schemas.microsoft.com/office/powerpoint/2010/main" val="4029669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7FEF7-4104-427E-BA62-C14073D0E70A}"/>
              </a:ext>
            </a:extLst>
          </p:cNvPr>
          <p:cNvSpPr>
            <a:spLocks noGrp="1"/>
          </p:cNvSpPr>
          <p:nvPr>
            <p:ph type="title"/>
          </p:nvPr>
        </p:nvSpPr>
        <p:spPr/>
        <p:txBody>
          <a:bodyPr/>
          <a:lstStyle/>
          <a:p>
            <a:r>
              <a:rPr lang="en-US" dirty="0"/>
              <a:t>Design Sensitivity</a:t>
            </a:r>
          </a:p>
        </p:txBody>
      </p:sp>
      <p:sp>
        <p:nvSpPr>
          <p:cNvPr id="3" name="Content Placeholder 2">
            <a:extLst>
              <a:ext uri="{FF2B5EF4-FFF2-40B4-BE49-F238E27FC236}">
                <a16:creationId xmlns:a16="http://schemas.microsoft.com/office/drawing/2014/main" id="{10BAD494-1A1A-41DD-AB7C-55E32D9F8144}"/>
              </a:ext>
            </a:extLst>
          </p:cNvPr>
          <p:cNvSpPr>
            <a:spLocks noGrp="1"/>
          </p:cNvSpPr>
          <p:nvPr>
            <p:ph idx="1"/>
          </p:nvPr>
        </p:nvSpPr>
        <p:spPr/>
        <p:txBody>
          <a:bodyPr/>
          <a:lstStyle/>
          <a:p>
            <a:pPr marL="0" indent="0">
              <a:buNone/>
            </a:pPr>
            <a:r>
              <a:rPr lang="en-US" dirty="0"/>
              <a:t>Recall that design sensitivity can be described in any one of three related ways:</a:t>
            </a:r>
          </a:p>
          <a:p>
            <a:pPr marL="0" indent="0">
              <a:buNone/>
            </a:pPr>
            <a:endParaRPr lang="en-US" dirty="0"/>
          </a:p>
          <a:p>
            <a:pPr marL="457200" indent="-457200">
              <a:buAutoNum type="arabicPeriod"/>
            </a:pPr>
            <a:r>
              <a:rPr lang="en-US" dirty="0"/>
              <a:t>Statistical power: The probability of detecting a given treatment effect size</a:t>
            </a:r>
          </a:p>
          <a:p>
            <a:pPr marL="457200" indent="-457200">
              <a:buAutoNum type="arabicPeriod"/>
            </a:pPr>
            <a:endParaRPr lang="en-US" dirty="0"/>
          </a:p>
          <a:p>
            <a:pPr marL="457200" indent="-457200">
              <a:buAutoNum type="arabicPeriod"/>
            </a:pPr>
            <a:r>
              <a:rPr lang="en-US" dirty="0"/>
              <a:t>Precision (standard error) of the estimated treatment effect: The uncertainty (margin of error) of the estimated treatment effect</a:t>
            </a:r>
          </a:p>
          <a:p>
            <a:pPr marL="457200" indent="-457200">
              <a:buAutoNum type="arabicPeriod"/>
            </a:pPr>
            <a:endParaRPr lang="en-US" dirty="0"/>
          </a:p>
          <a:p>
            <a:pPr marL="457200" indent="-457200">
              <a:buAutoNum type="arabicPeriod"/>
            </a:pPr>
            <a:r>
              <a:rPr lang="en-US" dirty="0"/>
              <a:t>The minimum detectable effect size (MDES): The smallest effect size that can be detected with a given statistical power</a:t>
            </a:r>
          </a:p>
          <a:p>
            <a:pPr marL="0" indent="0">
              <a:buNone/>
            </a:pPr>
            <a:endParaRPr lang="en-US" dirty="0"/>
          </a:p>
          <a:p>
            <a:pPr marL="0" indent="0">
              <a:buNone/>
            </a:pPr>
            <a:r>
              <a:rPr lang="en-US" dirty="0"/>
              <a:t>We will primarily use MDES as a tool to plan a design to have adequate sensitivity so that the results of the study will be conclusive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33800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3A4CE-5A3B-4162-9A66-FCCD1A003D55}"/>
              </a:ext>
            </a:extLst>
          </p:cNvPr>
          <p:cNvSpPr>
            <a:spLocks noGrp="1"/>
          </p:cNvSpPr>
          <p:nvPr>
            <p:ph type="title"/>
          </p:nvPr>
        </p:nvSpPr>
        <p:spPr/>
        <p:txBody>
          <a:bodyPr/>
          <a:lstStyle/>
          <a:p>
            <a:r>
              <a:rPr lang="en-US" dirty="0"/>
              <a:t>Inference Status of Blocks</a:t>
            </a:r>
          </a:p>
        </p:txBody>
      </p:sp>
      <p:sp>
        <p:nvSpPr>
          <p:cNvPr id="3" name="Content Placeholder 2">
            <a:extLst>
              <a:ext uri="{FF2B5EF4-FFF2-40B4-BE49-F238E27FC236}">
                <a16:creationId xmlns:a16="http://schemas.microsoft.com/office/drawing/2014/main" id="{A632BC28-D6E8-450C-924D-B256DC8EDCE8}"/>
              </a:ext>
            </a:extLst>
          </p:cNvPr>
          <p:cNvSpPr>
            <a:spLocks noGrp="1"/>
          </p:cNvSpPr>
          <p:nvPr>
            <p:ph idx="1"/>
          </p:nvPr>
        </p:nvSpPr>
        <p:spPr/>
        <p:txBody>
          <a:bodyPr>
            <a:normAutofit lnSpcReduction="10000"/>
          </a:bodyPr>
          <a:lstStyle/>
          <a:p>
            <a:pPr marL="0" indent="0">
              <a:buNone/>
            </a:pPr>
            <a:r>
              <a:rPr lang="en-US" dirty="0"/>
              <a:t>The  randomized block design introduces a new issue: How do we conceive the sampling of blocks?</a:t>
            </a:r>
          </a:p>
          <a:p>
            <a:pPr marL="0" indent="0">
              <a:buNone/>
            </a:pPr>
            <a:endParaRPr lang="en-US" dirty="0"/>
          </a:p>
          <a:p>
            <a:pPr marL="0" indent="0">
              <a:buNone/>
            </a:pPr>
            <a:r>
              <a:rPr lang="en-US" dirty="0"/>
              <a:t>This seems like an arcane technical issue, but it boils down to this:</a:t>
            </a:r>
          </a:p>
          <a:p>
            <a:pPr marL="0" indent="0">
              <a:buNone/>
            </a:pPr>
            <a:endParaRPr lang="en-US" dirty="0"/>
          </a:p>
          <a:p>
            <a:pPr marL="0" indent="0">
              <a:buNone/>
            </a:pPr>
            <a:r>
              <a:rPr lang="en-US" dirty="0"/>
              <a:t>1. Do we want to know what the mean treatment effect is in these (the observed) blocks  or</a:t>
            </a:r>
          </a:p>
          <a:p>
            <a:pPr marL="0" indent="0">
              <a:buNone/>
            </a:pPr>
            <a:endParaRPr lang="en-US" dirty="0"/>
          </a:p>
          <a:p>
            <a:pPr marL="0" indent="0">
              <a:buNone/>
            </a:pPr>
            <a:r>
              <a:rPr lang="en-US" dirty="0"/>
              <a:t>2. Do we wish to know what the mean treatment effect is in a larger population of blocks from which these (the observed) blocks are a random sample?</a:t>
            </a:r>
          </a:p>
          <a:p>
            <a:pPr marL="0" indent="0">
              <a:buNone/>
            </a:pPr>
            <a:endParaRPr lang="en-US" dirty="0"/>
          </a:p>
          <a:p>
            <a:pPr marL="0" indent="0">
              <a:buNone/>
            </a:pPr>
            <a:r>
              <a:rPr lang="en-US" dirty="0"/>
              <a:t>The second is a much harder  inference to make, but it is appropriate in efficacy or effectiveness trials </a:t>
            </a:r>
          </a:p>
          <a:p>
            <a:pPr marL="0" indent="0">
              <a:buNone/>
            </a:pPr>
            <a:endParaRPr lang="en-US" dirty="0"/>
          </a:p>
          <a:p>
            <a:pPr marL="0" indent="0">
              <a:buNone/>
            </a:pPr>
            <a:r>
              <a:rPr lang="en-US" dirty="0"/>
              <a:t>Most initial field trials, the first (inference about the treatment effect in the observed blocks) is both easier and more appropriate  </a:t>
            </a:r>
            <a:r>
              <a:rPr lang="en-US" b="1" dirty="0"/>
              <a:t>We will assume that this is the objective of your evaluations</a:t>
            </a:r>
          </a:p>
          <a:p>
            <a:pPr marL="0" indent="0">
              <a:buNone/>
            </a:pPr>
            <a:endParaRPr lang="en-US" dirty="0"/>
          </a:p>
          <a:p>
            <a:pPr marL="0" indent="0">
              <a:buNone/>
            </a:pPr>
            <a:r>
              <a:rPr lang="en-US" dirty="0"/>
              <a:t>Remember: Your goal is probably to show that the treatment can work in some realistic settings, not all settings</a:t>
            </a:r>
          </a:p>
        </p:txBody>
      </p:sp>
    </p:spTree>
    <p:extLst>
      <p:ext uri="{BB962C8B-B14F-4D97-AF65-F5344CB8AC3E}">
        <p14:creationId xmlns:p14="http://schemas.microsoft.com/office/powerpoint/2010/main" val="3882143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AB444-4B1C-4776-BAB7-6CF106EE8049}"/>
              </a:ext>
            </a:extLst>
          </p:cNvPr>
          <p:cNvSpPr>
            <a:spLocks noGrp="1"/>
          </p:cNvSpPr>
          <p:nvPr>
            <p:ph type="title"/>
          </p:nvPr>
        </p:nvSpPr>
        <p:spPr/>
        <p:txBody>
          <a:bodyPr/>
          <a:lstStyle/>
          <a:p>
            <a:r>
              <a:rPr lang="en-US" dirty="0"/>
              <a:t>MDES in Randomized Block Designs</a:t>
            </a:r>
          </a:p>
        </p:txBody>
      </p:sp>
      <p:sp>
        <p:nvSpPr>
          <p:cNvPr id="3" name="Content Placeholder 2">
            <a:extLst>
              <a:ext uri="{FF2B5EF4-FFF2-40B4-BE49-F238E27FC236}">
                <a16:creationId xmlns:a16="http://schemas.microsoft.com/office/drawing/2014/main" id="{001A231F-3A93-403F-B001-7D4610B06C63}"/>
              </a:ext>
            </a:extLst>
          </p:cNvPr>
          <p:cNvSpPr>
            <a:spLocks noGrp="1"/>
          </p:cNvSpPr>
          <p:nvPr>
            <p:ph idx="1"/>
          </p:nvPr>
        </p:nvSpPr>
        <p:spPr/>
        <p:txBody>
          <a:bodyPr/>
          <a:lstStyle/>
          <a:p>
            <a:pPr marL="0" indent="0">
              <a:buNone/>
            </a:pPr>
            <a:r>
              <a:rPr lang="en-US" dirty="0"/>
              <a:t>In randomized block designs, MDES depends  on</a:t>
            </a:r>
          </a:p>
          <a:p>
            <a:pPr marL="0" indent="0">
              <a:buNone/>
            </a:pPr>
            <a:r>
              <a:rPr lang="en-US" dirty="0"/>
              <a:t> </a:t>
            </a:r>
          </a:p>
          <a:p>
            <a:pPr marL="0" indent="0">
              <a:buNone/>
            </a:pPr>
            <a:r>
              <a:rPr lang="en-US" dirty="0"/>
              <a:t>1. The significance level (0.05 is a very strong convention)</a:t>
            </a:r>
          </a:p>
          <a:p>
            <a:pPr marL="0" indent="0">
              <a:buNone/>
            </a:pPr>
            <a:endParaRPr lang="en-US" dirty="0"/>
          </a:p>
          <a:p>
            <a:pPr marL="0" indent="0">
              <a:buNone/>
            </a:pPr>
            <a:r>
              <a:rPr lang="en-US" dirty="0"/>
              <a:t>2. The power level desired (0.8 is a strong convention)</a:t>
            </a:r>
          </a:p>
          <a:p>
            <a:pPr marL="0" indent="0">
              <a:buNone/>
            </a:pPr>
            <a:endParaRPr lang="en-US" dirty="0"/>
          </a:p>
          <a:p>
            <a:pPr marL="457200" indent="-457200">
              <a:buAutoNum type="arabicPeriod" startAt="3"/>
            </a:pPr>
            <a:r>
              <a:rPr lang="en-US" dirty="0"/>
              <a:t>The number </a:t>
            </a:r>
            <a:r>
              <a:rPr lang="en-US" i="1" dirty="0">
                <a:latin typeface="Times New Roman" panose="02020603050405020304" pitchFamily="18" charset="0"/>
                <a:cs typeface="Times New Roman" panose="02020603050405020304" pitchFamily="18" charset="0"/>
              </a:rPr>
              <a:t>m</a:t>
            </a:r>
            <a:r>
              <a:rPr lang="en-US" dirty="0"/>
              <a:t> of blocks</a:t>
            </a:r>
          </a:p>
          <a:p>
            <a:pPr marL="457200" indent="-457200">
              <a:buAutoNum type="arabicPeriod" startAt="3"/>
            </a:pPr>
            <a:endParaRPr lang="en-US" dirty="0"/>
          </a:p>
          <a:p>
            <a:pPr marL="457200" indent="-457200">
              <a:buAutoNum type="arabicPeriod" startAt="3"/>
            </a:pPr>
            <a:r>
              <a:rPr lang="en-US" dirty="0"/>
              <a:t>The number of individuals randomized within blocks</a:t>
            </a:r>
          </a:p>
          <a:p>
            <a:pPr marL="457200" indent="-457200">
              <a:buAutoNum type="arabicPeriod" startAt="3"/>
            </a:pPr>
            <a:endParaRPr lang="en-US" dirty="0"/>
          </a:p>
          <a:p>
            <a:pPr marL="457200" indent="-457200">
              <a:buAutoNum type="arabicPeriod" startAt="3"/>
            </a:pPr>
            <a:r>
              <a:rPr lang="en-US" dirty="0"/>
              <a:t>The covariate outcome correlation </a:t>
            </a:r>
            <a:r>
              <a:rPr lang="en-US" i="1" dirty="0">
                <a:latin typeface="Times New Roman" panose="02020603050405020304" pitchFamily="18" charset="0"/>
                <a:cs typeface="Times New Roman" panose="02020603050405020304" pitchFamily="18" charset="0"/>
              </a:rPr>
              <a:t>R</a:t>
            </a:r>
            <a:r>
              <a:rPr lang="en-US" dirty="0"/>
              <a:t> is covariates are used </a:t>
            </a:r>
          </a:p>
          <a:p>
            <a:pPr marL="0" indent="0">
              <a:buNone/>
            </a:pPr>
            <a:endParaRPr lang="en-US" dirty="0"/>
          </a:p>
          <a:p>
            <a:pPr marL="0" indent="0">
              <a:buNone/>
            </a:pPr>
            <a:r>
              <a:rPr lang="en-US" b="1" dirty="0"/>
              <a:t>But</a:t>
            </a:r>
            <a:r>
              <a:rPr lang="en-US" dirty="0"/>
              <a:t> to a very good approximation, the MDES depends only the total sample size </a:t>
            </a:r>
            <a:r>
              <a:rPr lang="en-US" i="1" dirty="0">
                <a:latin typeface="Times New Roman" panose="02020603050405020304" pitchFamily="18" charset="0"/>
                <a:cs typeface="Times New Roman" panose="02020603050405020304" pitchFamily="18" charset="0"/>
              </a:rPr>
              <a:t>N =</a:t>
            </a:r>
            <a:r>
              <a:rPr lang="en-US" dirty="0"/>
              <a:t> </a:t>
            </a:r>
            <a:r>
              <a:rPr lang="en-US" dirty="0">
                <a:latin typeface="Times New Roman" panose="02020603050405020304" pitchFamily="18" charset="0"/>
                <a:cs typeface="Times New Roman" panose="02020603050405020304" pitchFamily="18" charset="0"/>
              </a:rPr>
              <a:t>2</a:t>
            </a:r>
            <a:r>
              <a:rPr lang="en-US" i="1" dirty="0">
                <a:latin typeface="Times New Roman" panose="02020603050405020304" pitchFamily="18" charset="0"/>
                <a:cs typeface="Times New Roman" panose="02020603050405020304" pitchFamily="18" charset="0"/>
              </a:rPr>
              <a:t>mn</a:t>
            </a:r>
            <a:r>
              <a:rPr lang="en-US" dirty="0"/>
              <a:t>, not </a:t>
            </a:r>
            <a:r>
              <a:rPr lang="en-US" i="1" dirty="0">
                <a:latin typeface="Times New Roman" panose="02020603050405020304" pitchFamily="18" charset="0"/>
                <a:cs typeface="Times New Roman" panose="02020603050405020304" pitchFamily="18" charset="0"/>
              </a:rPr>
              <a:t>m</a:t>
            </a:r>
            <a:r>
              <a:rPr lang="en-US" dirty="0"/>
              <a:t> and </a:t>
            </a:r>
            <a:r>
              <a:rPr lang="en-US" i="1" dirty="0">
                <a:latin typeface="Times New Roman" panose="02020603050405020304" pitchFamily="18" charset="0"/>
                <a:cs typeface="Times New Roman" panose="02020603050405020304" pitchFamily="18" charset="0"/>
              </a:rPr>
              <a:t>n</a:t>
            </a:r>
            <a:r>
              <a:rPr lang="en-US" dirty="0"/>
              <a:t> individually</a:t>
            </a:r>
          </a:p>
        </p:txBody>
      </p:sp>
    </p:spTree>
    <p:extLst>
      <p:ext uri="{BB962C8B-B14F-4D97-AF65-F5344CB8AC3E}">
        <p14:creationId xmlns:p14="http://schemas.microsoft.com/office/powerpoint/2010/main" val="18350068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6F5AA-DA7D-49D1-8B77-422EAB9C32B3}"/>
              </a:ext>
            </a:extLst>
          </p:cNvPr>
          <p:cNvSpPr>
            <a:spLocks noGrp="1"/>
          </p:cNvSpPr>
          <p:nvPr>
            <p:ph type="title"/>
          </p:nvPr>
        </p:nvSpPr>
        <p:spPr/>
        <p:txBody>
          <a:bodyPr/>
          <a:lstStyle/>
          <a:p>
            <a:r>
              <a:rPr lang="en-US" dirty="0"/>
              <a:t>Design Sensitivity as a Function of </a:t>
            </a:r>
            <a:r>
              <a:rPr lang="en-US" i="1" dirty="0">
                <a:latin typeface="Times New Roman" panose="02020603050405020304" pitchFamily="18" charset="0"/>
                <a:cs typeface="Times New Roman" panose="02020603050405020304" pitchFamily="18" charset="0"/>
              </a:rPr>
              <a:t>m</a:t>
            </a:r>
            <a:r>
              <a:rPr lang="en-US" dirty="0"/>
              <a:t> and </a:t>
            </a:r>
            <a:r>
              <a:rPr lang="en-US" i="1" dirty="0">
                <a:latin typeface="Times New Roman" panose="02020603050405020304" pitchFamily="18" charset="0"/>
                <a:cs typeface="Times New Roman" panose="02020603050405020304" pitchFamily="18" charset="0"/>
              </a:rPr>
              <a:t>n</a:t>
            </a:r>
            <a:r>
              <a:rPr lang="en-US" dirty="0"/>
              <a:t> for Fixed </a:t>
            </a:r>
            <a:r>
              <a:rPr lang="en-US" i="1" dirty="0">
                <a:latin typeface="Times New Roman" panose="02020603050405020304" pitchFamily="18" charset="0"/>
                <a:cs typeface="Times New Roman" panose="02020603050405020304" pitchFamily="18" charset="0"/>
              </a:rPr>
              <a:t>N</a:t>
            </a:r>
          </a:p>
        </p:txBody>
      </p:sp>
      <p:graphicFrame>
        <p:nvGraphicFramePr>
          <p:cNvPr id="5" name="Content Placeholder 4">
            <a:extLst>
              <a:ext uri="{FF2B5EF4-FFF2-40B4-BE49-F238E27FC236}">
                <a16:creationId xmlns:a16="http://schemas.microsoft.com/office/drawing/2014/main" id="{3E3B14AB-C1C0-42DF-B849-8974806E0A42}"/>
              </a:ext>
            </a:extLst>
          </p:cNvPr>
          <p:cNvGraphicFramePr>
            <a:graphicFrameLocks noGrp="1"/>
          </p:cNvGraphicFramePr>
          <p:nvPr>
            <p:ph idx="1"/>
            <p:extLst>
              <p:ext uri="{D42A27DB-BD31-4B8C-83A1-F6EECF244321}">
                <p14:modId xmlns:p14="http://schemas.microsoft.com/office/powerpoint/2010/main" val="1691211195"/>
              </p:ext>
            </p:extLst>
          </p:nvPr>
        </p:nvGraphicFramePr>
        <p:xfrm>
          <a:off x="2115047" y="1590261"/>
          <a:ext cx="6114556" cy="3239712"/>
        </p:xfrm>
        <a:graphic>
          <a:graphicData uri="http://schemas.openxmlformats.org/drawingml/2006/table">
            <a:tbl>
              <a:tblPr>
                <a:tableStyleId>{5C22544A-7EE6-4342-B048-85BDC9FD1C3A}</a:tableStyleId>
              </a:tblPr>
              <a:tblGrid>
                <a:gridCol w="873508">
                  <a:extLst>
                    <a:ext uri="{9D8B030D-6E8A-4147-A177-3AD203B41FA5}">
                      <a16:colId xmlns:a16="http://schemas.microsoft.com/office/drawing/2014/main" val="40081067"/>
                    </a:ext>
                  </a:extLst>
                </a:gridCol>
                <a:gridCol w="873508">
                  <a:extLst>
                    <a:ext uri="{9D8B030D-6E8A-4147-A177-3AD203B41FA5}">
                      <a16:colId xmlns:a16="http://schemas.microsoft.com/office/drawing/2014/main" val="3091733072"/>
                    </a:ext>
                  </a:extLst>
                </a:gridCol>
                <a:gridCol w="873508">
                  <a:extLst>
                    <a:ext uri="{9D8B030D-6E8A-4147-A177-3AD203B41FA5}">
                      <a16:colId xmlns:a16="http://schemas.microsoft.com/office/drawing/2014/main" val="974153046"/>
                    </a:ext>
                  </a:extLst>
                </a:gridCol>
                <a:gridCol w="873508">
                  <a:extLst>
                    <a:ext uri="{9D8B030D-6E8A-4147-A177-3AD203B41FA5}">
                      <a16:colId xmlns:a16="http://schemas.microsoft.com/office/drawing/2014/main" val="2483556840"/>
                    </a:ext>
                  </a:extLst>
                </a:gridCol>
                <a:gridCol w="873508">
                  <a:extLst>
                    <a:ext uri="{9D8B030D-6E8A-4147-A177-3AD203B41FA5}">
                      <a16:colId xmlns:a16="http://schemas.microsoft.com/office/drawing/2014/main" val="495442836"/>
                    </a:ext>
                  </a:extLst>
                </a:gridCol>
                <a:gridCol w="873508">
                  <a:extLst>
                    <a:ext uri="{9D8B030D-6E8A-4147-A177-3AD203B41FA5}">
                      <a16:colId xmlns:a16="http://schemas.microsoft.com/office/drawing/2014/main" val="1678220478"/>
                    </a:ext>
                  </a:extLst>
                </a:gridCol>
                <a:gridCol w="873508">
                  <a:extLst>
                    <a:ext uri="{9D8B030D-6E8A-4147-A177-3AD203B41FA5}">
                      <a16:colId xmlns:a16="http://schemas.microsoft.com/office/drawing/2014/main" val="553484110"/>
                    </a:ext>
                  </a:extLst>
                </a:gridCol>
              </a:tblGrid>
              <a:tr h="359968">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d</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Power</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MDES</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SE</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6350" marR="6350" marT="6350" marB="0" anchor="b">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3341630945"/>
                  </a:ext>
                </a:extLst>
              </a:tr>
              <a:tr h="359968">
                <a:tc>
                  <a:txBody>
                    <a:bodyPr/>
                    <a:lstStyle/>
                    <a:p>
                      <a:pPr algn="ctr" fontAlgn="b"/>
                      <a:r>
                        <a:rPr lang="en-US" sz="2000" u="none" strike="noStrike" dirty="0">
                          <a:effectLst/>
                        </a:rPr>
                        <a:t>2</a:t>
                      </a:r>
                      <a:endParaRPr lang="en-US" sz="2000" b="0" i="0" u="none" strike="noStrike"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100</a:t>
                      </a:r>
                      <a:endParaRPr lang="en-US" sz="2000" b="0" i="0" u="none" strike="noStrike">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400</a:t>
                      </a:r>
                      <a:endParaRPr lang="en-US" sz="2000" b="0" i="0" u="none" strike="noStrike">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0.20</a:t>
                      </a:r>
                      <a:endParaRPr lang="en-US" sz="2000" b="0" i="0" u="none" strike="noStrike">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0.514</a:t>
                      </a:r>
                      <a:endParaRPr lang="en-US" sz="2000" b="0" i="0" u="none" strike="noStrike">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tc>
                  <a:txBody>
                    <a:bodyPr/>
                    <a:lstStyle/>
                    <a:p>
                      <a:pPr algn="ctr" fontAlgn="b"/>
                      <a:r>
                        <a:rPr lang="en-US" sz="2000" u="none" strike="noStrike" dirty="0">
                          <a:effectLst/>
                        </a:rPr>
                        <a:t>0.10</a:t>
                      </a:r>
                      <a:endParaRPr lang="en-US" sz="2000" b="0" i="0" u="none" strike="noStrike" dirty="0">
                        <a:solidFill>
                          <a:srgbClr val="000000"/>
                        </a:solidFill>
                        <a:effectLst/>
                        <a:latin typeface="Calibri" panose="020F0502020204030204" pitchFamily="34" charset="0"/>
                      </a:endParaRPr>
                    </a:p>
                  </a:txBody>
                  <a:tcPr marL="6350" marR="6350" marT="6350" marB="0" anchor="b">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61461152"/>
                  </a:ext>
                </a:extLst>
              </a:tr>
              <a:tr h="359968">
                <a:tc>
                  <a:txBody>
                    <a:bodyPr/>
                    <a:lstStyle/>
                    <a:p>
                      <a:pPr algn="ctr" fontAlgn="b"/>
                      <a:r>
                        <a:rPr lang="en-US" sz="2000" u="none" strike="noStrike" dirty="0">
                          <a:effectLst/>
                        </a:rPr>
                        <a:t>4</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50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400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0.514</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0.10</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765545644"/>
                  </a:ext>
                </a:extLst>
              </a:tr>
              <a:tr h="359968">
                <a:tc>
                  <a:txBody>
                    <a:bodyPr/>
                    <a:lstStyle/>
                    <a:p>
                      <a:pPr algn="ctr" fontAlgn="b"/>
                      <a:r>
                        <a:rPr lang="en-US" sz="2000" u="none" strike="noStrike" dirty="0">
                          <a:effectLst/>
                        </a:rPr>
                        <a:t>5</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40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400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0.514</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0.10</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2617935617"/>
                  </a:ext>
                </a:extLst>
              </a:tr>
              <a:tr h="359968">
                <a:tc>
                  <a:txBody>
                    <a:bodyPr/>
                    <a:lstStyle/>
                    <a:p>
                      <a:pPr algn="ctr" fontAlgn="b"/>
                      <a:r>
                        <a:rPr lang="en-US" sz="2000" u="none" strike="noStrike" dirty="0">
                          <a:effectLst/>
                        </a:rPr>
                        <a:t>8</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25</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400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0.514</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0.10</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304183407"/>
                  </a:ext>
                </a:extLst>
              </a:tr>
              <a:tr h="359968">
                <a:tc>
                  <a:txBody>
                    <a:bodyPr/>
                    <a:lstStyle/>
                    <a:p>
                      <a:pPr algn="ctr" fontAlgn="b"/>
                      <a:r>
                        <a:rPr lang="en-US" sz="2000" u="none" strike="noStrike" dirty="0">
                          <a:effectLst/>
                        </a:rPr>
                        <a:t>10</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20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400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0.514</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0.10</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83239900"/>
                  </a:ext>
                </a:extLst>
              </a:tr>
              <a:tr h="359968">
                <a:tc>
                  <a:txBody>
                    <a:bodyPr/>
                    <a:lstStyle/>
                    <a:p>
                      <a:pPr algn="ctr" fontAlgn="b"/>
                      <a:r>
                        <a:rPr lang="en-US" sz="2000" u="none" strike="noStrike" dirty="0">
                          <a:effectLst/>
                        </a:rPr>
                        <a:t>20</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10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400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0.514</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0.10</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4290108934"/>
                  </a:ext>
                </a:extLst>
              </a:tr>
              <a:tr h="359968">
                <a:tc>
                  <a:txBody>
                    <a:bodyPr/>
                    <a:lstStyle/>
                    <a:p>
                      <a:pPr algn="ctr" fontAlgn="b"/>
                      <a:r>
                        <a:rPr lang="en-US" sz="2000" u="none" strike="noStrike" dirty="0">
                          <a:effectLst/>
                        </a:rPr>
                        <a:t>40</a:t>
                      </a:r>
                      <a:endParaRPr lang="en-US" sz="2000" b="0" i="0" u="none" strike="noStrike" dirty="0">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5</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400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0.20</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0.514</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6350" marR="6350" marT="6350" marB="0" anchor="b"/>
                </a:tc>
                <a:tc>
                  <a:txBody>
                    <a:bodyPr/>
                    <a:lstStyle/>
                    <a:p>
                      <a:pPr algn="ctr" fontAlgn="b"/>
                      <a:r>
                        <a:rPr lang="en-US" sz="2000" u="none" strike="noStrike" dirty="0">
                          <a:effectLst/>
                        </a:rPr>
                        <a:t>0.10</a:t>
                      </a:r>
                      <a:endParaRPr lang="en-US" sz="2000" b="0" i="0" u="none" strike="noStrike" dirty="0">
                        <a:solidFill>
                          <a:srgbClr val="000000"/>
                        </a:solidFill>
                        <a:effectLst/>
                        <a:latin typeface="Calibri" panose="020F0502020204030204" pitchFamily="34" charset="0"/>
                      </a:endParaRPr>
                    </a:p>
                  </a:txBody>
                  <a:tcPr marL="6350" marR="6350" marT="6350" marB="0" anchor="b"/>
                </a:tc>
                <a:extLst>
                  <a:ext uri="{0D108BD9-81ED-4DB2-BD59-A6C34878D82A}">
                    <a16:rowId xmlns:a16="http://schemas.microsoft.com/office/drawing/2014/main" val="1060185563"/>
                  </a:ext>
                </a:extLst>
              </a:tr>
              <a:tr h="359968">
                <a:tc>
                  <a:txBody>
                    <a:bodyPr/>
                    <a:lstStyle/>
                    <a:p>
                      <a:pPr algn="ctr" fontAlgn="b"/>
                      <a:r>
                        <a:rPr lang="en-US" sz="2000" u="none" strike="noStrike" dirty="0">
                          <a:effectLst/>
                        </a:rPr>
                        <a:t>100</a:t>
                      </a:r>
                      <a:endParaRPr lang="en-US" sz="2000" b="0" i="0" u="none" strike="noStrike"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2</a:t>
                      </a:r>
                      <a:endParaRPr lang="en-US" sz="2000" b="0" i="0" u="none" strike="noStrike"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400</a:t>
                      </a:r>
                      <a:endParaRPr lang="en-US" sz="2000" b="0" i="0" u="none" strike="noStrike"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0.20</a:t>
                      </a:r>
                      <a:endParaRPr lang="en-US" sz="2000" b="0" i="0" u="none" strike="noStrike"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0.512</a:t>
                      </a:r>
                      <a:endParaRPr lang="en-US" sz="2000" b="0" i="0" u="none" strike="noStrike"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0.29</a:t>
                      </a:r>
                      <a:endParaRPr lang="en-US" sz="2000" b="0" i="0" u="none" strike="noStrike"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tc>
                  <a:txBody>
                    <a:bodyPr/>
                    <a:lstStyle/>
                    <a:p>
                      <a:pPr algn="ctr" fontAlgn="b"/>
                      <a:r>
                        <a:rPr lang="en-US" sz="2000" u="none" strike="noStrike" dirty="0">
                          <a:effectLst/>
                        </a:rPr>
                        <a:t>0.10</a:t>
                      </a:r>
                      <a:endParaRPr lang="en-US" sz="2000" b="0" i="0" u="none" strike="noStrike" dirty="0">
                        <a:solidFill>
                          <a:srgbClr val="000000"/>
                        </a:solidFill>
                        <a:effectLst/>
                        <a:latin typeface="Calibri" panose="020F0502020204030204" pitchFamily="34" charset="0"/>
                      </a:endParaRPr>
                    </a:p>
                  </a:txBody>
                  <a:tcPr marL="6350" marR="6350" marT="6350" marB="0" anchor="b">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0121991"/>
                  </a:ext>
                </a:extLst>
              </a:tr>
            </a:tbl>
          </a:graphicData>
        </a:graphic>
      </p:graphicFrame>
    </p:spTree>
    <p:extLst>
      <p:ext uri="{BB962C8B-B14F-4D97-AF65-F5344CB8AC3E}">
        <p14:creationId xmlns:p14="http://schemas.microsoft.com/office/powerpoint/2010/main" val="8490846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CCFC-1A48-41AF-A600-92992DDD711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48DCA3-E4BF-4ABD-B635-C3DE2A5AD12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155477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685E4-86D6-41C2-9284-198C37FCC00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04A9F4F-3975-4240-B943-8DC5C5BDB21D}"/>
              </a:ext>
            </a:extLst>
          </p:cNvPr>
          <p:cNvSpPr>
            <a:spLocks noGrp="1"/>
          </p:cNvSpPr>
          <p:nvPr>
            <p:ph idx="1"/>
          </p:nvPr>
        </p:nvSpPr>
        <p:spPr/>
        <p:txBody>
          <a:bodyPr/>
          <a:lstStyle/>
          <a:p>
            <a:pPr marL="0" indent="0">
              <a:buNone/>
            </a:pPr>
            <a:r>
              <a:rPr lang="en-US" dirty="0">
                <a:highlight>
                  <a:srgbClr val="FFFF00"/>
                </a:highlight>
              </a:rPr>
              <a:t>Eric: This might be a good place for a statistical power or MDES insert</a:t>
            </a:r>
          </a:p>
        </p:txBody>
      </p:sp>
    </p:spTree>
    <p:extLst>
      <p:ext uri="{BB962C8B-B14F-4D97-AF65-F5344CB8AC3E}">
        <p14:creationId xmlns:p14="http://schemas.microsoft.com/office/powerpoint/2010/main" val="35100575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0F8F1-67FB-4389-BCB6-8112C6FC797B}"/>
              </a:ext>
            </a:extLst>
          </p:cNvPr>
          <p:cNvSpPr>
            <a:spLocks noGrp="1"/>
          </p:cNvSpPr>
          <p:nvPr>
            <p:ph type="title"/>
          </p:nvPr>
        </p:nvSpPr>
        <p:spPr/>
        <p:txBody>
          <a:bodyPr/>
          <a:lstStyle/>
          <a:p>
            <a:r>
              <a:rPr lang="en-US" dirty="0"/>
              <a:t>A Graphical Representation of MDES as a Function of </a:t>
            </a:r>
            <a:r>
              <a:rPr lang="en-US" i="1" dirty="0">
                <a:latin typeface="Times New Roman" panose="02020603050405020304" pitchFamily="18" charset="0"/>
                <a:cs typeface="Times New Roman" panose="02020603050405020304" pitchFamily="18" charset="0"/>
              </a:rPr>
              <a:t>N</a:t>
            </a:r>
            <a:endParaRPr lang="en-US" dirty="0"/>
          </a:p>
        </p:txBody>
      </p:sp>
      <p:pic>
        <p:nvPicPr>
          <p:cNvPr id="4" name="Content Placeholder 3">
            <a:extLst>
              <a:ext uri="{FF2B5EF4-FFF2-40B4-BE49-F238E27FC236}">
                <a16:creationId xmlns:a16="http://schemas.microsoft.com/office/drawing/2014/main" id="{88305661-D95C-484D-9B2B-5C167A935D6D}"/>
              </a:ext>
            </a:extLst>
          </p:cNvPr>
          <p:cNvPicPr>
            <a:picLocks noGrp="1"/>
          </p:cNvPicPr>
          <p:nvPr>
            <p:ph idx="1"/>
          </p:nvPr>
        </p:nvPicPr>
        <p:blipFill>
          <a:blip r:embed="rId2"/>
          <a:stretch>
            <a:fillRect/>
          </a:stretch>
        </p:blipFill>
        <p:spPr>
          <a:xfrm>
            <a:off x="3948275" y="1825624"/>
            <a:ext cx="4599095" cy="4607601"/>
          </a:xfrm>
          <a:prstGeom prst="rect">
            <a:avLst/>
          </a:prstGeom>
        </p:spPr>
      </p:pic>
    </p:spTree>
    <p:extLst>
      <p:ext uri="{BB962C8B-B14F-4D97-AF65-F5344CB8AC3E}">
        <p14:creationId xmlns:p14="http://schemas.microsoft.com/office/powerpoint/2010/main" val="35845780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F5F7D-B65F-41C0-817C-FFB3FBEFDCFE}"/>
              </a:ext>
            </a:extLst>
          </p:cNvPr>
          <p:cNvSpPr>
            <a:spLocks noGrp="1"/>
          </p:cNvSpPr>
          <p:nvPr>
            <p:ph type="title"/>
          </p:nvPr>
        </p:nvSpPr>
        <p:spPr/>
        <p:txBody>
          <a:bodyPr/>
          <a:lstStyle/>
          <a:p>
            <a:r>
              <a:rPr lang="en-US" dirty="0"/>
              <a:t>The Fundamental Problem of Research Design</a:t>
            </a:r>
          </a:p>
        </p:txBody>
      </p:sp>
      <p:sp>
        <p:nvSpPr>
          <p:cNvPr id="3" name="Content Placeholder 2">
            <a:extLst>
              <a:ext uri="{FF2B5EF4-FFF2-40B4-BE49-F238E27FC236}">
                <a16:creationId xmlns:a16="http://schemas.microsoft.com/office/drawing/2014/main" id="{DC8D27D9-C38F-4425-AA28-3D563C51555A}"/>
              </a:ext>
            </a:extLst>
          </p:cNvPr>
          <p:cNvSpPr>
            <a:spLocks noGrp="1"/>
          </p:cNvSpPr>
          <p:nvPr>
            <p:ph idx="1"/>
          </p:nvPr>
        </p:nvSpPr>
        <p:spPr/>
        <p:txBody>
          <a:bodyPr/>
          <a:lstStyle/>
          <a:p>
            <a:pPr marL="0" indent="0">
              <a:buNone/>
            </a:pPr>
            <a:r>
              <a:rPr lang="en-US" dirty="0"/>
              <a:t>The fundamental problem of research design is how to plan a </a:t>
            </a:r>
            <a:r>
              <a:rPr lang="en-US" b="1" i="1" dirty="0"/>
              <a:t>feasible</a:t>
            </a:r>
            <a:r>
              <a:rPr lang="en-US" dirty="0"/>
              <a:t> design that is adequately sensitive</a:t>
            </a:r>
          </a:p>
          <a:p>
            <a:pPr marL="0" indent="0">
              <a:buNone/>
            </a:pPr>
            <a:endParaRPr lang="en-US" dirty="0"/>
          </a:p>
          <a:p>
            <a:pPr marL="0" indent="0">
              <a:buNone/>
            </a:pPr>
            <a:r>
              <a:rPr lang="en-US" dirty="0"/>
              <a:t>If you have unlimited sample size, it is easy to get any design sensitivity you want</a:t>
            </a:r>
          </a:p>
          <a:p>
            <a:pPr marL="0" indent="0">
              <a:buNone/>
            </a:pPr>
            <a:endParaRPr lang="en-US" dirty="0"/>
          </a:p>
          <a:p>
            <a:pPr marL="0" indent="0">
              <a:buNone/>
            </a:pPr>
            <a:r>
              <a:rPr lang="en-US" dirty="0"/>
              <a:t>But we never have access to an unlimited sample size</a:t>
            </a:r>
          </a:p>
          <a:p>
            <a:pPr marL="0" indent="0">
              <a:buNone/>
            </a:pPr>
            <a:endParaRPr lang="en-US" dirty="0"/>
          </a:p>
          <a:p>
            <a:pPr marL="0" indent="0">
              <a:buNone/>
            </a:pPr>
            <a:r>
              <a:rPr lang="en-US" dirty="0"/>
              <a:t>Especially in development studies, we are usually limited to a small number of schools or classes (10 or less) and at most a total </a:t>
            </a:r>
            <a:r>
              <a:rPr lang="en-US" i="1" dirty="0">
                <a:latin typeface="Times New Roman" panose="02020603050405020304" pitchFamily="18" charset="0"/>
                <a:cs typeface="Times New Roman" panose="02020603050405020304" pitchFamily="18" charset="0"/>
              </a:rPr>
              <a:t>N</a:t>
            </a:r>
            <a:r>
              <a:rPr lang="en-US" dirty="0"/>
              <a:t> of few hundred students</a:t>
            </a:r>
          </a:p>
        </p:txBody>
      </p:sp>
    </p:spTree>
    <p:extLst>
      <p:ext uri="{BB962C8B-B14F-4D97-AF65-F5344CB8AC3E}">
        <p14:creationId xmlns:p14="http://schemas.microsoft.com/office/powerpoint/2010/main" val="27161143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02F55-DF4F-4DC5-AF89-21C6A104CB8B}"/>
              </a:ext>
            </a:extLst>
          </p:cNvPr>
          <p:cNvSpPr>
            <a:spLocks noGrp="1"/>
          </p:cNvSpPr>
          <p:nvPr>
            <p:ph type="title"/>
          </p:nvPr>
        </p:nvSpPr>
        <p:spPr/>
        <p:txBody>
          <a:bodyPr/>
          <a:lstStyle/>
          <a:p>
            <a:r>
              <a:rPr lang="en-US" dirty="0"/>
              <a:t>How Do You Plan a Research Design?</a:t>
            </a:r>
          </a:p>
        </p:txBody>
      </p:sp>
      <p:sp>
        <p:nvSpPr>
          <p:cNvPr id="3" name="Content Placeholder 2">
            <a:extLst>
              <a:ext uri="{FF2B5EF4-FFF2-40B4-BE49-F238E27FC236}">
                <a16:creationId xmlns:a16="http://schemas.microsoft.com/office/drawing/2014/main" id="{2A3C7132-137C-4B29-90A7-DBA45DC29847}"/>
              </a:ext>
            </a:extLst>
          </p:cNvPr>
          <p:cNvSpPr>
            <a:spLocks noGrp="1"/>
          </p:cNvSpPr>
          <p:nvPr>
            <p:ph idx="1"/>
          </p:nvPr>
        </p:nvSpPr>
        <p:spPr/>
        <p:txBody>
          <a:bodyPr/>
          <a:lstStyle/>
          <a:p>
            <a:pPr marL="0" indent="0">
              <a:buNone/>
            </a:pPr>
            <a:r>
              <a:rPr lang="en-US" dirty="0"/>
              <a:t>Start with some notion of the effect size you expect</a:t>
            </a:r>
          </a:p>
          <a:p>
            <a:pPr marL="0" indent="0">
              <a:buNone/>
            </a:pPr>
            <a:endParaRPr lang="en-US" dirty="0"/>
          </a:p>
          <a:p>
            <a:pPr marL="0" indent="0">
              <a:buNone/>
            </a:pPr>
            <a:r>
              <a:rPr lang="en-US" dirty="0"/>
              <a:t>Then consider what sample of individuals you believe you could get to test the treatment</a:t>
            </a:r>
          </a:p>
          <a:p>
            <a:pPr marL="0" indent="0">
              <a:buNone/>
            </a:pPr>
            <a:endParaRPr lang="en-US" dirty="0"/>
          </a:p>
          <a:p>
            <a:pPr marL="0" indent="0">
              <a:buNone/>
            </a:pPr>
            <a:r>
              <a:rPr lang="en-US" dirty="0"/>
              <a:t>Are they grouped into schools or classrooms?  Can they plausibly be considered independent?</a:t>
            </a:r>
          </a:p>
          <a:p>
            <a:pPr marL="0" indent="0">
              <a:buNone/>
            </a:pPr>
            <a:endParaRPr lang="en-US" dirty="0"/>
          </a:p>
          <a:p>
            <a:pPr marL="0" indent="0">
              <a:buNone/>
            </a:pPr>
            <a:r>
              <a:rPr lang="en-US" dirty="0"/>
              <a:t>Can they be assigned to treatments individually within schools?  </a:t>
            </a:r>
          </a:p>
          <a:p>
            <a:pPr marL="0" indent="0">
              <a:buNone/>
            </a:pPr>
            <a:r>
              <a:rPr lang="en-US" b="1" dirty="0"/>
              <a:t>If not, then the individually randomized design cannot be used</a:t>
            </a:r>
            <a:endParaRPr lang="en-US" dirty="0"/>
          </a:p>
          <a:p>
            <a:pPr marL="0" indent="0">
              <a:buNone/>
            </a:pPr>
            <a:endParaRPr lang="en-US" dirty="0"/>
          </a:p>
          <a:p>
            <a:pPr marL="0" indent="0">
              <a:buNone/>
            </a:pPr>
            <a:r>
              <a:rPr lang="en-US" dirty="0"/>
              <a:t>In the easiest case, then you simply use a table like the one presented previously or a software tool and find the sample size that has an MDES that is smaller than the effect size you expect</a:t>
            </a:r>
          </a:p>
          <a:p>
            <a:pPr marL="0" indent="0">
              <a:buNone/>
            </a:pPr>
            <a:endParaRPr lang="en-US" dirty="0"/>
          </a:p>
          <a:p>
            <a:pPr marL="0" indent="0">
              <a:buNone/>
            </a:pPr>
            <a:r>
              <a:rPr lang="en-US" dirty="0"/>
              <a:t>Often, that sample size is larger than the sample you believe you could get</a:t>
            </a:r>
          </a:p>
          <a:p>
            <a:pPr marL="0" indent="0">
              <a:buNone/>
            </a:pPr>
            <a:endParaRPr lang="en-US" b="1" dirty="0"/>
          </a:p>
          <a:p>
            <a:pPr marL="0" indent="0">
              <a:buNone/>
            </a:pPr>
            <a:r>
              <a:rPr lang="en-US" b="1" dirty="0"/>
              <a:t>What then?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333829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55049E-1130-4839-8F13-58EB99D2B2A7}"/>
              </a:ext>
            </a:extLst>
          </p:cNvPr>
          <p:cNvSpPr>
            <a:spLocks noGrp="1"/>
          </p:cNvSpPr>
          <p:nvPr>
            <p:ph type="title"/>
          </p:nvPr>
        </p:nvSpPr>
        <p:spPr/>
        <p:txBody>
          <a:bodyPr/>
          <a:lstStyle/>
          <a:p>
            <a:r>
              <a:rPr lang="en-US" dirty="0"/>
              <a:t>How Do You Plan a Research Design?</a:t>
            </a:r>
          </a:p>
        </p:txBody>
      </p:sp>
      <p:sp>
        <p:nvSpPr>
          <p:cNvPr id="3" name="Content Placeholder 2">
            <a:extLst>
              <a:ext uri="{FF2B5EF4-FFF2-40B4-BE49-F238E27FC236}">
                <a16:creationId xmlns:a16="http://schemas.microsoft.com/office/drawing/2014/main" id="{7B5BF3EB-3156-49CC-AA73-4195F4007C20}"/>
              </a:ext>
            </a:extLst>
          </p:cNvPr>
          <p:cNvSpPr>
            <a:spLocks noGrp="1"/>
          </p:cNvSpPr>
          <p:nvPr>
            <p:ph idx="1"/>
          </p:nvPr>
        </p:nvSpPr>
        <p:spPr/>
        <p:txBody>
          <a:bodyPr/>
          <a:lstStyle/>
          <a:p>
            <a:pPr marL="0" indent="0">
              <a:buNone/>
            </a:pPr>
            <a:r>
              <a:rPr lang="en-US" dirty="0"/>
              <a:t>If the balanced design requires a bigger sample size than you believe you can get then:</a:t>
            </a:r>
          </a:p>
          <a:p>
            <a:pPr marL="457200" indent="-457200">
              <a:buAutoNum type="arabicPeriod"/>
            </a:pPr>
            <a:endParaRPr lang="en-US" dirty="0"/>
          </a:p>
          <a:p>
            <a:pPr marL="457200" indent="-457200">
              <a:buAutoNum type="arabicPeriod"/>
            </a:pPr>
            <a:r>
              <a:rPr lang="en-US" dirty="0"/>
              <a:t>You can get a bigger sample (it may just be a matter of trying harder)</a:t>
            </a:r>
          </a:p>
          <a:p>
            <a:pPr marL="457200" indent="-457200">
              <a:buAutoNum type="arabicPeriod"/>
            </a:pPr>
            <a:endParaRPr lang="en-US" dirty="0"/>
          </a:p>
          <a:p>
            <a:pPr marL="457200" indent="-457200">
              <a:buAutoNum type="arabicPeriod"/>
            </a:pPr>
            <a:r>
              <a:rPr lang="en-US" dirty="0"/>
              <a:t>Change the design (how you do this will depend on what is feasible)</a:t>
            </a:r>
          </a:p>
          <a:p>
            <a:pPr marL="0" indent="0">
              <a:buNone/>
            </a:pPr>
            <a:endParaRPr lang="en-US" dirty="0"/>
          </a:p>
          <a:p>
            <a:pPr marL="0" indent="0">
              <a:buNone/>
            </a:pPr>
            <a:r>
              <a:rPr lang="en-US" dirty="0"/>
              <a:t>Options for changing the design:</a:t>
            </a:r>
          </a:p>
          <a:p>
            <a:pPr marL="457200" indent="-457200">
              <a:buAutoNum type="arabicPeriod"/>
            </a:pPr>
            <a:endParaRPr lang="en-US" dirty="0"/>
          </a:p>
          <a:p>
            <a:pPr marL="457200" indent="-457200">
              <a:buAutoNum type="arabicPeriod"/>
            </a:pPr>
            <a:r>
              <a:rPr lang="en-US" dirty="0"/>
              <a:t>Use a covariate</a:t>
            </a:r>
          </a:p>
          <a:p>
            <a:pPr marL="457200" indent="-457200">
              <a:buAutoNum type="arabicPeriod"/>
            </a:pPr>
            <a:endParaRPr lang="en-US" dirty="0"/>
          </a:p>
          <a:p>
            <a:pPr marL="457200" indent="-457200">
              <a:buAutoNum type="arabicPeriod"/>
            </a:pPr>
            <a:r>
              <a:rPr lang="en-US" dirty="0"/>
              <a:t>Consider an unbalanced design</a:t>
            </a:r>
          </a:p>
          <a:p>
            <a:pPr marL="457200" indent="-457200">
              <a:buAutoNum type="arabicPeriod"/>
            </a:pPr>
            <a:endParaRPr lang="en-US" dirty="0"/>
          </a:p>
          <a:p>
            <a:pPr marL="0" indent="0">
              <a:buNone/>
            </a:pPr>
            <a:endParaRPr lang="en-US" dirty="0"/>
          </a:p>
          <a:p>
            <a:pPr marL="457200" indent="-457200">
              <a:buAutoNum type="arabicPeriod"/>
            </a:pPr>
            <a:endParaRPr lang="en-US" dirty="0"/>
          </a:p>
          <a:p>
            <a:pPr marL="457200" indent="-457200">
              <a:buAutoNum type="arabicPeriod"/>
            </a:pPr>
            <a:endParaRPr lang="en-US" dirty="0"/>
          </a:p>
        </p:txBody>
      </p:sp>
    </p:spTree>
    <p:extLst>
      <p:ext uri="{BB962C8B-B14F-4D97-AF65-F5344CB8AC3E}">
        <p14:creationId xmlns:p14="http://schemas.microsoft.com/office/powerpoint/2010/main" val="1482833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62355-601A-4B12-930A-ED4E0C4B0A01}"/>
              </a:ext>
            </a:extLst>
          </p:cNvPr>
          <p:cNvSpPr>
            <a:spLocks noGrp="1"/>
          </p:cNvSpPr>
          <p:nvPr>
            <p:ph type="title"/>
          </p:nvPr>
        </p:nvSpPr>
        <p:spPr/>
        <p:txBody>
          <a:bodyPr/>
          <a:lstStyle/>
          <a:p>
            <a:r>
              <a:rPr lang="en-US" dirty="0"/>
              <a:t>The Effect of Covariates on MDES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C9C2904-BF83-419B-93AE-00D92C05F0E0}"/>
                  </a:ext>
                </a:extLst>
              </p:cNvPr>
              <p:cNvSpPr>
                <a:spLocks noGrp="1"/>
              </p:cNvSpPr>
              <p:nvPr>
                <p:ph idx="1"/>
              </p:nvPr>
            </p:nvSpPr>
            <p:spPr/>
            <p:txBody>
              <a:bodyPr/>
              <a:lstStyle/>
              <a:p>
                <a:pPr marL="0" indent="0">
                  <a:buNone/>
                </a:pPr>
                <a:r>
                  <a:rPr lang="en-US" dirty="0"/>
                  <a:t>Suppose that a covariate has correlation </a:t>
                </a:r>
                <a:r>
                  <a:rPr lang="en-US" i="1" dirty="0">
                    <a:latin typeface="Times New Roman" panose="02020603050405020304" pitchFamily="18" charset="0"/>
                    <a:cs typeface="Times New Roman" panose="02020603050405020304" pitchFamily="18" charset="0"/>
                  </a:rPr>
                  <a:t>R</a:t>
                </a:r>
                <a:r>
                  <a:rPr lang="en-US" dirty="0"/>
                  <a:t> with the outcome, then the MDES for  a design that uses that covariate will be smaller by a factor of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𝑅</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r>
                      <a:rPr lang="en-US" b="0" i="1" smtClean="0">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dirty="0"/>
                  <a:t>  That is</a:t>
                </a:r>
              </a:p>
              <a:p>
                <a:pPr marL="0" indent="0">
                  <a:buNone/>
                </a:pPr>
                <a:endParaRPr lang="en-US" dirty="0"/>
              </a:p>
              <a:p>
                <a:pPr marL="0" indent="0">
                  <a:buNone/>
                </a:pPr>
                <a:r>
                  <a:rPr lang="en-US" dirty="0"/>
                  <a:t>	MDES(with covariates) </a:t>
                </a:r>
                <a:r>
                  <a:rPr lang="en-US" dirty="0">
                    <a:latin typeface="Times New Roman" panose="02020603050405020304" pitchFamily="18" charset="0"/>
                    <a:cs typeface="Times New Roman" panose="02020603050405020304" pitchFamily="18" charset="0"/>
                  </a:rPr>
                  <a:t>≈</a:t>
                </a:r>
                <a:r>
                  <a:rPr lang="en-US" dirty="0"/>
                  <a:t> MDES(without covariates)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i="1">
                                <a:effectLst/>
                                <a:latin typeface="Cambria Math" panose="02040503050406030204" pitchFamily="18" charset="0"/>
                                <a:ea typeface="Calibri" panose="020F0502020204030204" pitchFamily="34" charset="0"/>
                                <a:cs typeface="Times New Roman" panose="02020603050405020304" pitchFamily="18" charset="0"/>
                              </a:rPr>
                              <m:t>𝑅</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endParaRPr lang="en-US" dirty="0"/>
              </a:p>
              <a:p>
                <a:pPr marL="0" indent="0">
                  <a:buNone/>
                </a:pPr>
                <a:endParaRPr lang="en-US" dirty="0"/>
              </a:p>
              <a:p>
                <a:pPr marL="0" indent="0">
                  <a:buNone/>
                </a:pPr>
                <a:r>
                  <a:rPr lang="en-US" dirty="0"/>
                  <a:t>For example, a covariate with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0.7 </a:t>
                </a:r>
                <a:r>
                  <a:rPr lang="en-US" dirty="0"/>
                  <a:t>will cut the MDES by about 29% because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b="0" i="1" smtClean="0">
                                <a:effectLst/>
                                <a:latin typeface="Cambria Math" panose="02040503050406030204" pitchFamily="18" charset="0"/>
                                <a:cs typeface="Times New Roman" panose="02020603050405020304" pitchFamily="18" charset="0"/>
                              </a:rPr>
                              <m:t>0.7</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r>
                  <a:rPr lang="en-US" dirty="0">
                    <a:latin typeface="Times New Roman" panose="02020603050405020304" pitchFamily="18" charset="0"/>
                    <a:cs typeface="Times New Roman" panose="02020603050405020304" pitchFamily="18" charset="0"/>
                  </a:rPr>
                  <a:t>  ≈ 0.71</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cs typeface="Times New Roman" panose="02020603050405020304" pitchFamily="18" charset="0"/>
                  </a:rPr>
                  <a:t>A covariate with </a:t>
                </a:r>
                <a:r>
                  <a:rPr lang="en-US" i="1" dirty="0">
                    <a:latin typeface="Times New Roman" panose="02020603050405020304" pitchFamily="18" charset="0"/>
                    <a:cs typeface="Times New Roman" panose="02020603050405020304" pitchFamily="18" charset="0"/>
                  </a:rPr>
                  <a:t>R</a:t>
                </a:r>
                <a:r>
                  <a:rPr lang="en-US" dirty="0">
                    <a:latin typeface="Times New Roman" panose="02020603050405020304" pitchFamily="18" charset="0"/>
                    <a:cs typeface="Times New Roman" panose="02020603050405020304" pitchFamily="18" charset="0"/>
                  </a:rPr>
                  <a:t> = 0.5 </a:t>
                </a:r>
                <a:r>
                  <a:rPr lang="en-US" dirty="0">
                    <a:cs typeface="Times New Roman" panose="02020603050405020304" pitchFamily="18" charset="0"/>
                  </a:rPr>
                  <a:t>will cut the MDES by about </a:t>
                </a:r>
                <a:r>
                  <a:rPr lang="en-US" dirty="0">
                    <a:latin typeface="Times New Roman" panose="02020603050405020304" pitchFamily="18" charset="0"/>
                    <a:cs typeface="Times New Roman" panose="02020603050405020304" pitchFamily="18" charset="0"/>
                  </a:rPr>
                  <a:t>13% </a:t>
                </a:r>
                <a:r>
                  <a:rPr lang="en-US" dirty="0">
                    <a:cs typeface="Times New Roman" panose="02020603050405020304" pitchFamily="18" charset="0"/>
                  </a:rPr>
                  <a:t>because </a:t>
                </a:r>
                <a14:m>
                  <m:oMath xmlns:m="http://schemas.openxmlformats.org/officeDocument/2006/math">
                    <m:rad>
                      <m:radPr>
                        <m:degHide m:val="on"/>
                        <m:ctrlPr>
                          <a:rPr lang="en-US" i="1" smtClean="0">
                            <a:effectLst/>
                            <a:latin typeface="Cambria Math" panose="02040503050406030204" pitchFamily="18" charset="0"/>
                            <a:cs typeface="Times New Roman" panose="02020603050405020304" pitchFamily="18" charset="0"/>
                          </a:rPr>
                        </m:ctrlPr>
                      </m:radPr>
                      <m:deg/>
                      <m:e>
                        <m:r>
                          <a:rPr lang="en-US" i="1">
                            <a:effectLst/>
                            <a:latin typeface="Cambria Math" panose="02040503050406030204" pitchFamily="18" charset="0"/>
                            <a:ea typeface="Calibri" panose="020F0502020204030204" pitchFamily="34" charset="0"/>
                            <a:cs typeface="Times New Roman" panose="02020603050405020304" pitchFamily="18" charset="0"/>
                          </a:rPr>
                          <m:t>1−</m:t>
                        </m:r>
                        <m:sSup>
                          <m:sSupPr>
                            <m:ctrlPr>
                              <a:rPr lang="en-US" i="1">
                                <a:effectLst/>
                                <a:latin typeface="Cambria Math" panose="02040503050406030204" pitchFamily="18" charset="0"/>
                                <a:cs typeface="Times New Roman" panose="02020603050405020304" pitchFamily="18" charset="0"/>
                              </a:rPr>
                            </m:ctrlPr>
                          </m:sSupPr>
                          <m:e>
                            <m:r>
                              <a:rPr lang="en-US" b="0" i="1" smtClean="0">
                                <a:effectLst/>
                                <a:latin typeface="Cambria Math" panose="02040503050406030204" pitchFamily="18" charset="0"/>
                                <a:cs typeface="Times New Roman" panose="02020603050405020304" pitchFamily="18" charset="0"/>
                              </a:rPr>
                              <m:t>0.5</m:t>
                            </m:r>
                          </m:e>
                          <m:sup>
                            <m:r>
                              <a:rPr lang="en-US" i="1">
                                <a:effectLst/>
                                <a:latin typeface="Cambria Math" panose="02040503050406030204" pitchFamily="18" charset="0"/>
                                <a:ea typeface="Calibri" panose="020F0502020204030204" pitchFamily="34" charset="0"/>
                                <a:cs typeface="Times New Roman" panose="02020603050405020304" pitchFamily="18" charset="0"/>
                              </a:rPr>
                              <m:t>2</m:t>
                            </m:r>
                          </m:sup>
                        </m:sSup>
                      </m:e>
                    </m:rad>
                  </m:oMath>
                </a14:m>
                <a:r>
                  <a:rPr lang="en-US" dirty="0">
                    <a:latin typeface="Times New Roman" panose="02020603050405020304" pitchFamily="18" charset="0"/>
                    <a:cs typeface="Times New Roman" panose="02020603050405020304" pitchFamily="18" charset="0"/>
                  </a:rPr>
                  <a:t>  ≈ 0.87</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cs typeface="Times New Roman" panose="02020603050405020304" pitchFamily="18" charset="0"/>
                  </a:rPr>
                  <a:t>If there is more than one covariate, the impact on MDES depends on the multiple correlation R, not the number of covariates (but there is usually little point in using more than one covariate)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highlight>
                      <a:srgbClr val="FFFF00"/>
                    </a:highlight>
                    <a:latin typeface="Times New Roman" panose="02020603050405020304" pitchFamily="18" charset="0"/>
                    <a:cs typeface="Times New Roman" panose="02020603050405020304" pitchFamily="18" charset="0"/>
                  </a:rPr>
                  <a:t>ERIC: This would be a good place for a slider showing how MDES changes with R</a:t>
                </a:r>
              </a:p>
              <a:p>
                <a:pPr marL="0" indent="0">
                  <a:buNone/>
                </a:pPr>
                <a:endParaRPr lang="en-US" dirty="0">
                  <a:latin typeface="Times New Roman" panose="02020603050405020304" pitchFamily="18" charset="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1C9C2904-BF83-419B-93AE-00D92C05F0E0}"/>
                  </a:ext>
                </a:extLst>
              </p:cNvPr>
              <p:cNvSpPr>
                <a:spLocks noGrp="1" noRot="1" noChangeAspect="1" noMove="1" noResize="1" noEditPoints="1" noAdjustHandles="1" noChangeArrowheads="1" noChangeShapeType="1" noTextEdit="1"/>
              </p:cNvSpPr>
              <p:nvPr>
                <p:ph idx="1"/>
              </p:nvPr>
            </p:nvSpPr>
            <p:spPr>
              <a:blipFill>
                <a:blip r:embed="rId2"/>
                <a:stretch>
                  <a:fillRect l="-638" t="-1541" r="-232"/>
                </a:stretch>
              </a:blipFill>
            </p:spPr>
            <p:txBody>
              <a:bodyPr/>
              <a:lstStyle/>
              <a:p>
                <a:r>
                  <a:rPr lang="en-US">
                    <a:noFill/>
                  </a:rPr>
                  <a:t> </a:t>
                </a:r>
              </a:p>
            </p:txBody>
          </p:sp>
        </mc:Fallback>
      </mc:AlternateContent>
    </p:spTree>
    <p:extLst>
      <p:ext uri="{BB962C8B-B14F-4D97-AF65-F5344CB8AC3E}">
        <p14:creationId xmlns:p14="http://schemas.microsoft.com/office/powerpoint/2010/main" val="30188782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F9A99-8D8B-476F-81F7-5435CFE06E19}"/>
              </a:ext>
            </a:extLst>
          </p:cNvPr>
          <p:cNvSpPr>
            <a:spLocks noGrp="1"/>
          </p:cNvSpPr>
          <p:nvPr>
            <p:ph type="title"/>
          </p:nvPr>
        </p:nvSpPr>
        <p:spPr/>
        <p:txBody>
          <a:bodyPr/>
          <a:lstStyle/>
          <a:p>
            <a:r>
              <a:rPr lang="en-US" sz="3600" kern="1200" dirty="0">
                <a:solidFill>
                  <a:schemeClr val="tx1"/>
                </a:solidFill>
                <a:latin typeface="+mj-lt"/>
                <a:ea typeface="+mj-ea"/>
                <a:cs typeface="+mj-cs"/>
              </a:rPr>
              <a:t>A Tabular Representation of the Influence of </a:t>
            </a:r>
            <a:r>
              <a:rPr lang="en-US" sz="3600" i="1" kern="1200" dirty="0">
                <a:solidFill>
                  <a:schemeClr val="tx1"/>
                </a:solidFill>
                <a:latin typeface="+mj-lt"/>
                <a:ea typeface="+mj-ea"/>
                <a:cs typeface="+mj-cs"/>
              </a:rPr>
              <a:t>R</a:t>
            </a:r>
            <a:r>
              <a:rPr lang="en-US" sz="3600" kern="1200" dirty="0">
                <a:solidFill>
                  <a:schemeClr val="tx1"/>
                </a:solidFill>
                <a:latin typeface="+mj-lt"/>
                <a:ea typeface="+mj-ea"/>
                <a:cs typeface="+mj-cs"/>
              </a:rPr>
              <a:t> on MDES</a:t>
            </a:r>
            <a:endParaRPr lang="en-US" dirty="0"/>
          </a:p>
        </p:txBody>
      </p:sp>
      <p:graphicFrame>
        <p:nvGraphicFramePr>
          <p:cNvPr id="5" name="Content Placeholder 4">
            <a:extLst>
              <a:ext uri="{FF2B5EF4-FFF2-40B4-BE49-F238E27FC236}">
                <a16:creationId xmlns:a16="http://schemas.microsoft.com/office/drawing/2014/main" id="{0342D040-3A9B-4F7A-B07A-DB5CEB979C74}"/>
              </a:ext>
            </a:extLst>
          </p:cNvPr>
          <p:cNvGraphicFramePr>
            <a:graphicFrameLocks noGrp="1"/>
          </p:cNvGraphicFramePr>
          <p:nvPr>
            <p:ph idx="1"/>
            <p:extLst>
              <p:ext uri="{D42A27DB-BD31-4B8C-83A1-F6EECF244321}">
                <p14:modId xmlns:p14="http://schemas.microsoft.com/office/powerpoint/2010/main" val="2305575763"/>
              </p:ext>
            </p:extLst>
          </p:nvPr>
        </p:nvGraphicFramePr>
        <p:xfrm>
          <a:off x="4341415" y="1797059"/>
          <a:ext cx="3794295" cy="4616130"/>
        </p:xfrm>
        <a:graphic>
          <a:graphicData uri="http://schemas.openxmlformats.org/drawingml/2006/table">
            <a:tbl>
              <a:tblPr>
                <a:tableStyleId>{5C22544A-7EE6-4342-B048-85BDC9FD1C3A}</a:tableStyleId>
              </a:tblPr>
              <a:tblGrid>
                <a:gridCol w="758859">
                  <a:extLst>
                    <a:ext uri="{9D8B030D-6E8A-4147-A177-3AD203B41FA5}">
                      <a16:colId xmlns:a16="http://schemas.microsoft.com/office/drawing/2014/main" val="2327138038"/>
                    </a:ext>
                  </a:extLst>
                </a:gridCol>
                <a:gridCol w="758859">
                  <a:extLst>
                    <a:ext uri="{9D8B030D-6E8A-4147-A177-3AD203B41FA5}">
                      <a16:colId xmlns:a16="http://schemas.microsoft.com/office/drawing/2014/main" val="489167033"/>
                    </a:ext>
                  </a:extLst>
                </a:gridCol>
                <a:gridCol w="758859">
                  <a:extLst>
                    <a:ext uri="{9D8B030D-6E8A-4147-A177-3AD203B41FA5}">
                      <a16:colId xmlns:a16="http://schemas.microsoft.com/office/drawing/2014/main" val="237227479"/>
                    </a:ext>
                  </a:extLst>
                </a:gridCol>
                <a:gridCol w="758859">
                  <a:extLst>
                    <a:ext uri="{9D8B030D-6E8A-4147-A177-3AD203B41FA5}">
                      <a16:colId xmlns:a16="http://schemas.microsoft.com/office/drawing/2014/main" val="724385553"/>
                    </a:ext>
                  </a:extLst>
                </a:gridCol>
                <a:gridCol w="758859">
                  <a:extLst>
                    <a:ext uri="{9D8B030D-6E8A-4147-A177-3AD203B41FA5}">
                      <a16:colId xmlns:a16="http://schemas.microsoft.com/office/drawing/2014/main" val="2043147367"/>
                    </a:ext>
                  </a:extLst>
                </a:gridCol>
              </a:tblGrid>
              <a:tr h="198743">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942" marR="2942" marT="2942"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R</a:t>
                      </a:r>
                      <a:r>
                        <a:rPr lang="en-US" sz="2000" i="0" u="none" strike="noStrike" dirty="0">
                          <a:solidFill>
                            <a:schemeClr val="bg1"/>
                          </a:solidFill>
                          <a:effectLst/>
                          <a:latin typeface="Times New Roman" panose="02020603050405020304" pitchFamily="18" charset="0"/>
                          <a:cs typeface="Times New Roman" panose="02020603050405020304" pitchFamily="18" charset="0"/>
                        </a:rPr>
                        <a:t>=0</a:t>
                      </a:r>
                      <a:endParaRPr lang="en-US"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942" marR="2942" marT="2942"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R</a:t>
                      </a:r>
                      <a:r>
                        <a:rPr lang="en-US" sz="2000" i="0" u="none" strike="noStrike" dirty="0">
                          <a:solidFill>
                            <a:schemeClr val="bg1"/>
                          </a:solidFill>
                          <a:effectLst/>
                          <a:latin typeface="Times New Roman" panose="02020603050405020304" pitchFamily="18" charset="0"/>
                          <a:cs typeface="Times New Roman" panose="02020603050405020304" pitchFamily="18" charset="0"/>
                        </a:rPr>
                        <a:t>=0.4</a:t>
                      </a:r>
                      <a:endParaRPr lang="en-US"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942" marR="2942" marT="2942"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R</a:t>
                      </a:r>
                      <a:r>
                        <a:rPr lang="en-US" sz="2000" i="0" u="none" strike="noStrike" dirty="0">
                          <a:solidFill>
                            <a:schemeClr val="bg1"/>
                          </a:solidFill>
                          <a:effectLst/>
                          <a:latin typeface="Times New Roman" panose="02020603050405020304" pitchFamily="18" charset="0"/>
                          <a:cs typeface="Times New Roman" panose="02020603050405020304" pitchFamily="18" charset="0"/>
                        </a:rPr>
                        <a:t>=0.6</a:t>
                      </a:r>
                      <a:endParaRPr lang="en-US"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942" marR="2942" marT="2942" marB="0" anchor="b">
                    <a:solidFill>
                      <a:schemeClr val="accent1">
                        <a:lumMod val="60000"/>
                        <a:lumOff val="4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R</a:t>
                      </a:r>
                      <a:r>
                        <a:rPr lang="en-US" sz="2000" i="0" u="none" strike="noStrike" dirty="0">
                          <a:solidFill>
                            <a:schemeClr val="bg1"/>
                          </a:solidFill>
                          <a:effectLst/>
                          <a:latin typeface="Times New Roman" panose="02020603050405020304" pitchFamily="18" charset="0"/>
                          <a:cs typeface="Times New Roman" panose="02020603050405020304" pitchFamily="18" charset="0"/>
                        </a:rPr>
                        <a:t>=0.7</a:t>
                      </a:r>
                      <a:endParaRPr lang="en-US"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942" marR="2942" marT="2942" marB="0" anchor="b">
                    <a:solidFill>
                      <a:schemeClr val="accent1">
                        <a:lumMod val="60000"/>
                        <a:lumOff val="40000"/>
                      </a:schemeClr>
                    </a:solidFill>
                  </a:tcPr>
                </a:tc>
                <a:extLst>
                  <a:ext uri="{0D108BD9-81ED-4DB2-BD59-A6C34878D82A}">
                    <a16:rowId xmlns:a16="http://schemas.microsoft.com/office/drawing/2014/main" val="1601062314"/>
                  </a:ext>
                </a:extLst>
              </a:tr>
              <a:tr h="198743">
                <a:tc>
                  <a:txBody>
                    <a:bodyPr/>
                    <a:lstStyle/>
                    <a:p>
                      <a:pPr algn="ctr" fontAlgn="b"/>
                      <a:r>
                        <a:rPr lang="en-US" sz="2000" u="none" strike="noStrike">
                          <a:effectLst/>
                        </a:rPr>
                        <a:t>220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0.38</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0.36</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0.34</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0.32</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649470945"/>
                  </a:ext>
                </a:extLst>
              </a:tr>
              <a:tr h="198743">
                <a:tc>
                  <a:txBody>
                    <a:bodyPr/>
                    <a:lstStyle/>
                    <a:p>
                      <a:pPr algn="ctr" fontAlgn="b"/>
                      <a:r>
                        <a:rPr lang="en-US" sz="2000" u="none" strike="noStrike">
                          <a:effectLst/>
                        </a:rPr>
                        <a:t>240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0.36</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0.35</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0.33</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0.31</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808544211"/>
                  </a:ext>
                </a:extLst>
              </a:tr>
              <a:tr h="198743">
                <a:tc>
                  <a:txBody>
                    <a:bodyPr/>
                    <a:lstStyle/>
                    <a:p>
                      <a:pPr algn="ctr" fontAlgn="b"/>
                      <a:r>
                        <a:rPr lang="en-US" sz="2000" u="none" strike="noStrike">
                          <a:effectLst/>
                        </a:rPr>
                        <a:t>260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0.35</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0.34</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0.31</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0.30</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3708018624"/>
                  </a:ext>
                </a:extLst>
              </a:tr>
              <a:tr h="198743">
                <a:tc>
                  <a:txBody>
                    <a:bodyPr/>
                    <a:lstStyle/>
                    <a:p>
                      <a:pPr algn="ctr" fontAlgn="b"/>
                      <a:r>
                        <a:rPr lang="en-US" sz="2000" u="none" strike="noStrike">
                          <a:effectLst/>
                        </a:rPr>
                        <a:t>280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0.34</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0.32</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0.29</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1453067012"/>
                  </a:ext>
                </a:extLst>
              </a:tr>
              <a:tr h="198743">
                <a:tc>
                  <a:txBody>
                    <a:bodyPr/>
                    <a:lstStyle/>
                    <a:p>
                      <a:pPr algn="ctr" fontAlgn="b"/>
                      <a:r>
                        <a:rPr lang="en-US" sz="2000" u="none" strike="noStrike">
                          <a:effectLst/>
                        </a:rPr>
                        <a:t>300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0.32</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0.31</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0.28</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458528220"/>
                  </a:ext>
                </a:extLst>
              </a:tr>
              <a:tr h="198743">
                <a:tc>
                  <a:txBody>
                    <a:bodyPr/>
                    <a:lstStyle/>
                    <a:p>
                      <a:pPr algn="ctr" fontAlgn="b"/>
                      <a:r>
                        <a:rPr lang="en-US" sz="2000" u="none" strike="noStrike">
                          <a:effectLst/>
                        </a:rPr>
                        <a:t>320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0.32</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0.28</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0.27</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2835669182"/>
                  </a:ext>
                </a:extLst>
              </a:tr>
              <a:tr h="198743">
                <a:tc>
                  <a:txBody>
                    <a:bodyPr/>
                    <a:lstStyle/>
                    <a:p>
                      <a:pPr algn="ctr" fontAlgn="b"/>
                      <a:r>
                        <a:rPr lang="en-US" sz="2000" u="none" strike="noStrike">
                          <a:effectLst/>
                        </a:rPr>
                        <a:t>340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0.27</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0.26</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1228786385"/>
                  </a:ext>
                </a:extLst>
              </a:tr>
              <a:tr h="198743">
                <a:tc>
                  <a:txBody>
                    <a:bodyPr/>
                    <a:lstStyle/>
                    <a:p>
                      <a:pPr algn="ctr" fontAlgn="b"/>
                      <a:r>
                        <a:rPr lang="en-US" sz="2000" u="none" strike="noStrike">
                          <a:effectLst/>
                        </a:rPr>
                        <a:t>360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0.30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0.28</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0.27</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0.25</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4113493486"/>
                  </a:ext>
                </a:extLst>
              </a:tr>
              <a:tr h="198743">
                <a:tc>
                  <a:txBody>
                    <a:bodyPr/>
                    <a:lstStyle/>
                    <a:p>
                      <a:pPr algn="ctr" fontAlgn="b"/>
                      <a:r>
                        <a:rPr lang="en-US" sz="2000" u="none" strike="noStrike">
                          <a:effectLst/>
                        </a:rPr>
                        <a:t>380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0.29</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0.28</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0.26</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0.24</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2894209095"/>
                  </a:ext>
                </a:extLst>
              </a:tr>
              <a:tr h="198743">
                <a:tc>
                  <a:txBody>
                    <a:bodyPr/>
                    <a:lstStyle/>
                    <a:p>
                      <a:pPr algn="ctr" fontAlgn="b"/>
                      <a:r>
                        <a:rPr lang="en-US" sz="2000" u="none" strike="noStrike">
                          <a:effectLst/>
                        </a:rPr>
                        <a:t>400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0.28</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0.27</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0.25</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0.24</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811463083"/>
                  </a:ext>
                </a:extLst>
              </a:tr>
              <a:tr h="198743">
                <a:tc>
                  <a:txBody>
                    <a:bodyPr/>
                    <a:lstStyle/>
                    <a:p>
                      <a:pPr algn="ctr" fontAlgn="b"/>
                      <a:r>
                        <a:rPr lang="en-US" sz="2000" u="none" strike="noStrike">
                          <a:effectLst/>
                        </a:rPr>
                        <a:t>500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0.25</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0.24</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0.23</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0.21</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4185963562"/>
                  </a:ext>
                </a:extLst>
              </a:tr>
              <a:tr h="198743">
                <a:tc>
                  <a:txBody>
                    <a:bodyPr/>
                    <a:lstStyle/>
                    <a:p>
                      <a:pPr algn="ctr" fontAlgn="b"/>
                      <a:r>
                        <a:rPr lang="en-US" sz="2000" u="none" strike="noStrike">
                          <a:effectLst/>
                        </a:rPr>
                        <a:t>800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0.20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0.19</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0.18</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0.17</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927711039"/>
                  </a:ext>
                </a:extLst>
              </a:tr>
              <a:tr h="198743">
                <a:tc>
                  <a:txBody>
                    <a:bodyPr/>
                    <a:lstStyle/>
                    <a:p>
                      <a:pPr algn="ctr" fontAlgn="b"/>
                      <a:r>
                        <a:rPr lang="en-US" sz="2000" u="none" strike="noStrike">
                          <a:effectLst/>
                        </a:rPr>
                        <a:t>1000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0.18</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0.17</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0.16</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0.15</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3148063298"/>
                  </a:ext>
                </a:extLst>
              </a:tr>
              <a:tr h="198743">
                <a:tc>
                  <a:txBody>
                    <a:bodyPr/>
                    <a:lstStyle/>
                    <a:p>
                      <a:pPr algn="ctr" fontAlgn="b"/>
                      <a:r>
                        <a:rPr lang="en-US" sz="2000" u="none" strike="noStrike">
                          <a:effectLst/>
                        </a:rPr>
                        <a:t>1200</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0.16</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0.16</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a:effectLst/>
                        </a:rPr>
                        <a:t>0.15</a:t>
                      </a:r>
                      <a:endParaRPr lang="en-US" sz="2000" b="0" i="0" u="none" strike="noStrike">
                        <a:solidFill>
                          <a:srgbClr val="000000"/>
                        </a:solidFill>
                        <a:effectLst/>
                        <a:latin typeface="Calibri" panose="020F0502020204030204" pitchFamily="34" charset="0"/>
                      </a:endParaRPr>
                    </a:p>
                  </a:txBody>
                  <a:tcPr marL="2942" marR="2942" marT="2942" marB="0" anchor="b"/>
                </a:tc>
                <a:tc>
                  <a:txBody>
                    <a:bodyPr/>
                    <a:lstStyle/>
                    <a:p>
                      <a:pPr algn="ctr" fontAlgn="b"/>
                      <a:r>
                        <a:rPr lang="en-US" sz="2000" u="none" strike="noStrike" dirty="0">
                          <a:effectLst/>
                        </a:rPr>
                        <a:t>0.14</a:t>
                      </a:r>
                      <a:endParaRPr lang="en-US" sz="2000" b="0" i="0" u="none" strike="noStrike" dirty="0">
                        <a:solidFill>
                          <a:srgbClr val="000000"/>
                        </a:solidFill>
                        <a:effectLst/>
                        <a:latin typeface="Calibri" panose="020F0502020204030204" pitchFamily="34" charset="0"/>
                      </a:endParaRPr>
                    </a:p>
                  </a:txBody>
                  <a:tcPr marL="2942" marR="2942" marT="2942" marB="0" anchor="b"/>
                </a:tc>
                <a:extLst>
                  <a:ext uri="{0D108BD9-81ED-4DB2-BD59-A6C34878D82A}">
                    <a16:rowId xmlns:a16="http://schemas.microsoft.com/office/drawing/2014/main" val="2618296551"/>
                  </a:ext>
                </a:extLst>
              </a:tr>
            </a:tbl>
          </a:graphicData>
        </a:graphic>
      </p:graphicFrame>
    </p:spTree>
    <p:extLst>
      <p:ext uri="{BB962C8B-B14F-4D97-AF65-F5344CB8AC3E}">
        <p14:creationId xmlns:p14="http://schemas.microsoft.com/office/powerpoint/2010/main" val="4185608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B3AD7-2971-4135-BACA-0CD9403516C9}"/>
              </a:ext>
            </a:extLst>
          </p:cNvPr>
          <p:cNvSpPr>
            <a:spLocks noGrp="1"/>
          </p:cNvSpPr>
          <p:nvPr>
            <p:ph type="title"/>
          </p:nvPr>
        </p:nvSpPr>
        <p:spPr/>
        <p:txBody>
          <a:bodyPr/>
          <a:lstStyle/>
          <a:p>
            <a:r>
              <a:rPr lang="en-US" dirty="0"/>
              <a:t>Unbalanced Designs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75220A-C9BB-4F4C-B4BD-2C0B1102EFF3}"/>
                  </a:ext>
                </a:extLst>
              </p:cNvPr>
              <p:cNvSpPr>
                <a:spLocks noGrp="1"/>
              </p:cNvSpPr>
              <p:nvPr>
                <p:ph idx="1"/>
              </p:nvPr>
            </p:nvSpPr>
            <p:spPr/>
            <p:txBody>
              <a:bodyPr>
                <a:normAutofit lnSpcReduction="10000"/>
              </a:bodyPr>
              <a:lstStyle/>
              <a:p>
                <a:pPr marL="0" indent="0">
                  <a:buNone/>
                </a:pPr>
                <a:r>
                  <a:rPr lang="en-US" dirty="0"/>
                  <a:t>Sometimes sample size is limited by the number of individuals that in the treatment group (e.g., due to limitations of costs of the treatment, staff for training, equipment or facilities)</a:t>
                </a:r>
              </a:p>
              <a:p>
                <a:pPr marL="0" indent="0">
                  <a:buNone/>
                </a:pPr>
                <a:endParaRPr lang="en-US" dirty="0"/>
              </a:p>
              <a:p>
                <a:pPr marL="0" indent="0">
                  <a:buNone/>
                </a:pPr>
                <a:r>
                  <a:rPr lang="en-US" dirty="0"/>
                  <a:t>A balanced design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T</a:t>
                </a:r>
                <a:r>
                  <a:rPr lang="en-US" i="1" dirty="0">
                    <a:latin typeface="Times New Roman" panose="02020603050405020304" pitchFamily="18" charset="0"/>
                    <a:cs typeface="Times New Roman" panose="02020603050405020304" pitchFamily="18" charset="0"/>
                  </a:rPr>
                  <a:t> =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C</a:t>
                </a:r>
                <a:r>
                  <a:rPr lang="en-US" i="1" dirty="0">
                    <a:latin typeface="Times New Roman" panose="02020603050405020304" pitchFamily="18" charset="0"/>
                    <a:cs typeface="Times New Roman" panose="02020603050405020304" pitchFamily="18" charset="0"/>
                  </a:rPr>
                  <a:t> = n </a:t>
                </a:r>
                <a:r>
                  <a:rPr lang="en-US" dirty="0"/>
                  <a:t>is  the most sensitive design for a fixed total sample size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a:t>
                </a:r>
                <a:r>
                  <a:rPr lang="en-US" i="1" baseline="30000" dirty="0" err="1">
                    <a:latin typeface="Times New Roman" panose="02020603050405020304" pitchFamily="18" charset="0"/>
                    <a:cs typeface="Times New Roman" panose="02020603050405020304" pitchFamily="18" charset="0"/>
                  </a:rPr>
                  <a:t>C</a:t>
                </a:r>
                <a:endParaRPr lang="en-US" i="1"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But if the total sample size can be increased by increasing the size of the control group (leading to an increase in total sample size </a:t>
                </a:r>
                <a:r>
                  <a:rPr lang="en-US" i="1" dirty="0">
                    <a:latin typeface="Times New Roman" panose="02020603050405020304" pitchFamily="18" charset="0"/>
                    <a:cs typeface="Times New Roman" panose="02020603050405020304" pitchFamily="18" charset="0"/>
                  </a:rPr>
                  <a:t>N</a:t>
                </a:r>
                <a:r>
                  <a:rPr lang="en-US" dirty="0">
                    <a:cs typeface="Times New Roman" panose="02020603050405020304" pitchFamily="18" charset="0"/>
                  </a:rPr>
                  <a:t>), then sensitivity may be increased with an unbalanced design</a:t>
                </a: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If the control group is </a:t>
                </a:r>
                <a:r>
                  <a:rPr lang="en-US" i="1" dirty="0">
                    <a:latin typeface="Times New Roman" panose="02020603050405020304" pitchFamily="18" charset="0"/>
                    <a:cs typeface="Times New Roman" panose="02020603050405020304" pitchFamily="18" charset="0"/>
                  </a:rPr>
                  <a:t>c</a:t>
                </a:r>
                <a:r>
                  <a:rPr lang="en-US" dirty="0">
                    <a:cs typeface="Times New Roman" panose="02020603050405020304" pitchFamily="18" charset="0"/>
                  </a:rPr>
                  <a:t> times as large as the treatment group, then the MDES is changed by a factor of </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In other words </a:t>
                </a:r>
              </a:p>
              <a:p>
                <a:pPr marL="0" indent="0">
                  <a:buNone/>
                </a:pPr>
                <a:r>
                  <a:rPr lang="en-US" dirty="0">
                    <a:cs typeface="Times New Roman" panose="02020603050405020304" pitchFamily="18" charset="0"/>
                  </a:rPr>
                  <a:t>	MDES(unbalanced)</a:t>
                </a:r>
                <a:r>
                  <a:rPr lang="en-US" dirty="0">
                    <a:latin typeface="Times New Roman" panose="02020603050405020304" pitchFamily="18" charset="0"/>
                    <a:cs typeface="Times New Roman" panose="02020603050405020304" pitchFamily="18" charset="0"/>
                  </a:rPr>
                  <a:t> ≈</a:t>
                </a:r>
                <a:r>
                  <a:rPr lang="en-US" dirty="0">
                    <a:cs typeface="Times New Roman" panose="02020603050405020304" pitchFamily="18" charset="0"/>
                  </a:rPr>
                  <a:t> MDES(balanced) </a:t>
                </a:r>
                <a14:m>
                  <m:oMath xmlns:m="http://schemas.openxmlformats.org/officeDocument/2006/math">
                    <m:rad>
                      <m:radPr>
                        <m:degHide m:val="on"/>
                        <m:ctrlPr>
                          <a:rPr lang="en-US" i="1" smtClean="0">
                            <a:latin typeface="Cambria Math" panose="02040503050406030204" pitchFamily="18" charset="0"/>
                            <a:cs typeface="Times New Roman" panose="02020603050405020304" pitchFamily="18" charset="0"/>
                          </a:rPr>
                        </m:ctrlPr>
                      </m:radPr>
                      <m:deg/>
                      <m:e>
                        <m:f>
                          <m:fPr>
                            <m:type m:val="lin"/>
                            <m:ctrlPr>
                              <a:rPr lang="en-US" i="1" smtClean="0">
                                <a:latin typeface="Cambria Math" panose="02040503050406030204" pitchFamily="18" charset="0"/>
                                <a:cs typeface="Times New Roman" panose="02020603050405020304" pitchFamily="18" charset="0"/>
                              </a:rPr>
                            </m:ctrlPr>
                          </m:fPr>
                          <m:num>
                            <m:d>
                              <m:dPr>
                                <m:ctrlPr>
                                  <a:rPr lang="en-US" i="1" smtClean="0">
                                    <a:latin typeface="Cambria Math" panose="02040503050406030204" pitchFamily="18" charset="0"/>
                                    <a:cs typeface="Times New Roman" panose="02020603050405020304" pitchFamily="18" charset="0"/>
                                  </a:rPr>
                                </m:ctrlPr>
                              </m:dPr>
                              <m:e>
                                <m:r>
                                  <a:rPr lang="en-US" b="0" i="1" smtClean="0">
                                    <a:latin typeface="Cambria Math" panose="02040503050406030204" pitchFamily="18" charset="0"/>
                                    <a:cs typeface="Times New Roman" panose="02020603050405020304" pitchFamily="18" charset="0"/>
                                  </a:rPr>
                                  <m:t>𝑐</m:t>
                                </m:r>
                                <m:r>
                                  <a:rPr lang="en-US" b="0" i="1" smtClean="0">
                                    <a:latin typeface="Cambria Math" panose="02040503050406030204" pitchFamily="18" charset="0"/>
                                    <a:cs typeface="Times New Roman" panose="02020603050405020304" pitchFamily="18" charset="0"/>
                                  </a:rPr>
                                  <m:t>+1</m:t>
                                </m:r>
                              </m:e>
                            </m:d>
                          </m:num>
                          <m:den>
                            <m:r>
                              <a:rPr lang="en-US" b="0" i="1" smtClean="0">
                                <a:latin typeface="Cambria Math" panose="02040503050406030204" pitchFamily="18" charset="0"/>
                                <a:cs typeface="Times New Roman" panose="02020603050405020304" pitchFamily="18" charset="0"/>
                              </a:rPr>
                              <m:t>2</m:t>
                            </m:r>
                            <m:r>
                              <a:rPr lang="en-US" b="0" i="1" smtClean="0">
                                <a:latin typeface="Cambria Math" panose="02040503050406030204" pitchFamily="18" charset="0"/>
                                <a:cs typeface="Times New Roman" panose="02020603050405020304" pitchFamily="18" charset="0"/>
                              </a:rPr>
                              <m:t>𝑐</m:t>
                            </m:r>
                          </m:den>
                        </m:f>
                      </m:e>
                    </m:rad>
                  </m:oMath>
                </a14:m>
                <a:endParaRPr lang="en-US" dirty="0">
                  <a:cs typeface="Times New Roman" panose="02020603050405020304" pitchFamily="18" charset="0"/>
                </a:endParaRPr>
              </a:p>
              <a:p>
                <a:pPr marL="0" indent="0">
                  <a:buNone/>
                </a:pPr>
                <a:endParaRPr lang="en-US" dirty="0">
                  <a:cs typeface="Times New Roman" panose="02020603050405020304" pitchFamily="18" charset="0"/>
                </a:endParaRPr>
              </a:p>
              <a:p>
                <a:pPr marL="0" indent="0">
                  <a:buNone/>
                </a:pPr>
                <a:r>
                  <a:rPr lang="en-US" dirty="0">
                    <a:cs typeface="Times New Roman" panose="02020603050405020304" pitchFamily="18" charset="0"/>
                  </a:rPr>
                  <a:t>If </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&gt; 1 (</a:t>
                </a:r>
                <a:r>
                  <a:rPr lang="en-US" dirty="0">
                    <a:cs typeface="Times New Roman" panose="02020603050405020304" pitchFamily="18" charset="0"/>
                  </a:rPr>
                  <a:t>which means total sample size </a:t>
                </a:r>
                <a:r>
                  <a:rPr lang="en-US" i="1" dirty="0">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&gt; 2</a:t>
                </a:r>
                <a:r>
                  <a:rPr lang="en-US" i="1" dirty="0">
                    <a:latin typeface="Times New Roman" panose="02020603050405020304" pitchFamily="18" charset="0"/>
                    <a:cs typeface="Times New Roman" panose="02020603050405020304" pitchFamily="18" charset="0"/>
                  </a:rPr>
                  <a:t>n</a:t>
                </a:r>
                <a:r>
                  <a:rPr lang="en-US" i="1" baseline="30000"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+ 1)/2</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 ½ + 1/2</a:t>
                </a:r>
                <a:r>
                  <a:rPr lang="en-US" i="1" dirty="0">
                    <a:latin typeface="Times New Roman" panose="02020603050405020304" pitchFamily="18" charset="0"/>
                    <a:cs typeface="Times New Roman" panose="02020603050405020304" pitchFamily="18" charset="0"/>
                  </a:rPr>
                  <a:t>c</a:t>
                </a:r>
                <a:r>
                  <a:rPr lang="en-US" dirty="0">
                    <a:latin typeface="Times New Roman" panose="02020603050405020304" pitchFamily="18" charset="0"/>
                    <a:cs typeface="Times New Roman" panose="02020603050405020304" pitchFamily="18" charset="0"/>
                  </a:rPr>
                  <a:t> &lt; 1, </a:t>
                </a:r>
                <a:r>
                  <a:rPr lang="en-US" dirty="0">
                    <a:cs typeface="Times New Roman" panose="02020603050405020304" pitchFamily="18" charset="0"/>
                  </a:rPr>
                  <a:t>so the MDES decreases (design sensitivity increases)</a:t>
                </a:r>
              </a:p>
              <a:p>
                <a:pPr marL="0" indent="0">
                  <a:buNone/>
                </a:pPr>
                <a:endParaRPr lang="en-US"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6175220A-C9BB-4F4C-B4BD-2C0B1102EFF3}"/>
                  </a:ext>
                </a:extLst>
              </p:cNvPr>
              <p:cNvSpPr>
                <a:spLocks noGrp="1" noRot="1" noChangeAspect="1" noMove="1" noResize="1" noEditPoints="1" noAdjustHandles="1" noChangeArrowheads="1" noChangeShapeType="1" noTextEdit="1"/>
              </p:cNvSpPr>
              <p:nvPr>
                <p:ph idx="1"/>
              </p:nvPr>
            </p:nvSpPr>
            <p:spPr>
              <a:blipFill>
                <a:blip r:embed="rId2"/>
                <a:stretch>
                  <a:fillRect l="-638" t="-1961" r="-1101"/>
                </a:stretch>
              </a:blipFill>
            </p:spPr>
            <p:txBody>
              <a:bodyPr/>
              <a:lstStyle/>
              <a:p>
                <a:r>
                  <a:rPr lang="en-US">
                    <a:noFill/>
                  </a:rPr>
                  <a:t> </a:t>
                </a:r>
              </a:p>
            </p:txBody>
          </p:sp>
        </mc:Fallback>
      </mc:AlternateContent>
    </p:spTree>
    <p:extLst>
      <p:ext uri="{BB962C8B-B14F-4D97-AF65-F5344CB8AC3E}">
        <p14:creationId xmlns:p14="http://schemas.microsoft.com/office/powerpoint/2010/main" val="29838620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119B81-2604-4041-8E14-C8BF0AC52C00}"/>
              </a:ext>
            </a:extLst>
          </p:cNvPr>
          <p:cNvSpPr>
            <a:spLocks noGrp="1"/>
          </p:cNvSpPr>
          <p:nvPr>
            <p:ph type="title"/>
          </p:nvPr>
        </p:nvSpPr>
        <p:spPr/>
        <p:txBody>
          <a:bodyPr/>
          <a:lstStyle/>
          <a:p>
            <a:r>
              <a:rPr lang="en-US" dirty="0"/>
              <a:t>Unbalanced Designs</a:t>
            </a:r>
          </a:p>
        </p:txBody>
      </p:sp>
      <p:sp>
        <p:nvSpPr>
          <p:cNvPr id="3" name="Content Placeholder 2">
            <a:extLst>
              <a:ext uri="{FF2B5EF4-FFF2-40B4-BE49-F238E27FC236}">
                <a16:creationId xmlns:a16="http://schemas.microsoft.com/office/drawing/2014/main" id="{9BB729D4-6A95-4F11-ADB0-93AD4051BF1B}"/>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highlight>
                  <a:srgbClr val="FFFF00"/>
                </a:highlight>
              </a:rPr>
              <a:t>Eric: This would be a good place for an insert of how increasing </a:t>
            </a:r>
            <a:r>
              <a:rPr lang="en-US" dirty="0" err="1">
                <a:highlight>
                  <a:srgbClr val="FFFF00"/>
                </a:highlight>
              </a:rPr>
              <a:t>n</a:t>
            </a:r>
            <a:r>
              <a:rPr lang="en-US" baseline="30000" dirty="0" err="1">
                <a:highlight>
                  <a:srgbClr val="FFFF00"/>
                </a:highlight>
              </a:rPr>
              <a:t>C</a:t>
            </a:r>
            <a:r>
              <a:rPr lang="en-US" baseline="30000" dirty="0">
                <a:highlight>
                  <a:srgbClr val="FFFF00"/>
                </a:highlight>
              </a:rPr>
              <a:t> </a:t>
            </a:r>
            <a:r>
              <a:rPr lang="en-US" dirty="0">
                <a:highlight>
                  <a:srgbClr val="FFFF00"/>
                </a:highlight>
              </a:rPr>
              <a:t>(fixing </a:t>
            </a:r>
            <a:r>
              <a:rPr lang="en-US" dirty="0" err="1">
                <a:highlight>
                  <a:srgbClr val="FFFF00"/>
                </a:highlight>
              </a:rPr>
              <a:t>n</a:t>
            </a:r>
            <a:r>
              <a:rPr lang="en-US" baseline="30000" dirty="0" err="1">
                <a:highlight>
                  <a:srgbClr val="FFFF00"/>
                </a:highlight>
              </a:rPr>
              <a:t>T</a:t>
            </a:r>
            <a:r>
              <a:rPr lang="en-US" dirty="0">
                <a:highlight>
                  <a:srgbClr val="FFFF00"/>
                </a:highlight>
              </a:rPr>
              <a:t>) deceases MDES</a:t>
            </a:r>
          </a:p>
          <a:p>
            <a:pPr marL="0" indent="0">
              <a:buNone/>
            </a:pPr>
            <a:endParaRPr lang="en-US" dirty="0"/>
          </a:p>
          <a:p>
            <a:pPr marL="0" indent="0">
              <a:buNone/>
            </a:pPr>
            <a:r>
              <a:rPr lang="en-US" dirty="0"/>
              <a:t>Note that the effect on MDES (design sensitivity) of increasing sample size of the control group are generally modest (except for the smallest treatment group sample sizes</a:t>
            </a:r>
          </a:p>
          <a:p>
            <a:pPr marL="0" indent="0">
              <a:buNone/>
            </a:pPr>
            <a:endParaRPr lang="en-US" dirty="0"/>
          </a:p>
          <a:p>
            <a:pPr marL="0" indent="0">
              <a:buNone/>
            </a:pPr>
            <a:r>
              <a:rPr lang="en-US" dirty="0"/>
              <a:t>Note that there is a point of diminishing returns, beyond which further increases have only negligible effects</a:t>
            </a:r>
          </a:p>
        </p:txBody>
      </p:sp>
    </p:spTree>
    <p:extLst>
      <p:ext uri="{BB962C8B-B14F-4D97-AF65-F5344CB8AC3E}">
        <p14:creationId xmlns:p14="http://schemas.microsoft.com/office/powerpoint/2010/main" val="19447864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FA9BD9-F2A0-432C-8B9E-7312F3BE34D1}"/>
              </a:ext>
            </a:extLst>
          </p:cNvPr>
          <p:cNvSpPr>
            <a:spLocks noGrp="1"/>
          </p:cNvSpPr>
          <p:nvPr>
            <p:ph type="title"/>
          </p:nvPr>
        </p:nvSpPr>
        <p:spPr>
          <a:xfrm>
            <a:off x="838200" y="388129"/>
            <a:ext cx="10515600" cy="1325563"/>
          </a:xfrm>
        </p:spPr>
        <p:txBody>
          <a:bodyPr/>
          <a:lstStyle/>
          <a:p>
            <a:r>
              <a:rPr lang="en-US" sz="3600" kern="1200" dirty="0">
                <a:solidFill>
                  <a:schemeClr val="tx1"/>
                </a:solidFill>
                <a:ea typeface="+mj-ea"/>
                <a:cs typeface="+mj-cs"/>
              </a:rPr>
              <a:t>A Tabular Representation of the Influence of Unb</a:t>
            </a:r>
            <a:r>
              <a:rPr lang="en-US" dirty="0"/>
              <a:t>alanced Designs on MDES</a:t>
            </a:r>
          </a:p>
        </p:txBody>
      </p:sp>
      <p:graphicFrame>
        <p:nvGraphicFramePr>
          <p:cNvPr id="5" name="Content Placeholder 4">
            <a:extLst>
              <a:ext uri="{FF2B5EF4-FFF2-40B4-BE49-F238E27FC236}">
                <a16:creationId xmlns:a16="http://schemas.microsoft.com/office/drawing/2014/main" id="{ADA495C0-B704-46E4-9342-1EB8ACBB58D2}"/>
              </a:ext>
            </a:extLst>
          </p:cNvPr>
          <p:cNvGraphicFramePr>
            <a:graphicFrameLocks noGrp="1"/>
          </p:cNvGraphicFramePr>
          <p:nvPr>
            <p:ph idx="1"/>
            <p:extLst>
              <p:ext uri="{D42A27DB-BD31-4B8C-83A1-F6EECF244321}">
                <p14:modId xmlns:p14="http://schemas.microsoft.com/office/powerpoint/2010/main" val="4219410242"/>
              </p:ext>
            </p:extLst>
          </p:nvPr>
        </p:nvGraphicFramePr>
        <p:xfrm>
          <a:off x="1115683" y="1601328"/>
          <a:ext cx="9005977" cy="4655695"/>
        </p:xfrm>
        <a:graphic>
          <a:graphicData uri="http://schemas.openxmlformats.org/drawingml/2006/table">
            <a:tbl>
              <a:tblPr>
                <a:tableStyleId>{5C22544A-7EE6-4342-B048-85BDC9FD1C3A}</a:tableStyleId>
              </a:tblPr>
              <a:tblGrid>
                <a:gridCol w="1093697">
                  <a:extLst>
                    <a:ext uri="{9D8B030D-6E8A-4147-A177-3AD203B41FA5}">
                      <a16:colId xmlns:a16="http://schemas.microsoft.com/office/drawing/2014/main" val="3092457570"/>
                    </a:ext>
                  </a:extLst>
                </a:gridCol>
                <a:gridCol w="729132">
                  <a:extLst>
                    <a:ext uri="{9D8B030D-6E8A-4147-A177-3AD203B41FA5}">
                      <a16:colId xmlns:a16="http://schemas.microsoft.com/office/drawing/2014/main" val="1293911104"/>
                    </a:ext>
                  </a:extLst>
                </a:gridCol>
                <a:gridCol w="729132">
                  <a:extLst>
                    <a:ext uri="{9D8B030D-6E8A-4147-A177-3AD203B41FA5}">
                      <a16:colId xmlns:a16="http://schemas.microsoft.com/office/drawing/2014/main" val="891326561"/>
                    </a:ext>
                  </a:extLst>
                </a:gridCol>
                <a:gridCol w="159499">
                  <a:extLst>
                    <a:ext uri="{9D8B030D-6E8A-4147-A177-3AD203B41FA5}">
                      <a16:colId xmlns:a16="http://schemas.microsoft.com/office/drawing/2014/main" val="2641660976"/>
                    </a:ext>
                  </a:extLst>
                </a:gridCol>
                <a:gridCol w="729132">
                  <a:extLst>
                    <a:ext uri="{9D8B030D-6E8A-4147-A177-3AD203B41FA5}">
                      <a16:colId xmlns:a16="http://schemas.microsoft.com/office/drawing/2014/main" val="3797349801"/>
                    </a:ext>
                  </a:extLst>
                </a:gridCol>
                <a:gridCol w="729132">
                  <a:extLst>
                    <a:ext uri="{9D8B030D-6E8A-4147-A177-3AD203B41FA5}">
                      <a16:colId xmlns:a16="http://schemas.microsoft.com/office/drawing/2014/main" val="1265604744"/>
                    </a:ext>
                  </a:extLst>
                </a:gridCol>
                <a:gridCol w="136713">
                  <a:extLst>
                    <a:ext uri="{9D8B030D-6E8A-4147-A177-3AD203B41FA5}">
                      <a16:colId xmlns:a16="http://schemas.microsoft.com/office/drawing/2014/main" val="584955222"/>
                    </a:ext>
                  </a:extLst>
                </a:gridCol>
                <a:gridCol w="729132">
                  <a:extLst>
                    <a:ext uri="{9D8B030D-6E8A-4147-A177-3AD203B41FA5}">
                      <a16:colId xmlns:a16="http://schemas.microsoft.com/office/drawing/2014/main" val="678584622"/>
                    </a:ext>
                  </a:extLst>
                </a:gridCol>
                <a:gridCol w="729132">
                  <a:extLst>
                    <a:ext uri="{9D8B030D-6E8A-4147-A177-3AD203B41FA5}">
                      <a16:colId xmlns:a16="http://schemas.microsoft.com/office/drawing/2014/main" val="1270167489"/>
                    </a:ext>
                  </a:extLst>
                </a:gridCol>
                <a:gridCol w="159499">
                  <a:extLst>
                    <a:ext uri="{9D8B030D-6E8A-4147-A177-3AD203B41FA5}">
                      <a16:colId xmlns:a16="http://schemas.microsoft.com/office/drawing/2014/main" val="4050266097"/>
                    </a:ext>
                  </a:extLst>
                </a:gridCol>
                <a:gridCol w="729132">
                  <a:extLst>
                    <a:ext uri="{9D8B030D-6E8A-4147-A177-3AD203B41FA5}">
                      <a16:colId xmlns:a16="http://schemas.microsoft.com/office/drawing/2014/main" val="3894593991"/>
                    </a:ext>
                  </a:extLst>
                </a:gridCol>
                <a:gridCol w="729132">
                  <a:extLst>
                    <a:ext uri="{9D8B030D-6E8A-4147-A177-3AD203B41FA5}">
                      <a16:colId xmlns:a16="http://schemas.microsoft.com/office/drawing/2014/main" val="2449494693"/>
                    </a:ext>
                  </a:extLst>
                </a:gridCol>
                <a:gridCol w="159499">
                  <a:extLst>
                    <a:ext uri="{9D8B030D-6E8A-4147-A177-3AD203B41FA5}">
                      <a16:colId xmlns:a16="http://schemas.microsoft.com/office/drawing/2014/main" val="874180962"/>
                    </a:ext>
                  </a:extLst>
                </a:gridCol>
                <a:gridCol w="729132">
                  <a:extLst>
                    <a:ext uri="{9D8B030D-6E8A-4147-A177-3AD203B41FA5}">
                      <a16:colId xmlns:a16="http://schemas.microsoft.com/office/drawing/2014/main" val="812231300"/>
                    </a:ext>
                  </a:extLst>
                </a:gridCol>
                <a:gridCol w="734882">
                  <a:extLst>
                    <a:ext uri="{9D8B030D-6E8A-4147-A177-3AD203B41FA5}">
                      <a16:colId xmlns:a16="http://schemas.microsoft.com/office/drawing/2014/main" val="918872117"/>
                    </a:ext>
                  </a:extLst>
                </a:gridCol>
              </a:tblGrid>
              <a:tr h="423245">
                <a:tc>
                  <a:txBody>
                    <a:bodyPr/>
                    <a:lstStyle/>
                    <a:p>
                      <a:pPr algn="l" fontAlgn="b"/>
                      <a:r>
                        <a:rPr lang="en-US" sz="2000" u="none" strike="noStrike" dirty="0">
                          <a:solidFill>
                            <a:schemeClr val="bg1"/>
                          </a:solidFill>
                          <a:effectLst/>
                          <a:latin typeface="Times New Roman" panose="02020603050405020304" pitchFamily="18" charset="0"/>
                          <a:cs typeface="Times New Roman" panose="02020603050405020304" pitchFamily="18" charset="0"/>
                        </a:rPr>
                        <a:t> </a:t>
                      </a:r>
                      <a:endParaRPr lang="en-US"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tc>
                <a:tc gridSpan="2">
                  <a:txBody>
                    <a:bodyPr/>
                    <a:lstStyle/>
                    <a:p>
                      <a:pPr algn="ctr" fontAlgn="b"/>
                      <a:r>
                        <a:rPr lang="el-GR" sz="2000" u="none" strike="noStrike" dirty="0">
                          <a:solidFill>
                            <a:schemeClr val="bg1"/>
                          </a:solidFill>
                          <a:effectLst/>
                          <a:latin typeface="Times New Roman" panose="02020603050405020304" pitchFamily="18" charset="0"/>
                          <a:cs typeface="Times New Roman" panose="02020603050405020304" pitchFamily="18" charset="0"/>
                        </a:rPr>
                        <a:t>π = 0.5</a:t>
                      </a:r>
                      <a:endParaRPr lang="el-GR"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hMerge="1">
                  <a:txBody>
                    <a:bodyPr/>
                    <a:lstStyle/>
                    <a:p>
                      <a:endParaRPr lang="en-US"/>
                    </a:p>
                  </a:txBody>
                  <a:tcPr/>
                </a:tc>
                <a:tc>
                  <a:txBody>
                    <a:bodyPr/>
                    <a:lstStyle/>
                    <a:p>
                      <a:pPr algn="l" fontAlgn="b"/>
                      <a:r>
                        <a:rPr lang="en-US" sz="2000" u="none" strike="noStrike">
                          <a:solidFill>
                            <a:schemeClr val="bg1"/>
                          </a:solidFill>
                          <a:effectLst/>
                          <a:latin typeface="Times New Roman" panose="02020603050405020304" pitchFamily="18" charset="0"/>
                          <a:cs typeface="Times New Roman" panose="02020603050405020304" pitchFamily="18" charset="0"/>
                        </a:rPr>
                        <a:t> </a:t>
                      </a:r>
                      <a:endParaRPr lang="en-US" sz="2000" b="1" i="0" u="none" strike="noStrike">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gridSpan="2">
                  <a:txBody>
                    <a:bodyPr/>
                    <a:lstStyle/>
                    <a:p>
                      <a:pPr algn="ctr" fontAlgn="b"/>
                      <a:r>
                        <a:rPr lang="el-GR" sz="2000" u="none" strike="noStrike" dirty="0">
                          <a:solidFill>
                            <a:schemeClr val="bg1"/>
                          </a:solidFill>
                          <a:effectLst/>
                          <a:latin typeface="Times New Roman" panose="02020603050405020304" pitchFamily="18" charset="0"/>
                          <a:cs typeface="Times New Roman" panose="02020603050405020304" pitchFamily="18" charset="0"/>
                        </a:rPr>
                        <a:t>π = 0.4</a:t>
                      </a:r>
                      <a:endParaRPr lang="el-GR"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hMerge="1">
                  <a:txBody>
                    <a:bodyPr/>
                    <a:lstStyle/>
                    <a:p>
                      <a:endParaRPr lang="en-US"/>
                    </a:p>
                  </a:txBody>
                  <a:tcPr/>
                </a:tc>
                <a:tc>
                  <a:txBody>
                    <a:bodyPr/>
                    <a:lstStyle/>
                    <a:p>
                      <a:pPr algn="l" fontAlgn="b"/>
                      <a:r>
                        <a:rPr lang="en-US" sz="2000" u="none" strike="noStrike">
                          <a:solidFill>
                            <a:schemeClr val="bg1"/>
                          </a:solidFill>
                          <a:effectLst/>
                          <a:latin typeface="Times New Roman" panose="02020603050405020304" pitchFamily="18" charset="0"/>
                          <a:cs typeface="Times New Roman" panose="02020603050405020304" pitchFamily="18" charset="0"/>
                        </a:rPr>
                        <a:t> </a:t>
                      </a:r>
                      <a:endParaRPr lang="en-US" sz="2000" b="1" i="0" u="none" strike="noStrike">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gridSpan="2">
                  <a:txBody>
                    <a:bodyPr/>
                    <a:lstStyle/>
                    <a:p>
                      <a:pPr algn="ctr" fontAlgn="b"/>
                      <a:r>
                        <a:rPr lang="el-GR" sz="2000" u="none" strike="noStrike" dirty="0">
                          <a:solidFill>
                            <a:schemeClr val="bg1"/>
                          </a:solidFill>
                          <a:effectLst/>
                          <a:latin typeface="Times New Roman" panose="02020603050405020304" pitchFamily="18" charset="0"/>
                          <a:cs typeface="Times New Roman" panose="02020603050405020304" pitchFamily="18" charset="0"/>
                        </a:rPr>
                        <a:t>π = 0.3</a:t>
                      </a:r>
                      <a:endParaRPr lang="el-GR"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hMerge="1">
                  <a:txBody>
                    <a:bodyPr/>
                    <a:lstStyle/>
                    <a:p>
                      <a:endParaRPr lang="en-US"/>
                    </a:p>
                  </a:txBody>
                  <a:tcPr/>
                </a:tc>
                <a:tc>
                  <a:txBody>
                    <a:bodyPr/>
                    <a:lstStyle/>
                    <a:p>
                      <a:pPr algn="l" fontAlgn="b"/>
                      <a:r>
                        <a:rPr lang="en-US" sz="2000" u="none" strike="noStrike" dirty="0">
                          <a:solidFill>
                            <a:schemeClr val="bg1"/>
                          </a:solidFill>
                          <a:effectLst/>
                          <a:latin typeface="Times New Roman" panose="02020603050405020304" pitchFamily="18" charset="0"/>
                          <a:cs typeface="Times New Roman" panose="02020603050405020304" pitchFamily="18" charset="0"/>
                        </a:rPr>
                        <a:t> </a:t>
                      </a:r>
                      <a:endParaRPr lang="en-US"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gridSpan="2">
                  <a:txBody>
                    <a:bodyPr/>
                    <a:lstStyle/>
                    <a:p>
                      <a:pPr algn="ctr" fontAlgn="b"/>
                      <a:r>
                        <a:rPr lang="el-GR" sz="2000" u="none" strike="noStrike" dirty="0">
                          <a:solidFill>
                            <a:schemeClr val="bg1"/>
                          </a:solidFill>
                          <a:effectLst/>
                          <a:latin typeface="Times New Roman" panose="02020603050405020304" pitchFamily="18" charset="0"/>
                          <a:cs typeface="Times New Roman" panose="02020603050405020304" pitchFamily="18" charset="0"/>
                        </a:rPr>
                        <a:t>π = 0.2</a:t>
                      </a:r>
                      <a:endParaRPr lang="el-GR"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hMerge="1">
                  <a:txBody>
                    <a:bodyPr/>
                    <a:lstStyle/>
                    <a:p>
                      <a:endParaRPr lang="en-US"/>
                    </a:p>
                  </a:txBody>
                  <a:tcPr/>
                </a:tc>
                <a:tc>
                  <a:txBody>
                    <a:bodyPr/>
                    <a:lstStyle/>
                    <a:p>
                      <a:pPr algn="l" fontAlgn="b"/>
                      <a:r>
                        <a:rPr lang="en-US" sz="2000" u="none" strike="noStrike" dirty="0">
                          <a:solidFill>
                            <a:schemeClr val="bg1"/>
                          </a:solidFill>
                          <a:effectLst/>
                          <a:latin typeface="Times New Roman" panose="02020603050405020304" pitchFamily="18" charset="0"/>
                          <a:cs typeface="Times New Roman" panose="02020603050405020304" pitchFamily="18" charset="0"/>
                        </a:rPr>
                        <a:t> </a:t>
                      </a:r>
                      <a:endParaRPr lang="en-US"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gridSpan="2">
                  <a:txBody>
                    <a:bodyPr/>
                    <a:lstStyle/>
                    <a:p>
                      <a:pPr algn="ctr" fontAlgn="b"/>
                      <a:r>
                        <a:rPr lang="el-GR" sz="2000" u="none" strike="noStrike" dirty="0">
                          <a:solidFill>
                            <a:schemeClr val="bg1"/>
                          </a:solidFill>
                          <a:effectLst/>
                          <a:latin typeface="Times New Roman" panose="02020603050405020304" pitchFamily="18" charset="0"/>
                          <a:cs typeface="Times New Roman" panose="02020603050405020304" pitchFamily="18" charset="0"/>
                        </a:rPr>
                        <a:t>π = 0.1</a:t>
                      </a:r>
                      <a:endParaRPr lang="el-GR" sz="20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rgbClr val="00B0F0"/>
                    </a:solidFill>
                  </a:tcPr>
                </a:tc>
                <a:tc hMerge="1">
                  <a:txBody>
                    <a:bodyPr/>
                    <a:lstStyle/>
                    <a:p>
                      <a:endParaRPr lang="en-US"/>
                    </a:p>
                  </a:txBody>
                  <a:tcPr/>
                </a:tc>
                <a:extLst>
                  <a:ext uri="{0D108BD9-81ED-4DB2-BD59-A6C34878D82A}">
                    <a16:rowId xmlns:a16="http://schemas.microsoft.com/office/drawing/2014/main" val="2301788276"/>
                  </a:ext>
                </a:extLst>
              </a:tr>
              <a:tr h="423245">
                <a:tc>
                  <a:txBody>
                    <a:bodyPr/>
                    <a:lstStyle/>
                    <a:p>
                      <a:pPr algn="ctr" fontAlgn="b"/>
                      <a:r>
                        <a:rPr lang="en-US" sz="2000" i="1" u="none" strike="noStrike" dirty="0" err="1">
                          <a:solidFill>
                            <a:schemeClr val="bg1"/>
                          </a:solidFill>
                          <a:effectLst/>
                          <a:latin typeface="Times New Roman" panose="02020603050405020304" pitchFamily="18" charset="0"/>
                          <a:cs typeface="Times New Roman" panose="02020603050405020304" pitchFamily="18" charset="0"/>
                        </a:rPr>
                        <a:t>n</a:t>
                      </a:r>
                      <a:r>
                        <a:rPr lang="en-US" sz="2000" i="1" u="none" strike="noStrike" baseline="30000" dirty="0" err="1">
                          <a:solidFill>
                            <a:schemeClr val="bg1"/>
                          </a:solidFill>
                          <a:effectLst/>
                          <a:latin typeface="Times New Roman" panose="02020603050405020304" pitchFamily="18" charset="0"/>
                          <a:cs typeface="Times New Roman" panose="02020603050405020304" pitchFamily="18" charset="0"/>
                        </a:rPr>
                        <a:t>T</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MDES</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 </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MDES</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 </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MDES</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 </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MDES</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 </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N</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tc>
                  <a:txBody>
                    <a:bodyPr/>
                    <a:lstStyle/>
                    <a:p>
                      <a:pPr algn="ctr" fontAlgn="b"/>
                      <a:r>
                        <a:rPr lang="en-US" sz="2000" i="1" u="none" strike="noStrike" dirty="0">
                          <a:solidFill>
                            <a:schemeClr val="bg1"/>
                          </a:solidFill>
                          <a:effectLst/>
                          <a:latin typeface="Times New Roman" panose="02020603050405020304" pitchFamily="18" charset="0"/>
                          <a:cs typeface="Times New Roman" panose="02020603050405020304" pitchFamily="18" charset="0"/>
                        </a:rPr>
                        <a:t>MDES</a:t>
                      </a:r>
                      <a:endParaRPr lang="en-US" sz="2000" b="1" i="1" u="none" strike="noStrike" dirty="0">
                        <a:solidFill>
                          <a:schemeClr val="bg1"/>
                        </a:solidFill>
                        <a:effectLst/>
                        <a:latin typeface="Times New Roman" panose="02020603050405020304" pitchFamily="18" charset="0"/>
                        <a:cs typeface="Times New Roman" panose="02020603050405020304" pitchFamily="18" charset="0"/>
                      </a:endParaRPr>
                    </a:p>
                  </a:txBody>
                  <a:tcPr marL="2824" marR="2824" marT="2824" marB="0" anchor="b">
                    <a:solidFill>
                      <a:schemeClr val="accent1">
                        <a:lumMod val="40000"/>
                        <a:lumOff val="60000"/>
                      </a:schemeClr>
                    </a:solidFill>
                  </a:tcPr>
                </a:tc>
                <a:extLst>
                  <a:ext uri="{0D108BD9-81ED-4DB2-BD59-A6C34878D82A}">
                    <a16:rowId xmlns:a16="http://schemas.microsoft.com/office/drawing/2014/main" val="4078487122"/>
                  </a:ext>
                </a:extLst>
              </a:tr>
              <a:tr h="423245">
                <a:tc>
                  <a:txBody>
                    <a:bodyPr/>
                    <a:lstStyle/>
                    <a:p>
                      <a:pPr algn="r" fontAlgn="b"/>
                      <a:r>
                        <a:rPr lang="en-US" sz="2000" u="none" strike="noStrike">
                          <a:effectLst/>
                          <a:latin typeface="Times New Roman" panose="02020603050405020304" pitchFamily="18" charset="0"/>
                          <a:cs typeface="Times New Roman" panose="02020603050405020304" pitchFamily="18" charset="0"/>
                        </a:rPr>
                        <a:t>100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200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0.40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250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0.36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333</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0.34</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500</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0.31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1000</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0.30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2452046759"/>
                  </a:ext>
                </a:extLst>
              </a:tr>
              <a:tr h="423245">
                <a:tc>
                  <a:txBody>
                    <a:bodyPr/>
                    <a:lstStyle/>
                    <a:p>
                      <a:pPr algn="r" fontAlgn="b"/>
                      <a:r>
                        <a:rPr lang="en-US" sz="2000" u="none" strike="noStrike">
                          <a:effectLst/>
                          <a:latin typeface="Times New Roman" panose="02020603050405020304" pitchFamily="18" charset="0"/>
                          <a:cs typeface="Times New Roman" panose="02020603050405020304" pitchFamily="18" charset="0"/>
                        </a:rPr>
                        <a:t>150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300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0.32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375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0.30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750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0.24</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1122954244"/>
                  </a:ext>
                </a:extLst>
              </a:tr>
              <a:tr h="423245">
                <a:tc>
                  <a:txBody>
                    <a:bodyPr/>
                    <a:lstStyle/>
                    <a:p>
                      <a:pPr algn="r" fontAlgn="b"/>
                      <a:r>
                        <a:rPr lang="en-US" sz="2000" u="none" strike="noStrike">
                          <a:effectLst/>
                          <a:latin typeface="Times New Roman" panose="02020603050405020304" pitchFamily="18" charset="0"/>
                          <a:cs typeface="Times New Roman" panose="02020603050405020304" pitchFamily="18" charset="0"/>
                        </a:rPr>
                        <a:t>200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400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667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2000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0.21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234768111"/>
                  </a:ext>
                </a:extLst>
              </a:tr>
              <a:tr h="423245">
                <a:tc>
                  <a:txBody>
                    <a:bodyPr/>
                    <a:lstStyle/>
                    <a:p>
                      <a:pPr algn="r" fontAlgn="b"/>
                      <a:r>
                        <a:rPr lang="en-US" sz="2000" u="none" strike="noStrike">
                          <a:effectLst/>
                          <a:latin typeface="Times New Roman" panose="02020603050405020304" pitchFamily="18" charset="0"/>
                          <a:cs typeface="Times New Roman" panose="02020603050405020304" pitchFamily="18" charset="0"/>
                        </a:rPr>
                        <a:t>250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625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833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1250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2500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0.19</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2075824449"/>
                  </a:ext>
                </a:extLst>
              </a:tr>
              <a:tr h="423245">
                <a:tc>
                  <a:txBody>
                    <a:bodyPr/>
                    <a:lstStyle/>
                    <a:p>
                      <a:pPr algn="r" fontAlgn="b"/>
                      <a:r>
                        <a:rPr lang="en-US" sz="2000" u="none" strike="noStrike">
                          <a:effectLst/>
                          <a:latin typeface="Times New Roman" panose="02020603050405020304" pitchFamily="18" charset="0"/>
                          <a:cs typeface="Times New Roman" panose="02020603050405020304" pitchFamily="18" charset="0"/>
                        </a:rPr>
                        <a:t>300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600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750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3000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0.17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2055801173"/>
                  </a:ext>
                </a:extLst>
              </a:tr>
              <a:tr h="423245">
                <a:tc>
                  <a:txBody>
                    <a:bodyPr/>
                    <a:lstStyle/>
                    <a:p>
                      <a:pPr algn="r" fontAlgn="b"/>
                      <a:r>
                        <a:rPr lang="en-US" sz="2000" u="none" strike="noStrike">
                          <a:effectLst/>
                          <a:latin typeface="Times New Roman" panose="02020603050405020304" pitchFamily="18" charset="0"/>
                          <a:cs typeface="Times New Roman" panose="02020603050405020304" pitchFamily="18" charset="0"/>
                        </a:rPr>
                        <a:t>350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700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875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1167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1750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3500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0.16</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2941565715"/>
                  </a:ext>
                </a:extLst>
              </a:tr>
              <a:tr h="423245">
                <a:tc>
                  <a:txBody>
                    <a:bodyPr/>
                    <a:lstStyle/>
                    <a:p>
                      <a:pPr algn="r" fontAlgn="b"/>
                      <a:r>
                        <a:rPr lang="en-US" sz="2000" u="none" strike="noStrike">
                          <a:effectLst/>
                          <a:latin typeface="Times New Roman" panose="02020603050405020304" pitchFamily="18" charset="0"/>
                          <a:cs typeface="Times New Roman" panose="02020603050405020304" pitchFamily="18" charset="0"/>
                        </a:rPr>
                        <a:t>400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800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0.20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1333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2000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4000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0.15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507249680"/>
                  </a:ext>
                </a:extLst>
              </a:tr>
              <a:tr h="423245">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500</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1250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1667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2500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5000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0.13</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2448521176"/>
                  </a:ext>
                </a:extLst>
              </a:tr>
              <a:tr h="423245">
                <a:tc>
                  <a:txBody>
                    <a:bodyPr/>
                    <a:lstStyle/>
                    <a:p>
                      <a:pPr algn="r" fontAlgn="b"/>
                      <a:r>
                        <a:rPr lang="en-US" sz="2000" u="none" strike="noStrike">
                          <a:effectLst/>
                          <a:latin typeface="Times New Roman" panose="02020603050405020304" pitchFamily="18" charset="0"/>
                          <a:cs typeface="Times New Roman" panose="02020603050405020304" pitchFamily="18" charset="0"/>
                        </a:rPr>
                        <a:t>600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1200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1500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2000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3000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0.13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l" fontAlgn="b"/>
                      <a:r>
                        <a:rPr lang="en-US" sz="2000" u="none" strike="noStrike">
                          <a:effectLst/>
                          <a:latin typeface="Times New Roman" panose="02020603050405020304" pitchFamily="18" charset="0"/>
                          <a:cs typeface="Times New Roman" panose="02020603050405020304" pitchFamily="18" charset="0"/>
                        </a:rPr>
                        <a:t> </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a:effectLst/>
                          <a:latin typeface="Times New Roman" panose="02020603050405020304" pitchFamily="18" charset="0"/>
                          <a:cs typeface="Times New Roman" panose="02020603050405020304" pitchFamily="18" charset="0"/>
                        </a:rPr>
                        <a:t>6000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tc>
                  <a:txBody>
                    <a:bodyPr/>
                    <a:lstStyle/>
                    <a:p>
                      <a:pPr algn="r" fontAlgn="b"/>
                      <a:r>
                        <a:rPr lang="en-US" sz="2000" u="none" strike="noStrike" dirty="0">
                          <a:effectLst/>
                          <a:latin typeface="Times New Roman" panose="02020603050405020304" pitchFamily="18" charset="0"/>
                          <a:cs typeface="Times New Roman" panose="02020603050405020304" pitchFamily="18" charset="0"/>
                        </a:rPr>
                        <a:t>0.12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2824" marR="2824" marT="2824" marB="0" anchor="b"/>
                </a:tc>
                <a:extLst>
                  <a:ext uri="{0D108BD9-81ED-4DB2-BD59-A6C34878D82A}">
                    <a16:rowId xmlns:a16="http://schemas.microsoft.com/office/drawing/2014/main" val="4046976110"/>
                  </a:ext>
                </a:extLst>
              </a:tr>
            </a:tbl>
          </a:graphicData>
        </a:graphic>
      </p:graphicFrame>
    </p:spTree>
    <p:extLst>
      <p:ext uri="{BB962C8B-B14F-4D97-AF65-F5344CB8AC3E}">
        <p14:creationId xmlns:p14="http://schemas.microsoft.com/office/powerpoint/2010/main" val="3579336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FE721-E10E-4376-8C91-3600137F288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9335F2E-B602-4BD1-AA8B-2F45C3C02382}"/>
              </a:ext>
            </a:extLst>
          </p:cNvPr>
          <p:cNvSpPr>
            <a:spLocks noGrp="1"/>
          </p:cNvSpPr>
          <p:nvPr>
            <p:ph idx="1"/>
          </p:nvPr>
        </p:nvSpPr>
        <p:spPr/>
        <p:txBody>
          <a:bodyPr/>
          <a:lstStyle/>
          <a:p>
            <a:pPr marL="0" indent="0">
              <a:buNone/>
            </a:pPr>
            <a:r>
              <a:rPr lang="en-US" dirty="0">
                <a:highlight>
                  <a:srgbClr val="FFFF00"/>
                </a:highlight>
              </a:rPr>
              <a:t>Eric: This could be a good place for a demo of both unbalance and covariates on MDES</a:t>
            </a:r>
          </a:p>
          <a:p>
            <a:pPr marL="0" indent="0">
              <a:buNone/>
            </a:pPr>
            <a:endParaRPr lang="en-US" dirty="0"/>
          </a:p>
        </p:txBody>
      </p:sp>
    </p:spTree>
    <p:extLst>
      <p:ext uri="{BB962C8B-B14F-4D97-AF65-F5344CB8AC3E}">
        <p14:creationId xmlns:p14="http://schemas.microsoft.com/office/powerpoint/2010/main" val="2422387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2547</TotalTime>
  <Words>2328</Words>
  <Application>Microsoft Office PowerPoint</Application>
  <PresentationFormat>Widescreen</PresentationFormat>
  <Paragraphs>481</Paragraphs>
  <Slides>27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4" baseType="lpstr">
      <vt:lpstr>Arial</vt:lpstr>
      <vt:lpstr>Calibri</vt:lpstr>
      <vt:lpstr>Calibri Light</vt:lpstr>
      <vt:lpstr>Cambria Math</vt:lpstr>
      <vt:lpstr>Times New Roman</vt:lpstr>
      <vt:lpstr>Office Theme</vt:lpstr>
      <vt:lpstr>Equation</vt:lpstr>
      <vt:lpstr>Randomized Block Designs</vt:lpstr>
      <vt:lpstr>What is a Randomized Block Design?</vt:lpstr>
      <vt:lpstr>What is a Randomized Block Design?</vt:lpstr>
      <vt:lpstr>How is this Design Different from  the Individually Randomized Design?</vt:lpstr>
      <vt:lpstr>Examples Slides</vt:lpstr>
      <vt:lpstr>PowerPoint Presentation</vt:lpstr>
      <vt:lpstr>A Statistical Model </vt:lpstr>
      <vt:lpstr>A Statistical Model </vt:lpstr>
      <vt:lpstr>Effect Size</vt:lpstr>
      <vt:lpstr>Testing the Significance of the Treatment Effect</vt:lpstr>
      <vt:lpstr>Testing the Significance of the Treatment Effect</vt:lpstr>
      <vt:lpstr>Design Sensitivity</vt:lpstr>
      <vt:lpstr>Inference Status of Blocks</vt:lpstr>
      <vt:lpstr>MDES in Randomized Block Designs</vt:lpstr>
      <vt:lpstr>Design Sensitivity as a Function of m and n for Fixed N</vt:lpstr>
      <vt:lpstr>PowerPoint Presentation</vt:lpstr>
      <vt:lpstr>PowerPoint Presentation</vt:lpstr>
      <vt:lpstr>A Graphical Representation of MDES as a Function of N</vt:lpstr>
      <vt:lpstr>The Fundamental Problem of Research Design</vt:lpstr>
      <vt:lpstr>How Do You Plan a Research Design?</vt:lpstr>
      <vt:lpstr>How Do You Plan a Research Design?</vt:lpstr>
      <vt:lpstr>The Effect of Covariates on MDES</vt:lpstr>
      <vt:lpstr>A Tabular Representation of the Influence of R on MDES</vt:lpstr>
      <vt:lpstr>Unbalanced Designs</vt:lpstr>
      <vt:lpstr>Unbalanced Designs</vt:lpstr>
      <vt:lpstr>A Tabular Representation of the Influence of Unbalanced Designs on MDES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Randomized Block Designs</dc:title>
  <dc:creator>Larry Vernon Hedges</dc:creator>
  <cp:lastModifiedBy>Larry Vernon Hedges</cp:lastModifiedBy>
  <cp:revision>23</cp:revision>
  <dcterms:created xsi:type="dcterms:W3CDTF">2021-06-29T21:51:38Z</dcterms:created>
  <dcterms:modified xsi:type="dcterms:W3CDTF">2021-07-04T17:25:13Z</dcterms:modified>
</cp:coreProperties>
</file>