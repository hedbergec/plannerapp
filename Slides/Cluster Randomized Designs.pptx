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92" r:id="rId5"/>
    <p:sldId id="259" r:id="rId6"/>
    <p:sldId id="266" r:id="rId7"/>
    <p:sldId id="269" r:id="rId8"/>
    <p:sldId id="260" r:id="rId9"/>
    <p:sldId id="270" r:id="rId10"/>
    <p:sldId id="271" r:id="rId11"/>
    <p:sldId id="272" r:id="rId12"/>
    <p:sldId id="274" r:id="rId13"/>
    <p:sldId id="276" r:id="rId14"/>
    <p:sldId id="277" r:id="rId15"/>
    <p:sldId id="293" r:id="rId16"/>
    <p:sldId id="273" r:id="rId17"/>
    <p:sldId id="281" r:id="rId18"/>
    <p:sldId id="275" r:id="rId19"/>
    <p:sldId id="294" r:id="rId20"/>
    <p:sldId id="280" r:id="rId21"/>
    <p:sldId id="295" r:id="rId22"/>
    <p:sldId id="296" r:id="rId23"/>
    <p:sldId id="297" r:id="rId24"/>
    <p:sldId id="284" r:id="rId25"/>
    <p:sldId id="285" r:id="rId26"/>
    <p:sldId id="287" r:id="rId27"/>
    <p:sldId id="288" r:id="rId28"/>
    <p:sldId id="290" r:id="rId29"/>
    <p:sldId id="291"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478" autoAdjust="0"/>
    <p:restoredTop sz="94660"/>
  </p:normalViewPr>
  <p:slideViewPr>
    <p:cSldViewPr snapToGrid="0">
      <p:cViewPr varScale="1">
        <p:scale>
          <a:sx n="96" d="100"/>
          <a:sy n="96" d="100"/>
        </p:scale>
        <p:origin x="68" y="11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B6798-B6CD-43EF-9AC2-E2286EA2D78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B75AA6A-0DCD-43BA-8F79-E2D01F6BAC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90626E3-FEF5-4663-81F1-7BD74C58B335}"/>
              </a:ext>
            </a:extLst>
          </p:cNvPr>
          <p:cNvSpPr>
            <a:spLocks noGrp="1"/>
          </p:cNvSpPr>
          <p:nvPr>
            <p:ph type="dt" sz="half" idx="10"/>
          </p:nvPr>
        </p:nvSpPr>
        <p:spPr/>
        <p:txBody>
          <a:bodyPr/>
          <a:lstStyle/>
          <a:p>
            <a:fld id="{BA5D4C98-87DF-4B78-B745-41B0EBE49EC4}" type="datetimeFigureOut">
              <a:rPr lang="en-US" smtClean="0"/>
              <a:t>7/3/2021</a:t>
            </a:fld>
            <a:endParaRPr lang="en-US"/>
          </a:p>
        </p:txBody>
      </p:sp>
      <p:sp>
        <p:nvSpPr>
          <p:cNvPr id="5" name="Footer Placeholder 4">
            <a:extLst>
              <a:ext uri="{FF2B5EF4-FFF2-40B4-BE49-F238E27FC236}">
                <a16:creationId xmlns:a16="http://schemas.microsoft.com/office/drawing/2014/main" id="{342A189E-3E49-4FC9-8BF4-C263C6825E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9B1849-6E41-4A7A-AA02-8EC21A3F5391}"/>
              </a:ext>
            </a:extLst>
          </p:cNvPr>
          <p:cNvSpPr>
            <a:spLocks noGrp="1"/>
          </p:cNvSpPr>
          <p:nvPr>
            <p:ph type="sldNum" sz="quarter" idx="12"/>
          </p:nvPr>
        </p:nvSpPr>
        <p:spPr/>
        <p:txBody>
          <a:bodyPr/>
          <a:lstStyle/>
          <a:p>
            <a:fld id="{2FEF3288-2E03-4D5D-AF89-95AEB82A9BC6}" type="slidenum">
              <a:rPr lang="en-US" smtClean="0"/>
              <a:t>‹#›</a:t>
            </a:fld>
            <a:endParaRPr lang="en-US"/>
          </a:p>
        </p:txBody>
      </p:sp>
    </p:spTree>
    <p:extLst>
      <p:ext uri="{BB962C8B-B14F-4D97-AF65-F5344CB8AC3E}">
        <p14:creationId xmlns:p14="http://schemas.microsoft.com/office/powerpoint/2010/main" val="31496728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75CB8-0442-475E-BD1C-51E2A408FBE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18CC09D-3138-4DB3-96DE-6C257E2E08A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8D6E0B-2C5F-453E-8E5E-2A4783821563}"/>
              </a:ext>
            </a:extLst>
          </p:cNvPr>
          <p:cNvSpPr>
            <a:spLocks noGrp="1"/>
          </p:cNvSpPr>
          <p:nvPr>
            <p:ph type="dt" sz="half" idx="10"/>
          </p:nvPr>
        </p:nvSpPr>
        <p:spPr/>
        <p:txBody>
          <a:bodyPr/>
          <a:lstStyle/>
          <a:p>
            <a:fld id="{BA5D4C98-87DF-4B78-B745-41B0EBE49EC4}" type="datetimeFigureOut">
              <a:rPr lang="en-US" smtClean="0"/>
              <a:t>7/3/2021</a:t>
            </a:fld>
            <a:endParaRPr lang="en-US"/>
          </a:p>
        </p:txBody>
      </p:sp>
      <p:sp>
        <p:nvSpPr>
          <p:cNvPr id="5" name="Footer Placeholder 4">
            <a:extLst>
              <a:ext uri="{FF2B5EF4-FFF2-40B4-BE49-F238E27FC236}">
                <a16:creationId xmlns:a16="http://schemas.microsoft.com/office/drawing/2014/main" id="{292A0B3E-45CD-4094-AD76-1D735F51C1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A1E15F-CF5C-47D9-999E-615517703446}"/>
              </a:ext>
            </a:extLst>
          </p:cNvPr>
          <p:cNvSpPr>
            <a:spLocks noGrp="1"/>
          </p:cNvSpPr>
          <p:nvPr>
            <p:ph type="sldNum" sz="quarter" idx="12"/>
          </p:nvPr>
        </p:nvSpPr>
        <p:spPr/>
        <p:txBody>
          <a:bodyPr/>
          <a:lstStyle/>
          <a:p>
            <a:fld id="{2FEF3288-2E03-4D5D-AF89-95AEB82A9BC6}" type="slidenum">
              <a:rPr lang="en-US" smtClean="0"/>
              <a:t>‹#›</a:t>
            </a:fld>
            <a:endParaRPr lang="en-US"/>
          </a:p>
        </p:txBody>
      </p:sp>
    </p:spTree>
    <p:extLst>
      <p:ext uri="{BB962C8B-B14F-4D97-AF65-F5344CB8AC3E}">
        <p14:creationId xmlns:p14="http://schemas.microsoft.com/office/powerpoint/2010/main" val="4136676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D1B99-9DA0-4F2A-AA50-D7E62280C7B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87C53E4-483D-4749-9D45-FCE64D4BFBF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5C9BBED-9F98-4BDE-9E84-22130637F7B1}"/>
              </a:ext>
            </a:extLst>
          </p:cNvPr>
          <p:cNvSpPr>
            <a:spLocks noGrp="1"/>
          </p:cNvSpPr>
          <p:nvPr>
            <p:ph type="dt" sz="half" idx="10"/>
          </p:nvPr>
        </p:nvSpPr>
        <p:spPr/>
        <p:txBody>
          <a:bodyPr/>
          <a:lstStyle/>
          <a:p>
            <a:fld id="{BA5D4C98-87DF-4B78-B745-41B0EBE49EC4}" type="datetimeFigureOut">
              <a:rPr lang="en-US" smtClean="0"/>
              <a:t>7/3/2021</a:t>
            </a:fld>
            <a:endParaRPr lang="en-US"/>
          </a:p>
        </p:txBody>
      </p:sp>
      <p:sp>
        <p:nvSpPr>
          <p:cNvPr id="5" name="Footer Placeholder 4">
            <a:extLst>
              <a:ext uri="{FF2B5EF4-FFF2-40B4-BE49-F238E27FC236}">
                <a16:creationId xmlns:a16="http://schemas.microsoft.com/office/drawing/2014/main" id="{CA64D456-0F38-4659-A060-8737764C53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C8E21F-10E6-47C2-9F61-EF1A4968072F}"/>
              </a:ext>
            </a:extLst>
          </p:cNvPr>
          <p:cNvSpPr>
            <a:spLocks noGrp="1"/>
          </p:cNvSpPr>
          <p:nvPr>
            <p:ph type="sldNum" sz="quarter" idx="12"/>
          </p:nvPr>
        </p:nvSpPr>
        <p:spPr/>
        <p:txBody>
          <a:bodyPr/>
          <a:lstStyle/>
          <a:p>
            <a:fld id="{2FEF3288-2E03-4D5D-AF89-95AEB82A9BC6}" type="slidenum">
              <a:rPr lang="en-US" smtClean="0"/>
              <a:t>‹#›</a:t>
            </a:fld>
            <a:endParaRPr lang="en-US"/>
          </a:p>
        </p:txBody>
      </p:sp>
    </p:spTree>
    <p:extLst>
      <p:ext uri="{BB962C8B-B14F-4D97-AF65-F5344CB8AC3E}">
        <p14:creationId xmlns:p14="http://schemas.microsoft.com/office/powerpoint/2010/main" val="29021711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BE6D7-9ADA-4B7D-9F65-FE5DED678E2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12E4F1B-757C-49E1-A975-562AB32E411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EF78BF1-15D2-44DE-B474-AF4BA502D3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AE9BD57-233F-48D6-ADB4-954F2E736170}"/>
              </a:ext>
            </a:extLst>
          </p:cNvPr>
          <p:cNvSpPr>
            <a:spLocks noGrp="1"/>
          </p:cNvSpPr>
          <p:nvPr>
            <p:ph type="dt" sz="half" idx="10"/>
          </p:nvPr>
        </p:nvSpPr>
        <p:spPr/>
        <p:txBody>
          <a:bodyPr/>
          <a:lstStyle/>
          <a:p>
            <a:fld id="{BA5D4C98-87DF-4B78-B745-41B0EBE49EC4}" type="datetimeFigureOut">
              <a:rPr lang="en-US" smtClean="0"/>
              <a:t>7/3/2021</a:t>
            </a:fld>
            <a:endParaRPr lang="en-US"/>
          </a:p>
        </p:txBody>
      </p:sp>
      <p:sp>
        <p:nvSpPr>
          <p:cNvPr id="6" name="Footer Placeholder 5">
            <a:extLst>
              <a:ext uri="{FF2B5EF4-FFF2-40B4-BE49-F238E27FC236}">
                <a16:creationId xmlns:a16="http://schemas.microsoft.com/office/drawing/2014/main" id="{6079FDCE-4F6E-46DC-9B0F-7FB3CF915E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2FEEC7-CA27-4334-8FF7-39BEC82A06F1}"/>
              </a:ext>
            </a:extLst>
          </p:cNvPr>
          <p:cNvSpPr>
            <a:spLocks noGrp="1"/>
          </p:cNvSpPr>
          <p:nvPr>
            <p:ph type="sldNum" sz="quarter" idx="12"/>
          </p:nvPr>
        </p:nvSpPr>
        <p:spPr/>
        <p:txBody>
          <a:bodyPr/>
          <a:lstStyle/>
          <a:p>
            <a:fld id="{2FEF3288-2E03-4D5D-AF89-95AEB82A9BC6}" type="slidenum">
              <a:rPr lang="en-US" smtClean="0"/>
              <a:t>‹#›</a:t>
            </a:fld>
            <a:endParaRPr lang="en-US"/>
          </a:p>
        </p:txBody>
      </p:sp>
    </p:spTree>
    <p:extLst>
      <p:ext uri="{BB962C8B-B14F-4D97-AF65-F5344CB8AC3E}">
        <p14:creationId xmlns:p14="http://schemas.microsoft.com/office/powerpoint/2010/main" val="12523057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7CC3D-1A8E-4641-8E62-F2439473654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3BFCD6C-2399-4EB1-8A83-894AD3A695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656FAFA-B9C9-4DAB-8FFD-E9E4D6404C8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B745E9F-CEA0-434F-AA4E-9236707695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4DDAA2E-4A3D-4844-8F2F-ADF3EB312C8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E43AD15-7250-4764-82D5-B2D7FAFBC182}"/>
              </a:ext>
            </a:extLst>
          </p:cNvPr>
          <p:cNvSpPr>
            <a:spLocks noGrp="1"/>
          </p:cNvSpPr>
          <p:nvPr>
            <p:ph type="dt" sz="half" idx="10"/>
          </p:nvPr>
        </p:nvSpPr>
        <p:spPr/>
        <p:txBody>
          <a:bodyPr/>
          <a:lstStyle/>
          <a:p>
            <a:fld id="{BA5D4C98-87DF-4B78-B745-41B0EBE49EC4}" type="datetimeFigureOut">
              <a:rPr lang="en-US" smtClean="0"/>
              <a:t>7/3/2021</a:t>
            </a:fld>
            <a:endParaRPr lang="en-US"/>
          </a:p>
        </p:txBody>
      </p:sp>
      <p:sp>
        <p:nvSpPr>
          <p:cNvPr id="8" name="Footer Placeholder 7">
            <a:extLst>
              <a:ext uri="{FF2B5EF4-FFF2-40B4-BE49-F238E27FC236}">
                <a16:creationId xmlns:a16="http://schemas.microsoft.com/office/drawing/2014/main" id="{DB7C435A-96AD-44F4-A0F2-8CA1C27E99F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BC1F614-8760-4293-BB22-2AD1570D78E3}"/>
              </a:ext>
            </a:extLst>
          </p:cNvPr>
          <p:cNvSpPr>
            <a:spLocks noGrp="1"/>
          </p:cNvSpPr>
          <p:nvPr>
            <p:ph type="sldNum" sz="quarter" idx="12"/>
          </p:nvPr>
        </p:nvSpPr>
        <p:spPr/>
        <p:txBody>
          <a:bodyPr/>
          <a:lstStyle/>
          <a:p>
            <a:fld id="{2FEF3288-2E03-4D5D-AF89-95AEB82A9BC6}" type="slidenum">
              <a:rPr lang="en-US" smtClean="0"/>
              <a:t>‹#›</a:t>
            </a:fld>
            <a:endParaRPr lang="en-US"/>
          </a:p>
        </p:txBody>
      </p:sp>
    </p:spTree>
    <p:extLst>
      <p:ext uri="{BB962C8B-B14F-4D97-AF65-F5344CB8AC3E}">
        <p14:creationId xmlns:p14="http://schemas.microsoft.com/office/powerpoint/2010/main" val="20269924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C0E04-59B7-4C8D-9AF4-4C4D5747C78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1BC93E-364F-4658-A56B-77EC314F4DAE}"/>
              </a:ext>
            </a:extLst>
          </p:cNvPr>
          <p:cNvSpPr>
            <a:spLocks noGrp="1"/>
          </p:cNvSpPr>
          <p:nvPr>
            <p:ph type="dt" sz="half" idx="10"/>
          </p:nvPr>
        </p:nvSpPr>
        <p:spPr/>
        <p:txBody>
          <a:bodyPr/>
          <a:lstStyle/>
          <a:p>
            <a:fld id="{BA5D4C98-87DF-4B78-B745-41B0EBE49EC4}" type="datetimeFigureOut">
              <a:rPr lang="en-US" smtClean="0"/>
              <a:t>7/3/2021</a:t>
            </a:fld>
            <a:endParaRPr lang="en-US"/>
          </a:p>
        </p:txBody>
      </p:sp>
      <p:sp>
        <p:nvSpPr>
          <p:cNvPr id="4" name="Footer Placeholder 3">
            <a:extLst>
              <a:ext uri="{FF2B5EF4-FFF2-40B4-BE49-F238E27FC236}">
                <a16:creationId xmlns:a16="http://schemas.microsoft.com/office/drawing/2014/main" id="{B7B171C3-F02E-4FDC-8DA0-FAFD201587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89A779C-7D80-49DF-A028-4633F5929CEE}"/>
              </a:ext>
            </a:extLst>
          </p:cNvPr>
          <p:cNvSpPr>
            <a:spLocks noGrp="1"/>
          </p:cNvSpPr>
          <p:nvPr>
            <p:ph type="sldNum" sz="quarter" idx="12"/>
          </p:nvPr>
        </p:nvSpPr>
        <p:spPr/>
        <p:txBody>
          <a:bodyPr/>
          <a:lstStyle/>
          <a:p>
            <a:fld id="{2FEF3288-2E03-4D5D-AF89-95AEB82A9BC6}" type="slidenum">
              <a:rPr lang="en-US" smtClean="0"/>
              <a:t>‹#›</a:t>
            </a:fld>
            <a:endParaRPr lang="en-US"/>
          </a:p>
        </p:txBody>
      </p:sp>
    </p:spTree>
    <p:extLst>
      <p:ext uri="{BB962C8B-B14F-4D97-AF65-F5344CB8AC3E}">
        <p14:creationId xmlns:p14="http://schemas.microsoft.com/office/powerpoint/2010/main" val="17141968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3A310C-1B10-4B9C-8161-3B87EBC9CFC8}"/>
              </a:ext>
            </a:extLst>
          </p:cNvPr>
          <p:cNvSpPr>
            <a:spLocks noGrp="1"/>
          </p:cNvSpPr>
          <p:nvPr>
            <p:ph type="dt" sz="half" idx="10"/>
          </p:nvPr>
        </p:nvSpPr>
        <p:spPr/>
        <p:txBody>
          <a:bodyPr/>
          <a:lstStyle/>
          <a:p>
            <a:fld id="{BA5D4C98-87DF-4B78-B745-41B0EBE49EC4}" type="datetimeFigureOut">
              <a:rPr lang="en-US" smtClean="0"/>
              <a:t>7/3/2021</a:t>
            </a:fld>
            <a:endParaRPr lang="en-US"/>
          </a:p>
        </p:txBody>
      </p:sp>
      <p:sp>
        <p:nvSpPr>
          <p:cNvPr id="3" name="Footer Placeholder 2">
            <a:extLst>
              <a:ext uri="{FF2B5EF4-FFF2-40B4-BE49-F238E27FC236}">
                <a16:creationId xmlns:a16="http://schemas.microsoft.com/office/drawing/2014/main" id="{E7023D5D-DFFC-4E85-BAF7-FDA64D82ED0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D146058-863E-45E8-ADEB-3CAC7B7A0282}"/>
              </a:ext>
            </a:extLst>
          </p:cNvPr>
          <p:cNvSpPr>
            <a:spLocks noGrp="1"/>
          </p:cNvSpPr>
          <p:nvPr>
            <p:ph type="sldNum" sz="quarter" idx="12"/>
          </p:nvPr>
        </p:nvSpPr>
        <p:spPr/>
        <p:txBody>
          <a:bodyPr/>
          <a:lstStyle/>
          <a:p>
            <a:fld id="{2FEF3288-2E03-4D5D-AF89-95AEB82A9BC6}" type="slidenum">
              <a:rPr lang="en-US" smtClean="0"/>
              <a:t>‹#›</a:t>
            </a:fld>
            <a:endParaRPr lang="en-US"/>
          </a:p>
        </p:txBody>
      </p:sp>
    </p:spTree>
    <p:extLst>
      <p:ext uri="{BB962C8B-B14F-4D97-AF65-F5344CB8AC3E}">
        <p14:creationId xmlns:p14="http://schemas.microsoft.com/office/powerpoint/2010/main" val="483606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AD5F8-0A90-4D1C-A3A2-FDA139EE4D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AD51AAB-4A8C-4F8C-93C4-8669507DEB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1A94357-5ACA-42AC-84B6-991E8DC844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092ECB-F79C-4D3F-A440-2FC47F79CA5F}"/>
              </a:ext>
            </a:extLst>
          </p:cNvPr>
          <p:cNvSpPr>
            <a:spLocks noGrp="1"/>
          </p:cNvSpPr>
          <p:nvPr>
            <p:ph type="dt" sz="half" idx="10"/>
          </p:nvPr>
        </p:nvSpPr>
        <p:spPr/>
        <p:txBody>
          <a:bodyPr/>
          <a:lstStyle/>
          <a:p>
            <a:fld id="{BA5D4C98-87DF-4B78-B745-41B0EBE49EC4}" type="datetimeFigureOut">
              <a:rPr lang="en-US" smtClean="0"/>
              <a:t>7/3/2021</a:t>
            </a:fld>
            <a:endParaRPr lang="en-US"/>
          </a:p>
        </p:txBody>
      </p:sp>
      <p:sp>
        <p:nvSpPr>
          <p:cNvPr id="6" name="Footer Placeholder 5">
            <a:extLst>
              <a:ext uri="{FF2B5EF4-FFF2-40B4-BE49-F238E27FC236}">
                <a16:creationId xmlns:a16="http://schemas.microsoft.com/office/drawing/2014/main" id="{EE622049-214E-4C78-8EC3-D792B04DB0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C5F6CF-8BA0-4E34-A284-4F68442E9E30}"/>
              </a:ext>
            </a:extLst>
          </p:cNvPr>
          <p:cNvSpPr>
            <a:spLocks noGrp="1"/>
          </p:cNvSpPr>
          <p:nvPr>
            <p:ph type="sldNum" sz="quarter" idx="12"/>
          </p:nvPr>
        </p:nvSpPr>
        <p:spPr/>
        <p:txBody>
          <a:bodyPr/>
          <a:lstStyle/>
          <a:p>
            <a:fld id="{2FEF3288-2E03-4D5D-AF89-95AEB82A9BC6}" type="slidenum">
              <a:rPr lang="en-US" smtClean="0"/>
              <a:t>‹#›</a:t>
            </a:fld>
            <a:endParaRPr lang="en-US"/>
          </a:p>
        </p:txBody>
      </p:sp>
    </p:spTree>
    <p:extLst>
      <p:ext uri="{BB962C8B-B14F-4D97-AF65-F5344CB8AC3E}">
        <p14:creationId xmlns:p14="http://schemas.microsoft.com/office/powerpoint/2010/main" val="9043380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DFB07-1276-452F-959C-3D88FCE6F4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9FD2400-63F7-4149-86B4-C3F1BD61EA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3BC9C7A-5B92-4B64-812A-CE18C3240B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DE4CB4-BC29-4703-AE9D-F2D1C5AEDD49}"/>
              </a:ext>
            </a:extLst>
          </p:cNvPr>
          <p:cNvSpPr>
            <a:spLocks noGrp="1"/>
          </p:cNvSpPr>
          <p:nvPr>
            <p:ph type="dt" sz="half" idx="10"/>
          </p:nvPr>
        </p:nvSpPr>
        <p:spPr/>
        <p:txBody>
          <a:bodyPr/>
          <a:lstStyle/>
          <a:p>
            <a:fld id="{BA5D4C98-87DF-4B78-B745-41B0EBE49EC4}" type="datetimeFigureOut">
              <a:rPr lang="en-US" smtClean="0"/>
              <a:t>7/3/2021</a:t>
            </a:fld>
            <a:endParaRPr lang="en-US"/>
          </a:p>
        </p:txBody>
      </p:sp>
      <p:sp>
        <p:nvSpPr>
          <p:cNvPr id="6" name="Footer Placeholder 5">
            <a:extLst>
              <a:ext uri="{FF2B5EF4-FFF2-40B4-BE49-F238E27FC236}">
                <a16:creationId xmlns:a16="http://schemas.microsoft.com/office/drawing/2014/main" id="{1E90C0EA-7FC8-4A6A-895D-3832F37D901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5FD433-AA31-4D6A-BD61-374931478C1E}"/>
              </a:ext>
            </a:extLst>
          </p:cNvPr>
          <p:cNvSpPr>
            <a:spLocks noGrp="1"/>
          </p:cNvSpPr>
          <p:nvPr>
            <p:ph type="sldNum" sz="quarter" idx="12"/>
          </p:nvPr>
        </p:nvSpPr>
        <p:spPr/>
        <p:txBody>
          <a:bodyPr/>
          <a:lstStyle/>
          <a:p>
            <a:fld id="{2FEF3288-2E03-4D5D-AF89-95AEB82A9BC6}" type="slidenum">
              <a:rPr lang="en-US" smtClean="0"/>
              <a:t>‹#›</a:t>
            </a:fld>
            <a:endParaRPr lang="en-US"/>
          </a:p>
        </p:txBody>
      </p:sp>
    </p:spTree>
    <p:extLst>
      <p:ext uri="{BB962C8B-B14F-4D97-AF65-F5344CB8AC3E}">
        <p14:creationId xmlns:p14="http://schemas.microsoft.com/office/powerpoint/2010/main" val="17229762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C2E56-454E-467D-A5A3-39A70E270CF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2F90285-BF8F-47F0-8C62-E1A9451AC8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EE618B-3FD9-42A0-83C6-64D1F90342E7}"/>
              </a:ext>
            </a:extLst>
          </p:cNvPr>
          <p:cNvSpPr>
            <a:spLocks noGrp="1"/>
          </p:cNvSpPr>
          <p:nvPr>
            <p:ph type="dt" sz="half" idx="10"/>
          </p:nvPr>
        </p:nvSpPr>
        <p:spPr/>
        <p:txBody>
          <a:bodyPr/>
          <a:lstStyle/>
          <a:p>
            <a:fld id="{BA5D4C98-87DF-4B78-B745-41B0EBE49EC4}" type="datetimeFigureOut">
              <a:rPr lang="en-US" smtClean="0"/>
              <a:t>7/3/2021</a:t>
            </a:fld>
            <a:endParaRPr lang="en-US"/>
          </a:p>
        </p:txBody>
      </p:sp>
      <p:sp>
        <p:nvSpPr>
          <p:cNvPr id="5" name="Footer Placeholder 4">
            <a:extLst>
              <a:ext uri="{FF2B5EF4-FFF2-40B4-BE49-F238E27FC236}">
                <a16:creationId xmlns:a16="http://schemas.microsoft.com/office/drawing/2014/main" id="{3854CF73-08EC-46B9-A769-9D98F20FFF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002E68-18AF-41F2-BEE8-9A78541296CC}"/>
              </a:ext>
            </a:extLst>
          </p:cNvPr>
          <p:cNvSpPr>
            <a:spLocks noGrp="1"/>
          </p:cNvSpPr>
          <p:nvPr>
            <p:ph type="sldNum" sz="quarter" idx="12"/>
          </p:nvPr>
        </p:nvSpPr>
        <p:spPr/>
        <p:txBody>
          <a:bodyPr/>
          <a:lstStyle/>
          <a:p>
            <a:fld id="{2FEF3288-2E03-4D5D-AF89-95AEB82A9BC6}" type="slidenum">
              <a:rPr lang="en-US" smtClean="0"/>
              <a:t>‹#›</a:t>
            </a:fld>
            <a:endParaRPr lang="en-US"/>
          </a:p>
        </p:txBody>
      </p:sp>
    </p:spTree>
    <p:extLst>
      <p:ext uri="{BB962C8B-B14F-4D97-AF65-F5344CB8AC3E}">
        <p14:creationId xmlns:p14="http://schemas.microsoft.com/office/powerpoint/2010/main" val="26066869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109279-00D6-4BC7-BDFC-CED8CF9AFF9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46B71B8-CC4B-4C13-8B53-C413CA1EE2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7DE85B-1767-40C5-8E29-0F0D39B02940}"/>
              </a:ext>
            </a:extLst>
          </p:cNvPr>
          <p:cNvSpPr>
            <a:spLocks noGrp="1"/>
          </p:cNvSpPr>
          <p:nvPr>
            <p:ph type="dt" sz="half" idx="10"/>
          </p:nvPr>
        </p:nvSpPr>
        <p:spPr/>
        <p:txBody>
          <a:bodyPr/>
          <a:lstStyle/>
          <a:p>
            <a:fld id="{BA5D4C98-87DF-4B78-B745-41B0EBE49EC4}" type="datetimeFigureOut">
              <a:rPr lang="en-US" smtClean="0"/>
              <a:t>7/3/2021</a:t>
            </a:fld>
            <a:endParaRPr lang="en-US"/>
          </a:p>
        </p:txBody>
      </p:sp>
      <p:sp>
        <p:nvSpPr>
          <p:cNvPr id="5" name="Footer Placeholder 4">
            <a:extLst>
              <a:ext uri="{FF2B5EF4-FFF2-40B4-BE49-F238E27FC236}">
                <a16:creationId xmlns:a16="http://schemas.microsoft.com/office/drawing/2014/main" id="{FE7B23EB-DBD9-4A42-B8AB-7DBAAF31CA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8F0FE1-0858-423C-833B-E12C85222A53}"/>
              </a:ext>
            </a:extLst>
          </p:cNvPr>
          <p:cNvSpPr>
            <a:spLocks noGrp="1"/>
          </p:cNvSpPr>
          <p:nvPr>
            <p:ph type="sldNum" sz="quarter" idx="12"/>
          </p:nvPr>
        </p:nvSpPr>
        <p:spPr/>
        <p:txBody>
          <a:bodyPr/>
          <a:lstStyle/>
          <a:p>
            <a:fld id="{2FEF3288-2E03-4D5D-AF89-95AEB82A9BC6}" type="slidenum">
              <a:rPr lang="en-US" smtClean="0"/>
              <a:t>‹#›</a:t>
            </a:fld>
            <a:endParaRPr lang="en-US"/>
          </a:p>
        </p:txBody>
      </p:sp>
    </p:spTree>
    <p:extLst>
      <p:ext uri="{BB962C8B-B14F-4D97-AF65-F5344CB8AC3E}">
        <p14:creationId xmlns:p14="http://schemas.microsoft.com/office/powerpoint/2010/main" val="4677065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7FD5640-9549-43EE-A4F7-5285111DE0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819B8788-4EB4-49CA-89BE-3C6A33A554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71FF0AF-A473-4F14-A937-E7704E9911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5D4C98-87DF-4B78-B745-41B0EBE49EC4}" type="datetimeFigureOut">
              <a:rPr lang="en-US" smtClean="0"/>
              <a:t>7/3/2021</a:t>
            </a:fld>
            <a:endParaRPr lang="en-US"/>
          </a:p>
        </p:txBody>
      </p:sp>
      <p:sp>
        <p:nvSpPr>
          <p:cNvPr id="5" name="Footer Placeholder 4">
            <a:extLst>
              <a:ext uri="{FF2B5EF4-FFF2-40B4-BE49-F238E27FC236}">
                <a16:creationId xmlns:a16="http://schemas.microsoft.com/office/drawing/2014/main" id="{99394C54-BDCB-4B7D-A3C1-2E2118CF67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3C29CC0-C68C-4A68-8F5E-36DFE69513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EF3288-2E03-4D5D-AF89-95AEB82A9BC6}" type="slidenum">
              <a:rPr lang="en-US" smtClean="0"/>
              <a:t>‹#›</a:t>
            </a:fld>
            <a:endParaRPr lang="en-US"/>
          </a:p>
        </p:txBody>
      </p:sp>
    </p:spTree>
    <p:extLst>
      <p:ext uri="{BB962C8B-B14F-4D97-AF65-F5344CB8AC3E}">
        <p14:creationId xmlns:p14="http://schemas.microsoft.com/office/powerpoint/2010/main" val="27745396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lnSpc>
          <a:spcPct val="90000"/>
        </a:lnSpc>
        <a:spcBef>
          <a:spcPct val="0"/>
        </a:spcBef>
        <a:buNone/>
        <a:defRPr sz="3600"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3.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42AD7-69C3-4B5C-8928-254C554B5465}"/>
              </a:ext>
            </a:extLst>
          </p:cNvPr>
          <p:cNvSpPr>
            <a:spLocks noGrp="1"/>
          </p:cNvSpPr>
          <p:nvPr>
            <p:ph type="ctrTitle"/>
          </p:nvPr>
        </p:nvSpPr>
        <p:spPr/>
        <p:txBody>
          <a:bodyPr anchor="ctr">
            <a:normAutofit/>
          </a:bodyPr>
          <a:lstStyle/>
          <a:p>
            <a:r>
              <a:rPr lang="en-US" sz="4400" b="1" dirty="0">
                <a:latin typeface="+mn-lt"/>
              </a:rPr>
              <a:t>Cluster Randomized Trials</a:t>
            </a:r>
          </a:p>
        </p:txBody>
      </p:sp>
      <p:sp>
        <p:nvSpPr>
          <p:cNvPr id="3" name="Subtitle 2">
            <a:extLst>
              <a:ext uri="{FF2B5EF4-FFF2-40B4-BE49-F238E27FC236}">
                <a16:creationId xmlns:a16="http://schemas.microsoft.com/office/drawing/2014/main" id="{D52D31AF-1321-4DFE-B854-D3688F23FA9B}"/>
              </a:ext>
            </a:extLst>
          </p:cNvPr>
          <p:cNvSpPr>
            <a:spLocks noGrp="1"/>
          </p:cNvSpPr>
          <p:nvPr>
            <p:ph type="subTitle" idx="1"/>
          </p:nvPr>
        </p:nvSpPr>
        <p:spPr/>
        <p:txBody>
          <a:bodyPr>
            <a:normAutofit/>
          </a:bodyPr>
          <a:lstStyle/>
          <a:p>
            <a:r>
              <a:rPr lang="en-US" dirty="0"/>
              <a:t>Larry V. Hedges</a:t>
            </a:r>
          </a:p>
          <a:p>
            <a:r>
              <a:rPr lang="en-US" dirty="0"/>
              <a:t>Northwestern University</a:t>
            </a:r>
          </a:p>
          <a:p>
            <a:r>
              <a:rPr lang="en-US" sz="1400" dirty="0"/>
              <a:t>Presented at the NSF Institute on Improving the Design of Evaluation studies in STEM Education Research, July 21, 2021</a:t>
            </a:r>
          </a:p>
          <a:p>
            <a:endParaRPr lang="en-US" dirty="0"/>
          </a:p>
        </p:txBody>
      </p:sp>
    </p:spTree>
    <p:extLst>
      <p:ext uri="{BB962C8B-B14F-4D97-AF65-F5344CB8AC3E}">
        <p14:creationId xmlns:p14="http://schemas.microsoft.com/office/powerpoint/2010/main" val="40369579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F864C-157B-47C9-AEDD-75835BC0C72E}"/>
              </a:ext>
            </a:extLst>
          </p:cNvPr>
          <p:cNvSpPr>
            <a:spLocks noGrp="1"/>
          </p:cNvSpPr>
          <p:nvPr>
            <p:ph type="title"/>
          </p:nvPr>
        </p:nvSpPr>
        <p:spPr/>
        <p:txBody>
          <a:bodyPr/>
          <a:lstStyle/>
          <a:p>
            <a:r>
              <a:rPr lang="en-US" dirty="0"/>
              <a:t>Definition of Cluster Randomized Designs</a:t>
            </a:r>
          </a:p>
        </p:txBody>
      </p:sp>
      <p:sp>
        <p:nvSpPr>
          <p:cNvPr id="3" name="Content Placeholder 2">
            <a:extLst>
              <a:ext uri="{FF2B5EF4-FFF2-40B4-BE49-F238E27FC236}">
                <a16:creationId xmlns:a16="http://schemas.microsoft.com/office/drawing/2014/main" id="{29432CB7-68AD-498E-8C08-EB15819F700C}"/>
              </a:ext>
            </a:extLst>
          </p:cNvPr>
          <p:cNvSpPr>
            <a:spLocks noGrp="1"/>
          </p:cNvSpPr>
          <p:nvPr>
            <p:ph idx="1"/>
          </p:nvPr>
        </p:nvSpPr>
        <p:spPr>
          <a:xfrm>
            <a:off x="838200" y="1825625"/>
            <a:ext cx="10515600" cy="707031"/>
          </a:xfrm>
        </p:spPr>
        <p:txBody>
          <a:bodyPr/>
          <a:lstStyle/>
          <a:p>
            <a:pPr marL="0" indent="0">
              <a:buNone/>
            </a:pPr>
            <a:r>
              <a:rPr lang="en-US" dirty="0"/>
              <a:t>A cluster randomized design (also called hierarchical design) is that individuals are nested within clusters and entire clusters are randomly assigned to treatment or control conditions</a:t>
            </a:r>
          </a:p>
          <a:p>
            <a:pPr marL="0" indent="0">
              <a:buNone/>
            </a:pPr>
            <a:endParaRPr lang="en-US" dirty="0"/>
          </a:p>
        </p:txBody>
      </p:sp>
      <p:sp>
        <p:nvSpPr>
          <p:cNvPr id="4" name="Oval 3">
            <a:extLst>
              <a:ext uri="{FF2B5EF4-FFF2-40B4-BE49-F238E27FC236}">
                <a16:creationId xmlns:a16="http://schemas.microsoft.com/office/drawing/2014/main" id="{114960FC-719C-4543-B3B4-086198364F83}"/>
              </a:ext>
            </a:extLst>
          </p:cNvPr>
          <p:cNvSpPr/>
          <p:nvPr/>
        </p:nvSpPr>
        <p:spPr>
          <a:xfrm>
            <a:off x="4700852" y="2688704"/>
            <a:ext cx="2092325" cy="60706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5" name="Oval 4">
            <a:extLst>
              <a:ext uri="{FF2B5EF4-FFF2-40B4-BE49-F238E27FC236}">
                <a16:creationId xmlns:a16="http://schemas.microsoft.com/office/drawing/2014/main" id="{200AF95E-6A1B-47F3-9A68-DE56ED39A0ED}"/>
              </a:ext>
            </a:extLst>
          </p:cNvPr>
          <p:cNvSpPr/>
          <p:nvPr/>
        </p:nvSpPr>
        <p:spPr>
          <a:xfrm>
            <a:off x="2943645" y="3560690"/>
            <a:ext cx="1177290" cy="650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6" name="Oval 5">
            <a:extLst>
              <a:ext uri="{FF2B5EF4-FFF2-40B4-BE49-F238E27FC236}">
                <a16:creationId xmlns:a16="http://schemas.microsoft.com/office/drawing/2014/main" id="{04E922EC-241F-4DCB-AD80-B936492033E6}"/>
              </a:ext>
            </a:extLst>
          </p:cNvPr>
          <p:cNvSpPr/>
          <p:nvPr/>
        </p:nvSpPr>
        <p:spPr>
          <a:xfrm>
            <a:off x="7432149" y="3731374"/>
            <a:ext cx="1177290" cy="650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7" name="Straight Arrow Connector 6">
            <a:extLst>
              <a:ext uri="{FF2B5EF4-FFF2-40B4-BE49-F238E27FC236}">
                <a16:creationId xmlns:a16="http://schemas.microsoft.com/office/drawing/2014/main" id="{0EB3C323-A3CA-454B-8B7C-89C761172081}"/>
              </a:ext>
            </a:extLst>
          </p:cNvPr>
          <p:cNvCxnSpPr>
            <a:cxnSpLocks/>
            <a:stCxn id="4" idx="4"/>
            <a:endCxn id="5" idx="0"/>
          </p:cNvCxnSpPr>
          <p:nvPr/>
        </p:nvCxnSpPr>
        <p:spPr>
          <a:xfrm flipH="1">
            <a:off x="3532290" y="3295764"/>
            <a:ext cx="2214725" cy="2649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9A3985A1-2029-46DB-807E-A409309C2415}"/>
              </a:ext>
            </a:extLst>
          </p:cNvPr>
          <p:cNvCxnSpPr>
            <a:cxnSpLocks/>
            <a:stCxn id="4" idx="4"/>
          </p:cNvCxnSpPr>
          <p:nvPr/>
        </p:nvCxnSpPr>
        <p:spPr>
          <a:xfrm>
            <a:off x="5747015" y="3295764"/>
            <a:ext cx="2165868" cy="4535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 Box 21">
            <a:extLst>
              <a:ext uri="{FF2B5EF4-FFF2-40B4-BE49-F238E27FC236}">
                <a16:creationId xmlns:a16="http://schemas.microsoft.com/office/drawing/2014/main" id="{30594F7D-C212-4A7D-BFB3-017A5E06AFA1}"/>
              </a:ext>
            </a:extLst>
          </p:cNvPr>
          <p:cNvSpPr txBox="1">
            <a:spLocks noChangeArrowheads="1"/>
          </p:cNvSpPr>
          <p:nvPr/>
        </p:nvSpPr>
        <p:spPr bwMode="auto">
          <a:xfrm>
            <a:off x="5362522" y="2825391"/>
            <a:ext cx="110172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Sample</a:t>
            </a:r>
            <a:endParaRPr kumimoji="0" lang="en-US" altLang="en-US" sz="1800" b="0" i="0" u="none" strike="noStrike" cap="none" normalizeH="0" baseline="0" dirty="0">
              <a:ln>
                <a:noFill/>
              </a:ln>
              <a:solidFill>
                <a:schemeClr val="bg1"/>
              </a:solidFill>
              <a:effectLst/>
              <a:latin typeface="Arial" panose="020B0604020202020204" pitchFamily="34" charset="0"/>
            </a:endParaRPr>
          </a:p>
        </p:txBody>
      </p:sp>
      <p:sp>
        <p:nvSpPr>
          <p:cNvPr id="10" name="Text Box 22">
            <a:extLst>
              <a:ext uri="{FF2B5EF4-FFF2-40B4-BE49-F238E27FC236}">
                <a16:creationId xmlns:a16="http://schemas.microsoft.com/office/drawing/2014/main" id="{64772C8B-7B70-4DA2-BF36-2AF3FA16000D}"/>
              </a:ext>
            </a:extLst>
          </p:cNvPr>
          <p:cNvSpPr txBox="1">
            <a:spLocks noChangeArrowheads="1"/>
          </p:cNvSpPr>
          <p:nvPr/>
        </p:nvSpPr>
        <p:spPr bwMode="auto">
          <a:xfrm>
            <a:off x="3098743" y="3701376"/>
            <a:ext cx="110172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Intervention</a:t>
            </a:r>
            <a:endParaRPr kumimoji="0" lang="en-US" altLang="en-US" sz="1800" b="0" i="0" u="none" strike="noStrike" cap="none" normalizeH="0" baseline="0" dirty="0">
              <a:ln>
                <a:noFill/>
              </a:ln>
              <a:solidFill>
                <a:schemeClr val="bg1"/>
              </a:solidFill>
              <a:effectLst/>
              <a:latin typeface="Arial" panose="020B0604020202020204" pitchFamily="34" charset="0"/>
            </a:endParaRPr>
          </a:p>
        </p:txBody>
      </p:sp>
      <p:sp>
        <p:nvSpPr>
          <p:cNvPr id="11" name="Text Box 23">
            <a:extLst>
              <a:ext uri="{FF2B5EF4-FFF2-40B4-BE49-F238E27FC236}">
                <a16:creationId xmlns:a16="http://schemas.microsoft.com/office/drawing/2014/main" id="{DD13A75C-7F98-4F14-9E1F-7FA6CF46030E}"/>
              </a:ext>
            </a:extLst>
          </p:cNvPr>
          <p:cNvSpPr txBox="1">
            <a:spLocks noChangeArrowheads="1"/>
          </p:cNvSpPr>
          <p:nvPr/>
        </p:nvSpPr>
        <p:spPr bwMode="auto">
          <a:xfrm>
            <a:off x="7559595" y="3912593"/>
            <a:ext cx="110172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Comparison</a:t>
            </a:r>
            <a:endParaRPr kumimoji="0" lang="en-US" altLang="en-US" sz="1800" b="0" i="0" u="none" strike="noStrike" cap="none" normalizeH="0" baseline="0" dirty="0">
              <a:ln>
                <a:noFill/>
              </a:ln>
              <a:solidFill>
                <a:schemeClr val="bg1"/>
              </a:solidFill>
              <a:effectLst/>
              <a:latin typeface="Arial" panose="020B0604020202020204" pitchFamily="34" charset="0"/>
            </a:endParaRPr>
          </a:p>
        </p:txBody>
      </p:sp>
      <p:sp>
        <p:nvSpPr>
          <p:cNvPr id="20" name="Oval 19">
            <a:extLst>
              <a:ext uri="{FF2B5EF4-FFF2-40B4-BE49-F238E27FC236}">
                <a16:creationId xmlns:a16="http://schemas.microsoft.com/office/drawing/2014/main" id="{E10D06D9-0933-41F4-B6AE-82260BADC1F7}"/>
              </a:ext>
            </a:extLst>
          </p:cNvPr>
          <p:cNvSpPr/>
          <p:nvPr/>
        </p:nvSpPr>
        <p:spPr>
          <a:xfrm>
            <a:off x="838200" y="4588067"/>
            <a:ext cx="1177290" cy="650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 name="Text Box 22">
            <a:extLst>
              <a:ext uri="{FF2B5EF4-FFF2-40B4-BE49-F238E27FC236}">
                <a16:creationId xmlns:a16="http://schemas.microsoft.com/office/drawing/2014/main" id="{23979803-3BDE-42C5-BE78-F8833977D0BD}"/>
              </a:ext>
            </a:extLst>
          </p:cNvPr>
          <p:cNvSpPr txBox="1">
            <a:spLocks noChangeArrowheads="1"/>
          </p:cNvSpPr>
          <p:nvPr/>
        </p:nvSpPr>
        <p:spPr bwMode="auto">
          <a:xfrm>
            <a:off x="993298" y="4728753"/>
            <a:ext cx="110172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Intervention</a:t>
            </a:r>
          </a:p>
          <a:p>
            <a:pPr marL="0" marR="0" lvl="0" indent="0" defTabSz="914400" rtl="0" eaLnBrk="0" fontAlgn="base" latinLnBrk="0" hangingPunct="0">
              <a:lnSpc>
                <a:spcPct val="100000"/>
              </a:lnSpc>
              <a:spcBef>
                <a:spcPct val="0"/>
              </a:spcBef>
              <a:spcAft>
                <a:spcPct val="0"/>
              </a:spcAft>
              <a:buClrTx/>
              <a:buSzTx/>
              <a:buFontTx/>
              <a:buNone/>
              <a:tabLst/>
            </a:pPr>
            <a:r>
              <a:rPr lang="en-US" altLang="en-US" sz="1100" dirty="0">
                <a:solidFill>
                  <a:schemeClr val="bg1"/>
                </a:solidFill>
                <a:latin typeface="Calibri" panose="020F0502020204030204" pitchFamily="34" charset="0"/>
                <a:cs typeface="Times New Roman" panose="02020603050405020304" pitchFamily="18" charset="0"/>
              </a:rPr>
              <a:t>Cluster 1</a:t>
            </a:r>
            <a:endParaRPr kumimoji="0" lang="en-US" altLang="en-US" sz="1800" b="0" i="0" u="none" strike="noStrike" cap="none" normalizeH="0" baseline="0" dirty="0">
              <a:ln>
                <a:noFill/>
              </a:ln>
              <a:solidFill>
                <a:schemeClr val="bg1"/>
              </a:solidFill>
              <a:effectLst/>
              <a:latin typeface="Arial" panose="020B0604020202020204" pitchFamily="34" charset="0"/>
            </a:endParaRPr>
          </a:p>
        </p:txBody>
      </p:sp>
      <p:sp>
        <p:nvSpPr>
          <p:cNvPr id="22" name="Oval 21">
            <a:extLst>
              <a:ext uri="{FF2B5EF4-FFF2-40B4-BE49-F238E27FC236}">
                <a16:creationId xmlns:a16="http://schemas.microsoft.com/office/drawing/2014/main" id="{AA118F66-71CA-444D-B88E-055A966A780B}"/>
              </a:ext>
            </a:extLst>
          </p:cNvPr>
          <p:cNvSpPr/>
          <p:nvPr/>
        </p:nvSpPr>
        <p:spPr>
          <a:xfrm>
            <a:off x="2250121" y="4588067"/>
            <a:ext cx="1177290" cy="650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3" name="Text Box 22">
            <a:extLst>
              <a:ext uri="{FF2B5EF4-FFF2-40B4-BE49-F238E27FC236}">
                <a16:creationId xmlns:a16="http://schemas.microsoft.com/office/drawing/2014/main" id="{F4B88EAC-D6D7-46D3-AD09-F7265948B412}"/>
              </a:ext>
            </a:extLst>
          </p:cNvPr>
          <p:cNvSpPr txBox="1">
            <a:spLocks noChangeArrowheads="1"/>
          </p:cNvSpPr>
          <p:nvPr/>
        </p:nvSpPr>
        <p:spPr bwMode="auto">
          <a:xfrm>
            <a:off x="2405219" y="4728753"/>
            <a:ext cx="110172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Intervention</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100" dirty="0">
                <a:solidFill>
                  <a:schemeClr val="bg1"/>
                </a:solidFill>
                <a:latin typeface="Calibri" panose="020F0502020204030204" pitchFamily="34" charset="0"/>
                <a:cs typeface="Times New Roman" panose="02020603050405020304" pitchFamily="18" charset="0"/>
              </a:rPr>
              <a:t>Cluster 2</a:t>
            </a:r>
            <a:endParaRPr kumimoji="0" lang="en-US" altLang="en-US" sz="1800" b="0" i="0" u="none" strike="noStrike" cap="none" normalizeH="0" baseline="0" dirty="0">
              <a:ln>
                <a:noFill/>
              </a:ln>
              <a:solidFill>
                <a:schemeClr val="bg1"/>
              </a:solidFill>
              <a:effectLst/>
              <a:latin typeface="Arial" panose="020B0604020202020204" pitchFamily="34" charset="0"/>
            </a:endParaRPr>
          </a:p>
        </p:txBody>
      </p:sp>
      <p:sp>
        <p:nvSpPr>
          <p:cNvPr id="24" name="Oval 23">
            <a:extLst>
              <a:ext uri="{FF2B5EF4-FFF2-40B4-BE49-F238E27FC236}">
                <a16:creationId xmlns:a16="http://schemas.microsoft.com/office/drawing/2014/main" id="{1E97E835-E11C-4DA1-93B8-D2EA1419F643}"/>
              </a:ext>
            </a:extLst>
          </p:cNvPr>
          <p:cNvSpPr/>
          <p:nvPr/>
        </p:nvSpPr>
        <p:spPr>
          <a:xfrm>
            <a:off x="4059708" y="4588067"/>
            <a:ext cx="1177290" cy="650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5" name="Text Box 22">
            <a:extLst>
              <a:ext uri="{FF2B5EF4-FFF2-40B4-BE49-F238E27FC236}">
                <a16:creationId xmlns:a16="http://schemas.microsoft.com/office/drawing/2014/main" id="{4003AAB3-4378-4D54-92DF-BE4D8393CC23}"/>
              </a:ext>
            </a:extLst>
          </p:cNvPr>
          <p:cNvSpPr txBox="1">
            <a:spLocks noChangeArrowheads="1"/>
          </p:cNvSpPr>
          <p:nvPr/>
        </p:nvSpPr>
        <p:spPr bwMode="auto">
          <a:xfrm>
            <a:off x="4214806" y="4728753"/>
            <a:ext cx="110172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Intervention</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100" dirty="0">
                <a:solidFill>
                  <a:schemeClr val="bg1"/>
                </a:solidFill>
                <a:latin typeface="Calibri" panose="020F0502020204030204" pitchFamily="34" charset="0"/>
                <a:cs typeface="Times New Roman" panose="02020603050405020304" pitchFamily="18" charset="0"/>
              </a:rPr>
              <a:t>Cluster </a:t>
            </a:r>
            <a:r>
              <a:rPr lang="en-US" altLang="en-US" sz="1100" i="1" dirty="0">
                <a:solidFill>
                  <a:schemeClr val="bg1"/>
                </a:solidFill>
                <a:latin typeface="Times New Roman" panose="02020603050405020304" pitchFamily="18" charset="0"/>
                <a:cs typeface="Times New Roman" panose="02020603050405020304" pitchFamily="18" charset="0"/>
              </a:rPr>
              <a:t>m</a:t>
            </a:r>
            <a:endParaRPr kumimoji="0" lang="en-US" altLang="en-US" sz="1800" b="0" i="1"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p:txBody>
      </p:sp>
      <p:sp>
        <p:nvSpPr>
          <p:cNvPr id="27" name="Oval 26">
            <a:extLst>
              <a:ext uri="{FF2B5EF4-FFF2-40B4-BE49-F238E27FC236}">
                <a16:creationId xmlns:a16="http://schemas.microsoft.com/office/drawing/2014/main" id="{4ADF7E38-AA14-490A-8667-1D7960A8583C}"/>
              </a:ext>
            </a:extLst>
          </p:cNvPr>
          <p:cNvSpPr/>
          <p:nvPr/>
        </p:nvSpPr>
        <p:spPr>
          <a:xfrm>
            <a:off x="5869295" y="4685714"/>
            <a:ext cx="1177290" cy="650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8" name="Text Box 22">
            <a:extLst>
              <a:ext uri="{FF2B5EF4-FFF2-40B4-BE49-F238E27FC236}">
                <a16:creationId xmlns:a16="http://schemas.microsoft.com/office/drawing/2014/main" id="{D49F3231-9A4E-45DF-A2F0-2E8CE597DB09}"/>
              </a:ext>
            </a:extLst>
          </p:cNvPr>
          <p:cNvSpPr txBox="1">
            <a:spLocks noChangeArrowheads="1"/>
          </p:cNvSpPr>
          <p:nvPr/>
        </p:nvSpPr>
        <p:spPr bwMode="auto">
          <a:xfrm>
            <a:off x="6024393" y="4826400"/>
            <a:ext cx="110172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Control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Cluster 1</a:t>
            </a:r>
            <a:endParaRPr kumimoji="0" lang="en-US" altLang="en-US" sz="1800" b="0" i="0" u="none" strike="noStrike" cap="none" normalizeH="0" baseline="0" dirty="0">
              <a:ln>
                <a:noFill/>
              </a:ln>
              <a:solidFill>
                <a:schemeClr val="bg1"/>
              </a:solidFill>
              <a:effectLst/>
              <a:latin typeface="Arial" panose="020B0604020202020204" pitchFamily="34" charset="0"/>
            </a:endParaRPr>
          </a:p>
        </p:txBody>
      </p:sp>
      <p:sp>
        <p:nvSpPr>
          <p:cNvPr id="29" name="Oval 28">
            <a:extLst>
              <a:ext uri="{FF2B5EF4-FFF2-40B4-BE49-F238E27FC236}">
                <a16:creationId xmlns:a16="http://schemas.microsoft.com/office/drawing/2014/main" id="{133767FC-8463-4FED-959F-EFC1A6F33D05}"/>
              </a:ext>
            </a:extLst>
          </p:cNvPr>
          <p:cNvSpPr/>
          <p:nvPr/>
        </p:nvSpPr>
        <p:spPr>
          <a:xfrm>
            <a:off x="7281216" y="4685714"/>
            <a:ext cx="1177290" cy="650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0" name="Text Box 22">
            <a:extLst>
              <a:ext uri="{FF2B5EF4-FFF2-40B4-BE49-F238E27FC236}">
                <a16:creationId xmlns:a16="http://schemas.microsoft.com/office/drawing/2014/main" id="{7A63956F-C5F0-4143-9576-83FB3D3BD791}"/>
              </a:ext>
            </a:extLst>
          </p:cNvPr>
          <p:cNvSpPr txBox="1">
            <a:spLocks noChangeArrowheads="1"/>
          </p:cNvSpPr>
          <p:nvPr/>
        </p:nvSpPr>
        <p:spPr bwMode="auto">
          <a:xfrm>
            <a:off x="7436314" y="4826400"/>
            <a:ext cx="110172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Control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100" dirty="0">
                <a:solidFill>
                  <a:schemeClr val="bg1"/>
                </a:solidFill>
                <a:latin typeface="Calibri" panose="020F0502020204030204" pitchFamily="34" charset="0"/>
                <a:cs typeface="Times New Roman" panose="02020603050405020304" pitchFamily="18" charset="0"/>
              </a:rPr>
              <a:t>Cluster 2</a:t>
            </a:r>
            <a:endParaRPr kumimoji="0" lang="en-US" altLang="en-US" sz="1800" b="0" i="0" u="none" strike="noStrike" cap="none" normalizeH="0" baseline="0" dirty="0">
              <a:ln>
                <a:noFill/>
              </a:ln>
              <a:solidFill>
                <a:schemeClr val="bg1"/>
              </a:solidFill>
              <a:effectLst/>
              <a:latin typeface="Arial" panose="020B0604020202020204" pitchFamily="34" charset="0"/>
            </a:endParaRPr>
          </a:p>
        </p:txBody>
      </p:sp>
      <p:sp>
        <p:nvSpPr>
          <p:cNvPr id="31" name="Oval 30">
            <a:extLst>
              <a:ext uri="{FF2B5EF4-FFF2-40B4-BE49-F238E27FC236}">
                <a16:creationId xmlns:a16="http://schemas.microsoft.com/office/drawing/2014/main" id="{162C8958-DD3B-48C1-9C2F-C87C0B15CFE0}"/>
              </a:ext>
            </a:extLst>
          </p:cNvPr>
          <p:cNvSpPr/>
          <p:nvPr/>
        </p:nvSpPr>
        <p:spPr>
          <a:xfrm>
            <a:off x="9090803" y="4685714"/>
            <a:ext cx="1177290" cy="650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2" name="Text Box 22">
            <a:extLst>
              <a:ext uri="{FF2B5EF4-FFF2-40B4-BE49-F238E27FC236}">
                <a16:creationId xmlns:a16="http://schemas.microsoft.com/office/drawing/2014/main" id="{117810E8-851E-4865-A26C-DD053442D454}"/>
              </a:ext>
            </a:extLst>
          </p:cNvPr>
          <p:cNvSpPr txBox="1">
            <a:spLocks noChangeArrowheads="1"/>
          </p:cNvSpPr>
          <p:nvPr/>
        </p:nvSpPr>
        <p:spPr bwMode="auto">
          <a:xfrm>
            <a:off x="9245901" y="4826400"/>
            <a:ext cx="110172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Control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100" dirty="0">
                <a:solidFill>
                  <a:schemeClr val="bg1"/>
                </a:solidFill>
                <a:latin typeface="Calibri" panose="020F0502020204030204" pitchFamily="34" charset="0"/>
                <a:cs typeface="Times New Roman" panose="02020603050405020304" pitchFamily="18" charset="0"/>
              </a:rPr>
              <a:t>Cluster </a:t>
            </a:r>
            <a:r>
              <a:rPr lang="en-US" altLang="en-US" sz="1100" i="1" dirty="0">
                <a:solidFill>
                  <a:schemeClr val="bg1"/>
                </a:solidFill>
                <a:latin typeface="Times New Roman" panose="02020603050405020304" pitchFamily="18" charset="0"/>
                <a:cs typeface="Times New Roman" panose="02020603050405020304" pitchFamily="18" charset="0"/>
              </a:rPr>
              <a:t>m</a:t>
            </a:r>
            <a:endParaRPr kumimoji="0" lang="en-US" altLang="en-US" sz="1800" b="0" i="1"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p:txBody>
      </p:sp>
      <p:cxnSp>
        <p:nvCxnSpPr>
          <p:cNvPr id="36" name="Straight Arrow Connector 35">
            <a:extLst>
              <a:ext uri="{FF2B5EF4-FFF2-40B4-BE49-F238E27FC236}">
                <a16:creationId xmlns:a16="http://schemas.microsoft.com/office/drawing/2014/main" id="{62E8E901-6E05-4A03-BE75-CAF5A2B5E7F0}"/>
              </a:ext>
            </a:extLst>
          </p:cNvPr>
          <p:cNvCxnSpPr>
            <a:cxnSpLocks/>
            <a:stCxn id="5" idx="4"/>
          </p:cNvCxnSpPr>
          <p:nvPr/>
        </p:nvCxnSpPr>
        <p:spPr>
          <a:xfrm flipH="1">
            <a:off x="1552196" y="4211565"/>
            <a:ext cx="1980094" cy="3765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90D7F0EA-20EC-44C1-85C7-D8AD9857886C}"/>
              </a:ext>
            </a:extLst>
          </p:cNvPr>
          <p:cNvCxnSpPr>
            <a:cxnSpLocks/>
            <a:endCxn id="22" idx="0"/>
          </p:cNvCxnSpPr>
          <p:nvPr/>
        </p:nvCxnSpPr>
        <p:spPr>
          <a:xfrm flipH="1">
            <a:off x="2838766" y="4226918"/>
            <a:ext cx="668178" cy="3611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8B2A6C83-9425-4B5A-ACE9-71DBC39F09E0}"/>
              </a:ext>
            </a:extLst>
          </p:cNvPr>
          <p:cNvCxnSpPr>
            <a:cxnSpLocks/>
            <a:stCxn id="5" idx="4"/>
            <a:endCxn id="24" idx="0"/>
          </p:cNvCxnSpPr>
          <p:nvPr/>
        </p:nvCxnSpPr>
        <p:spPr>
          <a:xfrm>
            <a:off x="3532290" y="4211565"/>
            <a:ext cx="1116063" cy="3765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C67B80A1-9B81-4ACD-8000-7D5E72BA2365}"/>
              </a:ext>
            </a:extLst>
          </p:cNvPr>
          <p:cNvCxnSpPr>
            <a:cxnSpLocks/>
            <a:stCxn id="6" idx="4"/>
            <a:endCxn id="27" idx="0"/>
          </p:cNvCxnSpPr>
          <p:nvPr/>
        </p:nvCxnSpPr>
        <p:spPr>
          <a:xfrm flipH="1">
            <a:off x="6457940" y="4382249"/>
            <a:ext cx="1562854" cy="3034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8D734465-FA6C-40FF-BC53-26AB8ACC7F64}"/>
              </a:ext>
            </a:extLst>
          </p:cNvPr>
          <p:cNvCxnSpPr>
            <a:cxnSpLocks/>
            <a:stCxn id="6" idx="4"/>
            <a:endCxn id="29" idx="0"/>
          </p:cNvCxnSpPr>
          <p:nvPr/>
        </p:nvCxnSpPr>
        <p:spPr>
          <a:xfrm flipH="1">
            <a:off x="7869861" y="4382249"/>
            <a:ext cx="150933" cy="3034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DCD0C1AD-E1B6-44FB-9C8C-D0231149838B}"/>
              </a:ext>
            </a:extLst>
          </p:cNvPr>
          <p:cNvCxnSpPr>
            <a:cxnSpLocks/>
            <a:endCxn id="31" idx="0"/>
          </p:cNvCxnSpPr>
          <p:nvPr/>
        </p:nvCxnSpPr>
        <p:spPr>
          <a:xfrm>
            <a:off x="7985094" y="4452592"/>
            <a:ext cx="1694354" cy="2331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A3591A27-8CF1-45FE-B146-C6840402AB83}"/>
              </a:ext>
            </a:extLst>
          </p:cNvPr>
          <p:cNvSpPr txBox="1"/>
          <p:nvPr/>
        </p:nvSpPr>
        <p:spPr>
          <a:xfrm>
            <a:off x="3605842" y="4685306"/>
            <a:ext cx="374333" cy="400110"/>
          </a:xfrm>
          <a:prstGeom prst="rect">
            <a:avLst/>
          </a:prstGeom>
          <a:noFill/>
        </p:spPr>
        <p:txBody>
          <a:bodyPr wrap="square" rtlCol="0">
            <a:spAutoFit/>
          </a:bodyPr>
          <a:lstStyle/>
          <a:p>
            <a:r>
              <a:rPr lang="en-US" sz="2000" b="1" dirty="0"/>
              <a:t>…</a:t>
            </a:r>
          </a:p>
        </p:txBody>
      </p:sp>
      <p:sp>
        <p:nvSpPr>
          <p:cNvPr id="55" name="TextBox 54">
            <a:extLst>
              <a:ext uri="{FF2B5EF4-FFF2-40B4-BE49-F238E27FC236}">
                <a16:creationId xmlns:a16="http://schemas.microsoft.com/office/drawing/2014/main" id="{7A63B411-A626-4A1F-98BE-945AB512658F}"/>
              </a:ext>
            </a:extLst>
          </p:cNvPr>
          <p:cNvSpPr txBox="1"/>
          <p:nvPr/>
        </p:nvSpPr>
        <p:spPr>
          <a:xfrm>
            <a:off x="8617897" y="4756057"/>
            <a:ext cx="374333" cy="400110"/>
          </a:xfrm>
          <a:prstGeom prst="rect">
            <a:avLst/>
          </a:prstGeom>
          <a:noFill/>
        </p:spPr>
        <p:txBody>
          <a:bodyPr wrap="square" rtlCol="0">
            <a:spAutoFit/>
          </a:bodyPr>
          <a:lstStyle/>
          <a:p>
            <a:r>
              <a:rPr lang="en-US" sz="2000" b="1" dirty="0"/>
              <a:t>…</a:t>
            </a:r>
          </a:p>
        </p:txBody>
      </p:sp>
    </p:spTree>
    <p:extLst>
      <p:ext uri="{BB962C8B-B14F-4D97-AF65-F5344CB8AC3E}">
        <p14:creationId xmlns:p14="http://schemas.microsoft.com/office/powerpoint/2010/main" val="39531961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D5C5F-7986-4213-9F79-6D757DDFD37F}"/>
              </a:ext>
            </a:extLst>
          </p:cNvPr>
          <p:cNvSpPr>
            <a:spLocks noGrp="1"/>
          </p:cNvSpPr>
          <p:nvPr>
            <p:ph type="title"/>
          </p:nvPr>
        </p:nvSpPr>
        <p:spPr/>
        <p:txBody>
          <a:bodyPr/>
          <a:lstStyle/>
          <a:p>
            <a:r>
              <a:rPr lang="en-US" dirty="0"/>
              <a:t>Definition of Cluster Randomized Designs</a:t>
            </a:r>
          </a:p>
        </p:txBody>
      </p:sp>
      <p:sp>
        <p:nvSpPr>
          <p:cNvPr id="3" name="Content Placeholder 2">
            <a:extLst>
              <a:ext uri="{FF2B5EF4-FFF2-40B4-BE49-F238E27FC236}">
                <a16:creationId xmlns:a16="http://schemas.microsoft.com/office/drawing/2014/main" id="{7A95AA3A-9609-46BB-B5CF-05C93FE6F721}"/>
              </a:ext>
            </a:extLst>
          </p:cNvPr>
          <p:cNvSpPr>
            <a:spLocks noGrp="1"/>
          </p:cNvSpPr>
          <p:nvPr>
            <p:ph idx="1"/>
          </p:nvPr>
        </p:nvSpPr>
        <p:spPr/>
        <p:txBody>
          <a:bodyPr/>
          <a:lstStyle/>
          <a:p>
            <a:pPr marL="0" indent="0">
              <a:buNone/>
            </a:pPr>
            <a:r>
              <a:rPr lang="en-US" dirty="0"/>
              <a:t>An equal number </a:t>
            </a:r>
            <a:r>
              <a:rPr lang="en-US" i="1" dirty="0">
                <a:latin typeface="Times New Roman" panose="02020603050405020304" pitchFamily="18" charset="0"/>
                <a:cs typeface="Times New Roman" panose="02020603050405020304" pitchFamily="18" charset="0"/>
              </a:rPr>
              <a:t>n</a:t>
            </a:r>
            <a:r>
              <a:rPr lang="en-US" dirty="0"/>
              <a:t> of individuals from each cluster is typically ideal, but this is not necessary (planning designs almost always assumes equal </a:t>
            </a:r>
            <a:r>
              <a:rPr lang="en-US" i="1" dirty="0">
                <a:latin typeface="Times New Roman" panose="02020603050405020304" pitchFamily="18" charset="0"/>
                <a:cs typeface="Times New Roman" panose="02020603050405020304" pitchFamily="18" charset="0"/>
              </a:rPr>
              <a:t>n</a:t>
            </a:r>
            <a:r>
              <a:rPr lang="en-US" dirty="0"/>
              <a:t> per cluster for simplicity)</a:t>
            </a:r>
          </a:p>
          <a:p>
            <a:pPr marL="0" indent="0">
              <a:buNone/>
            </a:pPr>
            <a:endParaRPr lang="en-US" dirty="0"/>
          </a:p>
          <a:p>
            <a:pPr marL="0" indent="0">
              <a:buNone/>
            </a:pPr>
            <a:r>
              <a:rPr lang="en-US" dirty="0"/>
              <a:t>An equal number of clusters </a:t>
            </a:r>
            <a:r>
              <a:rPr lang="en-US" i="1" dirty="0">
                <a:latin typeface="Times New Roman" panose="02020603050405020304" pitchFamily="18" charset="0"/>
                <a:cs typeface="Times New Roman" panose="02020603050405020304" pitchFamily="18" charset="0"/>
              </a:rPr>
              <a:t>m</a:t>
            </a:r>
            <a:r>
              <a:rPr lang="en-US" dirty="0"/>
              <a:t> is typically used in treatment and control groups, but this isn’t necessary either</a:t>
            </a:r>
          </a:p>
          <a:p>
            <a:pPr marL="0" indent="0">
              <a:buNone/>
            </a:pPr>
            <a:endParaRPr lang="en-US" dirty="0"/>
          </a:p>
          <a:p>
            <a:pPr marL="0" indent="0">
              <a:buNone/>
            </a:pPr>
            <a:r>
              <a:rPr lang="en-US" dirty="0"/>
              <a:t>The key to the design is that clusters are assigned to treatment groups using a random process</a:t>
            </a:r>
          </a:p>
        </p:txBody>
      </p:sp>
    </p:spTree>
    <p:extLst>
      <p:ext uri="{BB962C8B-B14F-4D97-AF65-F5344CB8AC3E}">
        <p14:creationId xmlns:p14="http://schemas.microsoft.com/office/powerpoint/2010/main" val="20947157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3A8A8-F50E-437B-9306-4087F7DD59B8}"/>
              </a:ext>
            </a:extLst>
          </p:cNvPr>
          <p:cNvSpPr>
            <a:spLocks noGrp="1"/>
          </p:cNvSpPr>
          <p:nvPr>
            <p:ph type="title"/>
          </p:nvPr>
        </p:nvSpPr>
        <p:spPr/>
        <p:txBody>
          <a:bodyPr/>
          <a:lstStyle/>
          <a:p>
            <a:r>
              <a:rPr lang="en-US" dirty="0"/>
              <a:t>Why Would You Use A Cluster Randomized Design?</a:t>
            </a:r>
          </a:p>
        </p:txBody>
      </p:sp>
      <p:sp>
        <p:nvSpPr>
          <p:cNvPr id="3" name="Content Placeholder 2">
            <a:extLst>
              <a:ext uri="{FF2B5EF4-FFF2-40B4-BE49-F238E27FC236}">
                <a16:creationId xmlns:a16="http://schemas.microsoft.com/office/drawing/2014/main" id="{8392AB37-310E-4A72-B455-4B659F9BEF1C}"/>
              </a:ext>
            </a:extLst>
          </p:cNvPr>
          <p:cNvSpPr>
            <a:spLocks noGrp="1"/>
          </p:cNvSpPr>
          <p:nvPr>
            <p:ph idx="1"/>
          </p:nvPr>
        </p:nvSpPr>
        <p:spPr/>
        <p:txBody>
          <a:bodyPr>
            <a:normAutofit lnSpcReduction="10000"/>
          </a:bodyPr>
          <a:lstStyle/>
          <a:p>
            <a:pPr marL="0" indent="0">
              <a:buNone/>
            </a:pPr>
            <a:r>
              <a:rPr lang="en-US" dirty="0"/>
              <a:t>Cluster randomized designs make sense when it is practically, politically, or conceptually difficult to assign treatments to individuals</a:t>
            </a:r>
          </a:p>
          <a:p>
            <a:pPr marL="0" indent="0">
              <a:buNone/>
            </a:pPr>
            <a:endParaRPr lang="en-US" dirty="0"/>
          </a:p>
          <a:p>
            <a:pPr marL="0" indent="0">
              <a:buNone/>
            </a:pPr>
            <a:r>
              <a:rPr lang="en-US" dirty="0"/>
              <a:t>For example:</a:t>
            </a:r>
          </a:p>
          <a:p>
            <a:pPr marL="0" indent="0">
              <a:buNone/>
            </a:pPr>
            <a:endParaRPr lang="en-US" dirty="0"/>
          </a:p>
          <a:p>
            <a:r>
              <a:rPr lang="en-US" dirty="0"/>
              <a:t>It may be difficult to assign different curricula to students in the same classroom or school</a:t>
            </a:r>
          </a:p>
          <a:p>
            <a:endParaRPr lang="en-US" dirty="0"/>
          </a:p>
          <a:p>
            <a:r>
              <a:rPr lang="en-US" dirty="0"/>
              <a:t>If one treatment is perceived to be more desirable, it may be difficult to persuade parents or students to allow random assignment that could lead to receiving the less desirable treatment</a:t>
            </a:r>
          </a:p>
          <a:p>
            <a:endParaRPr lang="en-US" dirty="0"/>
          </a:p>
          <a:p>
            <a:r>
              <a:rPr lang="en-US" dirty="0"/>
              <a:t>The treatment is defined in terms of whole clusters, it may not be conceptually possible to assign individually (e.g., whole school positive behavior support, whole school  or class participation or trust initiatives, etc.)</a:t>
            </a:r>
          </a:p>
          <a:p>
            <a:pPr marL="0" indent="0">
              <a:buNone/>
            </a:pPr>
            <a:endParaRPr lang="en-US" dirty="0"/>
          </a:p>
          <a:p>
            <a:pPr marL="0" indent="0">
              <a:buNone/>
            </a:pPr>
            <a:r>
              <a:rPr lang="en-US" dirty="0"/>
              <a:t>Cluster randomized designs are also used if there is a high possibility of treatment diffusion within clusters (treatment contamination in the control group), which would compromise the treatment-control  contrast</a:t>
            </a:r>
          </a:p>
          <a:p>
            <a:pPr marL="0" indent="0">
              <a:buNone/>
            </a:pPr>
            <a:endParaRPr lang="en-US" dirty="0"/>
          </a:p>
        </p:txBody>
      </p:sp>
    </p:spTree>
    <p:extLst>
      <p:ext uri="{BB962C8B-B14F-4D97-AF65-F5344CB8AC3E}">
        <p14:creationId xmlns:p14="http://schemas.microsoft.com/office/powerpoint/2010/main" val="31165234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84343-4378-4FC9-86BA-BF628AAC0827}"/>
              </a:ext>
            </a:extLst>
          </p:cNvPr>
          <p:cNvSpPr>
            <a:spLocks noGrp="1"/>
          </p:cNvSpPr>
          <p:nvPr>
            <p:ph type="title"/>
          </p:nvPr>
        </p:nvSpPr>
        <p:spPr/>
        <p:txBody>
          <a:bodyPr/>
          <a:lstStyle/>
          <a:p>
            <a:r>
              <a:rPr lang="en-US" dirty="0"/>
              <a:t>A Statistical Model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F4F711F-51A6-4F79-B48B-7E96660DB955}"/>
                  </a:ext>
                </a:extLst>
              </p:cNvPr>
              <p:cNvSpPr>
                <a:spLocks noGrp="1"/>
              </p:cNvSpPr>
              <p:nvPr>
                <p:ph idx="1"/>
              </p:nvPr>
            </p:nvSpPr>
            <p:spPr/>
            <p:txBody>
              <a:bodyPr>
                <a:normAutofit fontScale="92500" lnSpcReduction="20000"/>
              </a:bodyPr>
              <a:lstStyle/>
              <a:p>
                <a:pPr marL="0" indent="0">
                  <a:buNone/>
                </a:pPr>
                <a:r>
                  <a:rPr lang="en-US" dirty="0"/>
                  <a:t>Suppose we assign the same number </a:t>
                </a:r>
                <a:r>
                  <a:rPr lang="en-US" i="1" dirty="0">
                    <a:latin typeface="Times New Roman" panose="02020603050405020304" pitchFamily="18" charset="0"/>
                    <a:cs typeface="Times New Roman" panose="02020603050405020304" pitchFamily="18" charset="0"/>
                  </a:rPr>
                  <a:t>m</a:t>
                </a:r>
                <a:r>
                  <a:rPr lang="en-US" dirty="0"/>
                  <a:t> of cluster to each treatment group and each cluster has the same number of individuals </a:t>
                </a:r>
                <a:r>
                  <a:rPr lang="en-US" i="1" dirty="0">
                    <a:latin typeface="Times New Roman" panose="02020603050405020304" pitchFamily="18" charset="0"/>
                    <a:cs typeface="Times New Roman" panose="02020603050405020304" pitchFamily="18" charset="0"/>
                  </a:rPr>
                  <a:t>n</a:t>
                </a:r>
                <a:endParaRPr lang="en-US" dirty="0"/>
              </a:p>
              <a:p>
                <a:pPr marL="0" indent="0">
                  <a:buNone/>
                </a:pPr>
                <a:endParaRPr lang="en-US" dirty="0"/>
              </a:p>
              <a:p>
                <a:pPr marL="0" indent="0">
                  <a:buNone/>
                </a:pPr>
                <a:r>
                  <a:rPr lang="en-US" dirty="0"/>
                  <a:t>Let </a:t>
                </a:r>
                <a:r>
                  <a:rPr lang="en-US" dirty="0">
                    <a:effectLst/>
                    <a:ea typeface="Calibri" panose="020F0502020204030204" pitchFamily="34" charset="0"/>
                  </a:rPr>
                  <a:t>the outcome measurement of the </a:t>
                </a:r>
                <a14:m>
                  <m:oMath xmlns:m="http://schemas.openxmlformats.org/officeDocument/2006/math">
                    <m:sSup>
                      <m:sSupPr>
                        <m:ctrlPr>
                          <a:rPr lang="en-US" i="1">
                            <a:effectLst/>
                            <a:latin typeface="Cambria Math" panose="02040503050406030204" pitchFamily="18" charset="0"/>
                            <a:cs typeface="Times New Roman" panose="02020603050405020304" pitchFamily="18" charset="0"/>
                          </a:rPr>
                        </m:ctrlPr>
                      </m:sSupPr>
                      <m:e>
                        <m:r>
                          <a:rPr lang="en-US" i="1">
                            <a:effectLst/>
                            <a:latin typeface="Cambria Math" panose="02040503050406030204" pitchFamily="18" charset="0"/>
                            <a:ea typeface="Calibri" panose="020F0502020204030204" pitchFamily="34" charset="0"/>
                            <a:cs typeface="Times New Roman" panose="02020603050405020304" pitchFamily="18" charset="0"/>
                          </a:rPr>
                          <m:t>𝑘</m:t>
                        </m:r>
                      </m:e>
                      <m:sup>
                        <m:r>
                          <a:rPr lang="en-US" i="1">
                            <a:effectLst/>
                            <a:latin typeface="Cambria Math" panose="02040503050406030204" pitchFamily="18" charset="0"/>
                            <a:ea typeface="Calibri" panose="020F0502020204030204" pitchFamily="34" charset="0"/>
                            <a:cs typeface="Times New Roman" panose="02020603050405020304" pitchFamily="18" charset="0"/>
                          </a:rPr>
                          <m:t>𝑡h</m:t>
                        </m:r>
                      </m:sup>
                    </m:sSup>
                  </m:oMath>
                </a14:m>
                <a:r>
                  <a:rPr lang="en-US" dirty="0">
                    <a:effectLst/>
                    <a:latin typeface="Times New Roman" panose="02020603050405020304" pitchFamily="18" charset="0"/>
                    <a:ea typeface="Calibri" panose="020F0502020204030204" pitchFamily="34" charset="0"/>
                  </a:rPr>
                  <a:t> </a:t>
                </a:r>
                <a:r>
                  <a:rPr lang="en-US" dirty="0">
                    <a:effectLst/>
                    <a:ea typeface="Calibri" panose="020F0502020204030204" pitchFamily="34" charset="0"/>
                  </a:rPr>
                  <a:t>student in the </a:t>
                </a:r>
                <a14:m>
                  <m:oMath xmlns:m="http://schemas.openxmlformats.org/officeDocument/2006/math">
                    <m:sSup>
                      <m:sSupPr>
                        <m:ctrlPr>
                          <a:rPr lang="en-US" i="1" smtClean="0">
                            <a:effectLst/>
                            <a:latin typeface="Cambria Math" panose="02040503050406030204" pitchFamily="18" charset="0"/>
                            <a:cs typeface="Times New Roman" panose="02020603050405020304" pitchFamily="18" charset="0"/>
                          </a:rPr>
                        </m:ctrlPr>
                      </m:sSupPr>
                      <m:e>
                        <m:r>
                          <a:rPr lang="en-US" b="0" i="1" smtClean="0">
                            <a:effectLst/>
                            <a:latin typeface="Cambria Math" panose="02040503050406030204" pitchFamily="18" charset="0"/>
                            <a:ea typeface="Calibri" panose="020F0502020204030204" pitchFamily="34" charset="0"/>
                            <a:cs typeface="Times New Roman" panose="02020603050405020304" pitchFamily="18" charset="0"/>
                          </a:rPr>
                          <m:t>𝑗</m:t>
                        </m:r>
                      </m:e>
                      <m:sup>
                        <m:r>
                          <a:rPr lang="en-US" i="1" baseline="30000">
                            <a:effectLst/>
                            <a:latin typeface="Cambria Math" panose="02040503050406030204" pitchFamily="18" charset="0"/>
                            <a:ea typeface="Calibri" panose="020F0502020204030204" pitchFamily="34" charset="0"/>
                            <a:cs typeface="Times New Roman" panose="02020603050405020304" pitchFamily="18" charset="0"/>
                          </a:rPr>
                          <m:t>𝑡h</m:t>
                        </m:r>
                      </m:sup>
                    </m:sSup>
                  </m:oMath>
                </a14:m>
                <a:r>
                  <a:rPr lang="en-US" dirty="0">
                    <a:effectLst/>
                    <a:ea typeface="Calibri" panose="020F0502020204030204" pitchFamily="34" charset="0"/>
                  </a:rPr>
                  <a:t> cluster of the  </a:t>
                </a:r>
                <a14:m>
                  <m:oMath xmlns:m="http://schemas.openxmlformats.org/officeDocument/2006/math">
                    <m:sSup>
                      <m:sSupPr>
                        <m:ctrlPr>
                          <a:rPr lang="en-US" i="1">
                            <a:effectLst/>
                            <a:latin typeface="Cambria Math" panose="02040503050406030204" pitchFamily="18" charset="0"/>
                            <a:cs typeface="Times New Roman" panose="02020603050405020304" pitchFamily="18" charset="0"/>
                          </a:rPr>
                        </m:ctrlPr>
                      </m:sSupPr>
                      <m:e>
                        <m:r>
                          <a:rPr lang="en-US" i="1">
                            <a:effectLst/>
                            <a:latin typeface="Cambria Math" panose="02040503050406030204" pitchFamily="18" charset="0"/>
                            <a:ea typeface="Calibri" panose="020F0502020204030204" pitchFamily="34" charset="0"/>
                            <a:cs typeface="Times New Roman" panose="02020603050405020304" pitchFamily="18" charset="0"/>
                          </a:rPr>
                          <m:t>𝑖</m:t>
                        </m:r>
                      </m:e>
                      <m:sup>
                        <m:r>
                          <a:rPr lang="en-US" i="1" baseline="30000">
                            <a:effectLst/>
                            <a:latin typeface="Cambria Math" panose="02040503050406030204" pitchFamily="18" charset="0"/>
                            <a:ea typeface="Calibri" panose="020F0502020204030204" pitchFamily="34" charset="0"/>
                            <a:cs typeface="Times New Roman" panose="02020603050405020304" pitchFamily="18" charset="0"/>
                          </a:rPr>
                          <m:t>𝑡h</m:t>
                        </m:r>
                      </m:sup>
                    </m:sSup>
                  </m:oMath>
                </a14:m>
                <a:r>
                  <a:rPr lang="en-US" dirty="0">
                    <a:effectLst/>
                    <a:ea typeface="Calibri" panose="020F0502020204030204" pitchFamily="34" charset="0"/>
                  </a:rPr>
                  <a:t> group</a:t>
                </a:r>
                <a:r>
                  <a:rPr lang="en-US" dirty="0">
                    <a:ea typeface="Calibri" panose="020F0502020204030204" pitchFamily="34" charset="0"/>
                  </a:rPr>
                  <a:t> be denoted </a:t>
                </a:r>
                <a:r>
                  <a:rPr lang="en-US" i="1" dirty="0" err="1">
                    <a:latin typeface="Times New Roman" panose="02020603050405020304" pitchFamily="18" charset="0"/>
                    <a:ea typeface="Calibri" panose="020F0502020204030204" pitchFamily="34" charset="0"/>
                    <a:cs typeface="Times New Roman" panose="02020603050405020304" pitchFamily="18" charset="0"/>
                  </a:rPr>
                  <a:t>Y</a:t>
                </a:r>
                <a:r>
                  <a:rPr lang="en-US" i="1" baseline="-25000" dirty="0" err="1">
                    <a:latin typeface="Times New Roman" panose="02020603050405020304" pitchFamily="18" charset="0"/>
                    <a:ea typeface="Calibri" panose="020F0502020204030204" pitchFamily="34" charset="0"/>
                    <a:cs typeface="Times New Roman" panose="02020603050405020304" pitchFamily="18" charset="0"/>
                  </a:rPr>
                  <a:t>ijk</a:t>
                </a:r>
                <a:r>
                  <a:rPr lang="en-US" dirty="0">
                    <a:ea typeface="Calibri" panose="020F0502020204030204" pitchFamily="34" charset="0"/>
                  </a:rPr>
                  <a:t> </a:t>
                </a:r>
                <a:r>
                  <a:rPr lang="en-US" dirty="0">
                    <a:latin typeface="Times New Roman" panose="02020603050405020304" pitchFamily="18" charset="0"/>
                    <a:ea typeface="Times New Roman" panose="02020603050405020304" pitchFamily="18" charset="0"/>
                  </a:rPr>
                  <a:t>(</a:t>
                </a:r>
                <a:r>
                  <a:rPr lang="en-US" i="1" dirty="0">
                    <a:latin typeface="Times New Roman" panose="02020603050405020304" pitchFamily="18" charset="0"/>
                    <a:ea typeface="Times New Roman" panose="02020603050405020304" pitchFamily="18" charset="0"/>
                  </a:rPr>
                  <a:t>i</a:t>
                </a:r>
                <a:r>
                  <a:rPr lang="en-US" dirty="0">
                    <a:latin typeface="Times New Roman" panose="02020603050405020304" pitchFamily="18" charset="0"/>
                    <a:ea typeface="Times New Roman" panose="02020603050405020304" pitchFamily="18" charset="0"/>
                  </a:rPr>
                  <a:t> = 1</a:t>
                </a:r>
                <a:r>
                  <a:rPr lang="en-US" dirty="0">
                    <a:ea typeface="Times New Roman" panose="02020603050405020304" pitchFamily="18" charset="0"/>
                  </a:rPr>
                  <a:t> implies treatment and</a:t>
                </a:r>
                <a:r>
                  <a:rPr lang="en-US" dirty="0">
                    <a:latin typeface="Times New Roman" panose="02020603050405020304" pitchFamily="18" charset="0"/>
                    <a:ea typeface="Times New Roman" panose="02020603050405020304" pitchFamily="18" charset="0"/>
                  </a:rPr>
                  <a:t> </a:t>
                </a:r>
                <a:r>
                  <a:rPr lang="en-US" i="1" dirty="0">
                    <a:latin typeface="Times New Roman" panose="02020603050405020304" pitchFamily="18" charset="0"/>
                    <a:ea typeface="Times New Roman" panose="02020603050405020304" pitchFamily="18" charset="0"/>
                  </a:rPr>
                  <a:t>i</a:t>
                </a:r>
                <a:r>
                  <a:rPr lang="en-US" dirty="0">
                    <a:latin typeface="Times New Roman" panose="02020603050405020304" pitchFamily="18" charset="0"/>
                    <a:ea typeface="Times New Roman" panose="02020603050405020304" pitchFamily="18" charset="0"/>
                  </a:rPr>
                  <a:t> = 2 </a:t>
                </a:r>
                <a:r>
                  <a:rPr lang="en-US" dirty="0">
                    <a:ea typeface="Times New Roman" panose="02020603050405020304" pitchFamily="18" charset="0"/>
                  </a:rPr>
                  <a:t>implies control)</a:t>
                </a:r>
              </a:p>
              <a:p>
                <a:pPr marL="0" indent="0">
                  <a:buNone/>
                </a:pPr>
                <a:endParaRPr lang="en-US" dirty="0">
                  <a:latin typeface="Times New Roman" panose="02020603050405020304" pitchFamily="18" charset="0"/>
                </a:endParaRPr>
              </a:p>
              <a:p>
                <a:pPr marL="0" indent="0">
                  <a:buNone/>
                </a:pPr>
                <a:r>
                  <a:rPr lang="en-US" dirty="0"/>
                  <a:t>The structural model is</a:t>
                </a:r>
              </a:p>
              <a:p>
                <a:pPr marL="0" indent="0">
                  <a:buNone/>
                </a:pPr>
                <a:endParaRPr lang="en-US" dirty="0"/>
              </a:p>
              <a:p>
                <a:pPr marL="0" indent="0">
                  <a:buNone/>
                </a:pPr>
                <a:r>
                  <a:rPr lang="en-US" dirty="0"/>
                  <a:t>	</a:t>
                </a:r>
                <a:r>
                  <a:rPr lang="en-US" dirty="0">
                    <a:effectLst/>
                    <a:cs typeface="Times New Roman" panose="02020603050405020304" pitchFamily="18" charset="0"/>
                  </a:rPr>
                  <a:t> </a:t>
                </a:r>
                <a14:m>
                  <m:oMath xmlns:m="http://schemas.openxmlformats.org/officeDocument/2006/math">
                    <m:sSub>
                      <m:sSubPr>
                        <m:ctrlPr>
                          <a:rPr lang="en-US" i="1">
                            <a:effectLst/>
                            <a:latin typeface="Cambria Math" panose="02040503050406030204" pitchFamily="18" charset="0"/>
                            <a:cs typeface="Times New Roman" panose="02020603050405020304" pitchFamily="18" charset="0"/>
                          </a:rPr>
                        </m:ctrlPr>
                      </m:sSubPr>
                      <m:e>
                        <m:r>
                          <a:rPr lang="en-US" i="1">
                            <a:effectLst/>
                            <a:latin typeface="Cambria Math" panose="02040503050406030204" pitchFamily="18" charset="0"/>
                            <a:ea typeface="Calibri" panose="020F0502020204030204" pitchFamily="34" charset="0"/>
                            <a:cs typeface="Times New Roman" panose="02020603050405020304" pitchFamily="18" charset="0"/>
                          </a:rPr>
                          <m:t>𝑌</m:t>
                        </m:r>
                      </m:e>
                      <m:sub>
                        <m:r>
                          <a:rPr lang="en-US" i="1">
                            <a:effectLst/>
                            <a:latin typeface="Cambria Math" panose="02040503050406030204" pitchFamily="18" charset="0"/>
                            <a:ea typeface="Calibri" panose="020F0502020204030204" pitchFamily="34" charset="0"/>
                            <a:cs typeface="Times New Roman" panose="02020603050405020304" pitchFamily="18" charset="0"/>
                          </a:rPr>
                          <m:t>𝑖𝑘</m:t>
                        </m:r>
                      </m:sub>
                    </m:sSub>
                    <m:r>
                      <a:rPr lang="en-US" i="1">
                        <a:effectLst/>
                        <a:latin typeface="Cambria Math" panose="02040503050406030204" pitchFamily="18" charset="0"/>
                        <a:ea typeface="Calibri" panose="020F0502020204030204" pitchFamily="34" charset="0"/>
                        <a:cs typeface="Times New Roman" panose="02020603050405020304" pitchFamily="18" charset="0"/>
                      </a:rPr>
                      <m:t> = </m:t>
                    </m:r>
                    <m:r>
                      <a:rPr lang="en-US" i="1">
                        <a:effectLst/>
                        <a:latin typeface="Cambria Math" panose="02040503050406030204" pitchFamily="18" charset="0"/>
                        <a:ea typeface="Calibri" panose="020F0502020204030204" pitchFamily="34" charset="0"/>
                        <a:cs typeface="Times New Roman" panose="02020603050405020304" pitchFamily="18" charset="0"/>
                      </a:rPr>
                      <m:t>𝜇</m:t>
                    </m:r>
                    <m:r>
                      <a:rPr lang="en-US" i="1">
                        <a:effectLst/>
                        <a:latin typeface="Cambria Math" panose="02040503050406030204" pitchFamily="18" charset="0"/>
                        <a:ea typeface="Calibri" panose="020F0502020204030204" pitchFamily="34" charset="0"/>
                        <a:cs typeface="Times New Roman" panose="02020603050405020304" pitchFamily="18" charset="0"/>
                      </a:rPr>
                      <m:t> + </m:t>
                    </m:r>
                    <m:sSub>
                      <m:sSubPr>
                        <m:ctrlPr>
                          <a:rPr lang="en-US" i="1">
                            <a:effectLst/>
                            <a:latin typeface="Cambria Math" panose="02040503050406030204" pitchFamily="18" charset="0"/>
                            <a:cs typeface="Times New Roman" panose="02020603050405020304" pitchFamily="18" charset="0"/>
                          </a:rPr>
                        </m:ctrlPr>
                      </m:sSubPr>
                      <m:e>
                        <m:r>
                          <a:rPr lang="en-US" i="1">
                            <a:effectLst/>
                            <a:latin typeface="Cambria Math" panose="02040503050406030204" pitchFamily="18" charset="0"/>
                            <a:ea typeface="Calibri" panose="020F0502020204030204" pitchFamily="34" charset="0"/>
                            <a:cs typeface="Times New Roman" panose="02020603050405020304" pitchFamily="18" charset="0"/>
                          </a:rPr>
                          <m:t>𝛼</m:t>
                        </m:r>
                      </m:e>
                      <m:sub>
                        <m:r>
                          <a:rPr lang="en-US" i="1">
                            <a:effectLst/>
                            <a:latin typeface="Cambria Math" panose="02040503050406030204" pitchFamily="18" charset="0"/>
                            <a:ea typeface="Calibri" panose="020F0502020204030204" pitchFamily="34" charset="0"/>
                            <a:cs typeface="Times New Roman" panose="02020603050405020304" pitchFamily="18" charset="0"/>
                          </a:rPr>
                          <m:t>𝑖</m:t>
                        </m:r>
                      </m:sub>
                    </m:sSub>
                    <m:r>
                      <a:rPr lang="en-US" i="1">
                        <a:effectLst/>
                        <a:latin typeface="Cambria Math" panose="02040503050406030204" pitchFamily="18" charset="0"/>
                        <a:ea typeface="Calibri" panose="020F0502020204030204" pitchFamily="34" charset="0"/>
                        <a:cs typeface="Times New Roman" panose="02020603050405020304" pitchFamily="18" charset="0"/>
                      </a:rPr>
                      <m:t> +</m:t>
                    </m:r>
                    <m:r>
                      <a:rPr lang="el-GR" i="1" smtClean="0">
                        <a:effectLst/>
                        <a:latin typeface="Cambria Math" panose="02040503050406030204" pitchFamily="18" charset="0"/>
                        <a:ea typeface="Calibri" panose="020F0502020204030204" pitchFamily="34" charset="0"/>
                        <a:cs typeface="Times New Roman" panose="02020603050405020304" pitchFamily="18" charset="0"/>
                      </a:rPr>
                      <m:t>𝛽</m:t>
                    </m:r>
                    <m:r>
                      <a:rPr lang="en-US" b="0" i="1" baseline="-25000" smtClean="0">
                        <a:effectLst/>
                        <a:latin typeface="Cambria Math" panose="02040503050406030204" pitchFamily="18" charset="0"/>
                        <a:ea typeface="Calibri" panose="020F0502020204030204" pitchFamily="34" charset="0"/>
                        <a:cs typeface="Times New Roman" panose="02020603050405020304" pitchFamily="18" charset="0"/>
                      </a:rPr>
                      <m:t>𝑗</m:t>
                    </m:r>
                    <m:r>
                      <a:rPr lang="en-US" b="0" i="1" smtClean="0">
                        <a:effectLst/>
                        <a:latin typeface="Cambria Math" panose="02040503050406030204" pitchFamily="18" charset="0"/>
                        <a:ea typeface="Calibri" panose="020F0502020204030204" pitchFamily="34" charset="0"/>
                        <a:cs typeface="Times New Roman" panose="02020603050405020304" pitchFamily="18" charset="0"/>
                      </a:rPr>
                      <m:t>+</m:t>
                    </m:r>
                    <m:r>
                      <a:rPr lang="en-US" i="1">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n-US" i="1">
                            <a:effectLst/>
                            <a:latin typeface="Cambria Math" panose="02040503050406030204" pitchFamily="18" charset="0"/>
                            <a:cs typeface="Times New Roman" panose="02020603050405020304" pitchFamily="18" charset="0"/>
                          </a:rPr>
                        </m:ctrlPr>
                      </m:sSubPr>
                      <m:e>
                        <m:r>
                          <a:rPr lang="en-US" i="1">
                            <a:effectLst/>
                            <a:latin typeface="Cambria Math" panose="02040503050406030204" pitchFamily="18" charset="0"/>
                            <a:ea typeface="Calibri" panose="020F0502020204030204" pitchFamily="34" charset="0"/>
                            <a:cs typeface="Times New Roman" panose="02020603050405020304" pitchFamily="18" charset="0"/>
                          </a:rPr>
                          <m:t>𝜀</m:t>
                        </m:r>
                      </m:e>
                      <m:sub>
                        <m:r>
                          <a:rPr lang="en-US" i="1">
                            <a:effectLst/>
                            <a:latin typeface="Cambria Math" panose="02040503050406030204" pitchFamily="18" charset="0"/>
                            <a:ea typeface="Calibri" panose="020F0502020204030204" pitchFamily="34" charset="0"/>
                            <a:cs typeface="Times New Roman" panose="02020603050405020304" pitchFamily="18" charset="0"/>
                          </a:rPr>
                          <m:t>𝑖</m:t>
                        </m:r>
                        <m:r>
                          <a:rPr lang="en-US" b="0" i="1" smtClean="0">
                            <a:effectLst/>
                            <a:latin typeface="Cambria Math" panose="02040503050406030204" pitchFamily="18" charset="0"/>
                            <a:ea typeface="Calibri" panose="020F0502020204030204" pitchFamily="34" charset="0"/>
                            <a:cs typeface="Times New Roman" panose="02020603050405020304" pitchFamily="18" charset="0"/>
                          </a:rPr>
                          <m:t>𝑗</m:t>
                        </m:r>
                        <m:r>
                          <a:rPr lang="en-US" i="1">
                            <a:effectLst/>
                            <a:latin typeface="Cambria Math" panose="02040503050406030204" pitchFamily="18" charset="0"/>
                            <a:ea typeface="Calibri" panose="020F0502020204030204" pitchFamily="34" charset="0"/>
                            <a:cs typeface="Times New Roman" panose="02020603050405020304" pitchFamily="18" charset="0"/>
                          </a:rPr>
                          <m:t>𝑘</m:t>
                        </m:r>
                      </m:sub>
                    </m:sSub>
                    <m:r>
                      <a:rPr lang="en-US" i="1">
                        <a:effectLst/>
                        <a:latin typeface="Cambria Math" panose="02040503050406030204" pitchFamily="18" charset="0"/>
                        <a:ea typeface="Calibri" panose="020F0502020204030204" pitchFamily="34" charset="0"/>
                        <a:cs typeface="Times New Roman" panose="02020603050405020304" pitchFamily="18" charset="0"/>
                      </a:rPr>
                      <m:t>, </m:t>
                    </m:r>
                    <m:r>
                      <a:rPr lang="en-US" i="1">
                        <a:effectLst/>
                        <a:latin typeface="Cambria Math" panose="02040503050406030204" pitchFamily="18" charset="0"/>
                        <a:ea typeface="Calibri" panose="020F0502020204030204" pitchFamily="34" charset="0"/>
                        <a:cs typeface="Times New Roman" panose="02020603050405020304" pitchFamily="18" charset="0"/>
                      </a:rPr>
                      <m:t>𝑖</m:t>
                    </m:r>
                    <m:r>
                      <a:rPr lang="en-US" i="1">
                        <a:effectLst/>
                        <a:latin typeface="Cambria Math" panose="02040503050406030204" pitchFamily="18" charset="0"/>
                        <a:ea typeface="Calibri" panose="020F0502020204030204" pitchFamily="34" charset="0"/>
                        <a:cs typeface="Times New Roman" panose="02020603050405020304" pitchFamily="18" charset="0"/>
                      </a:rPr>
                      <m:t> = 1, 2;</m:t>
                    </m:r>
                    <m:r>
                      <a:rPr lang="en-US" b="0" i="1" smtClean="0">
                        <a:effectLst/>
                        <a:latin typeface="Cambria Math" panose="02040503050406030204" pitchFamily="18" charset="0"/>
                        <a:ea typeface="Calibri" panose="020F0502020204030204" pitchFamily="34" charset="0"/>
                        <a:cs typeface="Times New Roman" panose="02020603050405020304" pitchFamily="18" charset="0"/>
                      </a:rPr>
                      <m:t>𝑗</m:t>
                    </m:r>
                    <m:r>
                      <a:rPr lang="en-US" b="0" i="1" smtClean="0">
                        <a:effectLst/>
                        <a:latin typeface="Cambria Math" panose="02040503050406030204" pitchFamily="18" charset="0"/>
                        <a:ea typeface="Calibri" panose="020F0502020204030204" pitchFamily="34" charset="0"/>
                        <a:cs typeface="Times New Roman" panose="02020603050405020304" pitchFamily="18" charset="0"/>
                      </a:rPr>
                      <m:t>=1, …, </m:t>
                    </m:r>
                    <m:r>
                      <a:rPr lang="en-US" b="0" i="1" smtClean="0">
                        <a:effectLst/>
                        <a:latin typeface="Cambria Math" panose="02040503050406030204" pitchFamily="18" charset="0"/>
                        <a:ea typeface="Calibri" panose="020F0502020204030204" pitchFamily="34" charset="0"/>
                        <a:cs typeface="Times New Roman" panose="02020603050405020304" pitchFamily="18" charset="0"/>
                      </a:rPr>
                      <m:t>𝑛</m:t>
                    </m:r>
                    <m:r>
                      <a:rPr lang="en-US"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i="1">
                        <a:effectLst/>
                        <a:latin typeface="Cambria Math" panose="02040503050406030204" pitchFamily="18" charset="0"/>
                        <a:ea typeface="Calibri" panose="020F0502020204030204" pitchFamily="34" charset="0"/>
                        <a:cs typeface="Times New Roman" panose="02020603050405020304" pitchFamily="18" charset="0"/>
                      </a:rPr>
                      <m:t>𝑘</m:t>
                    </m:r>
                    <m:r>
                      <a:rPr lang="en-US" i="1">
                        <a:effectLst/>
                        <a:latin typeface="Cambria Math" panose="02040503050406030204" pitchFamily="18" charset="0"/>
                        <a:ea typeface="Calibri" panose="020F0502020204030204" pitchFamily="34" charset="0"/>
                        <a:cs typeface="Times New Roman" panose="02020603050405020304" pitchFamily="18" charset="0"/>
                      </a:rPr>
                      <m:t>= 1, …, </m:t>
                    </m:r>
                    <m:r>
                      <a:rPr lang="en-US" i="1">
                        <a:effectLst/>
                        <a:latin typeface="Cambria Math" panose="02040503050406030204" pitchFamily="18" charset="0"/>
                        <a:ea typeface="Calibri" panose="020F0502020204030204" pitchFamily="34" charset="0"/>
                        <a:cs typeface="Times New Roman" panose="02020603050405020304" pitchFamily="18" charset="0"/>
                      </a:rPr>
                      <m:t>𝑛</m:t>
                    </m:r>
                  </m:oMath>
                </a14:m>
                <a:endParaRPr lang="en-US" dirty="0"/>
              </a:p>
              <a:p>
                <a:pPr marL="0" indent="0">
                  <a:buNone/>
                </a:pPr>
                <a:endParaRPr lang="en-US" dirty="0"/>
              </a:p>
              <a:p>
                <a:pPr marL="0" indent="0">
                  <a:buNone/>
                </a:pPr>
                <a:r>
                  <a:rPr lang="en-US" dirty="0"/>
                  <a:t>The “usual” stochastic specification has four parts :</a:t>
                </a:r>
              </a:p>
              <a:p>
                <a:pPr marL="0" indent="0">
                  <a:buNone/>
                </a:pPr>
                <a:endParaRPr lang="en-US" dirty="0"/>
              </a:p>
              <a:p>
                <a:pPr marL="457200" indent="-457200">
                  <a:buAutoNum type="arabicPeriod"/>
                </a:pPr>
                <a:r>
                  <a:rPr lang="en-US" dirty="0"/>
                  <a:t>The </a:t>
                </a:r>
                <a14:m>
                  <m:oMath xmlns:m="http://schemas.openxmlformats.org/officeDocument/2006/math">
                    <m:sSub>
                      <m:sSubPr>
                        <m:ctrlPr>
                          <a:rPr lang="en-US" i="1" smtClean="0">
                            <a:effectLst/>
                            <a:latin typeface="Cambria Math" panose="02040503050406030204" pitchFamily="18" charset="0"/>
                            <a:cs typeface="Times New Roman" panose="02020603050405020304" pitchFamily="18" charset="0"/>
                          </a:rPr>
                        </m:ctrlPr>
                      </m:sSubPr>
                      <m:e>
                        <m:r>
                          <a:rPr lang="en-US" i="1">
                            <a:effectLst/>
                            <a:latin typeface="Cambria Math" panose="02040503050406030204" pitchFamily="18" charset="0"/>
                            <a:ea typeface="Calibri" panose="020F0502020204030204" pitchFamily="34" charset="0"/>
                            <a:cs typeface="Times New Roman" panose="02020603050405020304" pitchFamily="18" charset="0"/>
                          </a:rPr>
                          <m:t>𝜀</m:t>
                        </m:r>
                      </m:e>
                      <m:sub>
                        <m:r>
                          <a:rPr lang="en-US" i="1">
                            <a:effectLst/>
                            <a:latin typeface="Cambria Math" panose="02040503050406030204" pitchFamily="18" charset="0"/>
                            <a:ea typeface="Calibri" panose="020F0502020204030204" pitchFamily="34" charset="0"/>
                            <a:cs typeface="Times New Roman" panose="02020603050405020304" pitchFamily="18" charset="0"/>
                          </a:rPr>
                          <m:t>𝑖</m:t>
                        </m:r>
                        <m:r>
                          <a:rPr lang="en-US" b="0" i="1" smtClean="0">
                            <a:effectLst/>
                            <a:latin typeface="Cambria Math" panose="02040503050406030204" pitchFamily="18" charset="0"/>
                            <a:ea typeface="Calibri" panose="020F0502020204030204" pitchFamily="34" charset="0"/>
                            <a:cs typeface="Times New Roman" panose="02020603050405020304" pitchFamily="18" charset="0"/>
                          </a:rPr>
                          <m:t>𝑗𝑘</m:t>
                        </m:r>
                      </m:sub>
                    </m:sSub>
                  </m:oMath>
                </a14:m>
                <a:r>
                  <a:rPr lang="en-US" dirty="0"/>
                  <a:t> and the</a:t>
                </a:r>
                <a:r>
                  <a:rPr lang="el-GR" dirty="0">
                    <a:effectLst/>
                    <a:ea typeface="Calibri" panose="020F0502020204030204" pitchFamily="34" charset="0"/>
                    <a:cs typeface="Times New Roman" panose="02020603050405020304" pitchFamily="18" charset="0"/>
                  </a:rPr>
                  <a:t> </a:t>
                </a:r>
                <a14:m>
                  <m:oMath xmlns:m="http://schemas.openxmlformats.org/officeDocument/2006/math">
                    <m:r>
                      <a:rPr lang="el-GR" i="1" smtClean="0">
                        <a:effectLst/>
                        <a:latin typeface="Cambria Math" panose="02040503050406030204" pitchFamily="18" charset="0"/>
                        <a:ea typeface="Calibri" panose="020F0502020204030204" pitchFamily="34" charset="0"/>
                        <a:cs typeface="Times New Roman" panose="02020603050405020304" pitchFamily="18" charset="0"/>
                      </a:rPr>
                      <m:t>𝛽</m:t>
                    </m:r>
                    <m:r>
                      <a:rPr lang="en-US" b="0" i="1" baseline="-25000" smtClean="0">
                        <a:effectLst/>
                        <a:latin typeface="Cambria Math" panose="02040503050406030204" pitchFamily="18" charset="0"/>
                        <a:ea typeface="Calibri" panose="020F0502020204030204" pitchFamily="34" charset="0"/>
                        <a:cs typeface="Times New Roman" panose="02020603050405020304" pitchFamily="18" charset="0"/>
                      </a:rPr>
                      <m:t>𝑗</m:t>
                    </m:r>
                  </m:oMath>
                </a14:m>
                <a:r>
                  <a:rPr lang="en-US" dirty="0"/>
                  <a:t> are independent of one another, </a:t>
                </a:r>
              </a:p>
              <a:p>
                <a:pPr marL="457200" indent="-457200">
                  <a:buAutoNum type="arabicPeriod"/>
                </a:pPr>
                <a:endParaRPr lang="en-US" dirty="0"/>
              </a:p>
              <a:p>
                <a:pPr marL="457200" indent="-457200">
                  <a:buAutoNum type="arabicPeriod"/>
                </a:pPr>
                <a:r>
                  <a:rPr lang="en-US" dirty="0"/>
                  <a:t>The </a:t>
                </a:r>
                <a14:m>
                  <m:oMath xmlns:m="http://schemas.openxmlformats.org/officeDocument/2006/math">
                    <m:sSub>
                      <m:sSubPr>
                        <m:ctrlPr>
                          <a:rPr lang="en-US" i="1" smtClean="0">
                            <a:effectLst/>
                            <a:latin typeface="Cambria Math" panose="02040503050406030204" pitchFamily="18" charset="0"/>
                            <a:cs typeface="Times New Roman" panose="02020603050405020304" pitchFamily="18" charset="0"/>
                          </a:rPr>
                        </m:ctrlPr>
                      </m:sSubPr>
                      <m:e>
                        <m:r>
                          <a:rPr lang="en-US" i="1">
                            <a:effectLst/>
                            <a:latin typeface="Cambria Math" panose="02040503050406030204" pitchFamily="18" charset="0"/>
                            <a:ea typeface="Calibri" panose="020F0502020204030204" pitchFamily="34" charset="0"/>
                            <a:cs typeface="Times New Roman" panose="02020603050405020304" pitchFamily="18" charset="0"/>
                          </a:rPr>
                          <m:t>𝜀</m:t>
                        </m:r>
                      </m:e>
                      <m:sub>
                        <m:r>
                          <a:rPr lang="en-US" i="1">
                            <a:effectLst/>
                            <a:latin typeface="Cambria Math" panose="02040503050406030204" pitchFamily="18" charset="0"/>
                            <a:ea typeface="Calibri" panose="020F0502020204030204" pitchFamily="34" charset="0"/>
                            <a:cs typeface="Times New Roman" panose="02020603050405020304" pitchFamily="18" charset="0"/>
                          </a:rPr>
                          <m:t>𝑖</m:t>
                        </m:r>
                        <m:r>
                          <a:rPr lang="en-US" b="0" i="1" smtClean="0">
                            <a:effectLst/>
                            <a:latin typeface="Cambria Math" panose="02040503050406030204" pitchFamily="18" charset="0"/>
                            <a:ea typeface="Calibri" panose="020F0502020204030204" pitchFamily="34" charset="0"/>
                            <a:cs typeface="Times New Roman" panose="02020603050405020304" pitchFamily="18" charset="0"/>
                          </a:rPr>
                          <m:t>𝑗</m:t>
                        </m:r>
                        <m:r>
                          <a:rPr lang="en-US" i="1">
                            <a:effectLst/>
                            <a:latin typeface="Cambria Math" panose="02040503050406030204" pitchFamily="18" charset="0"/>
                            <a:ea typeface="Calibri" panose="020F0502020204030204" pitchFamily="34" charset="0"/>
                            <a:cs typeface="Times New Roman" panose="02020603050405020304" pitchFamily="18" charset="0"/>
                          </a:rPr>
                          <m:t>𝑘</m:t>
                        </m:r>
                      </m:sub>
                    </m:sSub>
                  </m:oMath>
                </a14:m>
                <a:r>
                  <a:rPr lang="en-US" dirty="0"/>
                  <a:t> are normally distributed, and </a:t>
                </a:r>
              </a:p>
              <a:p>
                <a:pPr marL="457200" indent="-457200">
                  <a:buAutoNum type="arabicPeriod"/>
                </a:pPr>
                <a:endParaRPr lang="en-US" dirty="0"/>
              </a:p>
              <a:p>
                <a:pPr marL="457200" indent="-457200">
                  <a:buAutoNum type="arabicPeriod"/>
                </a:pPr>
                <a:r>
                  <a:rPr lang="en-US" dirty="0"/>
                  <a:t>The </a:t>
                </a:r>
                <a14:m>
                  <m:oMath xmlns:m="http://schemas.openxmlformats.org/officeDocument/2006/math">
                    <m:sSub>
                      <m:sSubPr>
                        <m:ctrlPr>
                          <a:rPr lang="en-US" i="1" smtClean="0">
                            <a:effectLst/>
                            <a:latin typeface="Cambria Math" panose="02040503050406030204" pitchFamily="18" charset="0"/>
                            <a:cs typeface="Times New Roman" panose="02020603050405020304" pitchFamily="18" charset="0"/>
                          </a:rPr>
                        </m:ctrlPr>
                      </m:sSubPr>
                      <m:e>
                        <m:r>
                          <a:rPr lang="en-US" i="1">
                            <a:effectLst/>
                            <a:latin typeface="Cambria Math" panose="02040503050406030204" pitchFamily="18" charset="0"/>
                            <a:ea typeface="Calibri" panose="020F0502020204030204" pitchFamily="34" charset="0"/>
                            <a:cs typeface="Times New Roman" panose="02020603050405020304" pitchFamily="18" charset="0"/>
                          </a:rPr>
                          <m:t>𝜀</m:t>
                        </m:r>
                      </m:e>
                      <m:sub>
                        <m:r>
                          <a:rPr lang="en-US" i="1">
                            <a:effectLst/>
                            <a:latin typeface="Cambria Math" panose="02040503050406030204" pitchFamily="18" charset="0"/>
                            <a:ea typeface="Calibri" panose="020F0502020204030204" pitchFamily="34" charset="0"/>
                            <a:cs typeface="Times New Roman" panose="02020603050405020304" pitchFamily="18" charset="0"/>
                          </a:rPr>
                          <m:t>𝑖</m:t>
                        </m:r>
                        <m:r>
                          <a:rPr lang="en-US" b="0" i="1" smtClean="0">
                            <a:effectLst/>
                            <a:latin typeface="Cambria Math" panose="02040503050406030204" pitchFamily="18" charset="0"/>
                            <a:ea typeface="Calibri" panose="020F0502020204030204" pitchFamily="34" charset="0"/>
                            <a:cs typeface="Times New Roman" panose="02020603050405020304" pitchFamily="18" charset="0"/>
                          </a:rPr>
                          <m:t>𝑗</m:t>
                        </m:r>
                        <m:r>
                          <a:rPr lang="en-US" i="1">
                            <a:effectLst/>
                            <a:latin typeface="Cambria Math" panose="02040503050406030204" pitchFamily="18" charset="0"/>
                            <a:ea typeface="Calibri" panose="020F0502020204030204" pitchFamily="34" charset="0"/>
                            <a:cs typeface="Times New Roman" panose="02020603050405020304" pitchFamily="18" charset="0"/>
                          </a:rPr>
                          <m:t>𝑘</m:t>
                        </m:r>
                      </m:sub>
                    </m:sSub>
                  </m:oMath>
                </a14:m>
                <a:r>
                  <a:rPr lang="en-US" dirty="0"/>
                  <a:t> have the same variance </a:t>
                </a:r>
                <a:r>
                  <a:rPr lang="en-US" i="1" dirty="0">
                    <a:latin typeface="Cambria Math" panose="02040503050406030204" pitchFamily="18" charset="0"/>
                    <a:ea typeface="Cambria Math" panose="02040503050406030204" pitchFamily="18" charset="0"/>
                  </a:rPr>
                  <a:t>𝜎</a:t>
                </a:r>
                <a:r>
                  <a:rPr lang="el-GR" i="1" baseline="-25000" dirty="0">
                    <a:latin typeface="Times New Roman" panose="02020603050405020304" pitchFamily="18" charset="0"/>
                    <a:ea typeface="Cambria Math" panose="02040503050406030204" pitchFamily="18" charset="0"/>
                    <a:cs typeface="Times New Roman" panose="02020603050405020304" pitchFamily="18" charset="0"/>
                  </a:rPr>
                  <a:t>ε</a:t>
                </a:r>
                <a:r>
                  <a:rPr lang="en-US" i="1" baseline="30000" dirty="0">
                    <a:latin typeface="Times New Roman" panose="02020603050405020304" pitchFamily="18" charset="0"/>
                    <a:ea typeface="Cambria Math" panose="02040503050406030204" pitchFamily="18" charset="0"/>
                    <a:cs typeface="Times New Roman" panose="02020603050405020304" pitchFamily="18" charset="0"/>
                  </a:rPr>
                  <a:t>2</a:t>
                </a:r>
                <a:endParaRPr lang="en-US" i="1" baseline="30000" dirty="0"/>
              </a:p>
              <a:p>
                <a:pPr marL="0" indent="0">
                  <a:buNone/>
                </a:pPr>
                <a:endParaRPr lang="en-US" dirty="0"/>
              </a:p>
              <a:p>
                <a:pPr marL="0" indent="0">
                  <a:buNone/>
                </a:pPr>
                <a:r>
                  <a:rPr lang="en-US" dirty="0"/>
                  <a:t>4.     The </a:t>
                </a:r>
                <a14:m>
                  <m:oMath xmlns:m="http://schemas.openxmlformats.org/officeDocument/2006/math">
                    <m:r>
                      <a:rPr lang="el-GR" i="1" smtClean="0">
                        <a:effectLst/>
                        <a:latin typeface="Cambria Math" panose="02040503050406030204" pitchFamily="18" charset="0"/>
                        <a:ea typeface="Calibri" panose="020F0502020204030204" pitchFamily="34" charset="0"/>
                        <a:cs typeface="Times New Roman" panose="02020603050405020304" pitchFamily="18" charset="0"/>
                      </a:rPr>
                      <m:t>𝛽</m:t>
                    </m:r>
                    <m:r>
                      <a:rPr lang="en-US" b="0" i="1" baseline="-25000" smtClean="0">
                        <a:effectLst/>
                        <a:latin typeface="Cambria Math" panose="02040503050406030204" pitchFamily="18" charset="0"/>
                        <a:ea typeface="Calibri" panose="020F0502020204030204" pitchFamily="34" charset="0"/>
                        <a:cs typeface="Times New Roman" panose="02020603050405020304" pitchFamily="18" charset="0"/>
                      </a:rPr>
                      <m:t>𝑗</m:t>
                    </m:r>
                  </m:oMath>
                </a14:m>
                <a:r>
                  <a:rPr lang="en-US" dirty="0"/>
                  <a:t> are random and have the same variance </a:t>
                </a:r>
                <a:r>
                  <a:rPr lang="el-GR" i="1" dirty="0">
                    <a:latin typeface="Times New Roman" panose="02020603050405020304" pitchFamily="18" charset="0"/>
                    <a:cs typeface="Times New Roman" panose="02020603050405020304" pitchFamily="18" charset="0"/>
                  </a:rPr>
                  <a:t>τ</a:t>
                </a:r>
                <a:r>
                  <a:rPr lang="en-US" i="1" baseline="30000" dirty="0">
                    <a:latin typeface="Times New Roman" panose="02020603050405020304" pitchFamily="18" charset="0"/>
                    <a:cs typeface="Times New Roman" panose="02020603050405020304" pitchFamily="18" charset="0"/>
                  </a:rPr>
                  <a:t>2</a:t>
                </a:r>
                <a:endParaRPr lang="en-US" i="1" baseline="30000" dirty="0"/>
              </a:p>
            </p:txBody>
          </p:sp>
        </mc:Choice>
        <mc:Fallback xmlns="">
          <p:sp>
            <p:nvSpPr>
              <p:cNvPr id="3" name="Content Placeholder 2">
                <a:extLst>
                  <a:ext uri="{FF2B5EF4-FFF2-40B4-BE49-F238E27FC236}">
                    <a16:creationId xmlns:a16="http://schemas.microsoft.com/office/drawing/2014/main" id="{BF4F711F-51A6-4F79-B48B-7E96660DB955}"/>
                  </a:ext>
                </a:extLst>
              </p:cNvPr>
              <p:cNvSpPr>
                <a:spLocks noGrp="1" noRot="1" noChangeAspect="1" noMove="1" noResize="1" noEditPoints="1" noAdjustHandles="1" noChangeArrowheads="1" noChangeShapeType="1" noTextEdit="1"/>
              </p:cNvSpPr>
              <p:nvPr>
                <p:ph idx="1"/>
              </p:nvPr>
            </p:nvSpPr>
            <p:spPr>
              <a:blipFill>
                <a:blip r:embed="rId2"/>
                <a:stretch>
                  <a:fillRect l="-580" t="-2521" r="-522"/>
                </a:stretch>
              </a:blipFill>
            </p:spPr>
            <p:txBody>
              <a:bodyPr/>
              <a:lstStyle/>
              <a:p>
                <a:r>
                  <a:rPr lang="en-US">
                    <a:noFill/>
                  </a:rPr>
                  <a:t> </a:t>
                </a:r>
              </a:p>
            </p:txBody>
          </p:sp>
        </mc:Fallback>
      </mc:AlternateContent>
    </p:spTree>
    <p:extLst>
      <p:ext uri="{BB962C8B-B14F-4D97-AF65-F5344CB8AC3E}">
        <p14:creationId xmlns:p14="http://schemas.microsoft.com/office/powerpoint/2010/main" val="35076689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661AD-790A-4588-AF02-3C435F22F45A}"/>
              </a:ext>
            </a:extLst>
          </p:cNvPr>
          <p:cNvSpPr>
            <a:spLocks noGrp="1"/>
          </p:cNvSpPr>
          <p:nvPr>
            <p:ph type="title"/>
          </p:nvPr>
        </p:nvSpPr>
        <p:spPr/>
        <p:txBody>
          <a:bodyPr/>
          <a:lstStyle/>
          <a:p>
            <a:r>
              <a:rPr lang="en-US" dirty="0"/>
              <a:t>The Stochastic Specification</a:t>
            </a:r>
          </a:p>
        </p:txBody>
      </p:sp>
      <p:sp>
        <p:nvSpPr>
          <p:cNvPr id="3" name="Content Placeholder 2">
            <a:extLst>
              <a:ext uri="{FF2B5EF4-FFF2-40B4-BE49-F238E27FC236}">
                <a16:creationId xmlns:a16="http://schemas.microsoft.com/office/drawing/2014/main" id="{6EE70DE9-1A7B-4E3F-9435-B8D6A280156F}"/>
              </a:ext>
            </a:extLst>
          </p:cNvPr>
          <p:cNvSpPr>
            <a:spLocks noGrp="1"/>
          </p:cNvSpPr>
          <p:nvPr>
            <p:ph idx="1"/>
          </p:nvPr>
        </p:nvSpPr>
        <p:spPr/>
        <p:txBody>
          <a:bodyPr/>
          <a:lstStyle/>
          <a:p>
            <a:pPr marL="0" indent="0">
              <a:buNone/>
            </a:pPr>
            <a:r>
              <a:rPr lang="en-US" dirty="0"/>
              <a:t>As with other designs, of the four parts of the stochastic specification, </a:t>
            </a:r>
            <a:r>
              <a:rPr lang="en-US" b="1" dirty="0"/>
              <a:t>only the first part</a:t>
            </a:r>
            <a:r>
              <a:rPr lang="en-US" dirty="0"/>
              <a:t> </a:t>
            </a:r>
            <a:r>
              <a:rPr lang="en-US" b="1" dirty="0"/>
              <a:t>is important </a:t>
            </a:r>
          </a:p>
          <a:p>
            <a:pPr marL="0" indent="0">
              <a:buNone/>
            </a:pPr>
            <a:endParaRPr lang="en-US" b="1" dirty="0"/>
          </a:p>
          <a:p>
            <a:pPr marL="0" indent="0">
              <a:buNone/>
            </a:pPr>
            <a:r>
              <a:rPr lang="en-US" dirty="0"/>
              <a:t>Independence of the observations is crucial but it is empirically unverifiable</a:t>
            </a:r>
          </a:p>
          <a:p>
            <a:pPr marL="0" indent="0">
              <a:buNone/>
            </a:pPr>
            <a:endParaRPr lang="en-US" dirty="0"/>
          </a:p>
          <a:p>
            <a:pPr marL="0" indent="0">
              <a:buNone/>
            </a:pPr>
            <a:r>
              <a:rPr lang="en-US" dirty="0"/>
              <a:t>We usually think that different individuals, sampled at random from a cluster are independent</a:t>
            </a:r>
          </a:p>
          <a:p>
            <a:pPr marL="0" indent="0">
              <a:buNone/>
            </a:pPr>
            <a:endParaRPr lang="en-US" dirty="0"/>
          </a:p>
          <a:p>
            <a:pPr marL="0" indent="0">
              <a:buNone/>
            </a:pPr>
            <a:r>
              <a:rPr lang="en-US" dirty="0"/>
              <a:t>We usually think that different clusters, sampled at random from a population are independent</a:t>
            </a:r>
          </a:p>
          <a:p>
            <a:pPr marL="0" indent="0">
              <a:buNone/>
            </a:pPr>
            <a:endParaRPr lang="en-US" dirty="0"/>
          </a:p>
          <a:p>
            <a:pPr marL="0" indent="0">
              <a:buNone/>
            </a:pPr>
            <a:r>
              <a:rPr lang="en-US" dirty="0"/>
              <a:t>If we can think of the clusters and individuals in our study that way, we may be able to think of them as independent</a:t>
            </a:r>
          </a:p>
        </p:txBody>
      </p:sp>
    </p:spTree>
    <p:extLst>
      <p:ext uri="{BB962C8B-B14F-4D97-AF65-F5344CB8AC3E}">
        <p14:creationId xmlns:p14="http://schemas.microsoft.com/office/powerpoint/2010/main" val="31952225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6768E-9636-4303-B51C-96BA798FC97E}"/>
              </a:ext>
            </a:extLst>
          </p:cNvPr>
          <p:cNvSpPr>
            <a:spLocks noGrp="1"/>
          </p:cNvSpPr>
          <p:nvPr>
            <p:ph type="title"/>
          </p:nvPr>
        </p:nvSpPr>
        <p:spPr/>
        <p:txBody>
          <a:bodyPr/>
          <a:lstStyle/>
          <a:p>
            <a:r>
              <a:rPr lang="en-US" dirty="0"/>
              <a:t>Effect Size</a:t>
            </a:r>
          </a:p>
        </p:txBody>
      </p:sp>
      <p:sp>
        <p:nvSpPr>
          <p:cNvPr id="3" name="Content Placeholder 2">
            <a:extLst>
              <a:ext uri="{FF2B5EF4-FFF2-40B4-BE49-F238E27FC236}">
                <a16:creationId xmlns:a16="http://schemas.microsoft.com/office/drawing/2014/main" id="{E02E2702-2B37-4BE2-BD46-AB8B6D01325F}"/>
              </a:ext>
            </a:extLst>
          </p:cNvPr>
          <p:cNvSpPr>
            <a:spLocks noGrp="1"/>
          </p:cNvSpPr>
          <p:nvPr>
            <p:ph idx="1"/>
          </p:nvPr>
        </p:nvSpPr>
        <p:spPr/>
        <p:txBody>
          <a:bodyPr/>
          <a:lstStyle/>
          <a:p>
            <a:pPr marL="0" indent="0">
              <a:buNone/>
            </a:pPr>
            <a:r>
              <a:rPr lang="en-US" dirty="0"/>
              <a:t>It is conventional to define the treatment effect size parameter (note the Greek letter </a:t>
            </a:r>
            <a:r>
              <a:rPr lang="el-GR" i="1" dirty="0">
                <a:latin typeface="Times New Roman" panose="02020603050405020304" pitchFamily="18" charset="0"/>
                <a:cs typeface="Times New Roman" panose="02020603050405020304" pitchFamily="18" charset="0"/>
              </a:rPr>
              <a:t>δ</a:t>
            </a:r>
            <a:r>
              <a:rPr lang="en-US" dirty="0">
                <a:latin typeface="Times New Roman" panose="02020603050405020304" pitchFamily="18" charset="0"/>
                <a:cs typeface="Times New Roman" panose="02020603050405020304" pitchFamily="18" charset="0"/>
              </a:rPr>
              <a:t>) </a:t>
            </a:r>
            <a:r>
              <a:rPr lang="en-US" dirty="0"/>
              <a:t>in terms of the structural model as the standardized mean difference as</a:t>
            </a:r>
          </a:p>
          <a:p>
            <a:pPr marL="0" marR="0" indent="0">
              <a:lnSpc>
                <a:spcPct val="107000"/>
              </a:lnSpc>
              <a:spcBef>
                <a:spcPts val="0"/>
              </a:spcBef>
              <a:spcAft>
                <a:spcPts val="0"/>
              </a:spcAft>
              <a:buNone/>
              <a:tabLst>
                <a:tab pos="400050" algn="l"/>
                <a:tab pos="457200" algn="l"/>
              </a:tabLst>
            </a:pPr>
            <a:endParaRPr lang="en-US" dirty="0"/>
          </a:p>
          <a:p>
            <a:pPr marL="0" indent="0">
              <a:buNone/>
            </a:pPr>
            <a:endParaRPr lang="en-US" dirty="0"/>
          </a:p>
          <a:p>
            <a:pPr marL="0" indent="0">
              <a:buNone/>
            </a:pPr>
            <a:endParaRPr lang="en-US" dirty="0"/>
          </a:p>
          <a:p>
            <a:pPr marL="0" indent="0">
              <a:buNone/>
            </a:pPr>
            <a:r>
              <a:rPr lang="en-US" dirty="0"/>
              <a:t>This corresponds the treatment group mean minus the control group mean divided by the within-group standard deviation  (sometimes called Cohen’s </a:t>
            </a:r>
            <a:r>
              <a:rPr lang="en-US" b="1" dirty="0"/>
              <a:t>d</a:t>
            </a:r>
            <a:r>
              <a:rPr lang="en-US" dirty="0"/>
              <a:t>)</a:t>
            </a:r>
          </a:p>
          <a:p>
            <a:pPr marL="0" indent="0">
              <a:buNone/>
            </a:pPr>
            <a:endParaRPr lang="en-US" dirty="0"/>
          </a:p>
          <a:p>
            <a:pPr marL="0" indent="0">
              <a:buNone/>
            </a:pPr>
            <a:r>
              <a:rPr lang="en-US" dirty="0"/>
              <a:t>The treatment effect size is important because:</a:t>
            </a:r>
          </a:p>
          <a:p>
            <a:pPr marL="0" indent="0">
              <a:buNone/>
            </a:pPr>
            <a:endParaRPr lang="en-US" dirty="0"/>
          </a:p>
          <a:p>
            <a:pPr marL="457200" indent="-457200">
              <a:buAutoNum type="arabicPeriod"/>
            </a:pPr>
            <a:r>
              <a:rPr lang="en-US" dirty="0"/>
              <a:t>It is a metric that is widely used to compare treatment effects across different experiments</a:t>
            </a:r>
          </a:p>
          <a:p>
            <a:pPr marL="457200" indent="-457200">
              <a:buAutoNum type="arabicPeriod"/>
            </a:pPr>
            <a:endParaRPr lang="en-US" dirty="0"/>
          </a:p>
          <a:p>
            <a:pPr marL="457200" indent="-457200">
              <a:buAutoNum type="arabicPeriod"/>
            </a:pPr>
            <a:r>
              <a:rPr lang="en-US" dirty="0"/>
              <a:t>It is a key factor that determines the </a:t>
            </a:r>
            <a:r>
              <a:rPr lang="en-US" b="1" i="1" dirty="0"/>
              <a:t>sensitivity</a:t>
            </a:r>
            <a:r>
              <a:rPr lang="en-US" dirty="0"/>
              <a:t> of research designs</a:t>
            </a:r>
          </a:p>
          <a:p>
            <a:pPr marL="0" indent="0">
              <a:buNone/>
            </a:pPr>
            <a:endParaRPr lang="en-US" dirty="0"/>
          </a:p>
        </p:txBody>
      </p:sp>
      <p:graphicFrame>
        <p:nvGraphicFramePr>
          <p:cNvPr id="4" name="Object 3">
            <a:extLst>
              <a:ext uri="{FF2B5EF4-FFF2-40B4-BE49-F238E27FC236}">
                <a16:creationId xmlns:a16="http://schemas.microsoft.com/office/drawing/2014/main" id="{BF8464A7-0663-4178-B972-CF0F59FBA9EB}"/>
              </a:ext>
            </a:extLst>
          </p:cNvPr>
          <p:cNvGraphicFramePr>
            <a:graphicFrameLocks noChangeAspect="1"/>
          </p:cNvGraphicFramePr>
          <p:nvPr>
            <p:extLst>
              <p:ext uri="{D42A27DB-BD31-4B8C-83A1-F6EECF244321}">
                <p14:modId xmlns:p14="http://schemas.microsoft.com/office/powerpoint/2010/main" val="374326205"/>
              </p:ext>
            </p:extLst>
          </p:nvPr>
        </p:nvGraphicFramePr>
        <p:xfrm>
          <a:off x="1415702" y="2443784"/>
          <a:ext cx="1532907" cy="821994"/>
        </p:xfrm>
        <a:graphic>
          <a:graphicData uri="http://schemas.openxmlformats.org/presentationml/2006/ole">
            <mc:AlternateContent xmlns:mc="http://schemas.openxmlformats.org/markup-compatibility/2006">
              <mc:Choice xmlns:v="urn:schemas-microsoft-com:vml" Requires="v">
                <p:oleObj name="Equation" r:id="rId2" imgW="876240" imgH="469800" progId="Equation.DSMT4">
                  <p:embed/>
                </p:oleObj>
              </mc:Choice>
              <mc:Fallback>
                <p:oleObj name="Equation" r:id="rId2" imgW="876240" imgH="469800" progId="Equation.DSMT4">
                  <p:embed/>
                  <p:pic>
                    <p:nvPicPr>
                      <p:cNvPr id="0" name=""/>
                      <p:cNvPicPr/>
                      <p:nvPr/>
                    </p:nvPicPr>
                    <p:blipFill>
                      <a:blip r:embed="rId3"/>
                      <a:stretch>
                        <a:fillRect/>
                      </a:stretch>
                    </p:blipFill>
                    <p:spPr>
                      <a:xfrm>
                        <a:off x="1415702" y="2443784"/>
                        <a:ext cx="1532907" cy="821994"/>
                      </a:xfrm>
                      <a:prstGeom prst="rect">
                        <a:avLst/>
                      </a:prstGeom>
                    </p:spPr>
                  </p:pic>
                </p:oleObj>
              </mc:Fallback>
            </mc:AlternateContent>
          </a:graphicData>
        </a:graphic>
      </p:graphicFrame>
    </p:spTree>
    <p:extLst>
      <p:ext uri="{BB962C8B-B14F-4D97-AF65-F5344CB8AC3E}">
        <p14:creationId xmlns:p14="http://schemas.microsoft.com/office/powerpoint/2010/main" val="41673779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444DD-341B-45AC-BAA7-19C7C66DB6A4}"/>
              </a:ext>
            </a:extLst>
          </p:cNvPr>
          <p:cNvSpPr>
            <a:spLocks noGrp="1"/>
          </p:cNvSpPr>
          <p:nvPr>
            <p:ph type="title"/>
          </p:nvPr>
        </p:nvSpPr>
        <p:spPr/>
        <p:txBody>
          <a:bodyPr/>
          <a:lstStyle/>
          <a:p>
            <a:r>
              <a:rPr lang="en-US" dirty="0"/>
              <a:t>Effect Size</a:t>
            </a:r>
          </a:p>
        </p:txBody>
      </p:sp>
      <p:sp>
        <p:nvSpPr>
          <p:cNvPr id="3" name="Content Placeholder 2">
            <a:extLst>
              <a:ext uri="{FF2B5EF4-FFF2-40B4-BE49-F238E27FC236}">
                <a16:creationId xmlns:a16="http://schemas.microsoft.com/office/drawing/2014/main" id="{155676B6-F35D-4116-8710-689C5BD34DF3}"/>
              </a:ext>
            </a:extLst>
          </p:cNvPr>
          <p:cNvSpPr>
            <a:spLocks noGrp="1"/>
          </p:cNvSpPr>
          <p:nvPr>
            <p:ph idx="1"/>
          </p:nvPr>
        </p:nvSpPr>
        <p:spPr/>
        <p:txBody>
          <a:bodyPr>
            <a:normAutofit fontScale="92500" lnSpcReduction="20000"/>
          </a:bodyPr>
          <a:lstStyle/>
          <a:p>
            <a:pPr marL="0" indent="0">
              <a:buNone/>
            </a:pPr>
            <a:r>
              <a:rPr lang="en-US" dirty="0"/>
              <a:t>For technical reasons, the mathematically natural effect size in the cluster randomized design does not look the same as that for individually randomized designs, namely </a:t>
            </a:r>
            <a:r>
              <a:rPr lang="en-US" dirty="0">
                <a:latin typeface="Times New Roman" panose="02020603050405020304" pitchFamily="18" charset="0"/>
                <a:cs typeface="Times New Roman" panose="02020603050405020304" pitchFamily="18" charset="0"/>
              </a:rPr>
              <a:t>(</a:t>
            </a:r>
            <a:r>
              <a:rPr lang="el-GR" i="1" dirty="0">
                <a:latin typeface="Times New Roman" panose="02020603050405020304" pitchFamily="18" charset="0"/>
                <a:cs typeface="Times New Roman" panose="02020603050405020304" pitchFamily="18" charset="0"/>
              </a:rPr>
              <a:t>α</a:t>
            </a:r>
            <a:r>
              <a:rPr lang="en-US" i="1" baseline="-25000" dirty="0">
                <a:latin typeface="Times New Roman" panose="02020603050405020304" pitchFamily="18" charset="0"/>
                <a:cs typeface="Times New Roman" panose="02020603050405020304" pitchFamily="18" charset="0"/>
              </a:rPr>
              <a:t>1</a:t>
            </a:r>
            <a:r>
              <a:rPr lang="en-US" i="1" dirty="0">
                <a:latin typeface="Times New Roman" panose="02020603050405020304" pitchFamily="18" charset="0"/>
                <a:cs typeface="Times New Roman" panose="02020603050405020304" pitchFamily="18" charset="0"/>
              </a:rPr>
              <a:t> – </a:t>
            </a:r>
            <a:r>
              <a:rPr lang="el-GR" i="1" dirty="0">
                <a:latin typeface="Times New Roman" panose="02020603050405020304" pitchFamily="18" charset="0"/>
                <a:cs typeface="Times New Roman" panose="02020603050405020304" pitchFamily="18" charset="0"/>
              </a:rPr>
              <a:t>α</a:t>
            </a:r>
            <a:r>
              <a:rPr lang="en-US" i="1"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a:t>
            </a:r>
            <a:r>
              <a:rPr lang="en-US" i="1" dirty="0">
                <a:latin typeface="Cambria Math" panose="02040503050406030204" pitchFamily="18" charset="0"/>
                <a:ea typeface="Cambria Math" panose="02040503050406030204" pitchFamily="18" charset="0"/>
                <a:cs typeface="Times New Roman" panose="02020603050405020304" pitchFamily="18" charset="0"/>
              </a:rPr>
              <a:t> 𝜎</a:t>
            </a:r>
            <a:r>
              <a:rPr lang="el-GR" i="1" baseline="-25000" dirty="0">
                <a:latin typeface="Times New Roman" panose="02020603050405020304" pitchFamily="18" charset="0"/>
                <a:ea typeface="Cambria Math" panose="02040503050406030204" pitchFamily="18" charset="0"/>
                <a:cs typeface="Times New Roman" panose="02020603050405020304" pitchFamily="18" charset="0"/>
              </a:rPr>
              <a:t>ε</a:t>
            </a:r>
            <a:endParaRPr lang="en-US" dirty="0"/>
          </a:p>
          <a:p>
            <a:pPr marL="0" indent="0">
              <a:buNone/>
            </a:pPr>
            <a:endParaRPr lang="en-US" dirty="0"/>
          </a:p>
          <a:p>
            <a:pPr marL="0" indent="0">
              <a:buNone/>
            </a:pPr>
            <a:r>
              <a:rPr lang="en-US" dirty="0"/>
              <a:t>It is closely related however because the stochastic specification of the model says that  the total variance of the outcome is </a:t>
            </a:r>
            <a:r>
              <a:rPr lang="en-US" i="1" dirty="0">
                <a:latin typeface="Times New Roman" panose="02020603050405020304" pitchFamily="18" charset="0"/>
                <a:ea typeface="Cambria Math" panose="02040503050406030204" pitchFamily="18" charset="0"/>
                <a:cs typeface="Times New Roman" panose="02020603050405020304" pitchFamily="18" charset="0"/>
              </a:rPr>
              <a:t>𝜎</a:t>
            </a:r>
            <a:r>
              <a:rPr lang="en-US" i="1" baseline="-25000" dirty="0">
                <a:latin typeface="Times New Roman" panose="02020603050405020304" pitchFamily="18" charset="0"/>
                <a:ea typeface="Cambria Math" panose="02040503050406030204" pitchFamily="18" charset="0"/>
                <a:cs typeface="Times New Roman" panose="02020603050405020304" pitchFamily="18" charset="0"/>
              </a:rPr>
              <a:t>T</a:t>
            </a:r>
            <a:r>
              <a:rPr lang="en-US" i="1" baseline="30000" dirty="0">
                <a:latin typeface="Times New Roman" panose="02020603050405020304" pitchFamily="18" charset="0"/>
                <a:ea typeface="Cambria Math" panose="02040503050406030204" pitchFamily="18" charset="0"/>
                <a:cs typeface="Times New Roman" panose="02020603050405020304" pitchFamily="18" charset="0"/>
              </a:rPr>
              <a:t>2</a:t>
            </a:r>
            <a:r>
              <a:rPr lang="en-US" i="1" dirty="0">
                <a:latin typeface="Times New Roman" panose="02020603050405020304" pitchFamily="18" charset="0"/>
                <a:ea typeface="Cambria Math" panose="02040503050406030204" pitchFamily="18" charset="0"/>
                <a:cs typeface="Times New Roman" panose="02020603050405020304" pitchFamily="18" charset="0"/>
              </a:rPr>
              <a:t> = 𝜎</a:t>
            </a:r>
            <a:r>
              <a:rPr lang="el-GR" i="1" baseline="-25000" dirty="0">
                <a:latin typeface="Times New Roman" panose="02020603050405020304" pitchFamily="18" charset="0"/>
                <a:ea typeface="Cambria Math" panose="02040503050406030204" pitchFamily="18" charset="0"/>
                <a:cs typeface="Times New Roman" panose="02020603050405020304" pitchFamily="18" charset="0"/>
              </a:rPr>
              <a:t>ε</a:t>
            </a:r>
            <a:r>
              <a:rPr lang="en-US" i="1" baseline="30000" dirty="0">
                <a:latin typeface="Times New Roman" panose="02020603050405020304" pitchFamily="18" charset="0"/>
                <a:ea typeface="Cambria Math" panose="02040503050406030204" pitchFamily="18" charset="0"/>
                <a:cs typeface="Times New Roman" panose="02020603050405020304" pitchFamily="18" charset="0"/>
              </a:rPr>
              <a:t>2</a:t>
            </a:r>
            <a:r>
              <a:rPr lang="en-US" i="1" dirty="0">
                <a:latin typeface="Times New Roman" panose="02020603050405020304" pitchFamily="18" charset="0"/>
                <a:ea typeface="Cambria Math" panose="02040503050406030204" pitchFamily="18" charset="0"/>
                <a:cs typeface="Times New Roman" panose="02020603050405020304" pitchFamily="18" charset="0"/>
              </a:rPr>
              <a:t> + </a:t>
            </a:r>
            <a:r>
              <a:rPr lang="el-GR" i="1" dirty="0">
                <a:latin typeface="Times New Roman" panose="02020603050405020304" pitchFamily="18" charset="0"/>
                <a:ea typeface="Cambria Math" panose="02040503050406030204" pitchFamily="18" charset="0"/>
                <a:cs typeface="Times New Roman" panose="02020603050405020304" pitchFamily="18" charset="0"/>
              </a:rPr>
              <a:t>τ</a:t>
            </a:r>
            <a:r>
              <a:rPr lang="en-US" i="1" baseline="30000" dirty="0">
                <a:latin typeface="Times New Roman" panose="02020603050405020304" pitchFamily="18" charset="0"/>
                <a:ea typeface="Cambria Math" panose="02040503050406030204" pitchFamily="18" charset="0"/>
                <a:cs typeface="Times New Roman" panose="02020603050405020304" pitchFamily="18" charset="0"/>
              </a:rPr>
              <a:t>2</a:t>
            </a:r>
            <a:endParaRPr lang="en-US" i="1" baseline="30000" dirty="0">
              <a:latin typeface="Times New Roman" panose="02020603050405020304" pitchFamily="18" charset="0"/>
              <a:cs typeface="Times New Roman" panose="02020603050405020304" pitchFamily="18" charset="0"/>
            </a:endParaRPr>
          </a:p>
          <a:p>
            <a:pPr marL="0" indent="0">
              <a:buNone/>
            </a:pPr>
            <a:endParaRPr lang="en-US" dirty="0"/>
          </a:p>
          <a:p>
            <a:pPr marL="0" indent="0">
              <a:buNone/>
            </a:pPr>
            <a:r>
              <a:rPr lang="en-US" dirty="0"/>
              <a:t>Therefore</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where </a:t>
            </a:r>
            <a:r>
              <a:rPr lang="el-GR" i="1" dirty="0">
                <a:latin typeface="Times New Roman" panose="02020603050405020304" pitchFamily="18" charset="0"/>
                <a:cs typeface="Times New Roman" panose="02020603050405020304" pitchFamily="18" charset="0"/>
              </a:rPr>
              <a:t>ρ</a:t>
            </a:r>
            <a:r>
              <a:rPr lang="en-US" dirty="0"/>
              <a:t> is the intraclass correlation defined by  </a:t>
            </a:r>
            <a:r>
              <a:rPr lang="el-GR" i="1" dirty="0">
                <a:latin typeface="Times New Roman" panose="02020603050405020304" pitchFamily="18" charset="0"/>
                <a:cs typeface="Times New Roman" panose="02020603050405020304" pitchFamily="18" charset="0"/>
              </a:rPr>
              <a:t>ρ</a:t>
            </a:r>
            <a:r>
              <a:rPr lang="en-US" dirty="0">
                <a:latin typeface="Times New Roman" panose="02020603050405020304" pitchFamily="18" charset="0"/>
                <a:cs typeface="Times New Roman" panose="02020603050405020304" pitchFamily="18" charset="0"/>
              </a:rPr>
              <a:t> =  </a:t>
            </a:r>
            <a:r>
              <a:rPr lang="en-US" i="1" dirty="0">
                <a:latin typeface="Cambria Math" panose="02040503050406030204" pitchFamily="18" charset="0"/>
                <a:ea typeface="Cambria Math" panose="02040503050406030204" pitchFamily="18" charset="0"/>
                <a:cs typeface="Times New Roman" panose="02020603050405020304" pitchFamily="18" charset="0"/>
              </a:rPr>
              <a:t>𝜎</a:t>
            </a:r>
            <a:r>
              <a:rPr lang="el-GR" i="1" baseline="-25000" dirty="0">
                <a:latin typeface="Times New Roman" panose="02020603050405020304" pitchFamily="18" charset="0"/>
                <a:ea typeface="Cambria Math" panose="02040503050406030204" pitchFamily="18" charset="0"/>
                <a:cs typeface="Times New Roman" panose="02020603050405020304" pitchFamily="18" charset="0"/>
              </a:rPr>
              <a:t>ε</a:t>
            </a:r>
            <a:r>
              <a:rPr lang="en-US" i="1" baseline="30000" dirty="0">
                <a:latin typeface="Times New Roman" panose="02020603050405020304" pitchFamily="18" charset="0"/>
                <a:ea typeface="Cambria Math" panose="020405030504060302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a:t>
            </a:r>
            <a:r>
              <a:rPr lang="en-US" i="1" dirty="0">
                <a:latin typeface="Cambria Math" panose="02040503050406030204" pitchFamily="18" charset="0"/>
                <a:ea typeface="Cambria Math" panose="02040503050406030204" pitchFamily="18" charset="0"/>
                <a:cs typeface="Times New Roman" panose="02020603050405020304" pitchFamily="18" charset="0"/>
              </a:rPr>
              <a:t>𝜎</a:t>
            </a:r>
            <a:r>
              <a:rPr lang="en-US" i="1" baseline="30000" dirty="0">
                <a:latin typeface="Cambria Math" panose="02040503050406030204" pitchFamily="18" charset="0"/>
                <a:ea typeface="Cambria Math" panose="02040503050406030204" pitchFamily="18" charset="0"/>
                <a:cs typeface="Times New Roman" panose="02020603050405020304" pitchFamily="18" charset="0"/>
              </a:rPr>
              <a:t>2 </a:t>
            </a:r>
            <a:r>
              <a:rPr lang="en-US" dirty="0">
                <a:latin typeface="Cambria Math" panose="02040503050406030204" pitchFamily="18" charset="0"/>
                <a:ea typeface="Cambria Math" panose="02040503050406030204" pitchFamily="18" charset="0"/>
                <a:cs typeface="Times New Roman" panose="02020603050405020304" pitchFamily="18" charset="0"/>
              </a:rPr>
              <a:t>+</a:t>
            </a:r>
            <a:r>
              <a:rPr lang="en-US" i="1" dirty="0">
                <a:latin typeface="Cambria Math" panose="02040503050406030204" pitchFamily="18" charset="0"/>
                <a:ea typeface="Cambria Math" panose="02040503050406030204" pitchFamily="18" charset="0"/>
                <a:cs typeface="Times New Roman" panose="02020603050405020304" pitchFamily="18" charset="0"/>
              </a:rPr>
              <a:t> </a:t>
            </a:r>
            <a:r>
              <a:rPr lang="el-GR" i="1" dirty="0">
                <a:latin typeface="Times New Roman" panose="02020603050405020304" pitchFamily="18" charset="0"/>
                <a:ea typeface="Cambria Math" panose="02040503050406030204" pitchFamily="18" charset="0"/>
                <a:cs typeface="Times New Roman" panose="02020603050405020304" pitchFamily="18" charset="0"/>
              </a:rPr>
              <a:t>τ</a:t>
            </a:r>
            <a:r>
              <a:rPr lang="en-US" i="1" baseline="30000" dirty="0">
                <a:latin typeface="Times New Roman" panose="02020603050405020304" pitchFamily="18" charset="0"/>
                <a:ea typeface="Cambria Math" panose="020405030504060302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a:t>
            </a:r>
          </a:p>
          <a:p>
            <a:pPr marL="0" indent="0">
              <a:buNone/>
            </a:pPr>
            <a:endParaRPr lang="en-US" dirty="0">
              <a:cs typeface="Times New Roman" panose="02020603050405020304" pitchFamily="18" charset="0"/>
            </a:endParaRPr>
          </a:p>
          <a:p>
            <a:pPr marL="0" indent="0">
              <a:buNone/>
            </a:pPr>
            <a:r>
              <a:rPr lang="en-US" dirty="0">
                <a:cs typeface="Times New Roman" panose="02020603050405020304" pitchFamily="18" charset="0"/>
              </a:rPr>
              <a:t>As it turns out </a:t>
            </a:r>
            <a:r>
              <a:rPr lang="el-GR" i="1" dirty="0">
                <a:latin typeface="Times New Roman" panose="02020603050405020304" pitchFamily="18" charset="0"/>
                <a:cs typeface="Times New Roman" panose="02020603050405020304" pitchFamily="18" charset="0"/>
              </a:rPr>
              <a:t>ρ</a:t>
            </a:r>
            <a:r>
              <a:rPr lang="en-US" dirty="0">
                <a:cs typeface="Times New Roman" panose="02020603050405020304" pitchFamily="18" charset="0"/>
              </a:rPr>
              <a:t> will be small (e.g., </a:t>
            </a:r>
            <a:r>
              <a:rPr lang="el-GR" i="1" dirty="0">
                <a:latin typeface="Times New Roman" panose="02020603050405020304" pitchFamily="18" charset="0"/>
                <a:cs typeface="Times New Roman" panose="02020603050405020304" pitchFamily="18" charset="0"/>
              </a:rPr>
              <a:t>ρ</a:t>
            </a:r>
            <a:r>
              <a:rPr lang="en-US"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&lt; 0.1</a:t>
            </a:r>
            <a:r>
              <a:rPr lang="en-US" dirty="0">
                <a:cs typeface="Times New Roman" panose="02020603050405020304" pitchFamily="18" charset="0"/>
              </a:rPr>
              <a:t>) in feasible cluster randomized designs for initial field trials so that the “natural” effect size for cluster randomized trials is within 5% of that for individually randomized trials, nearly the same</a:t>
            </a:r>
            <a:endParaRPr lang="en-US" dirty="0"/>
          </a:p>
          <a:p>
            <a:pPr marL="0" indent="0">
              <a:buNone/>
            </a:pPr>
            <a:endParaRPr lang="en-US" dirty="0"/>
          </a:p>
          <a:p>
            <a:pPr marL="0" indent="0">
              <a:buNone/>
            </a:pPr>
            <a:r>
              <a:rPr lang="en-US" b="1" dirty="0"/>
              <a:t>But,</a:t>
            </a:r>
            <a:r>
              <a:rPr lang="en-US" dirty="0"/>
              <a:t> design sensitivity for cluster randomized designs is lower than that of individually randomized designs for other reasons</a:t>
            </a:r>
          </a:p>
          <a:p>
            <a:pPr marL="0" indent="0">
              <a:buNone/>
            </a:pPr>
            <a:r>
              <a:rPr lang="en-US" dirty="0"/>
              <a:t>	</a:t>
            </a:r>
          </a:p>
        </p:txBody>
      </p:sp>
      <p:graphicFrame>
        <p:nvGraphicFramePr>
          <p:cNvPr id="4" name="Object 3">
            <a:extLst>
              <a:ext uri="{FF2B5EF4-FFF2-40B4-BE49-F238E27FC236}">
                <a16:creationId xmlns:a16="http://schemas.microsoft.com/office/drawing/2014/main" id="{619112A9-FE1F-4D64-BB57-822E7429BC29}"/>
              </a:ext>
            </a:extLst>
          </p:cNvPr>
          <p:cNvGraphicFramePr>
            <a:graphicFrameLocks noChangeAspect="1"/>
          </p:cNvGraphicFramePr>
          <p:nvPr>
            <p:extLst>
              <p:ext uri="{D42A27DB-BD31-4B8C-83A1-F6EECF244321}">
                <p14:modId xmlns:p14="http://schemas.microsoft.com/office/powerpoint/2010/main" val="2426162473"/>
              </p:ext>
            </p:extLst>
          </p:nvPr>
        </p:nvGraphicFramePr>
        <p:xfrm>
          <a:off x="1706353" y="3165844"/>
          <a:ext cx="4917324" cy="819554"/>
        </p:xfrm>
        <a:graphic>
          <a:graphicData uri="http://schemas.openxmlformats.org/presentationml/2006/ole">
            <mc:AlternateContent xmlns:mc="http://schemas.openxmlformats.org/markup-compatibility/2006">
              <mc:Choice xmlns:v="urn:schemas-microsoft-com:vml" Requires="v">
                <p:oleObj name="Equation" r:id="rId2" imgW="3124080" imgH="520560" progId="Equation.DSMT4">
                  <p:embed/>
                </p:oleObj>
              </mc:Choice>
              <mc:Fallback>
                <p:oleObj name="Equation" r:id="rId2" imgW="3124080" imgH="520560" progId="Equation.DSMT4">
                  <p:embed/>
                  <p:pic>
                    <p:nvPicPr>
                      <p:cNvPr id="0" name=""/>
                      <p:cNvPicPr/>
                      <p:nvPr/>
                    </p:nvPicPr>
                    <p:blipFill>
                      <a:blip r:embed="rId3"/>
                      <a:stretch>
                        <a:fillRect/>
                      </a:stretch>
                    </p:blipFill>
                    <p:spPr>
                      <a:xfrm>
                        <a:off x="1706353" y="3165844"/>
                        <a:ext cx="4917324" cy="819554"/>
                      </a:xfrm>
                      <a:prstGeom prst="rect">
                        <a:avLst/>
                      </a:prstGeom>
                    </p:spPr>
                  </p:pic>
                </p:oleObj>
              </mc:Fallback>
            </mc:AlternateContent>
          </a:graphicData>
        </a:graphic>
      </p:graphicFrame>
    </p:spTree>
    <p:extLst>
      <p:ext uri="{BB962C8B-B14F-4D97-AF65-F5344CB8AC3E}">
        <p14:creationId xmlns:p14="http://schemas.microsoft.com/office/powerpoint/2010/main" val="25627442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73243-FBFA-4C22-AB92-C26884140A91}"/>
              </a:ext>
            </a:extLst>
          </p:cNvPr>
          <p:cNvSpPr>
            <a:spLocks noGrp="1"/>
          </p:cNvSpPr>
          <p:nvPr>
            <p:ph type="title"/>
          </p:nvPr>
        </p:nvSpPr>
        <p:spPr/>
        <p:txBody>
          <a:bodyPr/>
          <a:lstStyle/>
          <a:p>
            <a:r>
              <a:rPr lang="en-US" dirty="0"/>
              <a:t>Testing the Significance of the Treatment Effect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0584E42-A6E7-4A68-A83A-F30C09C7A139}"/>
                  </a:ext>
                </a:extLst>
              </p:cNvPr>
              <p:cNvSpPr>
                <a:spLocks noGrp="1"/>
              </p:cNvSpPr>
              <p:nvPr>
                <p:ph idx="1"/>
              </p:nvPr>
            </p:nvSpPr>
            <p:spPr/>
            <p:txBody>
              <a:bodyPr>
                <a:normAutofit/>
              </a:bodyPr>
              <a:lstStyle/>
              <a:p>
                <a:pPr marL="0" indent="0">
                  <a:buNone/>
                </a:pPr>
                <a:r>
                  <a:rPr lang="en-US" dirty="0"/>
                  <a:t>Let  </a:t>
                </a:r>
                <a:r>
                  <a:rPr lang="en-US" i="1" dirty="0">
                    <a:latin typeface="Times New Roman" panose="02020603050405020304" pitchFamily="18" charset="0"/>
                    <a:cs typeface="Times New Roman" panose="02020603050405020304" pitchFamily="18" charset="0"/>
                  </a:rPr>
                  <a:t>Y</a:t>
                </a:r>
                <a:r>
                  <a:rPr lang="en-US" i="1" baseline="-25000" dirty="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 </a:t>
                </a:r>
                <a:r>
                  <a:rPr lang="en-US" dirty="0">
                    <a:cs typeface="Times New Roman" panose="02020603050405020304" pitchFamily="18" charset="0"/>
                  </a:rPr>
                  <a:t>and </a:t>
                </a:r>
                <a:r>
                  <a:rPr lang="en-US" i="1" dirty="0">
                    <a:latin typeface="Times New Roman" panose="02020603050405020304" pitchFamily="18" charset="0"/>
                    <a:cs typeface="Times New Roman" panose="02020603050405020304" pitchFamily="18" charset="0"/>
                  </a:rPr>
                  <a:t>Y</a:t>
                </a:r>
                <a:r>
                  <a:rPr lang="en-US" i="1" baseline="-25000" dirty="0">
                    <a:latin typeface="Times New Roman" panose="02020603050405020304" pitchFamily="18" charset="0"/>
                    <a:cs typeface="Times New Roman" panose="02020603050405020304" pitchFamily="18" charset="0"/>
                  </a:rPr>
                  <a:t>2●●</a:t>
                </a:r>
                <a:r>
                  <a:rPr lang="en-US" i="1" dirty="0">
                    <a:latin typeface="Times New Roman" panose="02020603050405020304" pitchFamily="18" charset="0"/>
                    <a:cs typeface="Times New Roman" panose="02020603050405020304" pitchFamily="18" charset="0"/>
                  </a:rPr>
                  <a:t> </a:t>
                </a:r>
                <a:r>
                  <a:rPr lang="en-US" dirty="0">
                    <a:cs typeface="Times New Roman" panose="02020603050405020304" pitchFamily="18" charset="0"/>
                  </a:rPr>
                  <a:t>be the </a:t>
                </a:r>
                <a:r>
                  <a:rPr lang="en-US" dirty="0">
                    <a:effectLst/>
                    <a:ea typeface="Calibri" panose="020F0502020204030204" pitchFamily="34" charset="0"/>
                  </a:rPr>
                  <a:t>means of the treatment and comparison groups, respectively, and let </a:t>
                </a:r>
                <a:r>
                  <a:rPr lang="en-US" i="1" dirty="0">
                    <a:latin typeface="Times New Roman" panose="02020603050405020304" pitchFamily="18" charset="0"/>
                    <a:cs typeface="Times New Roman" panose="02020603050405020304" pitchFamily="18" charset="0"/>
                  </a:rPr>
                  <a:t>Y</a:t>
                </a:r>
                <a:r>
                  <a:rPr lang="en-US" i="1" baseline="-25000" dirty="0">
                    <a:latin typeface="Times New Roman" panose="02020603050405020304" pitchFamily="18" charset="0"/>
                    <a:cs typeface="Times New Roman" panose="02020603050405020304" pitchFamily="18" charset="0"/>
                  </a:rPr>
                  <a:t>1j●</a:t>
                </a:r>
                <a:r>
                  <a:rPr lang="en-US" dirty="0">
                    <a:latin typeface="Times New Roman" panose="02020603050405020304" pitchFamily="18" charset="0"/>
                    <a:cs typeface="Times New Roman" panose="02020603050405020304" pitchFamily="18" charset="0"/>
                  </a:rPr>
                  <a:t> </a:t>
                </a:r>
                <a:r>
                  <a:rPr lang="en-US" dirty="0">
                    <a:cs typeface="Times New Roman" panose="02020603050405020304" pitchFamily="18" charset="0"/>
                  </a:rPr>
                  <a:t>and </a:t>
                </a:r>
                <a:r>
                  <a:rPr lang="en-US" i="1" dirty="0">
                    <a:latin typeface="Times New Roman" panose="02020603050405020304" pitchFamily="18" charset="0"/>
                    <a:cs typeface="Times New Roman" panose="02020603050405020304" pitchFamily="18" charset="0"/>
                  </a:rPr>
                  <a:t>Y</a:t>
                </a:r>
                <a:r>
                  <a:rPr lang="en-US" i="1" baseline="-25000" dirty="0">
                    <a:latin typeface="Times New Roman" panose="02020603050405020304" pitchFamily="18" charset="0"/>
                    <a:cs typeface="Times New Roman" panose="02020603050405020304" pitchFamily="18" charset="0"/>
                  </a:rPr>
                  <a:t>2j●</a:t>
                </a:r>
                <a:r>
                  <a:rPr lang="en-US" i="1" dirty="0">
                    <a:latin typeface="Times New Roman" panose="02020603050405020304" pitchFamily="18" charset="0"/>
                    <a:cs typeface="Times New Roman" panose="02020603050405020304" pitchFamily="18" charset="0"/>
                  </a:rPr>
                  <a:t> </a:t>
                </a:r>
                <a:r>
                  <a:rPr lang="en-US" dirty="0">
                    <a:cs typeface="Times New Roman" panose="02020603050405020304" pitchFamily="18" charset="0"/>
                  </a:rPr>
                  <a:t>be the </a:t>
                </a:r>
                <a:r>
                  <a:rPr lang="en-US" dirty="0">
                    <a:effectLst/>
                    <a:ea typeface="Calibri" panose="020F0502020204030204" pitchFamily="34" charset="0"/>
                  </a:rPr>
                  <a:t>means of the </a:t>
                </a:r>
                <a:r>
                  <a:rPr lang="en-US" i="1" dirty="0" err="1">
                    <a:effectLst/>
                    <a:latin typeface="Times New Roman" panose="02020603050405020304" pitchFamily="18" charset="0"/>
                    <a:ea typeface="Calibri" panose="020F0502020204030204" pitchFamily="34" charset="0"/>
                    <a:cs typeface="Times New Roman" panose="02020603050405020304" pitchFamily="18" charset="0"/>
                  </a:rPr>
                  <a:t>j</a:t>
                </a:r>
                <a:r>
                  <a:rPr lang="en-US" baseline="30000" dirty="0" err="1">
                    <a:effectLst/>
                    <a:ea typeface="Calibri" panose="020F0502020204030204" pitchFamily="34" charset="0"/>
                  </a:rPr>
                  <a:t>th</a:t>
                </a:r>
                <a:r>
                  <a:rPr lang="en-US" dirty="0">
                    <a:effectLst/>
                    <a:ea typeface="Calibri" panose="020F0502020204030204" pitchFamily="34" charset="0"/>
                  </a:rPr>
                  <a:t> cluster of the treatment and comparison groups, </a:t>
                </a:r>
                <a:r>
                  <a:rPr lang="en-US" i="1" dirty="0">
                    <a:effectLst/>
                    <a:latin typeface="Times New Roman" panose="02020603050405020304" pitchFamily="18" charset="0"/>
                    <a:ea typeface="Calibri" panose="020F0502020204030204" pitchFamily="34" charset="0"/>
                    <a:cs typeface="Times New Roman" panose="02020603050405020304" pitchFamily="18" charset="0"/>
                  </a:rPr>
                  <a:t>j</a:t>
                </a:r>
                <a:r>
                  <a:rPr lang="en-US" dirty="0">
                    <a:effectLst/>
                    <a:latin typeface="Times New Roman" panose="02020603050405020304" pitchFamily="18" charset="0"/>
                    <a:ea typeface="Calibri" panose="020F0502020204030204" pitchFamily="34" charset="0"/>
                    <a:cs typeface="Times New Roman" panose="02020603050405020304" pitchFamily="18" charset="0"/>
                  </a:rPr>
                  <a:t> = 1, …, </a:t>
                </a:r>
                <a:r>
                  <a:rPr lang="en-US" i="1" dirty="0">
                    <a:effectLst/>
                    <a:latin typeface="Times New Roman" panose="02020603050405020304" pitchFamily="18" charset="0"/>
                    <a:ea typeface="Calibri" panose="020F0502020204030204" pitchFamily="34" charset="0"/>
                    <a:cs typeface="Times New Roman" panose="02020603050405020304" pitchFamily="18" charset="0"/>
                  </a:rPr>
                  <a:t>m</a:t>
                </a:r>
              </a:p>
              <a:p>
                <a:pPr marL="0" indent="0">
                  <a:buNone/>
                </a:pPr>
                <a:endParaRPr lang="en-US" dirty="0">
                  <a:ea typeface="Calibri" panose="020F0502020204030204" pitchFamily="34" charset="0"/>
                </a:endParaRPr>
              </a:p>
              <a:p>
                <a:pPr marL="0" indent="0">
                  <a:buNone/>
                </a:pPr>
                <a:r>
                  <a:rPr lang="en-US" dirty="0">
                    <a:effectLst/>
                    <a:ea typeface="Calibri" panose="020F0502020204030204" pitchFamily="34" charset="0"/>
                  </a:rPr>
                  <a:t>Then the treatment effect </a:t>
                </a:r>
                <a:r>
                  <a:rPr lang="en-US" dirty="0">
                    <a:ea typeface="Calibri" panose="020F0502020204030204" pitchFamily="34" charset="0"/>
                  </a:rPr>
                  <a:t>e</a:t>
                </a:r>
                <a:r>
                  <a:rPr lang="en-US" dirty="0">
                    <a:effectLst/>
                    <a:ea typeface="Calibri" panose="020F0502020204030204" pitchFamily="34" charset="0"/>
                  </a:rPr>
                  <a:t>stimate (the estimate of  </a:t>
                </a:r>
                <a:r>
                  <a:rPr lang="el-GR" i="1" dirty="0">
                    <a:effectLst/>
                    <a:latin typeface="Times New Roman" panose="02020603050405020304" pitchFamily="18" charset="0"/>
                    <a:ea typeface="Calibri" panose="020F0502020204030204" pitchFamily="34" charset="0"/>
                    <a:cs typeface="Times New Roman" panose="02020603050405020304" pitchFamily="18" charset="0"/>
                  </a:rPr>
                  <a:t>α</a:t>
                </a:r>
                <a:r>
                  <a:rPr lang="en-US" i="1" baseline="-25000" dirty="0">
                    <a:effectLst/>
                    <a:latin typeface="Times New Roman" panose="02020603050405020304" pitchFamily="18" charset="0"/>
                    <a:ea typeface="Calibri" panose="020F0502020204030204" pitchFamily="34" charset="0"/>
                    <a:cs typeface="Times New Roman" panose="02020603050405020304" pitchFamily="18" charset="0"/>
                  </a:rPr>
                  <a:t>1</a:t>
                </a:r>
                <a:r>
                  <a:rPr lang="en-US"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i="1" dirty="0">
                    <a:effectLst/>
                    <a:ea typeface="Calibri" panose="020F0502020204030204" pitchFamily="34" charset="0"/>
                  </a:rPr>
                  <a:t>–  </a:t>
                </a:r>
                <a:r>
                  <a:rPr lang="el-GR" i="1" dirty="0">
                    <a:effectLst/>
                    <a:latin typeface="Times New Roman" panose="02020603050405020304" pitchFamily="18" charset="0"/>
                    <a:ea typeface="Calibri" panose="020F0502020204030204" pitchFamily="34" charset="0"/>
                    <a:cs typeface="Times New Roman" panose="02020603050405020304" pitchFamily="18" charset="0"/>
                  </a:rPr>
                  <a:t>α</a:t>
                </a:r>
                <a:r>
                  <a:rPr lang="en-US" i="1" baseline="-25000" dirty="0">
                    <a:effectLst/>
                    <a:latin typeface="Times New Roman" panose="02020603050405020304" pitchFamily="18" charset="0"/>
                    <a:ea typeface="Calibri" panose="020F0502020204030204" pitchFamily="34" charset="0"/>
                    <a:cs typeface="Times New Roman" panose="02020603050405020304" pitchFamily="18" charset="0"/>
                  </a:rPr>
                  <a:t>2</a:t>
                </a:r>
                <a:r>
                  <a:rPr lang="en-US" dirty="0">
                    <a:effectLst/>
                    <a:ea typeface="Calibri" panose="020F0502020204030204" pitchFamily="34" charset="0"/>
                  </a:rPr>
                  <a:t>) </a:t>
                </a:r>
                <a:r>
                  <a:rPr lang="en-US" dirty="0">
                    <a:ea typeface="Calibri" panose="020F0502020204030204" pitchFamily="34" charset="0"/>
                  </a:rPr>
                  <a:t>i</a:t>
                </a:r>
                <a:r>
                  <a:rPr lang="en-US" dirty="0">
                    <a:effectLst/>
                    <a:ea typeface="Calibri" panose="020F0502020204030204" pitchFamily="34" charset="0"/>
                  </a:rPr>
                  <a:t>s </a:t>
                </a:r>
                <a:r>
                  <a:rPr lang="en-US" i="1" dirty="0">
                    <a:latin typeface="Times New Roman" panose="02020603050405020304" pitchFamily="18" charset="0"/>
                    <a:cs typeface="Times New Roman" panose="02020603050405020304" pitchFamily="18" charset="0"/>
                  </a:rPr>
                  <a:t>D = Y</a:t>
                </a:r>
                <a:r>
                  <a:rPr lang="en-US" i="1" baseline="-25000" dirty="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Y</a:t>
                </a:r>
                <a:r>
                  <a:rPr lang="en-US" i="1" baseline="-25000" dirty="0">
                    <a:latin typeface="Times New Roman" panose="02020603050405020304" pitchFamily="18" charset="0"/>
                    <a:cs typeface="Times New Roman" panose="02020603050405020304" pitchFamily="18" charset="0"/>
                  </a:rPr>
                  <a:t>2●●</a:t>
                </a:r>
                <a:r>
                  <a:rPr lang="en-US" i="1" dirty="0">
                    <a:latin typeface="Times New Roman" panose="02020603050405020304" pitchFamily="18" charset="0"/>
                    <a:cs typeface="Times New Roman" panose="02020603050405020304" pitchFamily="18" charset="0"/>
                  </a:rPr>
                  <a:t> </a:t>
                </a:r>
                <a:endParaRPr lang="en-US" dirty="0">
                  <a:effectLst/>
                  <a:ea typeface="Calibri" panose="020F0502020204030204" pitchFamily="34" charset="0"/>
                </a:endParaRPr>
              </a:p>
              <a:p>
                <a:pPr marL="0" indent="0">
                  <a:buNone/>
                </a:pPr>
                <a:endParaRPr lang="en-US" dirty="0"/>
              </a:p>
              <a:p>
                <a:pPr marL="0" marR="0" indent="0">
                  <a:lnSpc>
                    <a:spcPct val="107000"/>
                  </a:lnSpc>
                  <a:spcBef>
                    <a:spcPts val="0"/>
                  </a:spcBef>
                  <a:spcAft>
                    <a:spcPts val="0"/>
                  </a:spcAft>
                  <a:buNone/>
                  <a:tabLst>
                    <a:tab pos="457200" algn="l"/>
                  </a:tabLst>
                </a:pPr>
                <a:r>
                  <a:rPr lang="en-US" dirty="0">
                    <a:effectLst/>
                    <a:ea typeface="Calibri" panose="020F0502020204030204" pitchFamily="34" charset="0"/>
                    <a:cs typeface="Times New Roman" panose="02020603050405020304" pitchFamily="18" charset="0"/>
                  </a:rPr>
                  <a:t>The test statistic used for testing if the treatment effect is non-zero is</a:t>
                </a:r>
              </a:p>
              <a:p>
                <a:pPr marL="0" marR="0" indent="0">
                  <a:lnSpc>
                    <a:spcPct val="107000"/>
                  </a:lnSpc>
                  <a:spcBef>
                    <a:spcPts val="0"/>
                  </a:spcBef>
                  <a:spcAft>
                    <a:spcPts val="0"/>
                  </a:spcAft>
                  <a:buNone/>
                  <a:tabLst>
                    <a:tab pos="4572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r>
                      <a:rPr lang="en-US" b="0" i="1" smtClean="0">
                        <a:effectLst/>
                        <a:latin typeface="Cambria Math" panose="02040503050406030204" pitchFamily="18" charset="0"/>
                        <a:ea typeface="Calibri" panose="020F0502020204030204" pitchFamily="34" charset="0"/>
                        <a:cs typeface="Times New Roman" panose="02020603050405020304" pitchFamily="18" charset="0"/>
                      </a:rPr>
                      <m:t>𝑇</m:t>
                    </m:r>
                    <m:r>
                      <a:rPr lang="en-US" i="1">
                        <a:effectLst/>
                        <a:latin typeface="Cambria Math" panose="02040503050406030204" pitchFamily="18" charset="0"/>
                        <a:ea typeface="Calibri" panose="020F0502020204030204" pitchFamily="34" charset="0"/>
                        <a:cs typeface="Times New Roman" panose="02020603050405020304" pitchFamily="18" charset="0"/>
                      </a:rPr>
                      <m:t> =</m:t>
                    </m:r>
                    <m:r>
                      <a:rPr lang="en-US" b="0" i="1" smtClean="0">
                        <a:effectLst/>
                        <a:latin typeface="Cambria Math" panose="02040503050406030204" pitchFamily="18" charset="0"/>
                        <a:ea typeface="Calibri" panose="020F0502020204030204" pitchFamily="34" charset="0"/>
                        <a:cs typeface="Times New Roman" panose="02020603050405020304" pitchFamily="18" charset="0"/>
                      </a:rPr>
                      <m:t>𝐷</m:t>
                    </m:r>
                    <m:r>
                      <a:rPr lang="en-US" i="1">
                        <a:effectLst/>
                        <a:latin typeface="Cambria Math" panose="02040503050406030204" pitchFamily="18" charset="0"/>
                        <a:ea typeface="Calibri" panose="020F0502020204030204" pitchFamily="34" charset="0"/>
                        <a:cs typeface="Times New Roman" panose="02020603050405020304" pitchFamily="18" charset="0"/>
                      </a:rPr>
                      <m:t>/</m:t>
                    </m:r>
                    <m:r>
                      <a:rPr lang="en-US" i="1">
                        <a:effectLst/>
                        <a:latin typeface="Cambria Math" panose="02040503050406030204" pitchFamily="18" charset="0"/>
                        <a:ea typeface="Calibri" panose="020F0502020204030204" pitchFamily="34" charset="0"/>
                        <a:cs typeface="Times New Roman" panose="02020603050405020304" pitchFamily="18" charset="0"/>
                      </a:rPr>
                      <m:t>𝑆</m:t>
                    </m:r>
                  </m:oMath>
                </a14:m>
                <a:r>
                  <a:rPr lang="en-US" i="1" dirty="0">
                    <a:effectLst/>
                    <a:latin typeface="Times New Roman" panose="02020603050405020304" pitchFamily="18" charset="0"/>
                    <a:ea typeface="Calibri" panose="020F0502020204030204" pitchFamily="34" charset="0"/>
                    <a:cs typeface="Times New Roman" panose="02020603050405020304" pitchFamily="18" charset="0"/>
                  </a:rPr>
                  <a:t>E</a:t>
                </a:r>
                <a:r>
                  <a:rPr lang="en-US" dirty="0">
                    <a:effectLst/>
                    <a:latin typeface="Times New Roman" panose="02020603050405020304" pitchFamily="18" charset="0"/>
                    <a:ea typeface="Calibri" panose="020F0502020204030204" pitchFamily="34" charset="0"/>
                    <a:cs typeface="Times New Roman" panose="02020603050405020304" pitchFamily="18" charset="0"/>
                  </a:rPr>
                  <a:t>,</a:t>
                </a:r>
              </a:p>
              <a:p>
                <a:pPr marL="0" marR="0" indent="0">
                  <a:lnSpc>
                    <a:spcPct val="107000"/>
                  </a:lnSpc>
                  <a:spcBef>
                    <a:spcPts val="0"/>
                  </a:spcBef>
                  <a:spcAft>
                    <a:spcPts val="0"/>
                  </a:spcAft>
                  <a:buNone/>
                  <a:tabLst>
                    <a:tab pos="457200" algn="l"/>
                  </a:tabLst>
                </a:pPr>
                <a:r>
                  <a:rPr lang="en-US" dirty="0">
                    <a:effectLst/>
                    <a:ea typeface="Calibri" panose="020F0502020204030204" pitchFamily="34" charset="0"/>
                    <a:cs typeface="Times New Roman" panose="02020603050405020304" pitchFamily="18" charset="0"/>
                  </a:rPr>
                  <a:t>where </a:t>
                </a:r>
                <a14:m>
                  <m:oMath xmlns:m="http://schemas.openxmlformats.org/officeDocument/2006/math">
                    <m:r>
                      <a:rPr lang="en-US" b="0" i="1" smtClean="0">
                        <a:effectLst/>
                        <a:latin typeface="Cambria Math" panose="02040503050406030204" pitchFamily="18" charset="0"/>
                        <a:ea typeface="Calibri" panose="020F0502020204030204" pitchFamily="34" charset="0"/>
                        <a:cs typeface="Times New Roman" panose="02020603050405020304" pitchFamily="18" charset="0"/>
                      </a:rPr>
                      <m:t>𝑆𝐸</m:t>
                    </m:r>
                    <m:r>
                      <a:rPr lang="en-US" i="1">
                        <a:effectLst/>
                        <a:latin typeface="Cambria Math" panose="02040503050406030204" pitchFamily="18" charset="0"/>
                        <a:ea typeface="Calibri" panose="020F0502020204030204" pitchFamily="34" charset="0"/>
                        <a:cs typeface="Times New Roman" panose="02020603050405020304" pitchFamily="18" charset="0"/>
                      </a:rPr>
                      <m:t> </m:t>
                    </m:r>
                    <m:r>
                      <a:rPr lang="en-US" b="0" i="1" smtClean="0">
                        <a:effectLst/>
                        <a:latin typeface="Cambria Math" panose="02040503050406030204" pitchFamily="18" charset="0"/>
                        <a:ea typeface="Calibri" panose="020F0502020204030204" pitchFamily="34" charset="0"/>
                        <a:cs typeface="Times New Roman" panose="02020603050405020304" pitchFamily="18" charset="0"/>
                      </a:rPr>
                      <m:t> </m:t>
                    </m:r>
                  </m:oMath>
                </a14:m>
                <a:r>
                  <a:rPr lang="en-US" dirty="0">
                    <a:effectLst/>
                    <a:ea typeface="Calibri" panose="020F0502020204030204" pitchFamily="34" charset="0"/>
                    <a:cs typeface="Times New Roman" panose="02020603050405020304" pitchFamily="18" charset="0"/>
                  </a:rPr>
                  <a:t>is the standard error </a:t>
                </a:r>
                <a:r>
                  <a:rPr lang="en-US" dirty="0">
                    <a:ea typeface="Calibri" panose="020F0502020204030204" pitchFamily="34" charset="0"/>
                    <a:cs typeface="Times New Roman" panose="02020603050405020304" pitchFamily="18" charset="0"/>
                  </a:rPr>
                  <a:t>of the treatment effect estimate </a:t>
                </a:r>
                <a:r>
                  <a:rPr lang="en-US" dirty="0">
                    <a:effectLst/>
                    <a:ea typeface="Calibri" panose="020F0502020204030204" pitchFamily="34" charset="0"/>
                    <a:cs typeface="Times New Roman" panose="02020603050405020304" pitchFamily="18" charset="0"/>
                  </a:rPr>
                  <a:t>defined (in the balanced case) by</a:t>
                </a:r>
                <a:r>
                  <a:rPr lang="en-US" dirty="0">
                    <a:ea typeface="Calibri" panose="020F0502020204030204" pitchFamily="34" charset="0"/>
                    <a:cs typeface="Times New Roman" panose="02020603050405020304" pitchFamily="18" charset="0"/>
                  </a:rPr>
                  <a:t> 	</a:t>
                </a:r>
                <a:endParaRPr lang="en-US" dirty="0"/>
              </a:p>
              <a:p>
                <a:pPr marL="0" indent="0">
                  <a:lnSpc>
                    <a:spcPct val="107000"/>
                  </a:lnSpc>
                  <a:buNone/>
                  <a:tabLst>
                    <a:tab pos="457200" algn="l"/>
                  </a:tabLs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a:p>
                <a:pPr marL="0" indent="0">
                  <a:buNone/>
                </a:pPr>
                <a:endParaRPr lang="en-US" sz="1200" dirty="0"/>
              </a:p>
              <a:p>
                <a:pPr marL="0" indent="0">
                  <a:buNone/>
                </a:pPr>
                <a:r>
                  <a:rPr lang="en-US" dirty="0"/>
                  <a:t>If the true treatment effect is zero, then the statistic </a:t>
                </a:r>
                <a:r>
                  <a:rPr lang="en-US" i="1" dirty="0">
                    <a:latin typeface="Times New Roman" panose="02020603050405020304" pitchFamily="18" charset="0"/>
                    <a:cs typeface="Times New Roman" panose="02020603050405020304" pitchFamily="18" charset="0"/>
                  </a:rPr>
                  <a:t>T</a:t>
                </a:r>
                <a:r>
                  <a:rPr lang="en-US" dirty="0"/>
                  <a:t> has the </a:t>
                </a:r>
                <a:r>
                  <a:rPr lang="en-US" i="1" dirty="0"/>
                  <a:t>t</a:t>
                </a:r>
                <a:r>
                  <a:rPr lang="en-US" dirty="0"/>
                  <a:t>-distribution with </a:t>
                </a:r>
                <a:r>
                  <a:rPr lang="en-US" dirty="0">
                    <a:latin typeface="Times New Roman" panose="02020603050405020304" pitchFamily="18" charset="0"/>
                    <a:cs typeface="Times New Roman" panose="02020603050405020304" pitchFamily="18" charset="0"/>
                  </a:rPr>
                  <a:t>2</a:t>
                </a:r>
                <a:r>
                  <a:rPr lang="en-US" i="1" dirty="0">
                    <a:latin typeface="Times New Roman" panose="02020603050405020304" pitchFamily="18" charset="0"/>
                    <a:cs typeface="Times New Roman" panose="02020603050405020304" pitchFamily="18" charset="0"/>
                  </a:rPr>
                  <a:t>m</a:t>
                </a:r>
                <a:r>
                  <a:rPr lang="en-US" dirty="0">
                    <a:latin typeface="Times New Roman" panose="02020603050405020304" pitchFamily="18" charset="0"/>
                    <a:cs typeface="Times New Roman" panose="02020603050405020304" pitchFamily="18" charset="0"/>
                  </a:rPr>
                  <a:t> – 2 </a:t>
                </a:r>
                <a:r>
                  <a:rPr lang="en-US" dirty="0"/>
                  <a:t>degrees of freedom</a:t>
                </a:r>
              </a:p>
            </p:txBody>
          </p:sp>
        </mc:Choice>
        <mc:Fallback xmlns="">
          <p:sp>
            <p:nvSpPr>
              <p:cNvPr id="3" name="Content Placeholder 2">
                <a:extLst>
                  <a:ext uri="{FF2B5EF4-FFF2-40B4-BE49-F238E27FC236}">
                    <a16:creationId xmlns:a16="http://schemas.microsoft.com/office/drawing/2014/main" id="{00584E42-A6E7-4A68-A83A-F30C09C7A139}"/>
                  </a:ext>
                </a:extLst>
              </p:cNvPr>
              <p:cNvSpPr>
                <a:spLocks noGrp="1" noRot="1" noChangeAspect="1" noMove="1" noResize="1" noEditPoints="1" noAdjustHandles="1" noChangeArrowheads="1" noChangeShapeType="1" noTextEdit="1"/>
              </p:cNvSpPr>
              <p:nvPr>
                <p:ph idx="1"/>
              </p:nvPr>
            </p:nvSpPr>
            <p:spPr>
              <a:blipFill>
                <a:blip r:embed="rId2"/>
                <a:stretch>
                  <a:fillRect l="-638" t="-1541"/>
                </a:stretch>
              </a:blipFill>
            </p:spPr>
            <p:txBody>
              <a:bodyPr/>
              <a:lstStyle/>
              <a:p>
                <a:r>
                  <a:rPr lang="en-US">
                    <a:noFill/>
                  </a:rPr>
                  <a:t> </a:t>
                </a:r>
              </a:p>
            </p:txBody>
          </p:sp>
        </mc:Fallback>
      </mc:AlternateContent>
      <p:graphicFrame>
        <p:nvGraphicFramePr>
          <p:cNvPr id="4" name="Object 3">
            <a:extLst>
              <a:ext uri="{FF2B5EF4-FFF2-40B4-BE49-F238E27FC236}">
                <a16:creationId xmlns:a16="http://schemas.microsoft.com/office/drawing/2014/main" id="{52AD113D-ABDD-4E52-BAC1-AE027E3E2A84}"/>
              </a:ext>
            </a:extLst>
          </p:cNvPr>
          <p:cNvGraphicFramePr>
            <a:graphicFrameLocks noChangeAspect="1"/>
          </p:cNvGraphicFramePr>
          <p:nvPr>
            <p:extLst>
              <p:ext uri="{D42A27DB-BD31-4B8C-83A1-F6EECF244321}">
                <p14:modId xmlns:p14="http://schemas.microsoft.com/office/powerpoint/2010/main" val="3282069644"/>
              </p:ext>
            </p:extLst>
          </p:nvPr>
        </p:nvGraphicFramePr>
        <p:xfrm>
          <a:off x="1394244" y="4257110"/>
          <a:ext cx="3670888" cy="941746"/>
        </p:xfrm>
        <a:graphic>
          <a:graphicData uri="http://schemas.openxmlformats.org/presentationml/2006/ole">
            <mc:AlternateContent xmlns:mc="http://schemas.openxmlformats.org/markup-compatibility/2006">
              <mc:Choice xmlns:v="urn:schemas-microsoft-com:vml" Requires="v">
                <p:oleObj name="Equation" r:id="rId3" imgW="2425680" imgH="622080" progId="Equation.DSMT4">
                  <p:embed/>
                </p:oleObj>
              </mc:Choice>
              <mc:Fallback>
                <p:oleObj name="Equation" r:id="rId3" imgW="2425680" imgH="622080" progId="Equation.DSMT4">
                  <p:embed/>
                  <p:pic>
                    <p:nvPicPr>
                      <p:cNvPr id="0" name=""/>
                      <p:cNvPicPr/>
                      <p:nvPr/>
                    </p:nvPicPr>
                    <p:blipFill>
                      <a:blip r:embed="rId4"/>
                      <a:stretch>
                        <a:fillRect/>
                      </a:stretch>
                    </p:blipFill>
                    <p:spPr>
                      <a:xfrm>
                        <a:off x="1394244" y="4257110"/>
                        <a:ext cx="3670888" cy="941746"/>
                      </a:xfrm>
                      <a:prstGeom prst="rect">
                        <a:avLst/>
                      </a:prstGeom>
                    </p:spPr>
                  </p:pic>
                </p:oleObj>
              </mc:Fallback>
            </mc:AlternateContent>
          </a:graphicData>
        </a:graphic>
      </p:graphicFrame>
    </p:spTree>
    <p:extLst>
      <p:ext uri="{BB962C8B-B14F-4D97-AF65-F5344CB8AC3E}">
        <p14:creationId xmlns:p14="http://schemas.microsoft.com/office/powerpoint/2010/main" val="38409433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DDD1C-7BD7-4D4F-8A8C-6E7FD7AD7496}"/>
              </a:ext>
            </a:extLst>
          </p:cNvPr>
          <p:cNvSpPr>
            <a:spLocks noGrp="1"/>
          </p:cNvSpPr>
          <p:nvPr>
            <p:ph type="title"/>
          </p:nvPr>
        </p:nvSpPr>
        <p:spPr/>
        <p:txBody>
          <a:bodyPr/>
          <a:lstStyle/>
          <a:p>
            <a:r>
              <a:rPr lang="en-US" dirty="0"/>
              <a:t>Testing the Significance of the Treatment Effect</a:t>
            </a:r>
          </a:p>
        </p:txBody>
      </p:sp>
      <p:sp>
        <p:nvSpPr>
          <p:cNvPr id="3" name="Content Placeholder 2">
            <a:extLst>
              <a:ext uri="{FF2B5EF4-FFF2-40B4-BE49-F238E27FC236}">
                <a16:creationId xmlns:a16="http://schemas.microsoft.com/office/drawing/2014/main" id="{FDA875A3-B830-4964-8487-DE6D6E9011B8}"/>
              </a:ext>
            </a:extLst>
          </p:cNvPr>
          <p:cNvSpPr>
            <a:spLocks noGrp="1"/>
          </p:cNvSpPr>
          <p:nvPr>
            <p:ph idx="1"/>
          </p:nvPr>
        </p:nvSpPr>
        <p:spPr/>
        <p:txBody>
          <a:bodyPr/>
          <a:lstStyle/>
          <a:p>
            <a:pPr marL="0" indent="0">
              <a:buNone/>
            </a:pPr>
            <a:r>
              <a:rPr lang="en-US" dirty="0"/>
              <a:t>The significance testing process involves</a:t>
            </a:r>
          </a:p>
          <a:p>
            <a:pPr marL="0" indent="0">
              <a:buNone/>
            </a:pPr>
            <a:endParaRPr lang="en-US" dirty="0"/>
          </a:p>
          <a:p>
            <a:pPr marL="457200" indent="-457200">
              <a:buAutoNum type="arabicPeriod"/>
            </a:pPr>
            <a:r>
              <a:rPr lang="en-US" dirty="0"/>
              <a:t>Picking a significance level (this is up to you, but 0.05 is conventional)</a:t>
            </a:r>
          </a:p>
          <a:p>
            <a:pPr marL="457200" indent="-457200">
              <a:buAutoNum type="arabicPeriod"/>
            </a:pPr>
            <a:endParaRPr lang="en-US" dirty="0"/>
          </a:p>
          <a:p>
            <a:pPr marL="457200" indent="-457200">
              <a:buAutoNum type="arabicPeriod"/>
            </a:pPr>
            <a:r>
              <a:rPr lang="en-US" dirty="0"/>
              <a:t>Computing the value of </a:t>
            </a:r>
            <a:r>
              <a:rPr lang="en-US" i="1" dirty="0">
                <a:latin typeface="Times New Roman" panose="02020603050405020304" pitchFamily="18" charset="0"/>
                <a:cs typeface="Times New Roman" panose="02020603050405020304" pitchFamily="18" charset="0"/>
              </a:rPr>
              <a:t>T</a:t>
            </a:r>
            <a:r>
              <a:rPr lang="en-US" dirty="0"/>
              <a:t> from the data </a:t>
            </a:r>
          </a:p>
          <a:p>
            <a:pPr marL="457200" indent="-457200">
              <a:buAutoNum type="arabicPeriod"/>
            </a:pPr>
            <a:endParaRPr lang="en-US" dirty="0"/>
          </a:p>
          <a:p>
            <a:pPr marL="457200" indent="-457200">
              <a:buAutoNum type="arabicPeriod"/>
            </a:pPr>
            <a:r>
              <a:rPr lang="en-US" dirty="0"/>
              <a:t>Obtaining the critical value of the </a:t>
            </a:r>
            <a:r>
              <a:rPr lang="en-US" i="1" dirty="0"/>
              <a:t>t</a:t>
            </a:r>
            <a:r>
              <a:rPr lang="en-US" dirty="0"/>
              <a:t>-distribution with </a:t>
            </a:r>
            <a:r>
              <a:rPr lang="en-US" dirty="0">
                <a:latin typeface="Times New Roman" panose="02020603050405020304" pitchFamily="18" charset="0"/>
                <a:cs typeface="Times New Roman" panose="02020603050405020304" pitchFamily="18" charset="0"/>
              </a:rPr>
              <a:t>2</a:t>
            </a:r>
            <a:r>
              <a:rPr lang="en-US" i="1" dirty="0">
                <a:latin typeface="Times New Roman" panose="02020603050405020304" pitchFamily="18" charset="0"/>
                <a:cs typeface="Times New Roman" panose="02020603050405020304" pitchFamily="18" charset="0"/>
              </a:rPr>
              <a:t>m</a:t>
            </a:r>
            <a:r>
              <a:rPr lang="en-US" dirty="0">
                <a:latin typeface="Times New Roman" panose="02020603050405020304" pitchFamily="18" charset="0"/>
                <a:cs typeface="Times New Roman" panose="02020603050405020304" pitchFamily="18" charset="0"/>
              </a:rPr>
              <a:t> – 2</a:t>
            </a:r>
            <a:r>
              <a:rPr lang="en-US" dirty="0"/>
              <a:t> degrees of freedom (which will be about 2 for the for all but the smallest degrees of freedom)</a:t>
            </a:r>
          </a:p>
          <a:p>
            <a:pPr marL="457200" indent="-457200">
              <a:buAutoNum type="arabicPeriod"/>
            </a:pPr>
            <a:endParaRPr lang="en-US" dirty="0"/>
          </a:p>
          <a:p>
            <a:pPr marL="457200" indent="-457200">
              <a:buAutoNum type="arabicPeriod"/>
            </a:pPr>
            <a:r>
              <a:rPr lang="en-US" dirty="0"/>
              <a:t>Reject the null hypothesis of no treatment effect (in other words conclude that the treatment effect is significant) if </a:t>
            </a:r>
            <a:r>
              <a:rPr lang="en-US" dirty="0">
                <a:latin typeface="Times New Roman" panose="02020603050405020304" pitchFamily="18" charset="0"/>
                <a:cs typeface="Times New Roman" panose="02020603050405020304" pitchFamily="18" charset="0"/>
              </a:rPr>
              <a:t>|</a:t>
            </a:r>
            <a:r>
              <a:rPr lang="en-US" i="1" dirty="0">
                <a:latin typeface="Times New Roman" panose="02020603050405020304" pitchFamily="18" charset="0"/>
                <a:cs typeface="Times New Roman" panose="02020603050405020304" pitchFamily="18" charset="0"/>
              </a:rPr>
              <a:t>T</a:t>
            </a:r>
            <a:r>
              <a:rPr lang="en-US" dirty="0">
                <a:latin typeface="Times New Roman" panose="02020603050405020304" pitchFamily="18" charset="0"/>
                <a:cs typeface="Times New Roman" panose="02020603050405020304" pitchFamily="18" charset="0"/>
              </a:rPr>
              <a:t>|</a:t>
            </a:r>
            <a:r>
              <a:rPr lang="en-US" dirty="0"/>
              <a:t> exceeds the critical value</a:t>
            </a:r>
          </a:p>
          <a:p>
            <a:pPr marL="0" indent="0">
              <a:buNone/>
            </a:pPr>
            <a:endParaRPr lang="en-US" dirty="0"/>
          </a:p>
          <a:p>
            <a:pPr marL="0" indent="0">
              <a:buNone/>
            </a:pPr>
            <a:r>
              <a:rPr lang="en-US" dirty="0"/>
              <a:t>You could also use software that computes the “exact </a:t>
            </a:r>
            <a:r>
              <a:rPr lang="en-US" i="1" dirty="0"/>
              <a:t>p</a:t>
            </a:r>
            <a:r>
              <a:rPr lang="en-US" dirty="0"/>
              <a:t>-value.”  In that method, conclude that the treatment effect is significant if the two-tailed </a:t>
            </a:r>
            <a:r>
              <a:rPr lang="en-US" i="1" dirty="0"/>
              <a:t>p</a:t>
            </a:r>
            <a:r>
              <a:rPr lang="en-US" dirty="0"/>
              <a:t>-value is less than 0.05</a:t>
            </a:r>
          </a:p>
        </p:txBody>
      </p:sp>
    </p:spTree>
    <p:extLst>
      <p:ext uri="{BB962C8B-B14F-4D97-AF65-F5344CB8AC3E}">
        <p14:creationId xmlns:p14="http://schemas.microsoft.com/office/powerpoint/2010/main" val="40296699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401D6-5079-440D-BBC7-78F50D7A21B2}"/>
              </a:ext>
            </a:extLst>
          </p:cNvPr>
          <p:cNvSpPr>
            <a:spLocks noGrp="1"/>
          </p:cNvSpPr>
          <p:nvPr>
            <p:ph type="title"/>
          </p:nvPr>
        </p:nvSpPr>
        <p:spPr/>
        <p:txBody>
          <a:bodyPr/>
          <a:lstStyle/>
          <a:p>
            <a:r>
              <a:rPr lang="en-US" dirty="0">
                <a:solidFill>
                  <a:srgbClr val="262626"/>
                </a:solidFill>
                <a:effectLst/>
                <a:latin typeface="-apple-system"/>
              </a:rPr>
              <a:t>Déjà vu?</a:t>
            </a:r>
            <a:endParaRPr lang="en-US" dirty="0"/>
          </a:p>
        </p:txBody>
      </p:sp>
      <p:sp>
        <p:nvSpPr>
          <p:cNvPr id="3" name="Content Placeholder 2">
            <a:extLst>
              <a:ext uri="{FF2B5EF4-FFF2-40B4-BE49-F238E27FC236}">
                <a16:creationId xmlns:a16="http://schemas.microsoft.com/office/drawing/2014/main" id="{62B95C74-5D51-4DF1-99F3-7C64B761B00B}"/>
              </a:ext>
            </a:extLst>
          </p:cNvPr>
          <p:cNvSpPr>
            <a:spLocks noGrp="1"/>
          </p:cNvSpPr>
          <p:nvPr>
            <p:ph idx="1"/>
          </p:nvPr>
        </p:nvSpPr>
        <p:spPr/>
        <p:txBody>
          <a:bodyPr/>
          <a:lstStyle/>
          <a:p>
            <a:pPr marL="0" indent="0">
              <a:buNone/>
            </a:pPr>
            <a:r>
              <a:rPr lang="en-US" dirty="0"/>
              <a:t>You might be thinking you have seen this test statistic  and testing procedure before somewhere</a:t>
            </a:r>
          </a:p>
          <a:p>
            <a:pPr marL="0" indent="0">
              <a:buNone/>
            </a:pPr>
            <a:endParaRPr lang="en-US" dirty="0"/>
          </a:p>
          <a:p>
            <a:pPr marL="0" indent="0">
              <a:buNone/>
            </a:pPr>
            <a:r>
              <a:rPr lang="en-US" dirty="0"/>
              <a:t>You have: This looks a lot like the test statistic for the individually randomized design</a:t>
            </a:r>
          </a:p>
          <a:p>
            <a:pPr marL="0" indent="0">
              <a:buNone/>
            </a:pPr>
            <a:endParaRPr lang="en-US" dirty="0"/>
          </a:p>
          <a:p>
            <a:pPr marL="0" indent="0">
              <a:buNone/>
            </a:pPr>
            <a:r>
              <a:rPr lang="en-US" dirty="0"/>
              <a:t>It turns out that when the design is balanced (all clusters have the same size </a:t>
            </a:r>
            <a:r>
              <a:rPr lang="en-US" i="1" dirty="0">
                <a:latin typeface="Times New Roman" panose="02020603050405020304" pitchFamily="18" charset="0"/>
                <a:cs typeface="Times New Roman" panose="02020603050405020304" pitchFamily="18" charset="0"/>
              </a:rPr>
              <a:t>n</a:t>
            </a:r>
            <a:r>
              <a:rPr lang="en-US" dirty="0"/>
              <a:t>) the optimal significance test in the cluster randomized design is just the same as treating the cluster means (the </a:t>
            </a:r>
            <a:r>
              <a:rPr lang="en-US" i="1" dirty="0">
                <a:latin typeface="Times New Roman" panose="02020603050405020304" pitchFamily="18" charset="0"/>
                <a:cs typeface="Times New Roman" panose="02020603050405020304" pitchFamily="18" charset="0"/>
              </a:rPr>
              <a:t>Y</a:t>
            </a:r>
            <a:r>
              <a:rPr lang="en-US" i="1" baseline="-25000" dirty="0">
                <a:latin typeface="Times New Roman" panose="02020603050405020304" pitchFamily="18" charset="0"/>
                <a:cs typeface="Times New Roman" panose="02020603050405020304" pitchFamily="18" charset="0"/>
              </a:rPr>
              <a:t>1j●</a:t>
            </a:r>
            <a:r>
              <a:rPr lang="en-US" dirty="0"/>
              <a:t>‘s and </a:t>
            </a:r>
            <a:r>
              <a:rPr lang="en-US" i="1" dirty="0">
                <a:latin typeface="Times New Roman" panose="02020603050405020304" pitchFamily="18" charset="0"/>
                <a:cs typeface="Times New Roman" panose="02020603050405020304" pitchFamily="18" charset="0"/>
              </a:rPr>
              <a:t>Y</a:t>
            </a:r>
            <a:r>
              <a:rPr lang="en-US" i="1" baseline="-25000" dirty="0">
                <a:latin typeface="Times New Roman" panose="02020603050405020304" pitchFamily="18" charset="0"/>
                <a:cs typeface="Times New Roman" panose="02020603050405020304" pitchFamily="18" charset="0"/>
              </a:rPr>
              <a:t>2j●</a:t>
            </a:r>
            <a:r>
              <a:rPr lang="en-US" dirty="0"/>
              <a:t> ‘s as  if they were “individual observations,”  so there are </a:t>
            </a:r>
            <a:r>
              <a:rPr lang="en-US" dirty="0">
                <a:latin typeface="Times New Roman" panose="02020603050405020304" pitchFamily="18" charset="0"/>
                <a:cs typeface="Times New Roman" panose="02020603050405020304" pitchFamily="18" charset="0"/>
              </a:rPr>
              <a:t>2</a:t>
            </a:r>
            <a:r>
              <a:rPr lang="en-US" i="1" dirty="0">
                <a:latin typeface="Times New Roman" panose="02020603050405020304" pitchFamily="18" charset="0"/>
                <a:cs typeface="Times New Roman" panose="02020603050405020304" pitchFamily="18" charset="0"/>
              </a:rPr>
              <a:t>m</a:t>
            </a:r>
            <a:r>
              <a:rPr lang="en-US" dirty="0"/>
              <a:t> “observations” </a:t>
            </a:r>
          </a:p>
          <a:p>
            <a:pPr marL="0" indent="0">
              <a:buNone/>
            </a:pPr>
            <a:endParaRPr lang="en-US" dirty="0"/>
          </a:p>
          <a:p>
            <a:pPr marL="0" indent="0">
              <a:buNone/>
            </a:pPr>
            <a:r>
              <a:rPr lang="en-US" dirty="0"/>
              <a:t>If the design is almost balanced just analyzing the cluster means would be very close to optimal</a:t>
            </a:r>
          </a:p>
          <a:p>
            <a:pPr marL="0" indent="0">
              <a:buNone/>
            </a:pPr>
            <a:endParaRPr lang="en-US" dirty="0"/>
          </a:p>
          <a:p>
            <a:pPr marL="0" indent="0">
              <a:buNone/>
            </a:pPr>
            <a:r>
              <a:rPr lang="en-US" dirty="0"/>
              <a:t>Many people seem to feel that it is much better to analyze all the data (not just the cluster means), but this is wrong because of the statistical principle of </a:t>
            </a:r>
            <a:r>
              <a:rPr lang="en-US" b="1" i="1" dirty="0"/>
              <a:t>sufficiency</a:t>
            </a:r>
            <a:r>
              <a:rPr lang="en-US" dirty="0"/>
              <a:t>:  Sometimes summary statistics (like cluster means) contain all the information in the observations and any sensible analysis depends on the data only through those summary statistics</a:t>
            </a:r>
          </a:p>
        </p:txBody>
      </p:sp>
      <p:sp>
        <p:nvSpPr>
          <p:cNvPr id="5" name="TextBox 4">
            <a:extLst>
              <a:ext uri="{FF2B5EF4-FFF2-40B4-BE49-F238E27FC236}">
                <a16:creationId xmlns:a16="http://schemas.microsoft.com/office/drawing/2014/main" id="{B5EE2ACF-5298-4219-BE60-CA11368808C5}"/>
              </a:ext>
            </a:extLst>
          </p:cNvPr>
          <p:cNvSpPr txBox="1"/>
          <p:nvPr/>
        </p:nvSpPr>
        <p:spPr>
          <a:xfrm>
            <a:off x="3048610" y="3246163"/>
            <a:ext cx="6097218" cy="369332"/>
          </a:xfrm>
          <a:prstGeom prst="rect">
            <a:avLst/>
          </a:prstGeom>
          <a:noFill/>
        </p:spPr>
        <p:txBody>
          <a:bodyPr wrap="square">
            <a:spAutoFit/>
          </a:bodyPr>
          <a:lstStyle/>
          <a:p>
            <a:r>
              <a:rPr lang="en-US" i="1" dirty="0">
                <a:latin typeface="Times New Roman" panose="02020603050405020304" pitchFamily="18" charset="0"/>
                <a:cs typeface="Times New Roman" panose="02020603050405020304" pitchFamily="18" charset="0"/>
              </a:rPr>
              <a:t>Y</a:t>
            </a:r>
            <a:r>
              <a:rPr lang="en-US" i="1" baseline="-25000" dirty="0">
                <a:latin typeface="Times New Roman" panose="02020603050405020304" pitchFamily="18" charset="0"/>
                <a:cs typeface="Times New Roman" panose="02020603050405020304" pitchFamily="18" charset="0"/>
              </a:rPr>
              <a:t>1j●</a:t>
            </a:r>
            <a:r>
              <a:rPr lang="en-US" dirty="0">
                <a:latin typeface="Times New Roman" panose="02020603050405020304" pitchFamily="18" charset="0"/>
                <a:cs typeface="Times New Roman" panose="02020603050405020304" pitchFamily="18" charset="0"/>
              </a:rPr>
              <a:t> </a:t>
            </a:r>
            <a:endParaRPr lang="en-US" dirty="0"/>
          </a:p>
        </p:txBody>
      </p:sp>
      <p:sp>
        <p:nvSpPr>
          <p:cNvPr id="7" name="TextBox 6">
            <a:extLst>
              <a:ext uri="{FF2B5EF4-FFF2-40B4-BE49-F238E27FC236}">
                <a16:creationId xmlns:a16="http://schemas.microsoft.com/office/drawing/2014/main" id="{A0AB4C2F-B5DC-4F60-992F-0AECCF5BA6B4}"/>
              </a:ext>
            </a:extLst>
          </p:cNvPr>
          <p:cNvSpPr txBox="1"/>
          <p:nvPr/>
        </p:nvSpPr>
        <p:spPr>
          <a:xfrm>
            <a:off x="3048610" y="3246163"/>
            <a:ext cx="6097218" cy="369332"/>
          </a:xfrm>
          <a:prstGeom prst="rect">
            <a:avLst/>
          </a:prstGeom>
          <a:noFill/>
        </p:spPr>
        <p:txBody>
          <a:bodyPr wrap="square">
            <a:spAutoFit/>
          </a:bodyPr>
          <a:lstStyle/>
          <a:p>
            <a:r>
              <a:rPr lang="en-US" i="1" dirty="0">
                <a:latin typeface="Times New Roman" panose="02020603050405020304" pitchFamily="18" charset="0"/>
                <a:cs typeface="Times New Roman" panose="02020603050405020304" pitchFamily="18" charset="0"/>
              </a:rPr>
              <a:t>Y</a:t>
            </a:r>
            <a:r>
              <a:rPr lang="en-US" i="1" baseline="-25000" dirty="0">
                <a:latin typeface="Times New Roman" panose="02020603050405020304" pitchFamily="18" charset="0"/>
                <a:cs typeface="Times New Roman" panose="02020603050405020304" pitchFamily="18" charset="0"/>
              </a:rPr>
              <a:t>1j●</a:t>
            </a:r>
            <a:r>
              <a:rPr lang="en-US" dirty="0">
                <a:latin typeface="Times New Roman" panose="02020603050405020304" pitchFamily="18" charset="0"/>
                <a:cs typeface="Times New Roman" panose="02020603050405020304" pitchFamily="18" charset="0"/>
              </a:rPr>
              <a:t> </a:t>
            </a:r>
            <a:endParaRPr lang="en-US" dirty="0"/>
          </a:p>
        </p:txBody>
      </p:sp>
      <p:sp>
        <p:nvSpPr>
          <p:cNvPr id="9" name="TextBox 8">
            <a:extLst>
              <a:ext uri="{FF2B5EF4-FFF2-40B4-BE49-F238E27FC236}">
                <a16:creationId xmlns:a16="http://schemas.microsoft.com/office/drawing/2014/main" id="{A3FCC469-FAFD-4CC7-BAB0-07E6F1B5C232}"/>
              </a:ext>
            </a:extLst>
          </p:cNvPr>
          <p:cNvSpPr txBox="1"/>
          <p:nvPr/>
        </p:nvSpPr>
        <p:spPr>
          <a:xfrm>
            <a:off x="3048610" y="3246163"/>
            <a:ext cx="6097218" cy="369332"/>
          </a:xfrm>
          <a:prstGeom prst="rect">
            <a:avLst/>
          </a:prstGeom>
          <a:noFill/>
        </p:spPr>
        <p:txBody>
          <a:bodyPr wrap="square">
            <a:spAutoFit/>
          </a:bodyPr>
          <a:lstStyle/>
          <a:p>
            <a:r>
              <a:rPr lang="en-US" i="1" dirty="0">
                <a:latin typeface="Times New Roman" panose="02020603050405020304" pitchFamily="18" charset="0"/>
                <a:cs typeface="Times New Roman" panose="02020603050405020304" pitchFamily="18" charset="0"/>
              </a:rPr>
              <a:t>Y</a:t>
            </a:r>
            <a:r>
              <a:rPr lang="en-US" i="1" baseline="-25000" dirty="0">
                <a:latin typeface="Times New Roman" panose="02020603050405020304" pitchFamily="18" charset="0"/>
                <a:cs typeface="Times New Roman" panose="02020603050405020304" pitchFamily="18" charset="0"/>
              </a:rPr>
              <a:t>1j●</a:t>
            </a:r>
            <a:r>
              <a:rPr lang="en-US" dirty="0">
                <a:latin typeface="Times New Roman" panose="02020603050405020304" pitchFamily="18" charset="0"/>
                <a:cs typeface="Times New Roman" panose="02020603050405020304" pitchFamily="18" charset="0"/>
              </a:rPr>
              <a:t> </a:t>
            </a:r>
            <a:endParaRPr lang="en-US" dirty="0"/>
          </a:p>
        </p:txBody>
      </p:sp>
    </p:spTree>
    <p:extLst>
      <p:ext uri="{BB962C8B-B14F-4D97-AF65-F5344CB8AC3E}">
        <p14:creationId xmlns:p14="http://schemas.microsoft.com/office/powerpoint/2010/main" val="16980696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7FEF7-4104-427E-BA62-C14073D0E70A}"/>
              </a:ext>
            </a:extLst>
          </p:cNvPr>
          <p:cNvSpPr>
            <a:spLocks noGrp="1"/>
          </p:cNvSpPr>
          <p:nvPr>
            <p:ph type="title"/>
          </p:nvPr>
        </p:nvSpPr>
        <p:spPr/>
        <p:txBody>
          <a:bodyPr/>
          <a:lstStyle/>
          <a:p>
            <a:r>
              <a:rPr lang="en-US" dirty="0"/>
              <a:t>Design Sensitivity</a:t>
            </a:r>
          </a:p>
        </p:txBody>
      </p:sp>
      <p:sp>
        <p:nvSpPr>
          <p:cNvPr id="3" name="Content Placeholder 2">
            <a:extLst>
              <a:ext uri="{FF2B5EF4-FFF2-40B4-BE49-F238E27FC236}">
                <a16:creationId xmlns:a16="http://schemas.microsoft.com/office/drawing/2014/main" id="{10BAD494-1A1A-41DD-AB7C-55E32D9F8144}"/>
              </a:ext>
            </a:extLst>
          </p:cNvPr>
          <p:cNvSpPr>
            <a:spLocks noGrp="1"/>
          </p:cNvSpPr>
          <p:nvPr>
            <p:ph idx="1"/>
          </p:nvPr>
        </p:nvSpPr>
        <p:spPr/>
        <p:txBody>
          <a:bodyPr/>
          <a:lstStyle/>
          <a:p>
            <a:pPr marL="0" indent="0">
              <a:buNone/>
            </a:pPr>
            <a:r>
              <a:rPr lang="en-US" dirty="0"/>
              <a:t>Recall that design sensitivity can be described in any one of three related ways:</a:t>
            </a:r>
          </a:p>
          <a:p>
            <a:pPr marL="0" indent="0">
              <a:buNone/>
            </a:pPr>
            <a:endParaRPr lang="en-US" dirty="0"/>
          </a:p>
          <a:p>
            <a:pPr marL="457200" indent="-457200">
              <a:buAutoNum type="arabicPeriod"/>
            </a:pPr>
            <a:r>
              <a:rPr lang="en-US" dirty="0"/>
              <a:t>Statistical power</a:t>
            </a:r>
          </a:p>
          <a:p>
            <a:pPr marL="457200" indent="-457200">
              <a:buAutoNum type="arabicPeriod"/>
            </a:pPr>
            <a:r>
              <a:rPr lang="en-US" dirty="0"/>
              <a:t>Precision (standard error) of the estimated treatment effect</a:t>
            </a:r>
          </a:p>
          <a:p>
            <a:pPr marL="457200" indent="-457200">
              <a:buAutoNum type="arabicPeriod"/>
            </a:pPr>
            <a:r>
              <a:rPr lang="en-US" dirty="0"/>
              <a:t>The minimum detectable effect size (MDES)</a:t>
            </a:r>
          </a:p>
          <a:p>
            <a:pPr marL="0" indent="0">
              <a:buNone/>
            </a:pPr>
            <a:endParaRPr lang="en-US" dirty="0"/>
          </a:p>
          <a:p>
            <a:pPr marL="0" indent="0">
              <a:buNone/>
            </a:pPr>
            <a:r>
              <a:rPr lang="en-US" dirty="0"/>
              <a:t>We will discuss  design sensitivity mainly through MDES</a:t>
            </a:r>
          </a:p>
          <a:p>
            <a:pPr marL="0" indent="0">
              <a:buNone/>
            </a:pPr>
            <a:endParaRPr lang="en-US" dirty="0"/>
          </a:p>
          <a:p>
            <a:pPr marL="0" indent="0">
              <a:buNone/>
            </a:pPr>
            <a:r>
              <a:rPr lang="en-US" dirty="0"/>
              <a:t>As a practical matter, design sensitivity for cluster randomized designs is limited primarily by the number of clusters (</a:t>
            </a:r>
            <a:r>
              <a:rPr lang="en-US" i="1" dirty="0">
                <a:latin typeface="Times New Roman" panose="02020603050405020304" pitchFamily="18" charset="0"/>
                <a:cs typeface="Times New Roman" panose="02020603050405020304" pitchFamily="18" charset="0"/>
              </a:rPr>
              <a:t>m</a:t>
            </a:r>
            <a:r>
              <a:rPr lang="en-US" dirty="0"/>
              <a:t>), and that clusters  will often be  schools (but sometimes classrooms)</a:t>
            </a:r>
          </a:p>
          <a:p>
            <a:pPr marL="0" indent="0">
              <a:buNone/>
            </a:pPr>
            <a:endParaRPr lang="en-US" dirty="0"/>
          </a:p>
          <a:p>
            <a:pPr marL="0" indent="0">
              <a:buNone/>
            </a:pPr>
            <a:r>
              <a:rPr lang="en-US" dirty="0"/>
              <a:t>We assume in this workshop that the number of schools available is limited to 5 – 10 , rarely as many as 20, so that </a:t>
            </a:r>
            <a:r>
              <a:rPr lang="en-US" i="1" dirty="0">
                <a:latin typeface="Times New Roman" panose="02020603050405020304" pitchFamily="18" charset="0"/>
                <a:cs typeface="Times New Roman" panose="02020603050405020304" pitchFamily="18" charset="0"/>
              </a:rPr>
              <a:t>m</a:t>
            </a:r>
            <a:r>
              <a:rPr lang="en-US" dirty="0"/>
              <a:t> = 5 – 10 is about the maximum number of clusters that are feasible</a:t>
            </a:r>
          </a:p>
          <a:p>
            <a:pPr marL="0" indent="0">
              <a:buNone/>
            </a:pPr>
            <a:endParaRPr lang="en-US" dirty="0"/>
          </a:p>
          <a:p>
            <a:pPr marL="0" indent="0">
              <a:buNone/>
            </a:pPr>
            <a:r>
              <a:rPr lang="en-US" dirty="0"/>
              <a:t>If clusters are classrooms, a slightly larger number might be feasible</a:t>
            </a:r>
          </a:p>
        </p:txBody>
      </p:sp>
    </p:spTree>
    <p:extLst>
      <p:ext uri="{BB962C8B-B14F-4D97-AF65-F5344CB8AC3E}">
        <p14:creationId xmlns:p14="http://schemas.microsoft.com/office/powerpoint/2010/main" val="22338007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AB444-4B1C-4776-BAB7-6CF106EE8049}"/>
              </a:ext>
            </a:extLst>
          </p:cNvPr>
          <p:cNvSpPr>
            <a:spLocks noGrp="1"/>
          </p:cNvSpPr>
          <p:nvPr>
            <p:ph type="title"/>
          </p:nvPr>
        </p:nvSpPr>
        <p:spPr/>
        <p:txBody>
          <a:bodyPr/>
          <a:lstStyle/>
          <a:p>
            <a:r>
              <a:rPr lang="en-US" dirty="0"/>
              <a:t>MDES in Cluster Randomized Designs</a:t>
            </a:r>
          </a:p>
        </p:txBody>
      </p:sp>
      <p:sp>
        <p:nvSpPr>
          <p:cNvPr id="3" name="Content Placeholder 2">
            <a:extLst>
              <a:ext uri="{FF2B5EF4-FFF2-40B4-BE49-F238E27FC236}">
                <a16:creationId xmlns:a16="http://schemas.microsoft.com/office/drawing/2014/main" id="{001A231F-3A93-403F-B001-7D4610B06C63}"/>
              </a:ext>
            </a:extLst>
          </p:cNvPr>
          <p:cNvSpPr>
            <a:spLocks noGrp="1"/>
          </p:cNvSpPr>
          <p:nvPr>
            <p:ph idx="1"/>
          </p:nvPr>
        </p:nvSpPr>
        <p:spPr/>
        <p:txBody>
          <a:bodyPr>
            <a:normAutofit/>
          </a:bodyPr>
          <a:lstStyle/>
          <a:p>
            <a:pPr marL="0" indent="0">
              <a:buNone/>
            </a:pPr>
            <a:r>
              <a:rPr lang="en-US" dirty="0"/>
              <a:t>In cluster randomized designs, MDES depends  on</a:t>
            </a:r>
          </a:p>
          <a:p>
            <a:pPr marL="0" indent="0">
              <a:buNone/>
            </a:pPr>
            <a:r>
              <a:rPr lang="en-US" dirty="0"/>
              <a:t> </a:t>
            </a:r>
          </a:p>
          <a:p>
            <a:pPr marL="0" indent="0">
              <a:buNone/>
            </a:pPr>
            <a:r>
              <a:rPr lang="en-US" dirty="0"/>
              <a:t>1. The significance level (0.05 is a very strong convention)</a:t>
            </a:r>
          </a:p>
          <a:p>
            <a:pPr marL="0" indent="0">
              <a:buNone/>
            </a:pPr>
            <a:endParaRPr lang="en-US" dirty="0"/>
          </a:p>
          <a:p>
            <a:pPr marL="0" indent="0">
              <a:buNone/>
            </a:pPr>
            <a:r>
              <a:rPr lang="en-US" dirty="0"/>
              <a:t>2. The power level desired (0.8 is a strong convention)</a:t>
            </a:r>
          </a:p>
          <a:p>
            <a:pPr marL="0" indent="0">
              <a:buNone/>
            </a:pPr>
            <a:endParaRPr lang="en-US" dirty="0"/>
          </a:p>
          <a:p>
            <a:pPr marL="457200" indent="-457200">
              <a:buAutoNum type="arabicPeriod" startAt="3"/>
            </a:pPr>
            <a:r>
              <a:rPr lang="en-US" dirty="0"/>
              <a:t>The number </a:t>
            </a:r>
            <a:r>
              <a:rPr lang="en-US" i="1" dirty="0">
                <a:latin typeface="Times New Roman" panose="02020603050405020304" pitchFamily="18" charset="0"/>
                <a:cs typeface="Times New Roman" panose="02020603050405020304" pitchFamily="18" charset="0"/>
              </a:rPr>
              <a:t>m</a:t>
            </a:r>
            <a:r>
              <a:rPr lang="en-US" dirty="0"/>
              <a:t> of clusters randomized to each treatment</a:t>
            </a:r>
          </a:p>
          <a:p>
            <a:pPr marL="457200" indent="-457200">
              <a:buAutoNum type="arabicPeriod" startAt="3"/>
            </a:pPr>
            <a:endParaRPr lang="en-US" dirty="0"/>
          </a:p>
          <a:p>
            <a:pPr marL="457200" indent="-457200">
              <a:buAutoNum type="arabicPeriod" startAt="3"/>
            </a:pPr>
            <a:r>
              <a:rPr lang="en-US" dirty="0"/>
              <a:t>The number of individuals </a:t>
            </a:r>
            <a:r>
              <a:rPr lang="en-US" i="1" dirty="0">
                <a:latin typeface="Times New Roman" panose="02020603050405020304" pitchFamily="18" charset="0"/>
                <a:cs typeface="Times New Roman" panose="02020603050405020304" pitchFamily="18" charset="0"/>
              </a:rPr>
              <a:t>n </a:t>
            </a:r>
            <a:r>
              <a:rPr lang="en-US" dirty="0"/>
              <a:t>within each cluster</a:t>
            </a:r>
          </a:p>
          <a:p>
            <a:pPr marL="457200" indent="-457200">
              <a:buAutoNum type="arabicPeriod" startAt="3"/>
            </a:pPr>
            <a:endParaRPr lang="en-US" dirty="0"/>
          </a:p>
          <a:p>
            <a:pPr marL="457200" indent="-457200">
              <a:buAutoNum type="arabicPeriod" startAt="3"/>
            </a:pPr>
            <a:r>
              <a:rPr lang="en-US" dirty="0"/>
              <a:t>The intraclass correlation </a:t>
            </a:r>
            <a:r>
              <a:rPr lang="en-US" i="1" dirty="0">
                <a:latin typeface="Times New Roman" panose="02020603050405020304" pitchFamily="18" charset="0"/>
                <a:cs typeface="Times New Roman" panose="02020603050405020304" pitchFamily="18" charset="0"/>
              </a:rPr>
              <a:t>ρ </a:t>
            </a:r>
            <a:r>
              <a:rPr lang="en-US" dirty="0"/>
              <a:t>(this is a new and complicating factor in cluster randomized designs)</a:t>
            </a:r>
            <a:endParaRPr lang="en-US" i="1" dirty="0">
              <a:latin typeface="Times New Roman" panose="02020603050405020304" pitchFamily="18" charset="0"/>
              <a:cs typeface="Times New Roman" panose="02020603050405020304" pitchFamily="18" charset="0"/>
            </a:endParaRPr>
          </a:p>
          <a:p>
            <a:pPr marL="457200" indent="-457200">
              <a:buAutoNum type="arabicPeriod" startAt="3"/>
            </a:pPr>
            <a:endParaRPr lang="en-US" i="1" dirty="0"/>
          </a:p>
          <a:p>
            <a:pPr marL="457200" indent="-457200">
              <a:buAutoNum type="arabicPeriod" startAt="3"/>
            </a:pPr>
            <a:r>
              <a:rPr lang="en-US" dirty="0"/>
              <a:t>The covariate outcome correlation </a:t>
            </a:r>
            <a:r>
              <a:rPr lang="en-US" i="1" dirty="0">
                <a:latin typeface="Times New Roman" panose="02020603050405020304" pitchFamily="18" charset="0"/>
                <a:cs typeface="Times New Roman" panose="02020603050405020304" pitchFamily="18" charset="0"/>
              </a:rPr>
              <a:t>R</a:t>
            </a:r>
            <a:r>
              <a:rPr lang="en-US" dirty="0"/>
              <a:t> is covariates are used </a:t>
            </a:r>
          </a:p>
          <a:p>
            <a:pPr marL="0" indent="0">
              <a:buNone/>
            </a:pPr>
            <a:endParaRPr lang="en-US" dirty="0"/>
          </a:p>
        </p:txBody>
      </p:sp>
    </p:spTree>
    <p:extLst>
      <p:ext uri="{BB962C8B-B14F-4D97-AF65-F5344CB8AC3E}">
        <p14:creationId xmlns:p14="http://schemas.microsoft.com/office/powerpoint/2010/main" val="18350068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6030A-9CE2-4561-930C-D694DED5146F}"/>
              </a:ext>
            </a:extLst>
          </p:cNvPr>
          <p:cNvSpPr>
            <a:spLocks noGrp="1"/>
          </p:cNvSpPr>
          <p:nvPr>
            <p:ph type="title"/>
          </p:nvPr>
        </p:nvSpPr>
        <p:spPr/>
        <p:txBody>
          <a:bodyPr/>
          <a:lstStyle/>
          <a:p>
            <a:r>
              <a:rPr lang="en-US" dirty="0"/>
              <a:t>MDES in Cluster Randomized Designs</a:t>
            </a:r>
          </a:p>
        </p:txBody>
      </p:sp>
      <p:sp>
        <p:nvSpPr>
          <p:cNvPr id="3" name="Content Placeholder 2">
            <a:extLst>
              <a:ext uri="{FF2B5EF4-FFF2-40B4-BE49-F238E27FC236}">
                <a16:creationId xmlns:a16="http://schemas.microsoft.com/office/drawing/2014/main" id="{C12EE2F6-8D82-4F9D-ABD4-9EE89641DE8F}"/>
              </a:ext>
            </a:extLst>
          </p:cNvPr>
          <p:cNvSpPr>
            <a:spLocks noGrp="1"/>
          </p:cNvSpPr>
          <p:nvPr>
            <p:ph idx="1"/>
          </p:nvPr>
        </p:nvSpPr>
        <p:spPr/>
        <p:txBody>
          <a:bodyPr/>
          <a:lstStyle/>
          <a:p>
            <a:pPr marL="0" indent="0">
              <a:buNone/>
            </a:pPr>
            <a:r>
              <a:rPr lang="en-US" dirty="0"/>
              <a:t>MDES in cluster randomized designs depends </a:t>
            </a:r>
            <a:r>
              <a:rPr lang="en-US" b="1" i="1" dirty="0"/>
              <a:t>strongly</a:t>
            </a:r>
            <a:r>
              <a:rPr lang="en-US" dirty="0"/>
              <a:t> on the number </a:t>
            </a:r>
            <a:r>
              <a:rPr lang="en-US" i="1" dirty="0">
                <a:latin typeface="Times New Roman" panose="02020603050405020304" pitchFamily="18" charset="0"/>
                <a:cs typeface="Times New Roman" panose="02020603050405020304" pitchFamily="18" charset="0"/>
              </a:rPr>
              <a:t>m</a:t>
            </a:r>
            <a:r>
              <a:rPr lang="en-US" dirty="0"/>
              <a:t> of clusters</a:t>
            </a:r>
          </a:p>
          <a:p>
            <a:pPr marL="0" indent="0">
              <a:buNone/>
            </a:pPr>
            <a:endParaRPr lang="en-US" dirty="0"/>
          </a:p>
          <a:p>
            <a:pPr marL="0" indent="0">
              <a:buNone/>
            </a:pPr>
            <a:r>
              <a:rPr lang="en-US" dirty="0"/>
              <a:t>MDES in cluster randomized designs depends w</a:t>
            </a:r>
            <a:r>
              <a:rPr lang="en-US" b="1" i="1" dirty="0"/>
              <a:t>eakly</a:t>
            </a:r>
            <a:r>
              <a:rPr lang="en-US" dirty="0"/>
              <a:t> on the number </a:t>
            </a:r>
            <a:r>
              <a:rPr lang="en-US" i="1" dirty="0">
                <a:latin typeface="Times New Roman" panose="02020603050405020304" pitchFamily="18" charset="0"/>
                <a:cs typeface="Times New Roman" panose="02020603050405020304" pitchFamily="18" charset="0"/>
              </a:rPr>
              <a:t>n</a:t>
            </a:r>
            <a:r>
              <a:rPr lang="en-US" dirty="0"/>
              <a:t> of individuals in each cluster</a:t>
            </a:r>
          </a:p>
          <a:p>
            <a:pPr marL="0" indent="0">
              <a:buNone/>
            </a:pPr>
            <a:endParaRPr lang="en-US" dirty="0"/>
          </a:p>
          <a:p>
            <a:pPr marL="0" indent="0">
              <a:buNone/>
            </a:pPr>
            <a:r>
              <a:rPr lang="en-US" dirty="0"/>
              <a:t>Moreover, there is a point of diminishing returns in increasing </a:t>
            </a:r>
            <a:r>
              <a:rPr lang="en-US" i="1" dirty="0">
                <a:latin typeface="Times New Roman" panose="02020603050405020304" pitchFamily="18" charset="0"/>
                <a:cs typeface="Times New Roman" panose="02020603050405020304" pitchFamily="18" charset="0"/>
              </a:rPr>
              <a:t>n</a:t>
            </a:r>
            <a:r>
              <a:rPr lang="en-US" dirty="0"/>
              <a:t>, MDES decreases less rapidly until it reaches an asymptote </a:t>
            </a:r>
          </a:p>
          <a:p>
            <a:pPr marL="0" indent="0">
              <a:buNone/>
            </a:pPr>
            <a:endParaRPr lang="en-US" dirty="0"/>
          </a:p>
          <a:p>
            <a:pPr marL="0" indent="0">
              <a:buNone/>
            </a:pPr>
            <a:r>
              <a:rPr lang="en-US" dirty="0"/>
              <a:t>MDES tends to some positive value even when </a:t>
            </a:r>
            <a:r>
              <a:rPr lang="en-US" i="1" dirty="0">
                <a:latin typeface="Times New Roman" panose="02020603050405020304" pitchFamily="18" charset="0"/>
                <a:cs typeface="Times New Roman" panose="02020603050405020304" pitchFamily="18" charset="0"/>
              </a:rPr>
              <a:t>n</a:t>
            </a:r>
            <a:r>
              <a:rPr lang="en-US" dirty="0"/>
              <a:t> </a:t>
            </a:r>
            <a:r>
              <a:rPr lang="en-US" dirty="0">
                <a:latin typeface="Times New Roman" panose="02020603050405020304" pitchFamily="18" charset="0"/>
                <a:cs typeface="Times New Roman" panose="02020603050405020304" pitchFamily="18" charset="0"/>
              </a:rPr>
              <a:t>→ ∞</a:t>
            </a:r>
            <a:endParaRPr lang="en-US" dirty="0"/>
          </a:p>
          <a:p>
            <a:pPr marL="0" indent="0">
              <a:buNone/>
            </a:pPr>
            <a:endParaRPr lang="en-US" dirty="0"/>
          </a:p>
          <a:p>
            <a:pPr marL="0" indent="0">
              <a:buNone/>
            </a:pPr>
            <a:r>
              <a:rPr lang="en-US" dirty="0"/>
              <a:t>Thus, total sample size </a:t>
            </a:r>
            <a:r>
              <a:rPr lang="en-US" i="1" dirty="0">
                <a:latin typeface="Times New Roman" panose="02020603050405020304" pitchFamily="18" charset="0"/>
                <a:cs typeface="Times New Roman" panose="02020603050405020304" pitchFamily="18" charset="0"/>
              </a:rPr>
              <a:t>n</a:t>
            </a:r>
            <a:r>
              <a:rPr lang="en-US" dirty="0">
                <a:latin typeface="Times New Roman" panose="02020603050405020304" pitchFamily="18" charset="0"/>
                <a:cs typeface="Times New Roman" panose="02020603050405020304" pitchFamily="18" charset="0"/>
              </a:rPr>
              <a:t> = 2</a:t>
            </a:r>
            <a:r>
              <a:rPr lang="en-US" i="1" dirty="0">
                <a:latin typeface="Times New Roman" panose="02020603050405020304" pitchFamily="18" charset="0"/>
                <a:cs typeface="Times New Roman" panose="02020603050405020304" pitchFamily="18" charset="0"/>
              </a:rPr>
              <a:t>mn</a:t>
            </a:r>
            <a:r>
              <a:rPr lang="en-US" dirty="0"/>
              <a:t> is a poor guide to design sensitivity</a:t>
            </a:r>
          </a:p>
          <a:p>
            <a:pPr marL="0" indent="0">
              <a:buNone/>
            </a:pPr>
            <a:endParaRPr lang="en-US" dirty="0"/>
          </a:p>
          <a:p>
            <a:pPr marL="0" indent="0">
              <a:buNone/>
            </a:pPr>
            <a:r>
              <a:rPr lang="en-US" dirty="0"/>
              <a:t>But remember that design sensitivity also depends on </a:t>
            </a:r>
            <a:r>
              <a:rPr lang="en-US" i="1" dirty="0">
                <a:latin typeface="Times New Roman" panose="02020603050405020304" pitchFamily="18" charset="0"/>
                <a:cs typeface="Times New Roman" panose="02020603050405020304" pitchFamily="18" charset="0"/>
              </a:rPr>
              <a:t>ρ</a:t>
            </a:r>
            <a:r>
              <a:rPr lang="en-US" dirty="0"/>
              <a:t>, so understanding MDES in cluster randomized designs is a complex business</a:t>
            </a:r>
          </a:p>
          <a:p>
            <a:pPr marL="0" indent="0">
              <a:buNone/>
            </a:pPr>
            <a:endParaRPr lang="en-US" dirty="0"/>
          </a:p>
        </p:txBody>
      </p:sp>
    </p:spTree>
    <p:extLst>
      <p:ext uri="{BB962C8B-B14F-4D97-AF65-F5344CB8AC3E}">
        <p14:creationId xmlns:p14="http://schemas.microsoft.com/office/powerpoint/2010/main" val="31975150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29775-3069-4849-9256-A778A648D2C0}"/>
              </a:ext>
            </a:extLst>
          </p:cNvPr>
          <p:cNvSpPr>
            <a:spLocks noGrp="1"/>
          </p:cNvSpPr>
          <p:nvPr>
            <p:ph type="title"/>
          </p:nvPr>
        </p:nvSpPr>
        <p:spPr/>
        <p:txBody>
          <a:bodyPr/>
          <a:lstStyle/>
          <a:p>
            <a:r>
              <a:rPr lang="en-US" dirty="0"/>
              <a:t>A Graphical Representation of MDES as  Function of </a:t>
            </a:r>
            <a:r>
              <a:rPr lang="en-US" i="1" dirty="0">
                <a:latin typeface="Times New Roman" panose="02020603050405020304" pitchFamily="18" charset="0"/>
                <a:cs typeface="Times New Roman" panose="02020603050405020304" pitchFamily="18" charset="0"/>
              </a:rPr>
              <a:t>n</a:t>
            </a:r>
          </a:p>
        </p:txBody>
      </p:sp>
      <p:sp>
        <p:nvSpPr>
          <p:cNvPr id="5" name="TextBox 4">
            <a:extLst>
              <a:ext uri="{FF2B5EF4-FFF2-40B4-BE49-F238E27FC236}">
                <a16:creationId xmlns:a16="http://schemas.microsoft.com/office/drawing/2014/main" id="{25B8B719-65FB-4797-A8F1-1B40EE4FC97D}"/>
              </a:ext>
            </a:extLst>
          </p:cNvPr>
          <p:cNvSpPr txBox="1"/>
          <p:nvPr/>
        </p:nvSpPr>
        <p:spPr>
          <a:xfrm flipH="1">
            <a:off x="8016902" y="2703443"/>
            <a:ext cx="3336898" cy="1200329"/>
          </a:xfrm>
          <a:prstGeom prst="rect">
            <a:avLst/>
          </a:prstGeom>
          <a:noFill/>
        </p:spPr>
        <p:txBody>
          <a:bodyPr wrap="square" rtlCol="0">
            <a:spAutoFit/>
          </a:bodyPr>
          <a:lstStyle/>
          <a:p>
            <a:r>
              <a:rPr lang="en-US" dirty="0"/>
              <a:t>All figures have </a:t>
            </a:r>
            <a:r>
              <a:rPr lang="en-US" i="1" dirty="0">
                <a:latin typeface="Times New Roman" panose="02020603050405020304" pitchFamily="18" charset="0"/>
                <a:cs typeface="Times New Roman" panose="02020603050405020304" pitchFamily="18" charset="0"/>
              </a:rPr>
              <a:t>ρ </a:t>
            </a:r>
            <a:r>
              <a:rPr lang="en-US" dirty="0">
                <a:latin typeface="Times New Roman" panose="02020603050405020304" pitchFamily="18" charset="0"/>
                <a:cs typeface="Times New Roman" panose="02020603050405020304" pitchFamily="18" charset="0"/>
              </a:rPr>
              <a:t>= 0.05</a:t>
            </a:r>
            <a:endParaRPr lang="en-US" dirty="0"/>
          </a:p>
          <a:p>
            <a:r>
              <a:rPr lang="en-US" i="1" dirty="0">
                <a:latin typeface="Times New Roman" panose="02020603050405020304" pitchFamily="18" charset="0"/>
                <a:cs typeface="Times New Roman" panose="02020603050405020304" pitchFamily="18" charset="0"/>
              </a:rPr>
              <a:t>m</a:t>
            </a:r>
            <a:r>
              <a:rPr lang="en-US" dirty="0">
                <a:latin typeface="Times New Roman" panose="02020603050405020304" pitchFamily="18" charset="0"/>
                <a:cs typeface="Times New Roman" panose="02020603050405020304" pitchFamily="18" charset="0"/>
              </a:rPr>
              <a:t> = 4</a:t>
            </a:r>
            <a:r>
              <a:rPr lang="en-US" dirty="0"/>
              <a:t> (solid line)</a:t>
            </a:r>
          </a:p>
          <a:p>
            <a:r>
              <a:rPr lang="en-US" i="1" dirty="0">
                <a:latin typeface="Times New Roman" panose="02020603050405020304" pitchFamily="18" charset="0"/>
                <a:cs typeface="Times New Roman" panose="02020603050405020304" pitchFamily="18" charset="0"/>
              </a:rPr>
              <a:t>m</a:t>
            </a:r>
            <a:r>
              <a:rPr lang="en-US" dirty="0">
                <a:latin typeface="Times New Roman" panose="02020603050405020304" pitchFamily="18" charset="0"/>
                <a:cs typeface="Times New Roman" panose="02020603050405020304" pitchFamily="18" charset="0"/>
              </a:rPr>
              <a:t> = 7</a:t>
            </a:r>
            <a:r>
              <a:rPr lang="en-US" dirty="0"/>
              <a:t> (dashed line)</a:t>
            </a:r>
          </a:p>
          <a:p>
            <a:r>
              <a:rPr lang="en-US" i="1" dirty="0">
                <a:latin typeface="Times New Roman" panose="02020603050405020304" pitchFamily="18" charset="0"/>
                <a:cs typeface="Times New Roman" panose="02020603050405020304" pitchFamily="18" charset="0"/>
              </a:rPr>
              <a:t>m</a:t>
            </a:r>
            <a:r>
              <a:rPr lang="en-US" dirty="0">
                <a:latin typeface="Times New Roman" panose="02020603050405020304" pitchFamily="18" charset="0"/>
                <a:cs typeface="Times New Roman" panose="02020603050405020304" pitchFamily="18" charset="0"/>
              </a:rPr>
              <a:t> = 10</a:t>
            </a:r>
            <a:r>
              <a:rPr lang="en-US" dirty="0"/>
              <a:t> (dotted line)</a:t>
            </a:r>
          </a:p>
        </p:txBody>
      </p:sp>
      <p:pic>
        <p:nvPicPr>
          <p:cNvPr id="10" name="Content Placeholder 9">
            <a:extLst>
              <a:ext uri="{FF2B5EF4-FFF2-40B4-BE49-F238E27FC236}">
                <a16:creationId xmlns:a16="http://schemas.microsoft.com/office/drawing/2014/main" id="{6746C19F-9516-4BBA-BF9B-D6E4F1ED5782}"/>
              </a:ext>
            </a:extLst>
          </p:cNvPr>
          <p:cNvPicPr>
            <a:picLocks noGrp="1" noChangeAspect="1"/>
          </p:cNvPicPr>
          <p:nvPr>
            <p:ph idx="1"/>
          </p:nvPr>
        </p:nvPicPr>
        <p:blipFill>
          <a:blip r:embed="rId2"/>
          <a:stretch>
            <a:fillRect/>
          </a:stretch>
        </p:blipFill>
        <p:spPr>
          <a:xfrm>
            <a:off x="1210519" y="1825625"/>
            <a:ext cx="5676039" cy="4351338"/>
          </a:xfrm>
          <a:prstGeom prst="rect">
            <a:avLst/>
          </a:prstGeom>
        </p:spPr>
      </p:pic>
    </p:spTree>
    <p:extLst>
      <p:ext uri="{BB962C8B-B14F-4D97-AF65-F5344CB8AC3E}">
        <p14:creationId xmlns:p14="http://schemas.microsoft.com/office/powerpoint/2010/main" val="23694253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B0BA9-1423-4C33-B176-AEF8BC3CC06B}"/>
              </a:ext>
            </a:extLst>
          </p:cNvPr>
          <p:cNvSpPr>
            <a:spLocks noGrp="1"/>
          </p:cNvSpPr>
          <p:nvPr>
            <p:ph type="title"/>
          </p:nvPr>
        </p:nvSpPr>
        <p:spPr/>
        <p:txBody>
          <a:bodyPr/>
          <a:lstStyle/>
          <a:p>
            <a:r>
              <a:rPr lang="en-US" dirty="0"/>
              <a:t>MDES as a Function of </a:t>
            </a:r>
            <a:r>
              <a:rPr lang="en-US" i="1" dirty="0">
                <a:latin typeface="Times New Roman" panose="02020603050405020304" pitchFamily="18" charset="0"/>
                <a:cs typeface="Times New Roman" panose="02020603050405020304" pitchFamily="18" charset="0"/>
              </a:rPr>
              <a:t>m</a:t>
            </a:r>
            <a:r>
              <a:rPr lang="en-US" dirty="0"/>
              <a:t> and </a:t>
            </a:r>
            <a:r>
              <a:rPr lang="en-US" i="1" dirty="0">
                <a:latin typeface="Times New Roman" panose="02020603050405020304" pitchFamily="18" charset="0"/>
                <a:cs typeface="Times New Roman" panose="02020603050405020304" pitchFamily="18" charset="0"/>
              </a:rPr>
              <a:t>n</a:t>
            </a:r>
            <a:r>
              <a:rPr lang="en-US" dirty="0"/>
              <a:t> for </a:t>
            </a:r>
            <a:r>
              <a:rPr lang="el-GR" sz="3600" i="1" u="none" strike="noStrike" dirty="0">
                <a:effectLst/>
                <a:latin typeface="Times New Roman" panose="02020603050405020304" pitchFamily="18" charset="0"/>
                <a:cs typeface="Times New Roman" panose="02020603050405020304" pitchFamily="18" charset="0"/>
              </a:rPr>
              <a:t>ρ</a:t>
            </a:r>
            <a:r>
              <a:rPr lang="en-US" sz="3600" i="1" u="none" strike="noStrike" dirty="0">
                <a:effectLst/>
                <a:latin typeface="Times New Roman" panose="02020603050405020304" pitchFamily="18" charset="0"/>
                <a:cs typeface="Times New Roman" panose="02020603050405020304" pitchFamily="18" charset="0"/>
              </a:rPr>
              <a:t> </a:t>
            </a:r>
            <a:r>
              <a:rPr lang="en-US" sz="3600" u="none" strike="noStrike" dirty="0">
                <a:effectLst/>
                <a:latin typeface="Times New Roman" panose="02020603050405020304" pitchFamily="18" charset="0"/>
                <a:cs typeface="Times New Roman" panose="02020603050405020304" pitchFamily="18" charset="0"/>
              </a:rPr>
              <a:t>= 0.05</a:t>
            </a:r>
            <a:endParaRPr lang="en-US" dirty="0"/>
          </a:p>
        </p:txBody>
      </p:sp>
      <p:graphicFrame>
        <p:nvGraphicFramePr>
          <p:cNvPr id="5" name="Content Placeholder 4">
            <a:extLst>
              <a:ext uri="{FF2B5EF4-FFF2-40B4-BE49-F238E27FC236}">
                <a16:creationId xmlns:a16="http://schemas.microsoft.com/office/drawing/2014/main" id="{CF0D5702-4519-4363-96F4-66B559DF1DAA}"/>
              </a:ext>
            </a:extLst>
          </p:cNvPr>
          <p:cNvGraphicFramePr>
            <a:graphicFrameLocks noGrp="1"/>
          </p:cNvGraphicFramePr>
          <p:nvPr>
            <p:ph idx="1"/>
            <p:extLst>
              <p:ext uri="{D42A27DB-BD31-4B8C-83A1-F6EECF244321}">
                <p14:modId xmlns:p14="http://schemas.microsoft.com/office/powerpoint/2010/main" val="2131295295"/>
              </p:ext>
            </p:extLst>
          </p:nvPr>
        </p:nvGraphicFramePr>
        <p:xfrm>
          <a:off x="1586623" y="1690688"/>
          <a:ext cx="8568269" cy="4978400"/>
        </p:xfrm>
        <a:graphic>
          <a:graphicData uri="http://schemas.openxmlformats.org/drawingml/2006/table">
            <a:tbl>
              <a:tblPr>
                <a:tableStyleId>{5C22544A-7EE6-4342-B048-85BDC9FD1C3A}</a:tableStyleId>
              </a:tblPr>
              <a:tblGrid>
                <a:gridCol w="1117599">
                  <a:extLst>
                    <a:ext uri="{9D8B030D-6E8A-4147-A177-3AD203B41FA5}">
                      <a16:colId xmlns:a16="http://schemas.microsoft.com/office/drawing/2014/main" val="569541169"/>
                    </a:ext>
                  </a:extLst>
                </a:gridCol>
                <a:gridCol w="745067">
                  <a:extLst>
                    <a:ext uri="{9D8B030D-6E8A-4147-A177-3AD203B41FA5}">
                      <a16:colId xmlns:a16="http://schemas.microsoft.com/office/drawing/2014/main" val="2577933002"/>
                    </a:ext>
                  </a:extLst>
                </a:gridCol>
                <a:gridCol w="745067">
                  <a:extLst>
                    <a:ext uri="{9D8B030D-6E8A-4147-A177-3AD203B41FA5}">
                      <a16:colId xmlns:a16="http://schemas.microsoft.com/office/drawing/2014/main" val="1181980667"/>
                    </a:ext>
                  </a:extLst>
                </a:gridCol>
                <a:gridCol w="745067">
                  <a:extLst>
                    <a:ext uri="{9D8B030D-6E8A-4147-A177-3AD203B41FA5}">
                      <a16:colId xmlns:a16="http://schemas.microsoft.com/office/drawing/2014/main" val="650373566"/>
                    </a:ext>
                  </a:extLst>
                </a:gridCol>
                <a:gridCol w="745067">
                  <a:extLst>
                    <a:ext uri="{9D8B030D-6E8A-4147-A177-3AD203B41FA5}">
                      <a16:colId xmlns:a16="http://schemas.microsoft.com/office/drawing/2014/main" val="4152862751"/>
                    </a:ext>
                  </a:extLst>
                </a:gridCol>
                <a:gridCol w="745067">
                  <a:extLst>
                    <a:ext uri="{9D8B030D-6E8A-4147-A177-3AD203B41FA5}">
                      <a16:colId xmlns:a16="http://schemas.microsoft.com/office/drawing/2014/main" val="347486400"/>
                    </a:ext>
                  </a:extLst>
                </a:gridCol>
                <a:gridCol w="745067">
                  <a:extLst>
                    <a:ext uri="{9D8B030D-6E8A-4147-A177-3AD203B41FA5}">
                      <a16:colId xmlns:a16="http://schemas.microsoft.com/office/drawing/2014/main" val="3613282119"/>
                    </a:ext>
                  </a:extLst>
                </a:gridCol>
                <a:gridCol w="745067">
                  <a:extLst>
                    <a:ext uri="{9D8B030D-6E8A-4147-A177-3AD203B41FA5}">
                      <a16:colId xmlns:a16="http://schemas.microsoft.com/office/drawing/2014/main" val="3271577117"/>
                    </a:ext>
                  </a:extLst>
                </a:gridCol>
                <a:gridCol w="745067">
                  <a:extLst>
                    <a:ext uri="{9D8B030D-6E8A-4147-A177-3AD203B41FA5}">
                      <a16:colId xmlns:a16="http://schemas.microsoft.com/office/drawing/2014/main" val="1027243575"/>
                    </a:ext>
                  </a:extLst>
                </a:gridCol>
                <a:gridCol w="745067">
                  <a:extLst>
                    <a:ext uri="{9D8B030D-6E8A-4147-A177-3AD203B41FA5}">
                      <a16:colId xmlns:a16="http://schemas.microsoft.com/office/drawing/2014/main" val="3078341302"/>
                    </a:ext>
                  </a:extLst>
                </a:gridCol>
                <a:gridCol w="745067">
                  <a:extLst>
                    <a:ext uri="{9D8B030D-6E8A-4147-A177-3AD203B41FA5}">
                      <a16:colId xmlns:a16="http://schemas.microsoft.com/office/drawing/2014/main" val="480971789"/>
                    </a:ext>
                  </a:extLst>
                </a:gridCol>
              </a:tblGrid>
              <a:tr h="285327">
                <a:tc>
                  <a:txBody>
                    <a:bodyPr/>
                    <a:lstStyle/>
                    <a:p>
                      <a:pPr algn="ctr" fontAlgn="b"/>
                      <a:r>
                        <a:rPr lang="en-US" sz="2000" u="none" strike="noStrike">
                          <a:effectLst/>
                        </a:rPr>
                        <a:t> </a:t>
                      </a:r>
                      <a:endParaRPr lang="en-US" sz="2000" b="0" i="0" u="none" strike="noStrike">
                        <a:solidFill>
                          <a:srgbClr val="000000"/>
                        </a:solidFill>
                        <a:effectLst/>
                        <a:latin typeface="Times New Roman" panose="02020603050405020304" pitchFamily="18" charset="0"/>
                      </a:endParaRPr>
                    </a:p>
                  </a:txBody>
                  <a:tcPr marL="6350" marR="6350" marT="6350" marB="0" anchor="b"/>
                </a:tc>
                <a:tc gridSpan="10">
                  <a:txBody>
                    <a:bodyPr/>
                    <a:lstStyle/>
                    <a:p>
                      <a:pPr algn="ctr" fontAlgn="b"/>
                      <a:r>
                        <a:rPr lang="en-US" sz="2000" i="1" u="none" strike="noStrike" dirty="0">
                          <a:solidFill>
                            <a:schemeClr val="bg1"/>
                          </a:solidFill>
                          <a:effectLst/>
                          <a:latin typeface="Times New Roman" panose="02020603050405020304" pitchFamily="18" charset="0"/>
                          <a:cs typeface="Times New Roman" panose="02020603050405020304" pitchFamily="18" charset="0"/>
                        </a:rPr>
                        <a:t>n</a:t>
                      </a:r>
                      <a:endParaRPr lang="en-US" sz="2000" b="0" i="1" u="none" strike="noStrike" dirty="0">
                        <a:solidFill>
                          <a:schemeClr val="bg1"/>
                        </a:solidFill>
                        <a:effectLst/>
                        <a:latin typeface="Times New Roman" panose="02020603050405020304" pitchFamily="18" charset="0"/>
                        <a:cs typeface="Times New Roman" panose="02020603050405020304" pitchFamily="18" charset="0"/>
                      </a:endParaRPr>
                    </a:p>
                  </a:txBody>
                  <a:tcPr marL="6350" marR="6350" marT="6350" marB="0" anchor="b">
                    <a:solidFill>
                      <a:schemeClr val="accent1">
                        <a:lumMod val="7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87308523"/>
                  </a:ext>
                </a:extLst>
              </a:tr>
              <a:tr h="285327">
                <a:tc>
                  <a:txBody>
                    <a:bodyPr/>
                    <a:lstStyle/>
                    <a:p>
                      <a:pPr algn="ctr" fontAlgn="b"/>
                      <a:r>
                        <a:rPr lang="en-US" sz="2000" i="1" u="none" strike="noStrike" dirty="0">
                          <a:solidFill>
                            <a:schemeClr val="bg1"/>
                          </a:solidFill>
                          <a:effectLst/>
                          <a:latin typeface="Times New Roman" panose="02020603050405020304" pitchFamily="18" charset="0"/>
                          <a:cs typeface="Times New Roman" panose="02020603050405020304" pitchFamily="18" charset="0"/>
                        </a:rPr>
                        <a:t>m</a:t>
                      </a:r>
                      <a:endParaRPr lang="en-US" sz="2000" b="0" i="1" u="none" strike="noStrike" dirty="0">
                        <a:solidFill>
                          <a:schemeClr val="bg1"/>
                        </a:solidFill>
                        <a:effectLst/>
                        <a:latin typeface="Times New Roman" panose="02020603050405020304" pitchFamily="18" charset="0"/>
                        <a:cs typeface="Times New Roman" panose="02020603050405020304" pitchFamily="18" charset="0"/>
                      </a:endParaRPr>
                    </a:p>
                  </a:txBody>
                  <a:tcPr marL="6350" marR="6350" marT="6350" marB="0" anchor="b">
                    <a:solidFill>
                      <a:schemeClr val="accent1">
                        <a:lumMod val="60000"/>
                        <a:lumOff val="40000"/>
                      </a:schemeClr>
                    </a:solidFill>
                  </a:tcPr>
                </a:tc>
                <a:tc>
                  <a:txBody>
                    <a:bodyPr/>
                    <a:lstStyle/>
                    <a:p>
                      <a:pPr algn="ctr" fontAlgn="b"/>
                      <a:r>
                        <a:rPr lang="en-US" sz="2000" u="none" strike="noStrike" dirty="0">
                          <a:solidFill>
                            <a:schemeClr val="bg1"/>
                          </a:solidFill>
                          <a:effectLst/>
                        </a:rPr>
                        <a:t>10</a:t>
                      </a:r>
                      <a:endParaRPr lang="en-US" sz="2000" b="0" i="0" u="none" strike="noStrike" dirty="0">
                        <a:solidFill>
                          <a:schemeClr val="bg1"/>
                        </a:solidFill>
                        <a:effectLst/>
                        <a:latin typeface="Times New Roman" panose="02020603050405020304" pitchFamily="18" charset="0"/>
                      </a:endParaRPr>
                    </a:p>
                  </a:txBody>
                  <a:tcPr marL="6350" marR="6350" marT="6350" marB="0" anchor="b">
                    <a:solidFill>
                      <a:schemeClr val="accent1">
                        <a:lumMod val="60000"/>
                        <a:lumOff val="40000"/>
                      </a:schemeClr>
                    </a:solidFill>
                  </a:tcPr>
                </a:tc>
                <a:tc>
                  <a:txBody>
                    <a:bodyPr/>
                    <a:lstStyle/>
                    <a:p>
                      <a:pPr algn="ctr" fontAlgn="b"/>
                      <a:r>
                        <a:rPr lang="en-US" sz="2000" u="none" strike="noStrike" dirty="0">
                          <a:solidFill>
                            <a:schemeClr val="bg1"/>
                          </a:solidFill>
                          <a:effectLst/>
                        </a:rPr>
                        <a:t>15</a:t>
                      </a:r>
                      <a:endParaRPr lang="en-US" sz="2000" b="0" i="0" u="none" strike="noStrike" dirty="0">
                        <a:solidFill>
                          <a:schemeClr val="bg1"/>
                        </a:solidFill>
                        <a:effectLst/>
                        <a:latin typeface="Times New Roman" panose="02020603050405020304" pitchFamily="18" charset="0"/>
                      </a:endParaRPr>
                    </a:p>
                  </a:txBody>
                  <a:tcPr marL="6350" marR="6350" marT="6350" marB="0" anchor="b">
                    <a:solidFill>
                      <a:schemeClr val="accent1">
                        <a:lumMod val="60000"/>
                        <a:lumOff val="40000"/>
                      </a:schemeClr>
                    </a:solidFill>
                  </a:tcPr>
                </a:tc>
                <a:tc>
                  <a:txBody>
                    <a:bodyPr/>
                    <a:lstStyle/>
                    <a:p>
                      <a:pPr algn="ctr" fontAlgn="b"/>
                      <a:r>
                        <a:rPr lang="en-US" sz="2000" u="none" strike="noStrike" dirty="0">
                          <a:solidFill>
                            <a:schemeClr val="bg1"/>
                          </a:solidFill>
                          <a:effectLst/>
                        </a:rPr>
                        <a:t>20</a:t>
                      </a:r>
                      <a:endParaRPr lang="en-US" sz="2000" b="0" i="0" u="none" strike="noStrike" dirty="0">
                        <a:solidFill>
                          <a:schemeClr val="bg1"/>
                        </a:solidFill>
                        <a:effectLst/>
                        <a:latin typeface="Times New Roman" panose="02020603050405020304" pitchFamily="18" charset="0"/>
                      </a:endParaRPr>
                    </a:p>
                  </a:txBody>
                  <a:tcPr marL="6350" marR="6350" marT="6350" marB="0" anchor="b">
                    <a:solidFill>
                      <a:schemeClr val="accent1">
                        <a:lumMod val="60000"/>
                        <a:lumOff val="40000"/>
                      </a:schemeClr>
                    </a:solidFill>
                  </a:tcPr>
                </a:tc>
                <a:tc>
                  <a:txBody>
                    <a:bodyPr/>
                    <a:lstStyle/>
                    <a:p>
                      <a:pPr algn="ctr" fontAlgn="b"/>
                      <a:r>
                        <a:rPr lang="en-US" sz="2000" u="none" strike="noStrike" dirty="0">
                          <a:solidFill>
                            <a:schemeClr val="bg1"/>
                          </a:solidFill>
                          <a:effectLst/>
                        </a:rPr>
                        <a:t>25</a:t>
                      </a:r>
                      <a:endParaRPr lang="en-US" sz="2000" b="0" i="0" u="none" strike="noStrike" dirty="0">
                        <a:solidFill>
                          <a:schemeClr val="bg1"/>
                        </a:solidFill>
                        <a:effectLst/>
                        <a:latin typeface="Times New Roman" panose="02020603050405020304" pitchFamily="18" charset="0"/>
                      </a:endParaRPr>
                    </a:p>
                  </a:txBody>
                  <a:tcPr marL="6350" marR="6350" marT="6350" marB="0" anchor="b">
                    <a:solidFill>
                      <a:schemeClr val="accent1">
                        <a:lumMod val="60000"/>
                        <a:lumOff val="40000"/>
                      </a:schemeClr>
                    </a:solidFill>
                  </a:tcPr>
                </a:tc>
                <a:tc>
                  <a:txBody>
                    <a:bodyPr/>
                    <a:lstStyle/>
                    <a:p>
                      <a:pPr algn="ctr" fontAlgn="b"/>
                      <a:r>
                        <a:rPr lang="en-US" sz="2000" u="none" strike="noStrike" dirty="0">
                          <a:solidFill>
                            <a:schemeClr val="bg1"/>
                          </a:solidFill>
                          <a:effectLst/>
                        </a:rPr>
                        <a:t>50</a:t>
                      </a:r>
                      <a:endParaRPr lang="en-US" sz="2000" b="0" i="0" u="none" strike="noStrike" dirty="0">
                        <a:solidFill>
                          <a:schemeClr val="bg1"/>
                        </a:solidFill>
                        <a:effectLst/>
                        <a:latin typeface="Times New Roman" panose="02020603050405020304" pitchFamily="18" charset="0"/>
                      </a:endParaRPr>
                    </a:p>
                  </a:txBody>
                  <a:tcPr marL="6350" marR="6350" marT="6350" marB="0" anchor="b">
                    <a:solidFill>
                      <a:schemeClr val="accent1">
                        <a:lumMod val="60000"/>
                        <a:lumOff val="40000"/>
                      </a:schemeClr>
                    </a:solidFill>
                  </a:tcPr>
                </a:tc>
                <a:tc>
                  <a:txBody>
                    <a:bodyPr/>
                    <a:lstStyle/>
                    <a:p>
                      <a:pPr algn="ctr" fontAlgn="b"/>
                      <a:r>
                        <a:rPr lang="en-US" sz="2000" u="none" strike="noStrike" dirty="0">
                          <a:solidFill>
                            <a:schemeClr val="bg1"/>
                          </a:solidFill>
                          <a:effectLst/>
                        </a:rPr>
                        <a:t>75</a:t>
                      </a:r>
                      <a:endParaRPr lang="en-US" sz="2000" b="0" i="0" u="none" strike="noStrike" dirty="0">
                        <a:solidFill>
                          <a:schemeClr val="bg1"/>
                        </a:solidFill>
                        <a:effectLst/>
                        <a:latin typeface="Times New Roman" panose="02020603050405020304" pitchFamily="18" charset="0"/>
                      </a:endParaRPr>
                    </a:p>
                  </a:txBody>
                  <a:tcPr marL="6350" marR="6350" marT="6350" marB="0" anchor="b">
                    <a:solidFill>
                      <a:schemeClr val="accent1">
                        <a:lumMod val="60000"/>
                        <a:lumOff val="40000"/>
                      </a:schemeClr>
                    </a:solidFill>
                  </a:tcPr>
                </a:tc>
                <a:tc>
                  <a:txBody>
                    <a:bodyPr/>
                    <a:lstStyle/>
                    <a:p>
                      <a:pPr algn="ctr" fontAlgn="b"/>
                      <a:r>
                        <a:rPr lang="en-US" sz="2000" u="none" strike="noStrike" dirty="0">
                          <a:solidFill>
                            <a:schemeClr val="bg1"/>
                          </a:solidFill>
                          <a:effectLst/>
                        </a:rPr>
                        <a:t>100</a:t>
                      </a:r>
                      <a:endParaRPr lang="en-US" sz="2000" b="0" i="0" u="none" strike="noStrike" dirty="0">
                        <a:solidFill>
                          <a:schemeClr val="bg1"/>
                        </a:solidFill>
                        <a:effectLst/>
                        <a:latin typeface="Times New Roman" panose="02020603050405020304" pitchFamily="18" charset="0"/>
                      </a:endParaRPr>
                    </a:p>
                  </a:txBody>
                  <a:tcPr marL="6350" marR="6350" marT="6350" marB="0" anchor="b">
                    <a:solidFill>
                      <a:schemeClr val="accent1">
                        <a:lumMod val="60000"/>
                        <a:lumOff val="40000"/>
                      </a:schemeClr>
                    </a:solidFill>
                  </a:tcPr>
                </a:tc>
                <a:tc>
                  <a:txBody>
                    <a:bodyPr/>
                    <a:lstStyle/>
                    <a:p>
                      <a:pPr algn="ctr" fontAlgn="b"/>
                      <a:r>
                        <a:rPr lang="en-US" sz="2000" u="none" strike="noStrike" dirty="0">
                          <a:solidFill>
                            <a:schemeClr val="bg1"/>
                          </a:solidFill>
                          <a:effectLst/>
                        </a:rPr>
                        <a:t>200</a:t>
                      </a:r>
                      <a:endParaRPr lang="en-US" sz="2000" b="0" i="0" u="none" strike="noStrike" dirty="0">
                        <a:solidFill>
                          <a:schemeClr val="bg1"/>
                        </a:solidFill>
                        <a:effectLst/>
                        <a:latin typeface="Times New Roman" panose="02020603050405020304" pitchFamily="18" charset="0"/>
                      </a:endParaRPr>
                    </a:p>
                  </a:txBody>
                  <a:tcPr marL="6350" marR="6350" marT="6350" marB="0" anchor="b">
                    <a:solidFill>
                      <a:schemeClr val="accent1">
                        <a:lumMod val="60000"/>
                        <a:lumOff val="40000"/>
                      </a:schemeClr>
                    </a:solidFill>
                  </a:tcPr>
                </a:tc>
                <a:tc>
                  <a:txBody>
                    <a:bodyPr/>
                    <a:lstStyle/>
                    <a:p>
                      <a:pPr algn="ctr" fontAlgn="b"/>
                      <a:r>
                        <a:rPr lang="en-US" sz="2000" u="none" strike="noStrike" dirty="0">
                          <a:solidFill>
                            <a:schemeClr val="bg1"/>
                          </a:solidFill>
                          <a:effectLst/>
                        </a:rPr>
                        <a:t>500</a:t>
                      </a:r>
                      <a:endParaRPr lang="en-US" sz="2000" b="0" i="0" u="none" strike="noStrike" dirty="0">
                        <a:solidFill>
                          <a:schemeClr val="bg1"/>
                        </a:solidFill>
                        <a:effectLst/>
                        <a:latin typeface="Times New Roman" panose="02020603050405020304" pitchFamily="18" charset="0"/>
                      </a:endParaRPr>
                    </a:p>
                  </a:txBody>
                  <a:tcPr marL="6350" marR="6350" marT="6350" marB="0" anchor="b">
                    <a:solidFill>
                      <a:schemeClr val="accent1">
                        <a:lumMod val="60000"/>
                        <a:lumOff val="40000"/>
                      </a:schemeClr>
                    </a:solidFill>
                  </a:tcPr>
                </a:tc>
                <a:tc>
                  <a:txBody>
                    <a:bodyPr/>
                    <a:lstStyle/>
                    <a:p>
                      <a:pPr algn="ctr" fontAlgn="b"/>
                      <a:r>
                        <a:rPr lang="en-US" sz="2000" u="none" strike="noStrike" dirty="0">
                          <a:solidFill>
                            <a:schemeClr val="bg1"/>
                          </a:solidFill>
                          <a:effectLst/>
                        </a:rPr>
                        <a:t>∞</a:t>
                      </a:r>
                      <a:endParaRPr lang="en-US" sz="2000" b="0" i="0" u="none" strike="noStrike" dirty="0">
                        <a:solidFill>
                          <a:schemeClr val="bg1"/>
                        </a:solidFill>
                        <a:effectLst/>
                        <a:latin typeface="Calibri" panose="020F0502020204030204" pitchFamily="34" charset="0"/>
                      </a:endParaRPr>
                    </a:p>
                  </a:txBody>
                  <a:tcPr marL="6350" marR="6350" marT="6350" marB="0" anchor="b">
                    <a:solidFill>
                      <a:schemeClr val="accent1">
                        <a:lumMod val="60000"/>
                        <a:lumOff val="40000"/>
                      </a:schemeClr>
                    </a:solidFill>
                  </a:tcPr>
                </a:tc>
                <a:extLst>
                  <a:ext uri="{0D108BD9-81ED-4DB2-BD59-A6C34878D82A}">
                    <a16:rowId xmlns:a16="http://schemas.microsoft.com/office/drawing/2014/main" val="2096641146"/>
                  </a:ext>
                </a:extLst>
              </a:tr>
              <a:tr h="285327">
                <a:tc>
                  <a:txBody>
                    <a:bodyPr/>
                    <a:lstStyle/>
                    <a:p>
                      <a:pPr algn="ctr" fontAlgn="b"/>
                      <a:r>
                        <a:rPr lang="en-US" sz="2000" u="none" strike="noStrike">
                          <a:effectLst/>
                        </a:rPr>
                        <a:t>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2.15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1.90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1.77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1.68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1.49</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1.42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1.38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1.32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1.29</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1.27</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3578116871"/>
                  </a:ext>
                </a:extLst>
              </a:tr>
              <a:tr h="285327">
                <a:tc>
                  <a:txBody>
                    <a:bodyPr/>
                    <a:lstStyle/>
                    <a:p>
                      <a:pPr algn="ctr" fontAlgn="b"/>
                      <a:r>
                        <a:rPr lang="en-US" sz="2000" u="none" strike="noStrike">
                          <a:effectLst/>
                        </a:rPr>
                        <a:t>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1.17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1.03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0.96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0.91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0.81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0.77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0.75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0.72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0.70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0.69</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1781472914"/>
                  </a:ext>
                </a:extLst>
              </a:tr>
              <a:tr h="285327">
                <a:tc>
                  <a:txBody>
                    <a:bodyPr/>
                    <a:lstStyle/>
                    <a:p>
                      <a:pPr algn="ctr" fontAlgn="b"/>
                      <a:r>
                        <a:rPr lang="en-US" sz="2000" u="none" strike="noStrike">
                          <a:effectLst/>
                        </a:rPr>
                        <a:t>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0.91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0.80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0.74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0.71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0.63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0.60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0.53</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2254479454"/>
                  </a:ext>
                </a:extLst>
              </a:tr>
              <a:tr h="285327">
                <a:tc>
                  <a:txBody>
                    <a:bodyPr/>
                    <a:lstStyle/>
                    <a:p>
                      <a:pPr algn="ctr" fontAlgn="b"/>
                      <a:r>
                        <a:rPr lang="en-US" sz="2000" u="none" strike="noStrike">
                          <a:effectLst/>
                        </a:rPr>
                        <a:t>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0.77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0.68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0.63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0.60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0.49</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0.45</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1840471116"/>
                  </a:ext>
                </a:extLst>
              </a:tr>
              <a:tr h="285327">
                <a:tc>
                  <a:txBody>
                    <a:bodyPr/>
                    <a:lstStyle/>
                    <a:p>
                      <a:pPr algn="ctr" fontAlgn="b"/>
                      <a:r>
                        <a:rPr lang="en-US" sz="2000" u="none" strike="noStrike">
                          <a:effectLst/>
                        </a:rPr>
                        <a:t>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0.68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0.60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0.40</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2744781820"/>
                  </a:ext>
                </a:extLst>
              </a:tr>
              <a:tr h="285327">
                <a:tc>
                  <a:txBody>
                    <a:bodyPr/>
                    <a:lstStyle/>
                    <a:p>
                      <a:pPr algn="ctr" fontAlgn="b"/>
                      <a:r>
                        <a:rPr lang="en-US" sz="2000" u="none" strike="noStrike">
                          <a:effectLst/>
                        </a:rPr>
                        <a:t>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0.62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0.36</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3916028581"/>
                  </a:ext>
                </a:extLst>
              </a:tr>
              <a:tr h="285327">
                <a:tc>
                  <a:txBody>
                    <a:bodyPr/>
                    <a:lstStyle/>
                    <a:p>
                      <a:pPr algn="ctr" fontAlgn="b"/>
                      <a:r>
                        <a:rPr lang="en-US" sz="2000" u="none" strike="noStrike">
                          <a:effectLst/>
                        </a:rPr>
                        <a:t>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0.34</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3358319102"/>
                  </a:ext>
                </a:extLst>
              </a:tr>
              <a:tr h="285327">
                <a:tc>
                  <a:txBody>
                    <a:bodyPr/>
                    <a:lstStyle/>
                    <a:p>
                      <a:pPr algn="ctr" fontAlgn="b"/>
                      <a:r>
                        <a:rPr lang="en-US" sz="2000" u="none" strike="noStrike">
                          <a:effectLst/>
                        </a:rPr>
                        <a:t>9</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0.32</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3054923654"/>
                  </a:ext>
                </a:extLst>
              </a:tr>
              <a:tr h="285327">
                <a:tc>
                  <a:txBody>
                    <a:bodyPr/>
                    <a:lstStyle/>
                    <a:p>
                      <a:pPr algn="ctr" fontAlgn="b"/>
                      <a:r>
                        <a:rPr lang="en-US" sz="2000" u="none" strike="noStrike">
                          <a:effectLst/>
                        </a:rPr>
                        <a:t>10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0.39</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0.30</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1520964148"/>
                  </a:ext>
                </a:extLst>
              </a:tr>
              <a:tr h="285327">
                <a:tc>
                  <a:txBody>
                    <a:bodyPr/>
                    <a:lstStyle/>
                    <a:p>
                      <a:pPr algn="ctr" fontAlgn="b"/>
                      <a:r>
                        <a:rPr lang="en-US" sz="2000" u="none" strike="noStrike">
                          <a:effectLst/>
                        </a:rPr>
                        <a:t>11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0.39</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0.29</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0.29</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0.28</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3700432003"/>
                  </a:ext>
                </a:extLst>
              </a:tr>
              <a:tr h="285327">
                <a:tc>
                  <a:txBody>
                    <a:bodyPr/>
                    <a:lstStyle/>
                    <a:p>
                      <a:pPr algn="ctr" fontAlgn="b"/>
                      <a:r>
                        <a:rPr lang="en-US" sz="2000" u="none" strike="noStrike">
                          <a:effectLst/>
                        </a:rPr>
                        <a:t>12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0.29</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0.27</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2275925645"/>
                  </a:ext>
                </a:extLst>
              </a:tr>
              <a:tr h="285327">
                <a:tc>
                  <a:txBody>
                    <a:bodyPr/>
                    <a:lstStyle/>
                    <a:p>
                      <a:pPr algn="ctr" fontAlgn="b"/>
                      <a:r>
                        <a:rPr lang="en-US" sz="2000" u="none" strike="noStrike">
                          <a:effectLst/>
                        </a:rPr>
                        <a:t>13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0.39</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0.29</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0.26</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4251261165"/>
                  </a:ext>
                </a:extLst>
              </a:tr>
              <a:tr h="285327">
                <a:tc>
                  <a:txBody>
                    <a:bodyPr/>
                    <a:lstStyle/>
                    <a:p>
                      <a:pPr algn="ctr" fontAlgn="b"/>
                      <a:r>
                        <a:rPr lang="en-US" sz="2000" u="none" strike="noStrike">
                          <a:effectLst/>
                        </a:rPr>
                        <a:t>14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0.29</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0.25</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829104446"/>
                  </a:ext>
                </a:extLst>
              </a:tr>
              <a:tr h="285327">
                <a:tc>
                  <a:txBody>
                    <a:bodyPr/>
                    <a:lstStyle/>
                    <a:p>
                      <a:pPr algn="ctr" fontAlgn="b"/>
                      <a:r>
                        <a:rPr lang="en-US" sz="2000" u="none" strike="noStrike">
                          <a:effectLst/>
                        </a:rPr>
                        <a:t>15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dirty="0">
                          <a:effectLst/>
                        </a:rPr>
                        <a:t>0.24</a:t>
                      </a:r>
                      <a:endParaRPr lang="en-US" sz="2000" b="0" i="0" u="none" strike="noStrike" dirty="0">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3714153258"/>
                  </a:ext>
                </a:extLst>
              </a:tr>
            </a:tbl>
          </a:graphicData>
        </a:graphic>
      </p:graphicFrame>
    </p:spTree>
    <p:extLst>
      <p:ext uri="{BB962C8B-B14F-4D97-AF65-F5344CB8AC3E}">
        <p14:creationId xmlns:p14="http://schemas.microsoft.com/office/powerpoint/2010/main" val="13213582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38EAB-1DDE-484C-96B9-DEAD2BAA3DE1}"/>
              </a:ext>
            </a:extLst>
          </p:cNvPr>
          <p:cNvSpPr>
            <a:spLocks noGrp="1"/>
          </p:cNvSpPr>
          <p:nvPr>
            <p:ph type="title"/>
          </p:nvPr>
        </p:nvSpPr>
        <p:spPr/>
        <p:txBody>
          <a:bodyPr/>
          <a:lstStyle/>
          <a:p>
            <a:r>
              <a:rPr lang="en-US" dirty="0"/>
              <a:t>MDES in Cluster Randomized Designs Depends on </a:t>
            </a:r>
            <a:r>
              <a:rPr lang="el-GR" sz="3600" i="1" u="none" strike="noStrike" dirty="0">
                <a:effectLst/>
                <a:latin typeface="Times New Roman" panose="02020603050405020304" pitchFamily="18" charset="0"/>
                <a:cs typeface="Times New Roman" panose="02020603050405020304" pitchFamily="18" charset="0"/>
              </a:rPr>
              <a:t>ρ</a:t>
            </a:r>
            <a:r>
              <a:rPr lang="en-US" dirty="0"/>
              <a:t> </a:t>
            </a:r>
          </a:p>
        </p:txBody>
      </p:sp>
      <p:sp>
        <p:nvSpPr>
          <p:cNvPr id="3" name="Content Placeholder 2">
            <a:extLst>
              <a:ext uri="{FF2B5EF4-FFF2-40B4-BE49-F238E27FC236}">
                <a16:creationId xmlns:a16="http://schemas.microsoft.com/office/drawing/2014/main" id="{4C727CF3-5CF2-444F-90E2-FF290A377408}"/>
              </a:ext>
            </a:extLst>
          </p:cNvPr>
          <p:cNvSpPr>
            <a:spLocks noGrp="1"/>
          </p:cNvSpPr>
          <p:nvPr>
            <p:ph idx="1"/>
          </p:nvPr>
        </p:nvSpPr>
        <p:spPr/>
        <p:txBody>
          <a:bodyPr/>
          <a:lstStyle/>
          <a:p>
            <a:pPr marL="0" indent="0">
              <a:buNone/>
            </a:pPr>
            <a:r>
              <a:rPr lang="en-US" dirty="0"/>
              <a:t>The dependence of design sensitivity on </a:t>
            </a:r>
            <a:r>
              <a:rPr lang="el-GR" sz="2000" i="1" u="none" strike="noStrike" dirty="0">
                <a:effectLst/>
                <a:latin typeface="Times New Roman" panose="02020603050405020304" pitchFamily="18" charset="0"/>
                <a:cs typeface="Times New Roman" panose="02020603050405020304" pitchFamily="18" charset="0"/>
              </a:rPr>
              <a:t>ρ</a:t>
            </a:r>
            <a:r>
              <a:rPr lang="en-US" dirty="0">
                <a:cs typeface="Times New Roman" panose="02020603050405020304" pitchFamily="18" charset="0"/>
              </a:rPr>
              <a:t> may seem puzzling, but it comes from the nature of two stage sampling</a:t>
            </a:r>
          </a:p>
          <a:p>
            <a:pPr marL="0" indent="0">
              <a:buNone/>
            </a:pPr>
            <a:endParaRPr lang="en-US" dirty="0">
              <a:cs typeface="Times New Roman" panose="02020603050405020304" pitchFamily="18" charset="0"/>
            </a:endParaRPr>
          </a:p>
          <a:p>
            <a:pPr marL="0" indent="0">
              <a:buNone/>
            </a:pPr>
            <a:r>
              <a:rPr lang="en-US" dirty="0">
                <a:cs typeface="Times New Roman" panose="02020603050405020304" pitchFamily="18" charset="0"/>
              </a:rPr>
              <a:t>Recall the design effect idea.  The cluster randomized design involves a two-stage cluster sample.  The fact that it is a cluster sample imposes a design effect involving </a:t>
            </a:r>
            <a:r>
              <a:rPr lang="el-GR" sz="2000" i="1" u="none" strike="noStrike" dirty="0">
                <a:effectLst/>
                <a:latin typeface="Times New Roman" panose="02020603050405020304" pitchFamily="18" charset="0"/>
                <a:cs typeface="Times New Roman" panose="02020603050405020304" pitchFamily="18" charset="0"/>
              </a:rPr>
              <a:t>ρ</a:t>
            </a:r>
            <a:r>
              <a:rPr lang="en-US" dirty="0">
                <a:cs typeface="Times New Roman" panose="02020603050405020304" pitchFamily="18" charset="0"/>
              </a:rPr>
              <a:t>  </a:t>
            </a:r>
          </a:p>
          <a:p>
            <a:pPr marL="0" indent="0">
              <a:buNone/>
            </a:pPr>
            <a:endParaRPr lang="en-US" dirty="0">
              <a:cs typeface="Times New Roman" panose="02020603050405020304" pitchFamily="18" charset="0"/>
            </a:endParaRPr>
          </a:p>
          <a:p>
            <a:pPr marL="0" indent="0">
              <a:buNone/>
            </a:pPr>
            <a:r>
              <a:rPr lang="en-US" dirty="0">
                <a:cs typeface="Times New Roman" panose="02020603050405020304" pitchFamily="18" charset="0"/>
              </a:rPr>
              <a:t>One way of talking about this is that </a:t>
            </a:r>
            <a:r>
              <a:rPr lang="el-GR" sz="2000" i="1" u="none" strike="noStrike" dirty="0">
                <a:effectLst/>
                <a:latin typeface="Times New Roman" panose="02020603050405020304" pitchFamily="18" charset="0"/>
                <a:cs typeface="Times New Roman" panose="02020603050405020304" pitchFamily="18" charset="0"/>
              </a:rPr>
              <a:t>ρ</a:t>
            </a:r>
            <a:r>
              <a:rPr lang="en-US" dirty="0">
                <a:cs typeface="Times New Roman" panose="02020603050405020304" pitchFamily="18" charset="0"/>
              </a:rPr>
              <a:t> (along with </a:t>
            </a:r>
            <a:r>
              <a:rPr lang="en-US" i="1" dirty="0">
                <a:latin typeface="Times New Roman" panose="02020603050405020304" pitchFamily="18" charset="0"/>
                <a:cs typeface="Times New Roman" panose="02020603050405020304" pitchFamily="18" charset="0"/>
              </a:rPr>
              <a:t>n</a:t>
            </a:r>
            <a:r>
              <a:rPr lang="en-US" dirty="0">
                <a:cs typeface="Times New Roman" panose="02020603050405020304" pitchFamily="18" charset="0"/>
              </a:rPr>
              <a:t>) determines the “effective sample size”</a:t>
            </a:r>
          </a:p>
          <a:p>
            <a:pPr marL="0" indent="0">
              <a:buNone/>
            </a:pPr>
            <a:endParaRPr lang="en-US" dirty="0">
              <a:cs typeface="Times New Roman" panose="02020603050405020304" pitchFamily="18" charset="0"/>
            </a:endParaRPr>
          </a:p>
          <a:p>
            <a:pPr marL="0" indent="0">
              <a:buNone/>
            </a:pPr>
            <a:r>
              <a:rPr lang="en-US" dirty="0"/>
              <a:t>The effective sample size is somewhere between the number of clusters </a:t>
            </a:r>
            <a:r>
              <a:rPr lang="en-US" dirty="0">
                <a:latin typeface="Times New Roman" panose="02020603050405020304" pitchFamily="18" charset="0"/>
                <a:cs typeface="Times New Roman" panose="02020603050405020304" pitchFamily="18" charset="0"/>
              </a:rPr>
              <a:t>2</a:t>
            </a:r>
            <a:r>
              <a:rPr lang="en-US" i="1" dirty="0">
                <a:latin typeface="Times New Roman" panose="02020603050405020304" pitchFamily="18" charset="0"/>
                <a:cs typeface="Times New Roman" panose="02020603050405020304" pitchFamily="18" charset="0"/>
              </a:rPr>
              <a:t>m</a:t>
            </a:r>
            <a:r>
              <a:rPr lang="en-US" dirty="0"/>
              <a:t> and the total sample size </a:t>
            </a:r>
            <a:r>
              <a:rPr lang="en-US" dirty="0">
                <a:latin typeface="Times New Roman" panose="02020603050405020304" pitchFamily="18" charset="0"/>
                <a:cs typeface="Times New Roman" panose="02020603050405020304" pitchFamily="18" charset="0"/>
              </a:rPr>
              <a:t>2</a:t>
            </a:r>
            <a:r>
              <a:rPr lang="en-US" i="1" dirty="0">
                <a:latin typeface="Times New Roman" panose="02020603050405020304" pitchFamily="18" charset="0"/>
                <a:cs typeface="Times New Roman" panose="02020603050405020304" pitchFamily="18" charset="0"/>
              </a:rPr>
              <a:t>mn</a:t>
            </a:r>
            <a:r>
              <a:rPr lang="en-US" dirty="0"/>
              <a:t>,  determined by the values of </a:t>
            </a:r>
            <a:r>
              <a:rPr lang="el-GR" sz="2000" i="1" u="none" strike="noStrike" dirty="0">
                <a:effectLst/>
                <a:latin typeface="Times New Roman" panose="02020603050405020304" pitchFamily="18" charset="0"/>
                <a:cs typeface="Times New Roman" panose="02020603050405020304" pitchFamily="18" charset="0"/>
              </a:rPr>
              <a:t>ρ</a:t>
            </a:r>
            <a:r>
              <a:rPr lang="en-US" dirty="0">
                <a:cs typeface="Times New Roman" panose="02020603050405020304" pitchFamily="18" charset="0"/>
              </a:rPr>
              <a:t> and </a:t>
            </a:r>
            <a:r>
              <a:rPr lang="en-US" i="1" dirty="0">
                <a:latin typeface="Times New Roman" panose="02020603050405020304" pitchFamily="18" charset="0"/>
                <a:cs typeface="Times New Roman" panose="02020603050405020304" pitchFamily="18" charset="0"/>
              </a:rPr>
              <a:t>n</a:t>
            </a:r>
          </a:p>
          <a:p>
            <a:pPr marL="0" indent="0">
              <a:buNone/>
            </a:pPr>
            <a:endParaRPr lang="en-US" dirty="0">
              <a:cs typeface="Times New Roman" panose="02020603050405020304" pitchFamily="18" charset="0"/>
            </a:endParaRPr>
          </a:p>
          <a:p>
            <a:pPr marL="0" indent="0">
              <a:buNone/>
            </a:pPr>
            <a:r>
              <a:rPr lang="en-US" dirty="0">
                <a:cs typeface="Times New Roman" panose="02020603050405020304" pitchFamily="18" charset="0"/>
              </a:rPr>
              <a:t>Effective sample size is</a:t>
            </a:r>
          </a:p>
          <a:p>
            <a:pPr marL="0" indent="0">
              <a:buNone/>
            </a:pPr>
            <a:r>
              <a:rPr lang="en-US" dirty="0"/>
              <a:t>	</a:t>
            </a:r>
          </a:p>
        </p:txBody>
      </p:sp>
      <p:graphicFrame>
        <p:nvGraphicFramePr>
          <p:cNvPr id="4" name="Object 3">
            <a:extLst>
              <a:ext uri="{FF2B5EF4-FFF2-40B4-BE49-F238E27FC236}">
                <a16:creationId xmlns:a16="http://schemas.microsoft.com/office/drawing/2014/main" id="{3DAA802F-7A58-4BD9-B43B-74A619FBBE43}"/>
              </a:ext>
            </a:extLst>
          </p:cNvPr>
          <p:cNvGraphicFramePr>
            <a:graphicFrameLocks noChangeAspect="1"/>
          </p:cNvGraphicFramePr>
          <p:nvPr>
            <p:extLst>
              <p:ext uri="{D42A27DB-BD31-4B8C-83A1-F6EECF244321}">
                <p14:modId xmlns:p14="http://schemas.microsoft.com/office/powerpoint/2010/main" val="2253144299"/>
              </p:ext>
            </p:extLst>
          </p:nvPr>
        </p:nvGraphicFramePr>
        <p:xfrm>
          <a:off x="779463" y="5154613"/>
          <a:ext cx="7677150" cy="1098550"/>
        </p:xfrm>
        <a:graphic>
          <a:graphicData uri="http://schemas.openxmlformats.org/presentationml/2006/ole">
            <mc:AlternateContent xmlns:mc="http://schemas.openxmlformats.org/markup-compatibility/2006">
              <mc:Choice xmlns:v="urn:schemas-microsoft-com:vml" Requires="v">
                <p:oleObj name="Equation" r:id="rId2" imgW="4356000" imgH="622080" progId="Equation.DSMT4">
                  <p:embed/>
                </p:oleObj>
              </mc:Choice>
              <mc:Fallback>
                <p:oleObj name="Equation" r:id="rId2" imgW="4356000" imgH="622080" progId="Equation.DSMT4">
                  <p:embed/>
                  <p:pic>
                    <p:nvPicPr>
                      <p:cNvPr id="0" name=""/>
                      <p:cNvPicPr/>
                      <p:nvPr/>
                    </p:nvPicPr>
                    <p:blipFill>
                      <a:blip r:embed="rId3"/>
                      <a:stretch>
                        <a:fillRect/>
                      </a:stretch>
                    </p:blipFill>
                    <p:spPr>
                      <a:xfrm>
                        <a:off x="779463" y="5154613"/>
                        <a:ext cx="7677150" cy="1098550"/>
                      </a:xfrm>
                      <a:prstGeom prst="rect">
                        <a:avLst/>
                      </a:prstGeom>
                    </p:spPr>
                  </p:pic>
                </p:oleObj>
              </mc:Fallback>
            </mc:AlternateContent>
          </a:graphicData>
        </a:graphic>
      </p:graphicFrame>
    </p:spTree>
    <p:extLst>
      <p:ext uri="{BB962C8B-B14F-4D97-AF65-F5344CB8AC3E}">
        <p14:creationId xmlns:p14="http://schemas.microsoft.com/office/powerpoint/2010/main" val="21479359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F4B6C-EA6C-4865-B1FD-3309B5D50358}"/>
              </a:ext>
            </a:extLst>
          </p:cNvPr>
          <p:cNvSpPr>
            <a:spLocks noGrp="1"/>
          </p:cNvSpPr>
          <p:nvPr>
            <p:ph type="title"/>
          </p:nvPr>
        </p:nvSpPr>
        <p:spPr/>
        <p:txBody>
          <a:bodyPr/>
          <a:lstStyle/>
          <a:p>
            <a:r>
              <a:rPr lang="en-US" dirty="0"/>
              <a:t>Asymptotic MDES (as </a:t>
            </a:r>
            <a:r>
              <a:rPr lang="en-US" i="1" dirty="0">
                <a:latin typeface="Times New Roman" panose="02020603050405020304" pitchFamily="18" charset="0"/>
                <a:cs typeface="Times New Roman" panose="02020603050405020304" pitchFamily="18" charset="0"/>
              </a:rPr>
              <a:t>n</a:t>
            </a:r>
            <a:r>
              <a:rPr lang="en-US" dirty="0">
                <a:latin typeface="Times New Roman" panose="02020603050405020304" pitchFamily="18" charset="0"/>
                <a:cs typeface="Times New Roman" panose="02020603050405020304" pitchFamily="18" charset="0"/>
              </a:rPr>
              <a:t>→∞)</a:t>
            </a:r>
            <a:r>
              <a:rPr lang="en-US" dirty="0"/>
              <a:t> as a Function of </a:t>
            </a:r>
            <a:r>
              <a:rPr lang="en-US" i="1" dirty="0">
                <a:latin typeface="Times New Roman" panose="02020603050405020304" pitchFamily="18" charset="0"/>
                <a:cs typeface="Times New Roman" panose="02020603050405020304" pitchFamily="18" charset="0"/>
              </a:rPr>
              <a:t>m </a:t>
            </a:r>
            <a:r>
              <a:rPr lang="en-US" dirty="0"/>
              <a:t>and </a:t>
            </a:r>
            <a:r>
              <a:rPr lang="el-GR" sz="3600" i="1" u="none" strike="noStrike" dirty="0">
                <a:effectLst/>
                <a:latin typeface="Times New Roman" panose="02020603050405020304" pitchFamily="18" charset="0"/>
                <a:cs typeface="Times New Roman" panose="02020603050405020304" pitchFamily="18" charset="0"/>
              </a:rPr>
              <a:t>ρ</a:t>
            </a:r>
            <a:endParaRPr lang="en-US" dirty="0"/>
          </a:p>
        </p:txBody>
      </p:sp>
      <p:graphicFrame>
        <p:nvGraphicFramePr>
          <p:cNvPr id="5" name="Content Placeholder 4">
            <a:extLst>
              <a:ext uri="{FF2B5EF4-FFF2-40B4-BE49-F238E27FC236}">
                <a16:creationId xmlns:a16="http://schemas.microsoft.com/office/drawing/2014/main" id="{3177F44C-DA5E-4184-8220-ABE44068E9F3}"/>
              </a:ext>
            </a:extLst>
          </p:cNvPr>
          <p:cNvGraphicFramePr>
            <a:graphicFrameLocks noGrp="1"/>
          </p:cNvGraphicFramePr>
          <p:nvPr>
            <p:ph idx="1"/>
            <p:extLst>
              <p:ext uri="{D42A27DB-BD31-4B8C-83A1-F6EECF244321}">
                <p14:modId xmlns:p14="http://schemas.microsoft.com/office/powerpoint/2010/main" val="2959232752"/>
              </p:ext>
            </p:extLst>
          </p:nvPr>
        </p:nvGraphicFramePr>
        <p:xfrm>
          <a:off x="1662022" y="1690688"/>
          <a:ext cx="9103738" cy="4978400"/>
        </p:xfrm>
        <a:graphic>
          <a:graphicData uri="http://schemas.openxmlformats.org/drawingml/2006/table">
            <a:tbl>
              <a:tblPr>
                <a:tableStyleId>{5C22544A-7EE6-4342-B048-85BDC9FD1C3A}</a:tableStyleId>
              </a:tblPr>
              <a:tblGrid>
                <a:gridCol w="1092449">
                  <a:extLst>
                    <a:ext uri="{9D8B030D-6E8A-4147-A177-3AD203B41FA5}">
                      <a16:colId xmlns:a16="http://schemas.microsoft.com/office/drawing/2014/main" val="2584912267"/>
                    </a:ext>
                  </a:extLst>
                </a:gridCol>
                <a:gridCol w="728299">
                  <a:extLst>
                    <a:ext uri="{9D8B030D-6E8A-4147-A177-3AD203B41FA5}">
                      <a16:colId xmlns:a16="http://schemas.microsoft.com/office/drawing/2014/main" val="3980420151"/>
                    </a:ext>
                  </a:extLst>
                </a:gridCol>
                <a:gridCol w="728299">
                  <a:extLst>
                    <a:ext uri="{9D8B030D-6E8A-4147-A177-3AD203B41FA5}">
                      <a16:colId xmlns:a16="http://schemas.microsoft.com/office/drawing/2014/main" val="1203442647"/>
                    </a:ext>
                  </a:extLst>
                </a:gridCol>
                <a:gridCol w="728299">
                  <a:extLst>
                    <a:ext uri="{9D8B030D-6E8A-4147-A177-3AD203B41FA5}">
                      <a16:colId xmlns:a16="http://schemas.microsoft.com/office/drawing/2014/main" val="2144515326"/>
                    </a:ext>
                  </a:extLst>
                </a:gridCol>
                <a:gridCol w="728299">
                  <a:extLst>
                    <a:ext uri="{9D8B030D-6E8A-4147-A177-3AD203B41FA5}">
                      <a16:colId xmlns:a16="http://schemas.microsoft.com/office/drawing/2014/main" val="3146456003"/>
                    </a:ext>
                  </a:extLst>
                </a:gridCol>
                <a:gridCol w="728299">
                  <a:extLst>
                    <a:ext uri="{9D8B030D-6E8A-4147-A177-3AD203B41FA5}">
                      <a16:colId xmlns:a16="http://schemas.microsoft.com/office/drawing/2014/main" val="1380186058"/>
                    </a:ext>
                  </a:extLst>
                </a:gridCol>
                <a:gridCol w="728299">
                  <a:extLst>
                    <a:ext uri="{9D8B030D-6E8A-4147-A177-3AD203B41FA5}">
                      <a16:colId xmlns:a16="http://schemas.microsoft.com/office/drawing/2014/main" val="2749175792"/>
                    </a:ext>
                  </a:extLst>
                </a:gridCol>
                <a:gridCol w="728299">
                  <a:extLst>
                    <a:ext uri="{9D8B030D-6E8A-4147-A177-3AD203B41FA5}">
                      <a16:colId xmlns:a16="http://schemas.microsoft.com/office/drawing/2014/main" val="2919181536"/>
                    </a:ext>
                  </a:extLst>
                </a:gridCol>
                <a:gridCol w="728299">
                  <a:extLst>
                    <a:ext uri="{9D8B030D-6E8A-4147-A177-3AD203B41FA5}">
                      <a16:colId xmlns:a16="http://schemas.microsoft.com/office/drawing/2014/main" val="2943071289"/>
                    </a:ext>
                  </a:extLst>
                </a:gridCol>
                <a:gridCol w="728299">
                  <a:extLst>
                    <a:ext uri="{9D8B030D-6E8A-4147-A177-3AD203B41FA5}">
                      <a16:colId xmlns:a16="http://schemas.microsoft.com/office/drawing/2014/main" val="750776988"/>
                    </a:ext>
                  </a:extLst>
                </a:gridCol>
                <a:gridCol w="728299">
                  <a:extLst>
                    <a:ext uri="{9D8B030D-6E8A-4147-A177-3AD203B41FA5}">
                      <a16:colId xmlns:a16="http://schemas.microsoft.com/office/drawing/2014/main" val="2102868501"/>
                    </a:ext>
                  </a:extLst>
                </a:gridCol>
                <a:gridCol w="728299">
                  <a:extLst>
                    <a:ext uri="{9D8B030D-6E8A-4147-A177-3AD203B41FA5}">
                      <a16:colId xmlns:a16="http://schemas.microsoft.com/office/drawing/2014/main" val="1420698778"/>
                    </a:ext>
                  </a:extLst>
                </a:gridCol>
              </a:tblGrid>
              <a:tr h="259896">
                <a:tc>
                  <a:txBody>
                    <a:bodyPr/>
                    <a:lstStyle/>
                    <a:p>
                      <a:pPr algn="ctr" fontAlgn="b"/>
                      <a:r>
                        <a:rPr lang="en-US" sz="2000" u="none" strike="noStrike" dirty="0">
                          <a:effectLst/>
                        </a:rPr>
                        <a:t> </a:t>
                      </a:r>
                      <a:endParaRPr lang="en-US" sz="2000" b="0" i="0" u="none" strike="noStrike" dirty="0">
                        <a:solidFill>
                          <a:srgbClr val="000000"/>
                        </a:solidFill>
                        <a:effectLst/>
                        <a:latin typeface="Times New Roman" panose="02020603050405020304" pitchFamily="18" charset="0"/>
                      </a:endParaRPr>
                    </a:p>
                  </a:txBody>
                  <a:tcPr marL="6350" marR="6350" marT="6350" marB="0" anchor="b"/>
                </a:tc>
                <a:tc gridSpan="11">
                  <a:txBody>
                    <a:bodyPr/>
                    <a:lstStyle/>
                    <a:p>
                      <a:pPr algn="ctr" fontAlgn="b"/>
                      <a:r>
                        <a:rPr lang="en-US" sz="2000" u="none" strike="noStrike" dirty="0">
                          <a:solidFill>
                            <a:schemeClr val="bg1"/>
                          </a:solidFill>
                          <a:effectLst/>
                        </a:rPr>
                        <a:t>Intraclass correlation </a:t>
                      </a:r>
                      <a:r>
                        <a:rPr lang="el-GR" sz="2000" i="1" u="none" strike="noStrike" dirty="0">
                          <a:solidFill>
                            <a:schemeClr val="bg1"/>
                          </a:solidFill>
                          <a:effectLst/>
                          <a:latin typeface="Times New Roman" panose="02020603050405020304" pitchFamily="18" charset="0"/>
                          <a:cs typeface="Times New Roman" panose="02020603050405020304" pitchFamily="18" charset="0"/>
                        </a:rPr>
                        <a:t>ρ</a:t>
                      </a:r>
                      <a:endParaRPr lang="en-US" sz="2000" b="0" i="1" u="none" strike="noStrike" dirty="0">
                        <a:solidFill>
                          <a:schemeClr val="bg1"/>
                        </a:solidFill>
                        <a:effectLst/>
                        <a:latin typeface="Times New Roman" panose="02020603050405020304" pitchFamily="18" charset="0"/>
                      </a:endParaRPr>
                    </a:p>
                  </a:txBody>
                  <a:tcPr marL="6350" marR="6350" marT="6350" marB="0" anchor="b">
                    <a:solidFill>
                      <a:schemeClr val="accent1">
                        <a:lumMod val="7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264636547"/>
                  </a:ext>
                </a:extLst>
              </a:tr>
              <a:tr h="259896">
                <a:tc>
                  <a:txBody>
                    <a:bodyPr/>
                    <a:lstStyle/>
                    <a:p>
                      <a:pPr algn="ctr" fontAlgn="b"/>
                      <a:r>
                        <a:rPr lang="en-US" sz="2000" i="1" u="none" strike="noStrike" dirty="0">
                          <a:solidFill>
                            <a:schemeClr val="bg1"/>
                          </a:solidFill>
                          <a:effectLst/>
                          <a:latin typeface="Times New Roman" panose="02020603050405020304" pitchFamily="18" charset="0"/>
                          <a:cs typeface="Times New Roman" panose="02020603050405020304" pitchFamily="18" charset="0"/>
                        </a:rPr>
                        <a:t>m</a:t>
                      </a:r>
                      <a:endParaRPr lang="en-US" sz="2000" b="0" i="1" u="none" strike="noStrike" dirty="0">
                        <a:solidFill>
                          <a:schemeClr val="bg1"/>
                        </a:solidFill>
                        <a:effectLst/>
                        <a:latin typeface="Times New Roman" panose="02020603050405020304" pitchFamily="18" charset="0"/>
                        <a:cs typeface="Times New Roman" panose="02020603050405020304" pitchFamily="18" charset="0"/>
                      </a:endParaRPr>
                    </a:p>
                  </a:txBody>
                  <a:tcPr marL="6350" marR="6350" marT="6350" marB="0" anchor="b">
                    <a:solidFill>
                      <a:schemeClr val="accent1">
                        <a:lumMod val="60000"/>
                        <a:lumOff val="40000"/>
                      </a:schemeClr>
                    </a:solidFill>
                  </a:tcPr>
                </a:tc>
                <a:tc>
                  <a:txBody>
                    <a:bodyPr/>
                    <a:lstStyle/>
                    <a:p>
                      <a:pPr algn="ctr" fontAlgn="b"/>
                      <a:r>
                        <a:rPr lang="en-US" sz="2000" u="none" strike="noStrike" dirty="0">
                          <a:solidFill>
                            <a:schemeClr val="bg1"/>
                          </a:solidFill>
                          <a:effectLst/>
                        </a:rPr>
                        <a:t>0.01</a:t>
                      </a:r>
                      <a:endParaRPr lang="en-US" sz="2000" b="0" i="0" u="none" strike="noStrike" dirty="0">
                        <a:solidFill>
                          <a:schemeClr val="bg1"/>
                        </a:solidFill>
                        <a:effectLst/>
                        <a:latin typeface="Times New Roman" panose="02020603050405020304" pitchFamily="18" charset="0"/>
                      </a:endParaRPr>
                    </a:p>
                  </a:txBody>
                  <a:tcPr marL="6350" marR="6350" marT="6350" marB="0" anchor="b">
                    <a:solidFill>
                      <a:schemeClr val="accent1">
                        <a:lumMod val="60000"/>
                        <a:lumOff val="40000"/>
                      </a:schemeClr>
                    </a:solidFill>
                  </a:tcPr>
                </a:tc>
                <a:tc>
                  <a:txBody>
                    <a:bodyPr/>
                    <a:lstStyle/>
                    <a:p>
                      <a:pPr algn="ctr" fontAlgn="b"/>
                      <a:r>
                        <a:rPr lang="en-US" sz="2000" u="none" strike="noStrike" dirty="0">
                          <a:solidFill>
                            <a:schemeClr val="bg1"/>
                          </a:solidFill>
                          <a:effectLst/>
                        </a:rPr>
                        <a:t>0.02</a:t>
                      </a:r>
                      <a:endParaRPr lang="en-US" sz="2000" b="0" i="0" u="none" strike="noStrike" dirty="0">
                        <a:solidFill>
                          <a:schemeClr val="bg1"/>
                        </a:solidFill>
                        <a:effectLst/>
                        <a:latin typeface="Times New Roman" panose="02020603050405020304" pitchFamily="18" charset="0"/>
                      </a:endParaRPr>
                    </a:p>
                  </a:txBody>
                  <a:tcPr marL="6350" marR="6350" marT="6350" marB="0" anchor="b">
                    <a:solidFill>
                      <a:schemeClr val="accent1">
                        <a:lumMod val="60000"/>
                        <a:lumOff val="40000"/>
                      </a:schemeClr>
                    </a:solidFill>
                  </a:tcPr>
                </a:tc>
                <a:tc>
                  <a:txBody>
                    <a:bodyPr/>
                    <a:lstStyle/>
                    <a:p>
                      <a:pPr algn="ctr" fontAlgn="b"/>
                      <a:r>
                        <a:rPr lang="en-US" sz="2000" u="none" strike="noStrike" dirty="0">
                          <a:solidFill>
                            <a:schemeClr val="bg1"/>
                          </a:solidFill>
                          <a:effectLst/>
                        </a:rPr>
                        <a:t>0.03</a:t>
                      </a:r>
                      <a:endParaRPr lang="en-US" sz="2000" b="0" i="0" u="none" strike="noStrike" dirty="0">
                        <a:solidFill>
                          <a:schemeClr val="bg1"/>
                        </a:solidFill>
                        <a:effectLst/>
                        <a:latin typeface="Times New Roman" panose="02020603050405020304" pitchFamily="18" charset="0"/>
                      </a:endParaRPr>
                    </a:p>
                  </a:txBody>
                  <a:tcPr marL="6350" marR="6350" marT="6350" marB="0" anchor="b">
                    <a:solidFill>
                      <a:schemeClr val="accent1">
                        <a:lumMod val="60000"/>
                        <a:lumOff val="40000"/>
                      </a:schemeClr>
                    </a:solidFill>
                  </a:tcPr>
                </a:tc>
                <a:tc>
                  <a:txBody>
                    <a:bodyPr/>
                    <a:lstStyle/>
                    <a:p>
                      <a:pPr algn="ctr" fontAlgn="b"/>
                      <a:r>
                        <a:rPr lang="en-US" sz="2000" u="none" strike="noStrike" dirty="0">
                          <a:solidFill>
                            <a:schemeClr val="bg1"/>
                          </a:solidFill>
                          <a:effectLst/>
                        </a:rPr>
                        <a:t>0.04</a:t>
                      </a:r>
                      <a:endParaRPr lang="en-US" sz="2000" b="0" i="0" u="none" strike="noStrike" dirty="0">
                        <a:solidFill>
                          <a:schemeClr val="bg1"/>
                        </a:solidFill>
                        <a:effectLst/>
                        <a:latin typeface="Times New Roman" panose="02020603050405020304" pitchFamily="18" charset="0"/>
                      </a:endParaRPr>
                    </a:p>
                  </a:txBody>
                  <a:tcPr marL="6350" marR="6350" marT="6350" marB="0" anchor="b">
                    <a:solidFill>
                      <a:schemeClr val="accent1">
                        <a:lumMod val="60000"/>
                        <a:lumOff val="40000"/>
                      </a:schemeClr>
                    </a:solidFill>
                  </a:tcPr>
                </a:tc>
                <a:tc>
                  <a:txBody>
                    <a:bodyPr/>
                    <a:lstStyle/>
                    <a:p>
                      <a:pPr algn="ctr" fontAlgn="b"/>
                      <a:r>
                        <a:rPr lang="en-US" sz="2000" u="none" strike="noStrike" dirty="0">
                          <a:solidFill>
                            <a:schemeClr val="bg1"/>
                          </a:solidFill>
                          <a:effectLst/>
                        </a:rPr>
                        <a:t>0.05</a:t>
                      </a:r>
                      <a:endParaRPr lang="en-US" sz="2000" b="0" i="0" u="none" strike="noStrike" dirty="0">
                        <a:solidFill>
                          <a:schemeClr val="bg1"/>
                        </a:solidFill>
                        <a:effectLst/>
                        <a:latin typeface="Times New Roman" panose="02020603050405020304" pitchFamily="18" charset="0"/>
                      </a:endParaRPr>
                    </a:p>
                  </a:txBody>
                  <a:tcPr marL="6350" marR="6350" marT="6350" marB="0" anchor="b">
                    <a:solidFill>
                      <a:schemeClr val="accent1">
                        <a:lumMod val="60000"/>
                        <a:lumOff val="40000"/>
                      </a:schemeClr>
                    </a:solidFill>
                  </a:tcPr>
                </a:tc>
                <a:tc>
                  <a:txBody>
                    <a:bodyPr/>
                    <a:lstStyle/>
                    <a:p>
                      <a:pPr algn="ctr" fontAlgn="b"/>
                      <a:r>
                        <a:rPr lang="en-US" sz="2000" u="none" strike="noStrike" dirty="0">
                          <a:solidFill>
                            <a:schemeClr val="bg1"/>
                          </a:solidFill>
                          <a:effectLst/>
                        </a:rPr>
                        <a:t>0.06</a:t>
                      </a:r>
                      <a:endParaRPr lang="en-US" sz="2000" b="0" i="0" u="none" strike="noStrike" dirty="0">
                        <a:solidFill>
                          <a:schemeClr val="bg1"/>
                        </a:solidFill>
                        <a:effectLst/>
                        <a:latin typeface="Times New Roman" panose="02020603050405020304" pitchFamily="18" charset="0"/>
                      </a:endParaRPr>
                    </a:p>
                  </a:txBody>
                  <a:tcPr marL="6350" marR="6350" marT="6350" marB="0" anchor="b">
                    <a:solidFill>
                      <a:schemeClr val="accent1">
                        <a:lumMod val="60000"/>
                        <a:lumOff val="40000"/>
                      </a:schemeClr>
                    </a:solidFill>
                  </a:tcPr>
                </a:tc>
                <a:tc>
                  <a:txBody>
                    <a:bodyPr/>
                    <a:lstStyle/>
                    <a:p>
                      <a:pPr algn="ctr" fontAlgn="b"/>
                      <a:r>
                        <a:rPr lang="en-US" sz="2000" u="none" strike="noStrike" dirty="0">
                          <a:solidFill>
                            <a:schemeClr val="bg1"/>
                          </a:solidFill>
                          <a:effectLst/>
                        </a:rPr>
                        <a:t>0.07</a:t>
                      </a:r>
                      <a:endParaRPr lang="en-US" sz="2000" b="0" i="0" u="none" strike="noStrike" dirty="0">
                        <a:solidFill>
                          <a:schemeClr val="bg1"/>
                        </a:solidFill>
                        <a:effectLst/>
                        <a:latin typeface="Times New Roman" panose="02020603050405020304" pitchFamily="18" charset="0"/>
                      </a:endParaRPr>
                    </a:p>
                  </a:txBody>
                  <a:tcPr marL="6350" marR="6350" marT="6350" marB="0" anchor="b">
                    <a:solidFill>
                      <a:schemeClr val="accent1">
                        <a:lumMod val="60000"/>
                        <a:lumOff val="40000"/>
                      </a:schemeClr>
                    </a:solidFill>
                  </a:tcPr>
                </a:tc>
                <a:tc>
                  <a:txBody>
                    <a:bodyPr/>
                    <a:lstStyle/>
                    <a:p>
                      <a:pPr algn="ctr" fontAlgn="b"/>
                      <a:r>
                        <a:rPr lang="en-US" sz="2000" u="none" strike="noStrike" dirty="0">
                          <a:solidFill>
                            <a:schemeClr val="bg1"/>
                          </a:solidFill>
                          <a:effectLst/>
                        </a:rPr>
                        <a:t>0.08</a:t>
                      </a:r>
                      <a:endParaRPr lang="en-US" sz="2000" b="0" i="0" u="none" strike="noStrike" dirty="0">
                        <a:solidFill>
                          <a:schemeClr val="bg1"/>
                        </a:solidFill>
                        <a:effectLst/>
                        <a:latin typeface="Times New Roman" panose="02020603050405020304" pitchFamily="18" charset="0"/>
                      </a:endParaRPr>
                    </a:p>
                  </a:txBody>
                  <a:tcPr marL="6350" marR="6350" marT="6350" marB="0" anchor="b">
                    <a:solidFill>
                      <a:schemeClr val="accent1">
                        <a:lumMod val="60000"/>
                        <a:lumOff val="40000"/>
                      </a:schemeClr>
                    </a:solidFill>
                  </a:tcPr>
                </a:tc>
                <a:tc>
                  <a:txBody>
                    <a:bodyPr/>
                    <a:lstStyle/>
                    <a:p>
                      <a:pPr algn="ctr" fontAlgn="b"/>
                      <a:r>
                        <a:rPr lang="en-US" sz="2000" u="none" strike="noStrike" dirty="0">
                          <a:solidFill>
                            <a:schemeClr val="bg1"/>
                          </a:solidFill>
                          <a:effectLst/>
                        </a:rPr>
                        <a:t>0.09</a:t>
                      </a:r>
                      <a:endParaRPr lang="en-US" sz="2000" b="0" i="0" u="none" strike="noStrike" dirty="0">
                        <a:solidFill>
                          <a:schemeClr val="bg1"/>
                        </a:solidFill>
                        <a:effectLst/>
                        <a:latin typeface="Times New Roman" panose="02020603050405020304" pitchFamily="18" charset="0"/>
                      </a:endParaRPr>
                    </a:p>
                  </a:txBody>
                  <a:tcPr marL="6350" marR="6350" marT="6350" marB="0" anchor="b">
                    <a:solidFill>
                      <a:schemeClr val="accent1">
                        <a:lumMod val="60000"/>
                        <a:lumOff val="40000"/>
                      </a:schemeClr>
                    </a:solidFill>
                  </a:tcPr>
                </a:tc>
                <a:tc>
                  <a:txBody>
                    <a:bodyPr/>
                    <a:lstStyle/>
                    <a:p>
                      <a:pPr algn="ctr" fontAlgn="b"/>
                      <a:r>
                        <a:rPr lang="en-US" sz="2000" u="none" strike="noStrike" dirty="0">
                          <a:solidFill>
                            <a:schemeClr val="bg1"/>
                          </a:solidFill>
                          <a:effectLst/>
                        </a:rPr>
                        <a:t>0.10</a:t>
                      </a:r>
                      <a:endParaRPr lang="en-US" sz="2000" b="0" i="0" u="none" strike="noStrike" dirty="0">
                        <a:solidFill>
                          <a:schemeClr val="bg1"/>
                        </a:solidFill>
                        <a:effectLst/>
                        <a:latin typeface="Times New Roman" panose="02020603050405020304" pitchFamily="18" charset="0"/>
                      </a:endParaRPr>
                    </a:p>
                  </a:txBody>
                  <a:tcPr marL="6350" marR="6350" marT="6350" marB="0" anchor="b">
                    <a:solidFill>
                      <a:schemeClr val="accent1">
                        <a:lumMod val="60000"/>
                        <a:lumOff val="40000"/>
                      </a:schemeClr>
                    </a:solidFill>
                  </a:tcPr>
                </a:tc>
                <a:tc>
                  <a:txBody>
                    <a:bodyPr/>
                    <a:lstStyle/>
                    <a:p>
                      <a:pPr algn="ctr" fontAlgn="b"/>
                      <a:r>
                        <a:rPr lang="en-US" sz="2000" u="none" strike="noStrike" dirty="0">
                          <a:solidFill>
                            <a:schemeClr val="bg1"/>
                          </a:solidFill>
                          <a:effectLst/>
                        </a:rPr>
                        <a:t>1.0</a:t>
                      </a:r>
                      <a:endParaRPr lang="en-US" sz="2000" b="0" i="0" u="none" strike="noStrike" dirty="0">
                        <a:solidFill>
                          <a:schemeClr val="bg1"/>
                        </a:solidFill>
                        <a:effectLst/>
                        <a:latin typeface="Times New Roman" panose="02020603050405020304" pitchFamily="18" charset="0"/>
                      </a:endParaRPr>
                    </a:p>
                  </a:txBody>
                  <a:tcPr marL="6350" marR="6350" marT="6350" marB="0" anchor="b">
                    <a:solidFill>
                      <a:schemeClr val="accent1">
                        <a:lumMod val="60000"/>
                        <a:lumOff val="40000"/>
                      </a:schemeClr>
                    </a:solidFill>
                  </a:tcPr>
                </a:tc>
                <a:extLst>
                  <a:ext uri="{0D108BD9-81ED-4DB2-BD59-A6C34878D82A}">
                    <a16:rowId xmlns:a16="http://schemas.microsoft.com/office/drawing/2014/main" val="3348430390"/>
                  </a:ext>
                </a:extLst>
              </a:tr>
              <a:tr h="259896">
                <a:tc>
                  <a:txBody>
                    <a:bodyPr/>
                    <a:lstStyle/>
                    <a:p>
                      <a:pPr algn="ctr" fontAlgn="b"/>
                      <a:r>
                        <a:rPr lang="en-US" sz="2000" u="none" strike="noStrike">
                          <a:effectLst/>
                        </a:rPr>
                        <a:t>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0.80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0.98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1.13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1.27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1.38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1.50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1.60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1.70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1.79</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5.65</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1399739097"/>
                  </a:ext>
                </a:extLst>
              </a:tr>
              <a:tr h="259896">
                <a:tc>
                  <a:txBody>
                    <a:bodyPr/>
                    <a:lstStyle/>
                    <a:p>
                      <a:pPr algn="ctr" fontAlgn="b"/>
                      <a:r>
                        <a:rPr lang="en-US" sz="2000" u="none" strike="noStrike">
                          <a:effectLst/>
                        </a:rPr>
                        <a:t>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0.61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0.69</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0.75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0.81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0.87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0.92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0.97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3.10</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3854115831"/>
                  </a:ext>
                </a:extLst>
              </a:tr>
              <a:tr h="259896">
                <a:tc>
                  <a:txBody>
                    <a:bodyPr/>
                    <a:lstStyle/>
                    <a:p>
                      <a:pPr algn="ctr" fontAlgn="b"/>
                      <a:r>
                        <a:rPr lang="en-US" sz="2000" u="none" strike="noStrike">
                          <a:effectLst/>
                        </a:rPr>
                        <a:t>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0.63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0.67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0.71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0.75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2.40</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4207504067"/>
                  </a:ext>
                </a:extLst>
              </a:tr>
              <a:tr h="259896">
                <a:tc>
                  <a:txBody>
                    <a:bodyPr/>
                    <a:lstStyle/>
                    <a:p>
                      <a:pPr algn="ctr" fontAlgn="b"/>
                      <a:r>
                        <a:rPr lang="en-US" sz="2000" u="none" strike="noStrike">
                          <a:effectLst/>
                        </a:rPr>
                        <a:t>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0.29</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0.61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0.64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2.00</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2663046463"/>
                  </a:ext>
                </a:extLst>
              </a:tr>
              <a:tr h="259896">
                <a:tc>
                  <a:txBody>
                    <a:bodyPr/>
                    <a:lstStyle/>
                    <a:p>
                      <a:pPr algn="ctr" fontAlgn="b"/>
                      <a:r>
                        <a:rPr lang="en-US" sz="2000" u="none" strike="noStrike">
                          <a:effectLst/>
                        </a:rPr>
                        <a:t>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0.18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1.80</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1410972573"/>
                  </a:ext>
                </a:extLst>
              </a:tr>
              <a:tr h="259896">
                <a:tc>
                  <a:txBody>
                    <a:bodyPr/>
                    <a:lstStyle/>
                    <a:p>
                      <a:pPr algn="ctr" fontAlgn="b"/>
                      <a:r>
                        <a:rPr lang="en-US" sz="2000" u="none" strike="noStrike">
                          <a:effectLst/>
                        </a:rPr>
                        <a:t>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0.16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0.49</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1.60</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2334019886"/>
                  </a:ext>
                </a:extLst>
              </a:tr>
              <a:tr h="259896">
                <a:tc>
                  <a:txBody>
                    <a:bodyPr/>
                    <a:lstStyle/>
                    <a:p>
                      <a:pPr algn="ctr" fontAlgn="b"/>
                      <a:r>
                        <a:rPr lang="en-US" sz="2000" u="none" strike="noStrike">
                          <a:effectLst/>
                        </a:rPr>
                        <a:t>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0.15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1.50</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1808238842"/>
                  </a:ext>
                </a:extLst>
              </a:tr>
              <a:tr h="259896">
                <a:tc>
                  <a:txBody>
                    <a:bodyPr/>
                    <a:lstStyle/>
                    <a:p>
                      <a:pPr algn="ctr" fontAlgn="b"/>
                      <a:r>
                        <a:rPr lang="en-US" sz="2000" u="none" strike="noStrike">
                          <a:effectLst/>
                        </a:rPr>
                        <a:t>9</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0.14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1.40</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1990046010"/>
                  </a:ext>
                </a:extLst>
              </a:tr>
              <a:tr h="259896">
                <a:tc>
                  <a:txBody>
                    <a:bodyPr/>
                    <a:lstStyle/>
                    <a:p>
                      <a:pPr algn="ctr" fontAlgn="b"/>
                      <a:r>
                        <a:rPr lang="en-US" sz="2000" u="none" strike="noStrike">
                          <a:effectLst/>
                        </a:rPr>
                        <a:t>10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0.13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0.19</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1.30</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2538634407"/>
                  </a:ext>
                </a:extLst>
              </a:tr>
              <a:tr h="259896">
                <a:tc>
                  <a:txBody>
                    <a:bodyPr/>
                    <a:lstStyle/>
                    <a:p>
                      <a:pPr algn="ctr" fontAlgn="b"/>
                      <a:r>
                        <a:rPr lang="en-US" sz="2000" u="none" strike="noStrike">
                          <a:effectLst/>
                        </a:rPr>
                        <a:t>11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0.13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0.18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1.30</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231116770"/>
                  </a:ext>
                </a:extLst>
              </a:tr>
              <a:tr h="259896">
                <a:tc>
                  <a:txBody>
                    <a:bodyPr/>
                    <a:lstStyle/>
                    <a:p>
                      <a:pPr algn="ctr" fontAlgn="b"/>
                      <a:r>
                        <a:rPr lang="en-US" sz="2000" u="none" strike="noStrike">
                          <a:effectLst/>
                        </a:rPr>
                        <a:t>12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0.12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0.17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0.29</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1.20</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2003873651"/>
                  </a:ext>
                </a:extLst>
              </a:tr>
              <a:tr h="259896">
                <a:tc>
                  <a:txBody>
                    <a:bodyPr/>
                    <a:lstStyle/>
                    <a:p>
                      <a:pPr algn="ctr" fontAlgn="b"/>
                      <a:r>
                        <a:rPr lang="en-US" sz="2000" u="none" strike="noStrike">
                          <a:effectLst/>
                        </a:rPr>
                        <a:t>13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0.12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0.16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1.10</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444468358"/>
                  </a:ext>
                </a:extLst>
              </a:tr>
              <a:tr h="259896">
                <a:tc>
                  <a:txBody>
                    <a:bodyPr/>
                    <a:lstStyle/>
                    <a:p>
                      <a:pPr algn="ctr" fontAlgn="b"/>
                      <a:r>
                        <a:rPr lang="en-US" sz="2000" u="none" strike="noStrike">
                          <a:effectLst/>
                        </a:rPr>
                        <a:t>14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0.11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0.16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0.19</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0.29</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1.10</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758446410"/>
                  </a:ext>
                </a:extLst>
              </a:tr>
              <a:tr h="259896">
                <a:tc>
                  <a:txBody>
                    <a:bodyPr/>
                    <a:lstStyle/>
                    <a:p>
                      <a:pPr algn="ctr" fontAlgn="b"/>
                      <a:r>
                        <a:rPr lang="en-US" sz="2000" u="none" strike="noStrike">
                          <a:effectLst/>
                        </a:rPr>
                        <a:t>15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0.11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0.15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0.18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dirty="0">
                          <a:effectLst/>
                        </a:rPr>
                        <a:t>1.10</a:t>
                      </a:r>
                      <a:endParaRPr lang="en-US" sz="2000" b="0" i="0" u="none" strike="noStrike" dirty="0">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3071420492"/>
                  </a:ext>
                </a:extLst>
              </a:tr>
            </a:tbl>
          </a:graphicData>
        </a:graphic>
      </p:graphicFrame>
    </p:spTree>
    <p:extLst>
      <p:ext uri="{BB962C8B-B14F-4D97-AF65-F5344CB8AC3E}">
        <p14:creationId xmlns:p14="http://schemas.microsoft.com/office/powerpoint/2010/main" val="26403516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5A0FF-1C27-4985-86D8-DDB824805C72}"/>
              </a:ext>
            </a:extLst>
          </p:cNvPr>
          <p:cNvSpPr>
            <a:spLocks noGrp="1"/>
          </p:cNvSpPr>
          <p:nvPr>
            <p:ph type="title"/>
          </p:nvPr>
        </p:nvSpPr>
        <p:spPr/>
        <p:txBody>
          <a:bodyPr/>
          <a:lstStyle/>
          <a:p>
            <a:r>
              <a:rPr lang="en-US" dirty="0"/>
              <a:t>A Graphical Representation of MDES as a Function of </a:t>
            </a:r>
            <a:r>
              <a:rPr lang="el-GR" sz="3600" i="1" u="none" strike="noStrike" dirty="0">
                <a:effectLst/>
                <a:latin typeface="Times New Roman" panose="02020603050405020304" pitchFamily="18" charset="0"/>
                <a:cs typeface="Times New Roman" panose="02020603050405020304" pitchFamily="18" charset="0"/>
              </a:rPr>
              <a:t>ρ</a:t>
            </a:r>
            <a:r>
              <a:rPr lang="en-US" dirty="0"/>
              <a:t> </a:t>
            </a:r>
          </a:p>
        </p:txBody>
      </p:sp>
      <p:pic>
        <p:nvPicPr>
          <p:cNvPr id="4" name="Content Placeholder 3">
            <a:extLst>
              <a:ext uri="{FF2B5EF4-FFF2-40B4-BE49-F238E27FC236}">
                <a16:creationId xmlns:a16="http://schemas.microsoft.com/office/drawing/2014/main" id="{F9C47DA8-A42C-42E2-963D-092B371F03C5}"/>
              </a:ext>
            </a:extLst>
          </p:cNvPr>
          <p:cNvPicPr>
            <a:picLocks noGrp="1" noChangeAspect="1"/>
          </p:cNvPicPr>
          <p:nvPr>
            <p:ph idx="1"/>
          </p:nvPr>
        </p:nvPicPr>
        <p:blipFill>
          <a:blip r:embed="rId2"/>
          <a:stretch>
            <a:fillRect/>
          </a:stretch>
        </p:blipFill>
        <p:spPr>
          <a:xfrm>
            <a:off x="1184017" y="1825625"/>
            <a:ext cx="5676039" cy="4351338"/>
          </a:xfrm>
          <a:prstGeom prst="rect">
            <a:avLst/>
          </a:prstGeom>
        </p:spPr>
      </p:pic>
      <p:sp>
        <p:nvSpPr>
          <p:cNvPr id="5" name="TextBox 4">
            <a:extLst>
              <a:ext uri="{FF2B5EF4-FFF2-40B4-BE49-F238E27FC236}">
                <a16:creationId xmlns:a16="http://schemas.microsoft.com/office/drawing/2014/main" id="{A4A69E39-F7CC-4D46-99ED-D29C1791F832}"/>
              </a:ext>
            </a:extLst>
          </p:cNvPr>
          <p:cNvSpPr txBox="1"/>
          <p:nvPr/>
        </p:nvSpPr>
        <p:spPr>
          <a:xfrm>
            <a:off x="7838661" y="3306418"/>
            <a:ext cx="2241832" cy="1200329"/>
          </a:xfrm>
          <a:prstGeom prst="rect">
            <a:avLst/>
          </a:prstGeom>
          <a:noFill/>
        </p:spPr>
        <p:txBody>
          <a:bodyPr wrap="none" rtlCol="0">
            <a:spAutoFit/>
          </a:bodyPr>
          <a:lstStyle/>
          <a:p>
            <a:r>
              <a:rPr lang="en-US" dirty="0"/>
              <a:t>All figures have </a:t>
            </a:r>
            <a:r>
              <a:rPr lang="en-US" i="1" dirty="0">
                <a:latin typeface="Times New Roman" panose="02020603050405020304" pitchFamily="18" charset="0"/>
                <a:cs typeface="Times New Roman" panose="02020603050405020304" pitchFamily="18" charset="0"/>
              </a:rPr>
              <a:t>n </a:t>
            </a:r>
            <a:r>
              <a:rPr lang="en-US" dirty="0">
                <a:latin typeface="Times New Roman" panose="02020603050405020304" pitchFamily="18" charset="0"/>
                <a:cs typeface="Times New Roman" panose="02020603050405020304" pitchFamily="18" charset="0"/>
              </a:rPr>
              <a:t>= 10</a:t>
            </a:r>
          </a:p>
          <a:p>
            <a:r>
              <a:rPr lang="en-US" i="1" dirty="0">
                <a:latin typeface="Times New Roman" panose="02020603050405020304" pitchFamily="18" charset="0"/>
                <a:cs typeface="Times New Roman" panose="02020603050405020304" pitchFamily="18" charset="0"/>
              </a:rPr>
              <a:t>m </a:t>
            </a:r>
            <a:r>
              <a:rPr lang="en-US" dirty="0">
                <a:latin typeface="Times New Roman" panose="02020603050405020304" pitchFamily="18" charset="0"/>
                <a:cs typeface="Times New Roman" panose="02020603050405020304" pitchFamily="18" charset="0"/>
              </a:rPr>
              <a:t>= 4</a:t>
            </a:r>
            <a:r>
              <a:rPr lang="en-US" dirty="0"/>
              <a:t> (solid line)</a:t>
            </a:r>
          </a:p>
          <a:p>
            <a:r>
              <a:rPr lang="en-US" i="1" dirty="0">
                <a:latin typeface="Times New Roman" panose="02020603050405020304" pitchFamily="18" charset="0"/>
                <a:cs typeface="Times New Roman" panose="02020603050405020304" pitchFamily="18" charset="0"/>
              </a:rPr>
              <a:t>m </a:t>
            </a:r>
            <a:r>
              <a:rPr lang="en-US" dirty="0">
                <a:latin typeface="Times New Roman" panose="02020603050405020304" pitchFamily="18" charset="0"/>
                <a:cs typeface="Times New Roman" panose="02020603050405020304" pitchFamily="18" charset="0"/>
              </a:rPr>
              <a:t>= 7 </a:t>
            </a:r>
            <a:r>
              <a:rPr lang="en-US" dirty="0"/>
              <a:t>(dashed line)</a:t>
            </a:r>
          </a:p>
          <a:p>
            <a:r>
              <a:rPr lang="en-US" i="1" dirty="0">
                <a:latin typeface="Times New Roman" panose="02020603050405020304" pitchFamily="18" charset="0"/>
                <a:cs typeface="Times New Roman" panose="02020603050405020304" pitchFamily="18" charset="0"/>
              </a:rPr>
              <a:t>m </a:t>
            </a:r>
            <a:r>
              <a:rPr lang="en-US" dirty="0">
                <a:latin typeface="Times New Roman" panose="02020603050405020304" pitchFamily="18" charset="0"/>
                <a:cs typeface="Times New Roman" panose="02020603050405020304" pitchFamily="18" charset="0"/>
              </a:rPr>
              <a:t>= 10</a:t>
            </a:r>
            <a:r>
              <a:rPr lang="en-US" dirty="0"/>
              <a:t> (dotted line)</a:t>
            </a:r>
          </a:p>
        </p:txBody>
      </p:sp>
    </p:spTree>
    <p:extLst>
      <p:ext uri="{BB962C8B-B14F-4D97-AF65-F5344CB8AC3E}">
        <p14:creationId xmlns:p14="http://schemas.microsoft.com/office/powerpoint/2010/main" val="29274002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F5F7D-B65F-41C0-817C-FFB3FBEFDCFE}"/>
              </a:ext>
            </a:extLst>
          </p:cNvPr>
          <p:cNvSpPr>
            <a:spLocks noGrp="1"/>
          </p:cNvSpPr>
          <p:nvPr>
            <p:ph type="title"/>
          </p:nvPr>
        </p:nvSpPr>
        <p:spPr/>
        <p:txBody>
          <a:bodyPr/>
          <a:lstStyle/>
          <a:p>
            <a:r>
              <a:rPr lang="en-US" dirty="0"/>
              <a:t>The Fundamental Problem of Research Design</a:t>
            </a:r>
          </a:p>
        </p:txBody>
      </p:sp>
      <p:sp>
        <p:nvSpPr>
          <p:cNvPr id="3" name="Content Placeholder 2">
            <a:extLst>
              <a:ext uri="{FF2B5EF4-FFF2-40B4-BE49-F238E27FC236}">
                <a16:creationId xmlns:a16="http://schemas.microsoft.com/office/drawing/2014/main" id="{DC8D27D9-C38F-4425-AA28-3D563C51555A}"/>
              </a:ext>
            </a:extLst>
          </p:cNvPr>
          <p:cNvSpPr>
            <a:spLocks noGrp="1"/>
          </p:cNvSpPr>
          <p:nvPr>
            <p:ph idx="1"/>
          </p:nvPr>
        </p:nvSpPr>
        <p:spPr/>
        <p:txBody>
          <a:bodyPr/>
          <a:lstStyle/>
          <a:p>
            <a:pPr marL="0" indent="0">
              <a:buNone/>
            </a:pPr>
            <a:r>
              <a:rPr lang="en-US" dirty="0"/>
              <a:t>The fundamental problem of research design is how to plan a </a:t>
            </a:r>
            <a:r>
              <a:rPr lang="en-US" b="1" i="1" dirty="0"/>
              <a:t>feasible</a:t>
            </a:r>
            <a:r>
              <a:rPr lang="en-US" dirty="0"/>
              <a:t> design that is adequately sensitive</a:t>
            </a:r>
          </a:p>
          <a:p>
            <a:pPr marL="0" indent="0">
              <a:buNone/>
            </a:pPr>
            <a:endParaRPr lang="en-US" dirty="0"/>
          </a:p>
          <a:p>
            <a:pPr marL="0" indent="0">
              <a:buNone/>
            </a:pPr>
            <a:r>
              <a:rPr lang="en-US" dirty="0"/>
              <a:t>If you have unlimited number of clusters, it is easy to get any design sensitivity you want</a:t>
            </a:r>
          </a:p>
          <a:p>
            <a:pPr marL="0" indent="0">
              <a:buNone/>
            </a:pPr>
            <a:endParaRPr lang="en-US" dirty="0"/>
          </a:p>
          <a:p>
            <a:pPr marL="0" indent="0">
              <a:buNone/>
            </a:pPr>
            <a:r>
              <a:rPr lang="en-US" dirty="0"/>
              <a:t>But we usually have a severely limited number of clusters (</a:t>
            </a:r>
            <a:r>
              <a:rPr lang="en-US" i="1" dirty="0">
                <a:latin typeface="Times New Roman" panose="02020603050405020304" pitchFamily="18" charset="0"/>
                <a:cs typeface="Times New Roman" panose="02020603050405020304" pitchFamily="18" charset="0"/>
              </a:rPr>
              <a:t>m</a:t>
            </a:r>
            <a:r>
              <a:rPr lang="en-US" dirty="0"/>
              <a:t> = 5 – 10)</a:t>
            </a:r>
          </a:p>
          <a:p>
            <a:pPr marL="0" indent="0">
              <a:buNone/>
            </a:pPr>
            <a:endParaRPr lang="en-US" dirty="0"/>
          </a:p>
          <a:p>
            <a:pPr marL="0" indent="0">
              <a:buNone/>
            </a:pPr>
            <a:r>
              <a:rPr lang="en-US" dirty="0"/>
              <a:t>In the easiest case, then you simply use a table like the one presented previously or a software tool and find the </a:t>
            </a:r>
            <a:r>
              <a:rPr lang="en-US" i="1" dirty="0">
                <a:latin typeface="Times New Roman" panose="02020603050405020304" pitchFamily="18" charset="0"/>
                <a:cs typeface="Times New Roman" panose="02020603050405020304" pitchFamily="18" charset="0"/>
              </a:rPr>
              <a:t>m</a:t>
            </a:r>
            <a:r>
              <a:rPr lang="en-US" dirty="0"/>
              <a:t> for your </a:t>
            </a:r>
            <a:r>
              <a:rPr lang="en-US" i="1" dirty="0">
                <a:latin typeface="Times New Roman" panose="02020603050405020304" pitchFamily="18" charset="0"/>
                <a:cs typeface="Times New Roman" panose="02020603050405020304" pitchFamily="18" charset="0"/>
              </a:rPr>
              <a:t>n</a:t>
            </a:r>
            <a:r>
              <a:rPr lang="en-US" dirty="0"/>
              <a:t> and </a:t>
            </a:r>
            <a:r>
              <a:rPr lang="el-GR" sz="2000" i="1" u="none" strike="noStrike" dirty="0">
                <a:effectLst/>
                <a:latin typeface="Times New Roman" panose="02020603050405020304" pitchFamily="18" charset="0"/>
                <a:cs typeface="Times New Roman" panose="02020603050405020304" pitchFamily="18" charset="0"/>
              </a:rPr>
              <a:t>ρ </a:t>
            </a:r>
            <a:r>
              <a:rPr lang="en-US" dirty="0"/>
              <a:t>that has an MDES that is smaller than the effect size you expect</a:t>
            </a:r>
          </a:p>
          <a:p>
            <a:pPr marL="0" indent="0">
              <a:buNone/>
            </a:pPr>
            <a:endParaRPr lang="en-US" dirty="0"/>
          </a:p>
          <a:p>
            <a:pPr marL="0" indent="0">
              <a:buNone/>
            </a:pPr>
            <a:r>
              <a:rPr lang="en-US" dirty="0"/>
              <a:t>Often, that number </a:t>
            </a:r>
            <a:r>
              <a:rPr lang="en-US" i="1" dirty="0">
                <a:latin typeface="Times New Roman" panose="02020603050405020304" pitchFamily="18" charset="0"/>
                <a:cs typeface="Times New Roman" panose="02020603050405020304" pitchFamily="18" charset="0"/>
              </a:rPr>
              <a:t>m</a:t>
            </a:r>
            <a:r>
              <a:rPr lang="en-US" dirty="0"/>
              <a:t> of clusters is larger than the sample you believe you could get</a:t>
            </a:r>
          </a:p>
          <a:p>
            <a:pPr marL="0" indent="0">
              <a:buNone/>
            </a:pPr>
            <a:endParaRPr lang="en-US" b="1" dirty="0"/>
          </a:p>
          <a:p>
            <a:pPr marL="0" indent="0">
              <a:buNone/>
            </a:pPr>
            <a:r>
              <a:rPr lang="en-US" b="1" dirty="0"/>
              <a:t>What then?</a:t>
            </a:r>
          </a:p>
          <a:p>
            <a:pPr marL="0" indent="0">
              <a:buNone/>
            </a:pPr>
            <a:endParaRPr lang="en-US" dirty="0"/>
          </a:p>
        </p:txBody>
      </p:sp>
    </p:spTree>
    <p:extLst>
      <p:ext uri="{BB962C8B-B14F-4D97-AF65-F5344CB8AC3E}">
        <p14:creationId xmlns:p14="http://schemas.microsoft.com/office/powerpoint/2010/main" val="27161143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C0E85-71B6-4822-A1B6-03347D5801EB}"/>
              </a:ext>
            </a:extLst>
          </p:cNvPr>
          <p:cNvSpPr>
            <a:spLocks noGrp="1"/>
          </p:cNvSpPr>
          <p:nvPr>
            <p:ph type="title"/>
          </p:nvPr>
        </p:nvSpPr>
        <p:spPr/>
        <p:txBody>
          <a:bodyPr/>
          <a:lstStyle/>
          <a:p>
            <a:r>
              <a:rPr lang="en-US" dirty="0"/>
              <a:t>Three Strategies to Improve Design Sensitivity</a:t>
            </a:r>
          </a:p>
        </p:txBody>
      </p:sp>
      <p:sp>
        <p:nvSpPr>
          <p:cNvPr id="3" name="Content Placeholder 2">
            <a:extLst>
              <a:ext uri="{FF2B5EF4-FFF2-40B4-BE49-F238E27FC236}">
                <a16:creationId xmlns:a16="http://schemas.microsoft.com/office/drawing/2014/main" id="{DD697CAA-2632-47D3-AB27-33DB20956AAF}"/>
              </a:ext>
            </a:extLst>
          </p:cNvPr>
          <p:cNvSpPr>
            <a:spLocks noGrp="1"/>
          </p:cNvSpPr>
          <p:nvPr>
            <p:ph idx="1"/>
          </p:nvPr>
        </p:nvSpPr>
        <p:spPr/>
        <p:txBody>
          <a:bodyPr/>
          <a:lstStyle/>
          <a:p>
            <a:pPr marL="0" indent="0">
              <a:buNone/>
            </a:pPr>
            <a:r>
              <a:rPr lang="en-US" dirty="0"/>
              <a:t>Three strategies can be used to improve design sensitivity:</a:t>
            </a:r>
          </a:p>
          <a:p>
            <a:pPr marL="0" indent="0">
              <a:buNone/>
            </a:pPr>
            <a:endParaRPr lang="en-US" dirty="0"/>
          </a:p>
          <a:p>
            <a:pPr marL="457200" indent="-457200">
              <a:buAutoNum type="arabicPeriod"/>
            </a:pPr>
            <a:r>
              <a:rPr lang="en-US" dirty="0"/>
              <a:t>Matching clusters before random assignment (this strategy should probably always be used in initial field trials)</a:t>
            </a:r>
          </a:p>
          <a:p>
            <a:pPr marL="457200" indent="-457200">
              <a:buAutoNum type="arabicPeriod"/>
            </a:pPr>
            <a:endParaRPr lang="en-US" dirty="0"/>
          </a:p>
          <a:p>
            <a:pPr marL="457200" indent="-457200">
              <a:buAutoNum type="arabicPeriod"/>
            </a:pPr>
            <a:r>
              <a:rPr lang="en-US" dirty="0"/>
              <a:t>Increase cluster size </a:t>
            </a:r>
          </a:p>
          <a:p>
            <a:pPr marL="457200" indent="-457200">
              <a:buAutoNum type="arabicPeriod"/>
            </a:pPr>
            <a:endParaRPr lang="en-US" dirty="0"/>
          </a:p>
          <a:p>
            <a:pPr marL="457200" indent="-457200">
              <a:buAutoNum type="arabicPeriod"/>
            </a:pPr>
            <a:r>
              <a:rPr lang="en-US" dirty="0"/>
              <a:t>Use of covariates </a:t>
            </a:r>
          </a:p>
          <a:p>
            <a:pPr marL="457200" indent="-457200">
              <a:buAutoNum type="arabicPeriod"/>
            </a:pPr>
            <a:endParaRPr lang="en-US" dirty="0"/>
          </a:p>
          <a:p>
            <a:pPr marL="457200" indent="-457200">
              <a:buAutoNum type="arabicPeriod"/>
            </a:pPr>
            <a:r>
              <a:rPr lang="en-US" dirty="0"/>
              <a:t>Unbalanced designs using control clusters than treatment clusters</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1371461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2B78A-5B4B-40CC-8406-A4BF3F146BCF}"/>
              </a:ext>
            </a:extLst>
          </p:cNvPr>
          <p:cNvSpPr>
            <a:spLocks noGrp="1"/>
          </p:cNvSpPr>
          <p:nvPr>
            <p:ph type="title"/>
          </p:nvPr>
        </p:nvSpPr>
        <p:spPr/>
        <p:txBody>
          <a:bodyPr/>
          <a:lstStyle/>
          <a:p>
            <a:r>
              <a:rPr lang="en-US" dirty="0"/>
              <a:t>Matching of Clusters Before Random Assignment</a:t>
            </a:r>
          </a:p>
        </p:txBody>
      </p:sp>
      <p:sp>
        <p:nvSpPr>
          <p:cNvPr id="3" name="Content Placeholder 2">
            <a:extLst>
              <a:ext uri="{FF2B5EF4-FFF2-40B4-BE49-F238E27FC236}">
                <a16:creationId xmlns:a16="http://schemas.microsoft.com/office/drawing/2014/main" id="{AE08EC60-3CDB-40A7-B8A2-1C5377D85406}"/>
              </a:ext>
            </a:extLst>
          </p:cNvPr>
          <p:cNvSpPr>
            <a:spLocks noGrp="1"/>
          </p:cNvSpPr>
          <p:nvPr>
            <p:ph idx="1"/>
          </p:nvPr>
        </p:nvSpPr>
        <p:spPr/>
        <p:txBody>
          <a:bodyPr/>
          <a:lstStyle/>
          <a:p>
            <a:pPr marL="0" indent="0">
              <a:buNone/>
            </a:pPr>
            <a:r>
              <a:rPr lang="en-US" dirty="0"/>
              <a:t>The sensitivity of cluster randomized designs can be increased substantially by matching clusters before random assignment</a:t>
            </a:r>
          </a:p>
          <a:p>
            <a:pPr marL="0" indent="0">
              <a:buNone/>
            </a:pPr>
            <a:endParaRPr lang="en-US" dirty="0"/>
          </a:p>
          <a:p>
            <a:pPr marL="0" indent="0">
              <a:buNone/>
            </a:pPr>
            <a:r>
              <a:rPr lang="en-US" dirty="0"/>
              <a:t>If a covariate is available (pretest scores of last year’s achievement test scores) it is possible to “tailor” clusters so that they match very closely on the covariate</a:t>
            </a:r>
          </a:p>
          <a:p>
            <a:pPr marL="0" indent="0">
              <a:buNone/>
            </a:pPr>
            <a:endParaRPr lang="en-US" dirty="0"/>
          </a:p>
          <a:p>
            <a:pPr marL="0" indent="0">
              <a:buNone/>
            </a:pPr>
            <a:r>
              <a:rPr lang="en-US" dirty="0"/>
              <a:t>Tailoring would involve dropping individuals from clusters (from the experiment not literally removing them) so that the covariate scores on the clusters are close to identical</a:t>
            </a:r>
          </a:p>
          <a:p>
            <a:pPr marL="0" indent="0">
              <a:buNone/>
            </a:pPr>
            <a:endParaRPr lang="en-US" dirty="0"/>
          </a:p>
          <a:p>
            <a:pPr marL="0" indent="0">
              <a:buNone/>
            </a:pPr>
            <a:r>
              <a:rPr lang="en-US" dirty="0"/>
              <a:t>Because the intraclass correlation is measured on the </a:t>
            </a:r>
            <a:r>
              <a:rPr lang="en-US" b="1" i="1" dirty="0"/>
              <a:t>outcome</a:t>
            </a:r>
            <a:r>
              <a:rPr lang="en-US" dirty="0"/>
              <a:t>, this will not make the intraclass correlation zero even if the average covariate scores match exactly</a:t>
            </a:r>
          </a:p>
          <a:p>
            <a:pPr marL="0" indent="0">
              <a:buNone/>
            </a:pPr>
            <a:endParaRPr lang="en-US" dirty="0"/>
          </a:p>
          <a:p>
            <a:pPr marL="0" indent="0">
              <a:buNone/>
            </a:pPr>
            <a:r>
              <a:rPr lang="en-US" dirty="0"/>
              <a:t>But  matching on the covariate will make the intraclass correlation small:  If the covariate-outcome correlation is 0.7, this can make the intraclass correlation </a:t>
            </a:r>
            <a:r>
              <a:rPr lang="el-GR" sz="2000" i="1" u="none" strike="noStrike" dirty="0">
                <a:effectLst/>
                <a:latin typeface="Times New Roman" panose="02020603050405020304" pitchFamily="18" charset="0"/>
                <a:cs typeface="Times New Roman" panose="02020603050405020304" pitchFamily="18" charset="0"/>
              </a:rPr>
              <a:t>ρ</a:t>
            </a:r>
            <a:r>
              <a:rPr lang="en-US" sz="2000" i="1" u="none" strike="noStrike" dirty="0">
                <a:effectLst/>
                <a:latin typeface="Times New Roman" panose="02020603050405020304" pitchFamily="18" charset="0"/>
                <a:cs typeface="Times New Roman" panose="02020603050405020304" pitchFamily="18" charset="0"/>
              </a:rPr>
              <a:t> &lt; </a:t>
            </a:r>
            <a:r>
              <a:rPr lang="en-US" sz="2000" u="none" strike="noStrike" dirty="0">
                <a:effectLst/>
                <a:latin typeface="Times New Roman" panose="02020603050405020304" pitchFamily="18" charset="0"/>
                <a:cs typeface="Times New Roman" panose="02020603050405020304" pitchFamily="18" charset="0"/>
              </a:rPr>
              <a:t>0.05</a:t>
            </a:r>
            <a:endParaRPr lang="en-US" dirty="0"/>
          </a:p>
        </p:txBody>
      </p:sp>
    </p:spTree>
    <p:extLst>
      <p:ext uri="{BB962C8B-B14F-4D97-AF65-F5344CB8AC3E}">
        <p14:creationId xmlns:p14="http://schemas.microsoft.com/office/powerpoint/2010/main" val="18924620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0FD45-1C05-4909-B130-5BD3813BF243}"/>
              </a:ext>
            </a:extLst>
          </p:cNvPr>
          <p:cNvSpPr>
            <a:spLocks noGrp="1"/>
          </p:cNvSpPr>
          <p:nvPr>
            <p:ph type="title"/>
          </p:nvPr>
        </p:nvSpPr>
        <p:spPr/>
        <p:txBody>
          <a:bodyPr/>
          <a:lstStyle/>
          <a:p>
            <a:r>
              <a:rPr lang="en-US" dirty="0"/>
              <a:t>Increase Cluster Size</a:t>
            </a:r>
          </a:p>
        </p:txBody>
      </p:sp>
      <p:sp>
        <p:nvSpPr>
          <p:cNvPr id="3" name="Content Placeholder 2">
            <a:extLst>
              <a:ext uri="{FF2B5EF4-FFF2-40B4-BE49-F238E27FC236}">
                <a16:creationId xmlns:a16="http://schemas.microsoft.com/office/drawing/2014/main" id="{C0FB6396-1101-4876-87FD-C943A5E21897}"/>
              </a:ext>
            </a:extLst>
          </p:cNvPr>
          <p:cNvSpPr>
            <a:spLocks noGrp="1"/>
          </p:cNvSpPr>
          <p:nvPr>
            <p:ph idx="1"/>
          </p:nvPr>
        </p:nvSpPr>
        <p:spPr/>
        <p:txBody>
          <a:bodyPr/>
          <a:lstStyle/>
          <a:p>
            <a:pPr marL="0" indent="0">
              <a:buNone/>
            </a:pPr>
            <a:r>
              <a:rPr lang="en-US" dirty="0"/>
              <a:t>If clusters are schools, it may be possible to increase the cluster size (more students per school) than to increase the number of clusters</a:t>
            </a:r>
          </a:p>
          <a:p>
            <a:pPr marL="0" indent="0">
              <a:buNone/>
            </a:pPr>
            <a:endParaRPr lang="en-US" dirty="0"/>
          </a:p>
          <a:p>
            <a:pPr marL="0" indent="0">
              <a:buNone/>
            </a:pPr>
            <a:r>
              <a:rPr lang="en-US" dirty="0"/>
              <a:t>Particularly if the intraclass correlation is small, we saw that increasing cluster size (up to a point) will increase design sensitivity</a:t>
            </a:r>
          </a:p>
        </p:txBody>
      </p:sp>
    </p:spTree>
    <p:extLst>
      <p:ext uri="{BB962C8B-B14F-4D97-AF65-F5344CB8AC3E}">
        <p14:creationId xmlns:p14="http://schemas.microsoft.com/office/powerpoint/2010/main" val="23252449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D4FE-0E85-4853-9279-699BF174E238}"/>
              </a:ext>
            </a:extLst>
          </p:cNvPr>
          <p:cNvSpPr>
            <a:spLocks noGrp="1"/>
          </p:cNvSpPr>
          <p:nvPr>
            <p:ph type="title"/>
          </p:nvPr>
        </p:nvSpPr>
        <p:spPr/>
        <p:txBody>
          <a:bodyPr/>
          <a:lstStyle/>
          <a:p>
            <a:r>
              <a:rPr lang="en-US"/>
              <a:t>Adding Covariates</a:t>
            </a:r>
            <a:endParaRPr lang="en-US" dirty="0"/>
          </a:p>
        </p:txBody>
      </p:sp>
      <p:sp>
        <p:nvSpPr>
          <p:cNvPr id="3" name="Content Placeholder 2">
            <a:extLst>
              <a:ext uri="{FF2B5EF4-FFF2-40B4-BE49-F238E27FC236}">
                <a16:creationId xmlns:a16="http://schemas.microsoft.com/office/drawing/2014/main" id="{7476346A-5A26-4C74-A095-A48D1824B7E8}"/>
              </a:ext>
            </a:extLst>
          </p:cNvPr>
          <p:cNvSpPr>
            <a:spLocks noGrp="1"/>
          </p:cNvSpPr>
          <p:nvPr>
            <p:ph idx="1"/>
          </p:nvPr>
        </p:nvSpPr>
        <p:spPr/>
        <p:txBody>
          <a:bodyPr>
            <a:normAutofit fontScale="92500" lnSpcReduction="10000"/>
          </a:bodyPr>
          <a:lstStyle/>
          <a:p>
            <a:pPr marL="0" indent="0">
              <a:buNone/>
            </a:pPr>
            <a:r>
              <a:rPr lang="en-US" dirty="0"/>
              <a:t>A covariate is any variable whose value cannot be influenced by treatment assignment</a:t>
            </a:r>
          </a:p>
          <a:p>
            <a:pPr marL="0" indent="0">
              <a:buNone/>
            </a:pPr>
            <a:endParaRPr lang="en-US" dirty="0"/>
          </a:p>
          <a:p>
            <a:pPr marL="0" indent="0">
              <a:buNone/>
            </a:pPr>
            <a:r>
              <a:rPr lang="en-US" b="1" i="1" dirty="0"/>
              <a:t>Useful</a:t>
            </a:r>
            <a:r>
              <a:rPr lang="en-US" dirty="0"/>
              <a:t> covariates are those that are correlated with the outcome</a:t>
            </a:r>
          </a:p>
          <a:p>
            <a:pPr marL="0" indent="0">
              <a:buNone/>
            </a:pPr>
            <a:endParaRPr lang="en-US" dirty="0"/>
          </a:p>
          <a:p>
            <a:pPr marL="0" indent="0">
              <a:buNone/>
            </a:pPr>
            <a:r>
              <a:rPr lang="en-US" dirty="0"/>
              <a:t>A pretest covering similar content is often a good covariate</a:t>
            </a:r>
          </a:p>
          <a:p>
            <a:pPr marL="0" indent="0">
              <a:buNone/>
            </a:pPr>
            <a:endParaRPr lang="en-US" dirty="0"/>
          </a:p>
          <a:p>
            <a:pPr marL="0" indent="0">
              <a:buNone/>
            </a:pPr>
            <a:r>
              <a:rPr lang="en-US" dirty="0"/>
              <a:t>The covariate does not need to measure the same things to be useful: All that matters is that it is correlated with the outcome</a:t>
            </a:r>
          </a:p>
          <a:p>
            <a:pPr marL="0" indent="0">
              <a:buNone/>
            </a:pPr>
            <a:endParaRPr lang="en-US" dirty="0"/>
          </a:p>
          <a:p>
            <a:pPr marL="0" indent="0">
              <a:buNone/>
            </a:pPr>
            <a:r>
              <a:rPr lang="en-US" dirty="0"/>
              <a:t>You do not need to have a theory of </a:t>
            </a:r>
            <a:r>
              <a:rPr lang="en-US" i="1" dirty="0"/>
              <a:t>why</a:t>
            </a:r>
            <a:r>
              <a:rPr lang="en-US" dirty="0"/>
              <a:t> the covariate is correlated with the outcome</a:t>
            </a:r>
          </a:p>
          <a:p>
            <a:pPr marL="0" indent="0">
              <a:buNone/>
            </a:pPr>
            <a:endParaRPr lang="en-US" dirty="0"/>
          </a:p>
          <a:p>
            <a:pPr marL="0" indent="0">
              <a:buNone/>
            </a:pPr>
            <a:r>
              <a:rPr lang="en-US" dirty="0"/>
              <a:t>Reading scores can be useful covariates  for math and science outcomes and vice versa</a:t>
            </a:r>
          </a:p>
          <a:p>
            <a:pPr marL="0" indent="0">
              <a:buNone/>
            </a:pPr>
            <a:endParaRPr lang="en-US" dirty="0"/>
          </a:p>
          <a:p>
            <a:pPr marL="0" indent="0">
              <a:buNone/>
            </a:pPr>
            <a:r>
              <a:rPr lang="en-US" dirty="0"/>
              <a:t>Demographic variables (gender, ethnicity, SES) tend to be less useful as covariates than test scores</a:t>
            </a:r>
          </a:p>
          <a:p>
            <a:pPr marL="0" indent="0">
              <a:buNone/>
            </a:pPr>
            <a:endParaRPr lang="en-US" dirty="0"/>
          </a:p>
          <a:p>
            <a:pPr marL="0" indent="0">
              <a:buNone/>
            </a:pPr>
            <a:r>
              <a:rPr lang="en-US" b="1" dirty="0"/>
              <a:t>Note: </a:t>
            </a:r>
            <a:r>
              <a:rPr lang="en-US" dirty="0"/>
              <a:t>If you matched clusters before random assignment, covariates will be less effective in increasing design sensitivity because </a:t>
            </a:r>
            <a:r>
              <a:rPr lang="en-US" i="1" dirty="0"/>
              <a:t>matching reduces the covariate-outcome correlation at the cluster level</a:t>
            </a:r>
          </a:p>
          <a:p>
            <a:pPr marL="0" indent="0">
              <a:buNone/>
            </a:pPr>
            <a:endParaRPr lang="en-US" dirty="0"/>
          </a:p>
        </p:txBody>
      </p:sp>
    </p:spTree>
    <p:extLst>
      <p:ext uri="{BB962C8B-B14F-4D97-AF65-F5344CB8AC3E}">
        <p14:creationId xmlns:p14="http://schemas.microsoft.com/office/powerpoint/2010/main" val="35165381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62355-601A-4B12-930A-ED4E0C4B0A01}"/>
              </a:ext>
            </a:extLst>
          </p:cNvPr>
          <p:cNvSpPr>
            <a:spLocks noGrp="1"/>
          </p:cNvSpPr>
          <p:nvPr>
            <p:ph type="title"/>
          </p:nvPr>
        </p:nvSpPr>
        <p:spPr/>
        <p:txBody>
          <a:bodyPr/>
          <a:lstStyle/>
          <a:p>
            <a:r>
              <a:rPr lang="en-US" dirty="0"/>
              <a:t>The Effect of Covariates on MDES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C9C2904-BF83-419B-93AE-00D92C05F0E0}"/>
                  </a:ext>
                </a:extLst>
              </p:cNvPr>
              <p:cNvSpPr>
                <a:spLocks noGrp="1"/>
              </p:cNvSpPr>
              <p:nvPr>
                <p:ph idx="1"/>
              </p:nvPr>
            </p:nvSpPr>
            <p:spPr/>
            <p:txBody>
              <a:bodyPr/>
              <a:lstStyle/>
              <a:p>
                <a:pPr marL="0" indent="0">
                  <a:buNone/>
                </a:pPr>
                <a:r>
                  <a:rPr lang="en-US" dirty="0"/>
                  <a:t>Suppose that a covariate has correlation </a:t>
                </a:r>
                <a:r>
                  <a:rPr lang="en-US" i="1" dirty="0">
                    <a:latin typeface="Times New Roman" panose="02020603050405020304" pitchFamily="18" charset="0"/>
                    <a:cs typeface="Times New Roman" panose="02020603050405020304" pitchFamily="18" charset="0"/>
                  </a:rPr>
                  <a:t>R</a:t>
                </a:r>
                <a:r>
                  <a:rPr lang="en-US" dirty="0"/>
                  <a:t> with the outcome, then the MDES for  a design that uses that covariate will be smaller by a factor of </a:t>
                </a:r>
                <a14:m>
                  <m:oMath xmlns:m="http://schemas.openxmlformats.org/officeDocument/2006/math">
                    <m:rad>
                      <m:radPr>
                        <m:degHide m:val="on"/>
                        <m:ctrlPr>
                          <a:rPr lang="en-US" i="1" smtClean="0">
                            <a:effectLst/>
                            <a:latin typeface="Cambria Math" panose="02040503050406030204" pitchFamily="18" charset="0"/>
                            <a:cs typeface="Times New Roman" panose="02020603050405020304" pitchFamily="18" charset="0"/>
                          </a:rPr>
                        </m:ctrlPr>
                      </m:radPr>
                      <m:deg/>
                      <m:e>
                        <m:r>
                          <a:rPr lang="en-US" i="1">
                            <a:effectLst/>
                            <a:latin typeface="Cambria Math" panose="02040503050406030204" pitchFamily="18" charset="0"/>
                            <a:ea typeface="Calibri" panose="020F0502020204030204" pitchFamily="34" charset="0"/>
                            <a:cs typeface="Times New Roman" panose="02020603050405020304" pitchFamily="18" charset="0"/>
                          </a:rPr>
                          <m:t>1−</m:t>
                        </m:r>
                        <m:sSup>
                          <m:sSupPr>
                            <m:ctrlPr>
                              <a:rPr lang="en-US" i="1">
                                <a:effectLst/>
                                <a:latin typeface="Cambria Math" panose="02040503050406030204" pitchFamily="18" charset="0"/>
                                <a:cs typeface="Times New Roman" panose="02020603050405020304" pitchFamily="18" charset="0"/>
                              </a:rPr>
                            </m:ctrlPr>
                          </m:sSupPr>
                          <m:e>
                            <m:r>
                              <a:rPr lang="en-US" i="1">
                                <a:effectLst/>
                                <a:latin typeface="Cambria Math" panose="02040503050406030204" pitchFamily="18" charset="0"/>
                                <a:ea typeface="Calibri" panose="020F0502020204030204" pitchFamily="34" charset="0"/>
                                <a:cs typeface="Times New Roman" panose="02020603050405020304" pitchFamily="18" charset="0"/>
                              </a:rPr>
                              <m:t>𝑅</m:t>
                            </m:r>
                          </m:e>
                          <m:sup>
                            <m:r>
                              <a:rPr lang="en-US" i="1">
                                <a:effectLst/>
                                <a:latin typeface="Cambria Math" panose="02040503050406030204" pitchFamily="18" charset="0"/>
                                <a:ea typeface="Calibri" panose="020F0502020204030204" pitchFamily="34" charset="0"/>
                                <a:cs typeface="Times New Roman" panose="02020603050405020304" pitchFamily="18" charset="0"/>
                              </a:rPr>
                              <m:t>2</m:t>
                            </m:r>
                          </m:sup>
                        </m:sSup>
                      </m:e>
                    </m:rad>
                    <m:r>
                      <a:rPr lang="en-US" b="0" i="1" smtClean="0">
                        <a:effectLst/>
                        <a:latin typeface="Cambria Math" panose="02040503050406030204" pitchFamily="18" charset="0"/>
                        <a:ea typeface="Calibri" panose="020F0502020204030204" pitchFamily="34" charset="0"/>
                        <a:cs typeface="Times New Roman" panose="02020603050405020304" pitchFamily="18" charset="0"/>
                      </a:rPr>
                      <m:t>.</m:t>
                    </m:r>
                  </m:oMath>
                </a14:m>
                <a:r>
                  <a:rPr lang="en-US" dirty="0"/>
                  <a:t>  That is</a:t>
                </a:r>
              </a:p>
              <a:p>
                <a:pPr marL="0" indent="0">
                  <a:buNone/>
                </a:pPr>
                <a:endParaRPr lang="en-US" dirty="0"/>
              </a:p>
              <a:p>
                <a:pPr marL="0" indent="0">
                  <a:buNone/>
                </a:pPr>
                <a:r>
                  <a:rPr lang="en-US" dirty="0"/>
                  <a:t>	MDES(with covariates) </a:t>
                </a:r>
                <a:r>
                  <a:rPr lang="en-US" dirty="0">
                    <a:latin typeface="Times New Roman" panose="02020603050405020304" pitchFamily="18" charset="0"/>
                    <a:cs typeface="Times New Roman" panose="02020603050405020304" pitchFamily="18" charset="0"/>
                  </a:rPr>
                  <a:t>≈</a:t>
                </a:r>
                <a:r>
                  <a:rPr lang="en-US" dirty="0"/>
                  <a:t> MDES(without covariates) </a:t>
                </a:r>
                <a14:m>
                  <m:oMath xmlns:m="http://schemas.openxmlformats.org/officeDocument/2006/math">
                    <m:rad>
                      <m:radPr>
                        <m:degHide m:val="on"/>
                        <m:ctrlPr>
                          <a:rPr lang="en-US" i="1" smtClean="0">
                            <a:effectLst/>
                            <a:latin typeface="Cambria Math" panose="02040503050406030204" pitchFamily="18" charset="0"/>
                            <a:cs typeface="Times New Roman" panose="02020603050405020304" pitchFamily="18" charset="0"/>
                          </a:rPr>
                        </m:ctrlPr>
                      </m:radPr>
                      <m:deg/>
                      <m:e>
                        <m:r>
                          <a:rPr lang="en-US" i="1">
                            <a:effectLst/>
                            <a:latin typeface="Cambria Math" panose="02040503050406030204" pitchFamily="18" charset="0"/>
                            <a:ea typeface="Calibri" panose="020F0502020204030204" pitchFamily="34" charset="0"/>
                            <a:cs typeface="Times New Roman" panose="02020603050405020304" pitchFamily="18" charset="0"/>
                          </a:rPr>
                          <m:t>1−</m:t>
                        </m:r>
                        <m:sSup>
                          <m:sSupPr>
                            <m:ctrlPr>
                              <a:rPr lang="en-US" i="1">
                                <a:effectLst/>
                                <a:latin typeface="Cambria Math" panose="02040503050406030204" pitchFamily="18" charset="0"/>
                                <a:cs typeface="Times New Roman" panose="02020603050405020304" pitchFamily="18" charset="0"/>
                              </a:rPr>
                            </m:ctrlPr>
                          </m:sSupPr>
                          <m:e>
                            <m:r>
                              <a:rPr lang="en-US" i="1">
                                <a:effectLst/>
                                <a:latin typeface="Cambria Math" panose="02040503050406030204" pitchFamily="18" charset="0"/>
                                <a:ea typeface="Calibri" panose="020F0502020204030204" pitchFamily="34" charset="0"/>
                                <a:cs typeface="Times New Roman" panose="02020603050405020304" pitchFamily="18" charset="0"/>
                              </a:rPr>
                              <m:t>𝑅</m:t>
                            </m:r>
                          </m:e>
                          <m:sup>
                            <m:r>
                              <a:rPr lang="en-US" i="1">
                                <a:effectLst/>
                                <a:latin typeface="Cambria Math" panose="02040503050406030204" pitchFamily="18" charset="0"/>
                                <a:ea typeface="Calibri" panose="020F0502020204030204" pitchFamily="34" charset="0"/>
                                <a:cs typeface="Times New Roman" panose="02020603050405020304" pitchFamily="18" charset="0"/>
                              </a:rPr>
                              <m:t>2</m:t>
                            </m:r>
                          </m:sup>
                        </m:sSup>
                      </m:e>
                    </m:rad>
                  </m:oMath>
                </a14:m>
                <a:endParaRPr lang="en-US" dirty="0"/>
              </a:p>
              <a:p>
                <a:pPr marL="0" indent="0">
                  <a:buNone/>
                </a:pPr>
                <a:endParaRPr lang="en-US" dirty="0"/>
              </a:p>
              <a:p>
                <a:pPr marL="0" indent="0">
                  <a:buNone/>
                </a:pPr>
                <a:r>
                  <a:rPr lang="en-US" dirty="0"/>
                  <a:t>For example, a covariate with </a:t>
                </a:r>
                <a:r>
                  <a:rPr lang="en-US" i="1" dirty="0">
                    <a:latin typeface="Times New Roman" panose="02020603050405020304" pitchFamily="18" charset="0"/>
                    <a:cs typeface="Times New Roman" panose="02020603050405020304" pitchFamily="18" charset="0"/>
                  </a:rPr>
                  <a:t>R</a:t>
                </a:r>
                <a:r>
                  <a:rPr lang="en-US" dirty="0">
                    <a:latin typeface="Times New Roman" panose="02020603050405020304" pitchFamily="18" charset="0"/>
                    <a:cs typeface="Times New Roman" panose="02020603050405020304" pitchFamily="18" charset="0"/>
                  </a:rPr>
                  <a:t> = 0.7 </a:t>
                </a:r>
                <a:r>
                  <a:rPr lang="en-US" dirty="0"/>
                  <a:t>will cut the MDES by about 29% because </a:t>
                </a:r>
                <a14:m>
                  <m:oMath xmlns:m="http://schemas.openxmlformats.org/officeDocument/2006/math">
                    <m:rad>
                      <m:radPr>
                        <m:degHide m:val="on"/>
                        <m:ctrlPr>
                          <a:rPr lang="en-US" i="1" smtClean="0">
                            <a:effectLst/>
                            <a:latin typeface="Cambria Math" panose="02040503050406030204" pitchFamily="18" charset="0"/>
                            <a:cs typeface="Times New Roman" panose="02020603050405020304" pitchFamily="18" charset="0"/>
                          </a:rPr>
                        </m:ctrlPr>
                      </m:radPr>
                      <m:deg/>
                      <m:e>
                        <m:r>
                          <a:rPr lang="en-US" i="1">
                            <a:effectLst/>
                            <a:latin typeface="Cambria Math" panose="02040503050406030204" pitchFamily="18" charset="0"/>
                            <a:ea typeface="Calibri" panose="020F0502020204030204" pitchFamily="34" charset="0"/>
                            <a:cs typeface="Times New Roman" panose="02020603050405020304" pitchFamily="18" charset="0"/>
                          </a:rPr>
                          <m:t>1−</m:t>
                        </m:r>
                        <m:sSup>
                          <m:sSupPr>
                            <m:ctrlPr>
                              <a:rPr lang="en-US" i="1">
                                <a:effectLst/>
                                <a:latin typeface="Cambria Math" panose="02040503050406030204" pitchFamily="18" charset="0"/>
                                <a:cs typeface="Times New Roman" panose="02020603050405020304" pitchFamily="18" charset="0"/>
                              </a:rPr>
                            </m:ctrlPr>
                          </m:sSupPr>
                          <m:e>
                            <m:r>
                              <a:rPr lang="en-US" b="0" i="1" smtClean="0">
                                <a:effectLst/>
                                <a:latin typeface="Cambria Math" panose="02040503050406030204" pitchFamily="18" charset="0"/>
                                <a:cs typeface="Times New Roman" panose="02020603050405020304" pitchFamily="18" charset="0"/>
                              </a:rPr>
                              <m:t>0.7</m:t>
                            </m:r>
                          </m:e>
                          <m:sup>
                            <m:r>
                              <a:rPr lang="en-US" i="1">
                                <a:effectLst/>
                                <a:latin typeface="Cambria Math" panose="02040503050406030204" pitchFamily="18" charset="0"/>
                                <a:ea typeface="Calibri" panose="020F0502020204030204" pitchFamily="34" charset="0"/>
                                <a:cs typeface="Times New Roman" panose="02020603050405020304" pitchFamily="18" charset="0"/>
                              </a:rPr>
                              <m:t>2</m:t>
                            </m:r>
                          </m:sup>
                        </m:sSup>
                      </m:e>
                    </m:rad>
                  </m:oMath>
                </a14:m>
                <a:r>
                  <a:rPr lang="en-US" dirty="0">
                    <a:latin typeface="Times New Roman" panose="02020603050405020304" pitchFamily="18" charset="0"/>
                    <a:cs typeface="Times New Roman" panose="02020603050405020304" pitchFamily="18" charset="0"/>
                  </a:rPr>
                  <a:t>  ≈ 0.71</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cs typeface="Times New Roman" panose="02020603050405020304" pitchFamily="18" charset="0"/>
                  </a:rPr>
                  <a:t>A covariate with </a:t>
                </a:r>
                <a:r>
                  <a:rPr lang="en-US" i="1" dirty="0">
                    <a:latin typeface="Times New Roman" panose="02020603050405020304" pitchFamily="18" charset="0"/>
                    <a:cs typeface="Times New Roman" panose="02020603050405020304" pitchFamily="18" charset="0"/>
                  </a:rPr>
                  <a:t>R</a:t>
                </a:r>
                <a:r>
                  <a:rPr lang="en-US" dirty="0">
                    <a:latin typeface="Times New Roman" panose="02020603050405020304" pitchFamily="18" charset="0"/>
                    <a:cs typeface="Times New Roman" panose="02020603050405020304" pitchFamily="18" charset="0"/>
                  </a:rPr>
                  <a:t> = 0.5 </a:t>
                </a:r>
                <a:r>
                  <a:rPr lang="en-US" dirty="0">
                    <a:cs typeface="Times New Roman" panose="02020603050405020304" pitchFamily="18" charset="0"/>
                  </a:rPr>
                  <a:t>will cut the MDES by about </a:t>
                </a:r>
                <a:r>
                  <a:rPr lang="en-US" dirty="0">
                    <a:latin typeface="Times New Roman" panose="02020603050405020304" pitchFamily="18" charset="0"/>
                    <a:cs typeface="Times New Roman" panose="02020603050405020304" pitchFamily="18" charset="0"/>
                  </a:rPr>
                  <a:t>13% </a:t>
                </a:r>
                <a:r>
                  <a:rPr lang="en-US" dirty="0">
                    <a:cs typeface="Times New Roman" panose="02020603050405020304" pitchFamily="18" charset="0"/>
                  </a:rPr>
                  <a:t>because </a:t>
                </a:r>
                <a14:m>
                  <m:oMath xmlns:m="http://schemas.openxmlformats.org/officeDocument/2006/math">
                    <m:rad>
                      <m:radPr>
                        <m:degHide m:val="on"/>
                        <m:ctrlPr>
                          <a:rPr lang="en-US" i="1" smtClean="0">
                            <a:effectLst/>
                            <a:latin typeface="Cambria Math" panose="02040503050406030204" pitchFamily="18" charset="0"/>
                            <a:cs typeface="Times New Roman" panose="02020603050405020304" pitchFamily="18" charset="0"/>
                          </a:rPr>
                        </m:ctrlPr>
                      </m:radPr>
                      <m:deg/>
                      <m:e>
                        <m:r>
                          <a:rPr lang="en-US" i="1">
                            <a:effectLst/>
                            <a:latin typeface="Cambria Math" panose="02040503050406030204" pitchFamily="18" charset="0"/>
                            <a:ea typeface="Calibri" panose="020F0502020204030204" pitchFamily="34" charset="0"/>
                            <a:cs typeface="Times New Roman" panose="02020603050405020304" pitchFamily="18" charset="0"/>
                          </a:rPr>
                          <m:t>1−</m:t>
                        </m:r>
                        <m:sSup>
                          <m:sSupPr>
                            <m:ctrlPr>
                              <a:rPr lang="en-US" i="1">
                                <a:effectLst/>
                                <a:latin typeface="Cambria Math" panose="02040503050406030204" pitchFamily="18" charset="0"/>
                                <a:cs typeface="Times New Roman" panose="02020603050405020304" pitchFamily="18" charset="0"/>
                              </a:rPr>
                            </m:ctrlPr>
                          </m:sSupPr>
                          <m:e>
                            <m:r>
                              <a:rPr lang="en-US" b="0" i="1" smtClean="0">
                                <a:effectLst/>
                                <a:latin typeface="Cambria Math" panose="02040503050406030204" pitchFamily="18" charset="0"/>
                                <a:cs typeface="Times New Roman" panose="02020603050405020304" pitchFamily="18" charset="0"/>
                              </a:rPr>
                              <m:t>0.5</m:t>
                            </m:r>
                          </m:e>
                          <m:sup>
                            <m:r>
                              <a:rPr lang="en-US" i="1">
                                <a:effectLst/>
                                <a:latin typeface="Cambria Math" panose="02040503050406030204" pitchFamily="18" charset="0"/>
                                <a:ea typeface="Calibri" panose="020F0502020204030204" pitchFamily="34" charset="0"/>
                                <a:cs typeface="Times New Roman" panose="02020603050405020304" pitchFamily="18" charset="0"/>
                              </a:rPr>
                              <m:t>2</m:t>
                            </m:r>
                          </m:sup>
                        </m:sSup>
                      </m:e>
                    </m:rad>
                  </m:oMath>
                </a14:m>
                <a:r>
                  <a:rPr lang="en-US" dirty="0">
                    <a:latin typeface="Times New Roman" panose="02020603050405020304" pitchFamily="18" charset="0"/>
                    <a:cs typeface="Times New Roman" panose="02020603050405020304" pitchFamily="18" charset="0"/>
                  </a:rPr>
                  <a:t>  ≈ 0.87</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cs typeface="Times New Roman" panose="02020603050405020304" pitchFamily="18" charset="0"/>
                  </a:rPr>
                  <a:t>If there is more than one covariate, the impact on MDES depends on the multiple correlation </a:t>
                </a:r>
                <a:r>
                  <a:rPr lang="en-US" i="1" dirty="0">
                    <a:latin typeface="Times New Roman" panose="02020603050405020304" pitchFamily="18" charset="0"/>
                    <a:cs typeface="Times New Roman" panose="02020603050405020304" pitchFamily="18" charset="0"/>
                  </a:rPr>
                  <a:t>R</a:t>
                </a:r>
                <a:r>
                  <a:rPr lang="en-US" dirty="0">
                    <a:cs typeface="Times New Roman" panose="02020603050405020304" pitchFamily="18" charset="0"/>
                  </a:rPr>
                  <a:t>, not the number of covariates (but there is usually little point in using more than one covariate) </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highlight>
                      <a:srgbClr val="FFFF00"/>
                    </a:highlight>
                    <a:latin typeface="Times New Roman" panose="02020603050405020304" pitchFamily="18" charset="0"/>
                    <a:cs typeface="Times New Roman" panose="02020603050405020304" pitchFamily="18" charset="0"/>
                  </a:rPr>
                  <a:t>ERIC: This would be a good place for a slider showing how MDES changes with R</a:t>
                </a:r>
              </a:p>
              <a:p>
                <a:pPr marL="0" indent="0">
                  <a:buNone/>
                </a:pPr>
                <a:endParaRPr lang="en-US"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1C9C2904-BF83-419B-93AE-00D92C05F0E0}"/>
                  </a:ext>
                </a:extLst>
              </p:cNvPr>
              <p:cNvSpPr>
                <a:spLocks noGrp="1" noRot="1" noChangeAspect="1" noMove="1" noResize="1" noEditPoints="1" noAdjustHandles="1" noChangeArrowheads="1" noChangeShapeType="1" noTextEdit="1"/>
              </p:cNvSpPr>
              <p:nvPr>
                <p:ph idx="1"/>
              </p:nvPr>
            </p:nvSpPr>
            <p:spPr>
              <a:blipFill>
                <a:blip r:embed="rId2"/>
                <a:stretch>
                  <a:fillRect l="-638" t="-1541" r="-406"/>
                </a:stretch>
              </a:blipFill>
            </p:spPr>
            <p:txBody>
              <a:bodyPr/>
              <a:lstStyle/>
              <a:p>
                <a:r>
                  <a:rPr lang="en-US">
                    <a:noFill/>
                  </a:rPr>
                  <a:t> </a:t>
                </a:r>
              </a:p>
            </p:txBody>
          </p:sp>
        </mc:Fallback>
      </mc:AlternateContent>
    </p:spTree>
    <p:extLst>
      <p:ext uri="{BB962C8B-B14F-4D97-AF65-F5344CB8AC3E}">
        <p14:creationId xmlns:p14="http://schemas.microsoft.com/office/powerpoint/2010/main" val="30188782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B3AD7-2971-4135-BACA-0CD9403516C9}"/>
              </a:ext>
            </a:extLst>
          </p:cNvPr>
          <p:cNvSpPr>
            <a:spLocks noGrp="1"/>
          </p:cNvSpPr>
          <p:nvPr>
            <p:ph type="title"/>
          </p:nvPr>
        </p:nvSpPr>
        <p:spPr/>
        <p:txBody>
          <a:bodyPr/>
          <a:lstStyle/>
          <a:p>
            <a:r>
              <a:rPr lang="en-US" dirty="0"/>
              <a:t>Unbalanced Designs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175220A-C9BB-4F4C-B4BD-2C0B1102EFF3}"/>
                  </a:ext>
                </a:extLst>
              </p:cNvPr>
              <p:cNvSpPr>
                <a:spLocks noGrp="1"/>
              </p:cNvSpPr>
              <p:nvPr>
                <p:ph idx="1"/>
              </p:nvPr>
            </p:nvSpPr>
            <p:spPr/>
            <p:txBody>
              <a:bodyPr>
                <a:normAutofit lnSpcReduction="10000"/>
              </a:bodyPr>
              <a:lstStyle/>
              <a:p>
                <a:pPr marL="0" indent="0">
                  <a:buNone/>
                </a:pPr>
                <a:r>
                  <a:rPr lang="en-US" dirty="0"/>
                  <a:t>Sometimes sample size is limited by the number of individuals that in the treatment group (e.g., due to limitations of costs of the treatment, staff for training, equipment or facilities)</a:t>
                </a:r>
              </a:p>
              <a:p>
                <a:pPr marL="0" indent="0">
                  <a:buNone/>
                </a:pPr>
                <a:endParaRPr lang="en-US" dirty="0"/>
              </a:p>
              <a:p>
                <a:pPr marL="0" indent="0">
                  <a:buNone/>
                </a:pPr>
                <a:r>
                  <a:rPr lang="en-US" dirty="0"/>
                  <a:t>A balanced design </a:t>
                </a:r>
                <a:r>
                  <a:rPr lang="en-US" i="1" dirty="0" err="1">
                    <a:latin typeface="Times New Roman" panose="02020603050405020304" pitchFamily="18" charset="0"/>
                    <a:cs typeface="Times New Roman" panose="02020603050405020304" pitchFamily="18" charset="0"/>
                  </a:rPr>
                  <a:t>n</a:t>
                </a:r>
                <a:r>
                  <a:rPr lang="en-US" i="1" baseline="30000" dirty="0" err="1">
                    <a:latin typeface="Times New Roman" panose="02020603050405020304" pitchFamily="18" charset="0"/>
                    <a:cs typeface="Times New Roman" panose="02020603050405020304" pitchFamily="18" charset="0"/>
                  </a:rPr>
                  <a:t>T</a:t>
                </a:r>
                <a:r>
                  <a:rPr lang="en-US" i="1" dirty="0">
                    <a:latin typeface="Times New Roman" panose="02020603050405020304" pitchFamily="18" charset="0"/>
                    <a:cs typeface="Times New Roman" panose="02020603050405020304" pitchFamily="18" charset="0"/>
                  </a:rPr>
                  <a:t> = </a:t>
                </a:r>
                <a:r>
                  <a:rPr lang="en-US" i="1" dirty="0" err="1">
                    <a:latin typeface="Times New Roman" panose="02020603050405020304" pitchFamily="18" charset="0"/>
                    <a:cs typeface="Times New Roman" panose="02020603050405020304" pitchFamily="18" charset="0"/>
                  </a:rPr>
                  <a:t>n</a:t>
                </a:r>
                <a:r>
                  <a:rPr lang="en-US" i="1" baseline="30000" dirty="0" err="1">
                    <a:latin typeface="Times New Roman" panose="02020603050405020304" pitchFamily="18" charset="0"/>
                    <a:cs typeface="Times New Roman" panose="02020603050405020304" pitchFamily="18" charset="0"/>
                  </a:rPr>
                  <a:t>C</a:t>
                </a:r>
                <a:r>
                  <a:rPr lang="en-US" i="1" dirty="0">
                    <a:latin typeface="Times New Roman" panose="02020603050405020304" pitchFamily="18" charset="0"/>
                    <a:cs typeface="Times New Roman" panose="02020603050405020304" pitchFamily="18" charset="0"/>
                  </a:rPr>
                  <a:t> = n </a:t>
                </a:r>
                <a:r>
                  <a:rPr lang="en-US" dirty="0"/>
                  <a:t>is  the most sensitive design for a fixed total sample size </a:t>
                </a:r>
                <a:r>
                  <a:rPr lang="en-US" i="1" dirty="0">
                    <a:latin typeface="Times New Roman" panose="02020603050405020304" pitchFamily="18" charset="0"/>
                    <a:cs typeface="Times New Roman" panose="02020603050405020304" pitchFamily="18" charset="0"/>
                  </a:rPr>
                  <a:t>N</a:t>
                </a:r>
                <a:r>
                  <a:rPr lang="en-US" dirty="0">
                    <a:latin typeface="Times New Roman" panose="02020603050405020304" pitchFamily="18" charset="0"/>
                    <a:cs typeface="Times New Roman" panose="02020603050405020304" pitchFamily="18" charset="0"/>
                  </a:rPr>
                  <a:t> = </a:t>
                </a:r>
                <a:r>
                  <a:rPr lang="en-US" i="1" dirty="0" err="1">
                    <a:latin typeface="Times New Roman" panose="02020603050405020304" pitchFamily="18" charset="0"/>
                    <a:cs typeface="Times New Roman" panose="02020603050405020304" pitchFamily="18" charset="0"/>
                  </a:rPr>
                  <a:t>n</a:t>
                </a:r>
                <a:r>
                  <a:rPr lang="en-US" i="1" baseline="30000" dirty="0" err="1">
                    <a:latin typeface="Times New Roman" panose="02020603050405020304" pitchFamily="18" charset="0"/>
                    <a:cs typeface="Times New Roman" panose="02020603050405020304" pitchFamily="18" charset="0"/>
                  </a:rPr>
                  <a:t>T</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n</a:t>
                </a:r>
                <a:r>
                  <a:rPr lang="en-US" i="1" baseline="30000" dirty="0" err="1">
                    <a:latin typeface="Times New Roman" panose="02020603050405020304" pitchFamily="18" charset="0"/>
                    <a:cs typeface="Times New Roman" panose="02020603050405020304" pitchFamily="18" charset="0"/>
                  </a:rPr>
                  <a:t>C</a:t>
                </a:r>
                <a:endParaRPr lang="en-US" i="1" dirty="0">
                  <a:cs typeface="Times New Roman" panose="02020603050405020304" pitchFamily="18" charset="0"/>
                </a:endParaRPr>
              </a:p>
              <a:p>
                <a:pPr marL="0" indent="0">
                  <a:buNone/>
                </a:pPr>
                <a:endParaRPr lang="en-US" dirty="0">
                  <a:cs typeface="Times New Roman" panose="02020603050405020304" pitchFamily="18" charset="0"/>
                </a:endParaRPr>
              </a:p>
              <a:p>
                <a:pPr marL="0" indent="0">
                  <a:buNone/>
                </a:pPr>
                <a:r>
                  <a:rPr lang="en-US" dirty="0">
                    <a:cs typeface="Times New Roman" panose="02020603050405020304" pitchFamily="18" charset="0"/>
                  </a:rPr>
                  <a:t>But if the total sample size can be increased by increasing the size of the control group (leading to an increase in total sample size </a:t>
                </a:r>
                <a:r>
                  <a:rPr lang="en-US" i="1" dirty="0">
                    <a:latin typeface="Times New Roman" panose="02020603050405020304" pitchFamily="18" charset="0"/>
                    <a:cs typeface="Times New Roman" panose="02020603050405020304" pitchFamily="18" charset="0"/>
                  </a:rPr>
                  <a:t>N</a:t>
                </a:r>
                <a:r>
                  <a:rPr lang="en-US" dirty="0">
                    <a:cs typeface="Times New Roman" panose="02020603050405020304" pitchFamily="18" charset="0"/>
                  </a:rPr>
                  <a:t>), then sensitivity may be increased with an unbalanced design</a:t>
                </a:r>
              </a:p>
              <a:p>
                <a:pPr marL="0" indent="0">
                  <a:buNone/>
                </a:pPr>
                <a:endParaRPr lang="en-US" dirty="0">
                  <a:cs typeface="Times New Roman" panose="02020603050405020304" pitchFamily="18" charset="0"/>
                </a:endParaRPr>
              </a:p>
              <a:p>
                <a:pPr marL="0" indent="0">
                  <a:buNone/>
                </a:pPr>
                <a:r>
                  <a:rPr lang="en-US" dirty="0">
                    <a:cs typeface="Times New Roman" panose="02020603050405020304" pitchFamily="18" charset="0"/>
                  </a:rPr>
                  <a:t>If the control group is </a:t>
                </a:r>
                <a:r>
                  <a:rPr lang="en-US" i="1" dirty="0">
                    <a:latin typeface="Times New Roman" panose="02020603050405020304" pitchFamily="18" charset="0"/>
                    <a:cs typeface="Times New Roman" panose="02020603050405020304" pitchFamily="18" charset="0"/>
                  </a:rPr>
                  <a:t>c</a:t>
                </a:r>
                <a:r>
                  <a:rPr lang="en-US" dirty="0">
                    <a:cs typeface="Times New Roman" panose="02020603050405020304" pitchFamily="18" charset="0"/>
                  </a:rPr>
                  <a:t> times as large as the treatment group, then the MDES is changed by a factor of </a:t>
                </a:r>
                <a14:m>
                  <m:oMath xmlns:m="http://schemas.openxmlformats.org/officeDocument/2006/math">
                    <m:rad>
                      <m:radPr>
                        <m:degHide m:val="on"/>
                        <m:ctrlPr>
                          <a:rPr lang="en-US" i="1" smtClean="0">
                            <a:latin typeface="Cambria Math" panose="02040503050406030204" pitchFamily="18" charset="0"/>
                            <a:cs typeface="Times New Roman" panose="02020603050405020304" pitchFamily="18" charset="0"/>
                          </a:rPr>
                        </m:ctrlPr>
                      </m:radPr>
                      <m:deg/>
                      <m:e>
                        <m:f>
                          <m:fPr>
                            <m:type m:val="lin"/>
                            <m:ctrlPr>
                              <a:rPr lang="en-US" i="1" smtClean="0">
                                <a:latin typeface="Cambria Math" panose="02040503050406030204" pitchFamily="18" charset="0"/>
                                <a:cs typeface="Times New Roman" panose="02020603050405020304" pitchFamily="18" charset="0"/>
                              </a:rPr>
                            </m:ctrlPr>
                          </m:fPr>
                          <m:num>
                            <m:d>
                              <m:dPr>
                                <m:ctrlPr>
                                  <a:rPr lang="en-US" i="1" smtClean="0">
                                    <a:latin typeface="Cambria Math" panose="02040503050406030204" pitchFamily="18" charset="0"/>
                                    <a:cs typeface="Times New Roman" panose="02020603050405020304" pitchFamily="18" charset="0"/>
                                  </a:rPr>
                                </m:ctrlPr>
                              </m:dPr>
                              <m:e>
                                <m:r>
                                  <a:rPr lang="en-US" b="0" i="1" smtClean="0">
                                    <a:latin typeface="Cambria Math" panose="02040503050406030204" pitchFamily="18" charset="0"/>
                                    <a:cs typeface="Times New Roman" panose="02020603050405020304" pitchFamily="18" charset="0"/>
                                  </a:rPr>
                                  <m:t>𝑐</m:t>
                                </m:r>
                                <m:r>
                                  <a:rPr lang="en-US" b="0" i="1" smtClean="0">
                                    <a:latin typeface="Cambria Math" panose="02040503050406030204" pitchFamily="18" charset="0"/>
                                    <a:cs typeface="Times New Roman" panose="02020603050405020304" pitchFamily="18" charset="0"/>
                                  </a:rPr>
                                  <m:t>+1</m:t>
                                </m:r>
                              </m:e>
                            </m:d>
                          </m:num>
                          <m:den>
                            <m:r>
                              <a:rPr lang="en-US" b="0" i="1" smtClean="0">
                                <a:latin typeface="Cambria Math" panose="02040503050406030204" pitchFamily="18" charset="0"/>
                                <a:cs typeface="Times New Roman" panose="02020603050405020304" pitchFamily="18" charset="0"/>
                              </a:rPr>
                              <m:t>2</m:t>
                            </m:r>
                            <m:r>
                              <a:rPr lang="en-US" b="0" i="1" smtClean="0">
                                <a:latin typeface="Cambria Math" panose="02040503050406030204" pitchFamily="18" charset="0"/>
                                <a:cs typeface="Times New Roman" panose="02020603050405020304" pitchFamily="18" charset="0"/>
                              </a:rPr>
                              <m:t>𝑐</m:t>
                            </m:r>
                          </m:den>
                        </m:f>
                      </m:e>
                    </m:rad>
                  </m:oMath>
                </a14:m>
                <a:endParaRPr lang="en-US" dirty="0">
                  <a:cs typeface="Times New Roman" panose="02020603050405020304" pitchFamily="18" charset="0"/>
                </a:endParaRPr>
              </a:p>
              <a:p>
                <a:pPr marL="0" indent="0">
                  <a:buNone/>
                </a:pPr>
                <a:endParaRPr lang="en-US" dirty="0">
                  <a:cs typeface="Times New Roman" panose="02020603050405020304" pitchFamily="18" charset="0"/>
                </a:endParaRPr>
              </a:p>
              <a:p>
                <a:pPr marL="0" indent="0">
                  <a:buNone/>
                </a:pPr>
                <a:r>
                  <a:rPr lang="en-US" dirty="0">
                    <a:cs typeface="Times New Roman" panose="02020603050405020304" pitchFamily="18" charset="0"/>
                  </a:rPr>
                  <a:t>In other words </a:t>
                </a:r>
              </a:p>
              <a:p>
                <a:pPr marL="0" indent="0">
                  <a:buNone/>
                </a:pPr>
                <a:r>
                  <a:rPr lang="en-US" dirty="0">
                    <a:cs typeface="Times New Roman" panose="02020603050405020304" pitchFamily="18" charset="0"/>
                  </a:rPr>
                  <a:t>	MDES(unbalanced)</a:t>
                </a:r>
                <a:r>
                  <a:rPr lang="en-US" dirty="0">
                    <a:latin typeface="Times New Roman" panose="02020603050405020304" pitchFamily="18" charset="0"/>
                    <a:cs typeface="Times New Roman" panose="02020603050405020304" pitchFamily="18" charset="0"/>
                  </a:rPr>
                  <a:t> ≈</a:t>
                </a:r>
                <a:r>
                  <a:rPr lang="en-US" dirty="0">
                    <a:cs typeface="Times New Roman" panose="02020603050405020304" pitchFamily="18" charset="0"/>
                  </a:rPr>
                  <a:t> MDES(balanced) </a:t>
                </a:r>
                <a14:m>
                  <m:oMath xmlns:m="http://schemas.openxmlformats.org/officeDocument/2006/math">
                    <m:rad>
                      <m:radPr>
                        <m:degHide m:val="on"/>
                        <m:ctrlPr>
                          <a:rPr lang="en-US" i="1" smtClean="0">
                            <a:latin typeface="Cambria Math" panose="02040503050406030204" pitchFamily="18" charset="0"/>
                            <a:cs typeface="Times New Roman" panose="02020603050405020304" pitchFamily="18" charset="0"/>
                          </a:rPr>
                        </m:ctrlPr>
                      </m:radPr>
                      <m:deg/>
                      <m:e>
                        <m:f>
                          <m:fPr>
                            <m:type m:val="lin"/>
                            <m:ctrlPr>
                              <a:rPr lang="en-US" i="1" smtClean="0">
                                <a:latin typeface="Cambria Math" panose="02040503050406030204" pitchFamily="18" charset="0"/>
                                <a:cs typeface="Times New Roman" panose="02020603050405020304" pitchFamily="18" charset="0"/>
                              </a:rPr>
                            </m:ctrlPr>
                          </m:fPr>
                          <m:num>
                            <m:d>
                              <m:dPr>
                                <m:ctrlPr>
                                  <a:rPr lang="en-US" i="1" smtClean="0">
                                    <a:latin typeface="Cambria Math" panose="02040503050406030204" pitchFamily="18" charset="0"/>
                                    <a:cs typeface="Times New Roman" panose="02020603050405020304" pitchFamily="18" charset="0"/>
                                  </a:rPr>
                                </m:ctrlPr>
                              </m:dPr>
                              <m:e>
                                <m:r>
                                  <a:rPr lang="en-US" b="0" i="1" smtClean="0">
                                    <a:latin typeface="Cambria Math" panose="02040503050406030204" pitchFamily="18" charset="0"/>
                                    <a:cs typeface="Times New Roman" panose="02020603050405020304" pitchFamily="18" charset="0"/>
                                  </a:rPr>
                                  <m:t>𝑐</m:t>
                                </m:r>
                                <m:r>
                                  <a:rPr lang="en-US" b="0" i="1" smtClean="0">
                                    <a:latin typeface="Cambria Math" panose="02040503050406030204" pitchFamily="18" charset="0"/>
                                    <a:cs typeface="Times New Roman" panose="02020603050405020304" pitchFamily="18" charset="0"/>
                                  </a:rPr>
                                  <m:t>+1</m:t>
                                </m:r>
                              </m:e>
                            </m:d>
                          </m:num>
                          <m:den>
                            <m:r>
                              <a:rPr lang="en-US" b="0" i="1" smtClean="0">
                                <a:latin typeface="Cambria Math" panose="02040503050406030204" pitchFamily="18" charset="0"/>
                                <a:cs typeface="Times New Roman" panose="02020603050405020304" pitchFamily="18" charset="0"/>
                              </a:rPr>
                              <m:t>2</m:t>
                            </m:r>
                            <m:r>
                              <a:rPr lang="en-US" b="0" i="1" smtClean="0">
                                <a:latin typeface="Cambria Math" panose="02040503050406030204" pitchFamily="18" charset="0"/>
                                <a:cs typeface="Times New Roman" panose="02020603050405020304" pitchFamily="18" charset="0"/>
                              </a:rPr>
                              <m:t>𝑐</m:t>
                            </m:r>
                          </m:den>
                        </m:f>
                      </m:e>
                    </m:rad>
                  </m:oMath>
                </a14:m>
                <a:endParaRPr lang="en-US" dirty="0">
                  <a:cs typeface="Times New Roman" panose="02020603050405020304" pitchFamily="18" charset="0"/>
                </a:endParaRPr>
              </a:p>
              <a:p>
                <a:pPr marL="0" indent="0">
                  <a:buNone/>
                </a:pPr>
                <a:endParaRPr lang="en-US" dirty="0">
                  <a:cs typeface="Times New Roman" panose="02020603050405020304" pitchFamily="18" charset="0"/>
                </a:endParaRPr>
              </a:p>
              <a:p>
                <a:pPr marL="0" indent="0">
                  <a:buNone/>
                </a:pPr>
                <a:r>
                  <a:rPr lang="en-US" dirty="0">
                    <a:cs typeface="Times New Roman" panose="02020603050405020304" pitchFamily="18" charset="0"/>
                  </a:rPr>
                  <a:t>If </a:t>
                </a:r>
                <a:r>
                  <a:rPr lang="en-US" i="1" dirty="0">
                    <a:latin typeface="Times New Roman" panose="02020603050405020304" pitchFamily="18" charset="0"/>
                    <a:cs typeface="Times New Roman" panose="02020603050405020304" pitchFamily="18" charset="0"/>
                  </a:rPr>
                  <a:t>c</a:t>
                </a:r>
                <a:r>
                  <a:rPr lang="en-US" dirty="0">
                    <a:latin typeface="Times New Roman" panose="02020603050405020304" pitchFamily="18" charset="0"/>
                    <a:cs typeface="Times New Roman" panose="02020603050405020304" pitchFamily="18" charset="0"/>
                  </a:rPr>
                  <a:t> &gt; 1 (</a:t>
                </a:r>
                <a:r>
                  <a:rPr lang="en-US" dirty="0">
                    <a:cs typeface="Times New Roman" panose="02020603050405020304" pitchFamily="18" charset="0"/>
                  </a:rPr>
                  <a:t>which means total sample size </a:t>
                </a:r>
                <a:r>
                  <a:rPr lang="en-US" i="1" dirty="0">
                    <a:latin typeface="Times New Roman" panose="02020603050405020304" pitchFamily="18" charset="0"/>
                    <a:cs typeface="Times New Roman" panose="02020603050405020304" pitchFamily="18" charset="0"/>
                  </a:rPr>
                  <a:t>N</a:t>
                </a:r>
                <a:r>
                  <a:rPr lang="en-US" dirty="0">
                    <a:latin typeface="Times New Roman" panose="02020603050405020304" pitchFamily="18" charset="0"/>
                    <a:cs typeface="Times New Roman" panose="02020603050405020304" pitchFamily="18" charset="0"/>
                  </a:rPr>
                  <a:t> &gt; 2</a:t>
                </a:r>
                <a:r>
                  <a:rPr lang="en-US" i="1" dirty="0">
                    <a:latin typeface="Times New Roman" panose="02020603050405020304" pitchFamily="18" charset="0"/>
                    <a:cs typeface="Times New Roman" panose="02020603050405020304" pitchFamily="18" charset="0"/>
                  </a:rPr>
                  <a:t>n</a:t>
                </a:r>
                <a:r>
                  <a:rPr lang="en-US" i="1" baseline="30000" dirty="0">
                    <a:latin typeface="Times New Roman" panose="02020603050405020304" pitchFamily="18" charset="0"/>
                    <a:cs typeface="Times New Roman" panose="02020603050405020304" pitchFamily="18" charset="0"/>
                  </a:rPr>
                  <a:t>T</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c</a:t>
                </a:r>
                <a:r>
                  <a:rPr lang="en-US" dirty="0">
                    <a:latin typeface="Times New Roman" panose="02020603050405020304" pitchFamily="18" charset="0"/>
                    <a:cs typeface="Times New Roman" panose="02020603050405020304" pitchFamily="18" charset="0"/>
                  </a:rPr>
                  <a:t> + 1)/2</a:t>
                </a:r>
                <a:r>
                  <a:rPr lang="en-US" i="1" dirty="0">
                    <a:latin typeface="Times New Roman" panose="02020603050405020304" pitchFamily="18" charset="0"/>
                    <a:cs typeface="Times New Roman" panose="02020603050405020304" pitchFamily="18" charset="0"/>
                  </a:rPr>
                  <a:t>c</a:t>
                </a:r>
                <a:r>
                  <a:rPr lang="en-US" dirty="0">
                    <a:latin typeface="Times New Roman" panose="02020603050405020304" pitchFamily="18" charset="0"/>
                    <a:cs typeface="Times New Roman" panose="02020603050405020304" pitchFamily="18" charset="0"/>
                  </a:rPr>
                  <a:t> = ½ + 1/2</a:t>
                </a:r>
                <a:r>
                  <a:rPr lang="en-US" i="1" dirty="0">
                    <a:latin typeface="Times New Roman" panose="02020603050405020304" pitchFamily="18" charset="0"/>
                    <a:cs typeface="Times New Roman" panose="02020603050405020304" pitchFamily="18" charset="0"/>
                  </a:rPr>
                  <a:t>c</a:t>
                </a:r>
                <a:r>
                  <a:rPr lang="en-US" dirty="0">
                    <a:latin typeface="Times New Roman" panose="02020603050405020304" pitchFamily="18" charset="0"/>
                    <a:cs typeface="Times New Roman" panose="02020603050405020304" pitchFamily="18" charset="0"/>
                  </a:rPr>
                  <a:t> &lt; 1, </a:t>
                </a:r>
                <a:r>
                  <a:rPr lang="en-US" dirty="0">
                    <a:cs typeface="Times New Roman" panose="02020603050405020304" pitchFamily="18" charset="0"/>
                  </a:rPr>
                  <a:t>so the MDES decreases (design sensitivity increases)</a:t>
                </a:r>
              </a:p>
              <a:p>
                <a:pPr marL="0" indent="0">
                  <a:buNone/>
                </a:pPr>
                <a:endParaRPr lang="en-US" dirty="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6175220A-C9BB-4F4C-B4BD-2C0B1102EFF3}"/>
                  </a:ext>
                </a:extLst>
              </p:cNvPr>
              <p:cNvSpPr>
                <a:spLocks noGrp="1" noRot="1" noChangeAspect="1" noMove="1" noResize="1" noEditPoints="1" noAdjustHandles="1" noChangeArrowheads="1" noChangeShapeType="1" noTextEdit="1"/>
              </p:cNvSpPr>
              <p:nvPr>
                <p:ph idx="1"/>
              </p:nvPr>
            </p:nvSpPr>
            <p:spPr>
              <a:blipFill>
                <a:blip r:embed="rId2"/>
                <a:stretch>
                  <a:fillRect l="-638" t="-1961" r="-1101"/>
                </a:stretch>
              </a:blipFill>
            </p:spPr>
            <p:txBody>
              <a:bodyPr/>
              <a:lstStyle/>
              <a:p>
                <a:r>
                  <a:rPr lang="en-US">
                    <a:noFill/>
                  </a:rPr>
                  <a:t> </a:t>
                </a:r>
              </a:p>
            </p:txBody>
          </p:sp>
        </mc:Fallback>
      </mc:AlternateContent>
    </p:spTree>
    <p:extLst>
      <p:ext uri="{BB962C8B-B14F-4D97-AF65-F5344CB8AC3E}">
        <p14:creationId xmlns:p14="http://schemas.microsoft.com/office/powerpoint/2010/main" val="29838620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19B81-2604-4041-8E14-C8BF0AC52C00}"/>
              </a:ext>
            </a:extLst>
          </p:cNvPr>
          <p:cNvSpPr>
            <a:spLocks noGrp="1"/>
          </p:cNvSpPr>
          <p:nvPr>
            <p:ph type="title"/>
          </p:nvPr>
        </p:nvSpPr>
        <p:spPr/>
        <p:txBody>
          <a:bodyPr/>
          <a:lstStyle/>
          <a:p>
            <a:r>
              <a:rPr lang="en-US" dirty="0"/>
              <a:t>Unbalanced Designs</a:t>
            </a:r>
          </a:p>
        </p:txBody>
      </p:sp>
      <p:sp>
        <p:nvSpPr>
          <p:cNvPr id="3" name="Content Placeholder 2">
            <a:extLst>
              <a:ext uri="{FF2B5EF4-FFF2-40B4-BE49-F238E27FC236}">
                <a16:creationId xmlns:a16="http://schemas.microsoft.com/office/drawing/2014/main" id="{9BB729D4-6A95-4F11-ADB0-93AD4051BF1B}"/>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highlight>
                  <a:srgbClr val="FFFF00"/>
                </a:highlight>
              </a:rPr>
              <a:t>Eric: This would be a good place for an insert of how increasing </a:t>
            </a:r>
            <a:r>
              <a:rPr lang="en-US" dirty="0" err="1">
                <a:highlight>
                  <a:srgbClr val="FFFF00"/>
                </a:highlight>
              </a:rPr>
              <a:t>m</a:t>
            </a:r>
            <a:r>
              <a:rPr lang="en-US" baseline="30000" dirty="0" err="1">
                <a:highlight>
                  <a:srgbClr val="FFFF00"/>
                </a:highlight>
              </a:rPr>
              <a:t>C</a:t>
            </a:r>
            <a:r>
              <a:rPr lang="en-US" baseline="30000" dirty="0">
                <a:highlight>
                  <a:srgbClr val="FFFF00"/>
                </a:highlight>
              </a:rPr>
              <a:t> </a:t>
            </a:r>
            <a:r>
              <a:rPr lang="en-US" dirty="0">
                <a:highlight>
                  <a:srgbClr val="FFFF00"/>
                </a:highlight>
              </a:rPr>
              <a:t>(fixing </a:t>
            </a:r>
            <a:r>
              <a:rPr lang="en-US" dirty="0" err="1">
                <a:highlight>
                  <a:srgbClr val="FFFF00"/>
                </a:highlight>
              </a:rPr>
              <a:t>m</a:t>
            </a:r>
            <a:r>
              <a:rPr lang="en-US" baseline="30000" dirty="0" err="1">
                <a:highlight>
                  <a:srgbClr val="FFFF00"/>
                </a:highlight>
              </a:rPr>
              <a:t>T</a:t>
            </a:r>
            <a:r>
              <a:rPr lang="en-US" dirty="0">
                <a:highlight>
                  <a:srgbClr val="FFFF00"/>
                </a:highlight>
              </a:rPr>
              <a:t>) deceases MDES</a:t>
            </a:r>
          </a:p>
          <a:p>
            <a:pPr marL="0" indent="0">
              <a:buNone/>
            </a:pPr>
            <a:endParaRPr lang="en-US" dirty="0"/>
          </a:p>
          <a:p>
            <a:pPr marL="0" indent="0">
              <a:buNone/>
            </a:pPr>
            <a:r>
              <a:rPr lang="en-US" dirty="0"/>
              <a:t>Note that the effect on MDES (design sensitivity) of increasing sample size of the control group are generally modest (except for the smallest treatment group sample sizes</a:t>
            </a:r>
          </a:p>
          <a:p>
            <a:pPr marL="0" indent="0">
              <a:buNone/>
            </a:pPr>
            <a:endParaRPr lang="en-US" dirty="0"/>
          </a:p>
          <a:p>
            <a:pPr marL="0" indent="0">
              <a:buNone/>
            </a:pPr>
            <a:r>
              <a:rPr lang="en-US" dirty="0"/>
              <a:t>Note that there is a point of diminishing returns, beyond which further increases have only negligible effects</a:t>
            </a:r>
          </a:p>
        </p:txBody>
      </p:sp>
    </p:spTree>
    <p:extLst>
      <p:ext uri="{BB962C8B-B14F-4D97-AF65-F5344CB8AC3E}">
        <p14:creationId xmlns:p14="http://schemas.microsoft.com/office/powerpoint/2010/main" val="19447864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A7515-93D8-49CC-8B3B-0E8DED41D888}"/>
              </a:ext>
            </a:extLst>
          </p:cNvPr>
          <p:cNvSpPr>
            <a:spLocks noGrp="1"/>
          </p:cNvSpPr>
          <p:nvPr>
            <p:ph type="title"/>
          </p:nvPr>
        </p:nvSpPr>
        <p:spPr/>
        <p:txBody>
          <a:bodyPr/>
          <a:lstStyle/>
          <a:p>
            <a:r>
              <a:rPr lang="en-US" dirty="0"/>
              <a:t>The Effect on MDES of Larger Control Groups</a:t>
            </a:r>
          </a:p>
        </p:txBody>
      </p:sp>
      <p:graphicFrame>
        <p:nvGraphicFramePr>
          <p:cNvPr id="5" name="Content Placeholder 4">
            <a:extLst>
              <a:ext uri="{FF2B5EF4-FFF2-40B4-BE49-F238E27FC236}">
                <a16:creationId xmlns:a16="http://schemas.microsoft.com/office/drawing/2014/main" id="{35385B31-2732-4186-BC7D-E710F9AB7DDC}"/>
              </a:ext>
            </a:extLst>
          </p:cNvPr>
          <p:cNvGraphicFramePr>
            <a:graphicFrameLocks noGrp="1"/>
          </p:cNvGraphicFramePr>
          <p:nvPr>
            <p:ph idx="1"/>
            <p:extLst>
              <p:ext uri="{D42A27DB-BD31-4B8C-83A1-F6EECF244321}">
                <p14:modId xmlns:p14="http://schemas.microsoft.com/office/powerpoint/2010/main" val="3933844776"/>
              </p:ext>
            </p:extLst>
          </p:nvPr>
        </p:nvGraphicFramePr>
        <p:xfrm>
          <a:off x="1631831" y="1690688"/>
          <a:ext cx="8638108" cy="4978400"/>
        </p:xfrm>
        <a:graphic>
          <a:graphicData uri="http://schemas.openxmlformats.org/drawingml/2006/table">
            <a:tbl>
              <a:tblPr>
                <a:tableStyleId>{5C22544A-7EE6-4342-B048-85BDC9FD1C3A}</a:tableStyleId>
              </a:tblPr>
              <a:tblGrid>
                <a:gridCol w="1363908">
                  <a:extLst>
                    <a:ext uri="{9D8B030D-6E8A-4147-A177-3AD203B41FA5}">
                      <a16:colId xmlns:a16="http://schemas.microsoft.com/office/drawing/2014/main" val="50440667"/>
                    </a:ext>
                  </a:extLst>
                </a:gridCol>
                <a:gridCol w="909275">
                  <a:extLst>
                    <a:ext uri="{9D8B030D-6E8A-4147-A177-3AD203B41FA5}">
                      <a16:colId xmlns:a16="http://schemas.microsoft.com/office/drawing/2014/main" val="844470422"/>
                    </a:ext>
                  </a:extLst>
                </a:gridCol>
                <a:gridCol w="909275">
                  <a:extLst>
                    <a:ext uri="{9D8B030D-6E8A-4147-A177-3AD203B41FA5}">
                      <a16:colId xmlns:a16="http://schemas.microsoft.com/office/drawing/2014/main" val="3507075744"/>
                    </a:ext>
                  </a:extLst>
                </a:gridCol>
                <a:gridCol w="909275">
                  <a:extLst>
                    <a:ext uri="{9D8B030D-6E8A-4147-A177-3AD203B41FA5}">
                      <a16:colId xmlns:a16="http://schemas.microsoft.com/office/drawing/2014/main" val="2809155222"/>
                    </a:ext>
                  </a:extLst>
                </a:gridCol>
                <a:gridCol w="909275">
                  <a:extLst>
                    <a:ext uri="{9D8B030D-6E8A-4147-A177-3AD203B41FA5}">
                      <a16:colId xmlns:a16="http://schemas.microsoft.com/office/drawing/2014/main" val="2772290064"/>
                    </a:ext>
                  </a:extLst>
                </a:gridCol>
                <a:gridCol w="909275">
                  <a:extLst>
                    <a:ext uri="{9D8B030D-6E8A-4147-A177-3AD203B41FA5}">
                      <a16:colId xmlns:a16="http://schemas.microsoft.com/office/drawing/2014/main" val="1229414940"/>
                    </a:ext>
                  </a:extLst>
                </a:gridCol>
                <a:gridCol w="909275">
                  <a:extLst>
                    <a:ext uri="{9D8B030D-6E8A-4147-A177-3AD203B41FA5}">
                      <a16:colId xmlns:a16="http://schemas.microsoft.com/office/drawing/2014/main" val="3287360535"/>
                    </a:ext>
                  </a:extLst>
                </a:gridCol>
                <a:gridCol w="909275">
                  <a:extLst>
                    <a:ext uri="{9D8B030D-6E8A-4147-A177-3AD203B41FA5}">
                      <a16:colId xmlns:a16="http://schemas.microsoft.com/office/drawing/2014/main" val="2894998961"/>
                    </a:ext>
                  </a:extLst>
                </a:gridCol>
                <a:gridCol w="909275">
                  <a:extLst>
                    <a:ext uri="{9D8B030D-6E8A-4147-A177-3AD203B41FA5}">
                      <a16:colId xmlns:a16="http://schemas.microsoft.com/office/drawing/2014/main" val="4312325"/>
                    </a:ext>
                  </a:extLst>
                </a:gridCol>
              </a:tblGrid>
              <a:tr h="281682">
                <a:tc>
                  <a:txBody>
                    <a:bodyPr/>
                    <a:lstStyle/>
                    <a:p>
                      <a:pPr algn="ctr" fontAlgn="b"/>
                      <a:r>
                        <a:rPr lang="en-US" sz="2000" u="none" strike="noStrike" dirty="0">
                          <a:effectLst/>
                          <a:latin typeface="Times New Roman" panose="02020603050405020304" pitchFamily="18" charset="0"/>
                          <a:cs typeface="Times New Roman" panose="02020603050405020304" pitchFamily="18" charset="0"/>
                        </a:rPr>
                        <a:t> </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b"/>
                </a:tc>
                <a:tc gridSpan="8">
                  <a:txBody>
                    <a:bodyPr/>
                    <a:lstStyle/>
                    <a:p>
                      <a:pPr algn="ctr" fontAlgn="b"/>
                      <a:r>
                        <a:rPr lang="en-US" sz="2000" i="1" u="none" strike="noStrike" dirty="0" err="1">
                          <a:solidFill>
                            <a:schemeClr val="bg1"/>
                          </a:solidFill>
                          <a:effectLst/>
                          <a:latin typeface="Times New Roman" panose="02020603050405020304" pitchFamily="18" charset="0"/>
                          <a:cs typeface="Times New Roman" panose="02020603050405020304" pitchFamily="18" charset="0"/>
                        </a:rPr>
                        <a:t>m</a:t>
                      </a:r>
                      <a:r>
                        <a:rPr lang="en-US" sz="2000" i="1" u="none" strike="noStrike" baseline="30000" dirty="0" err="1">
                          <a:solidFill>
                            <a:schemeClr val="bg1"/>
                          </a:solidFill>
                          <a:effectLst/>
                          <a:latin typeface="Times New Roman" panose="02020603050405020304" pitchFamily="18" charset="0"/>
                          <a:cs typeface="Times New Roman" panose="02020603050405020304" pitchFamily="18" charset="0"/>
                        </a:rPr>
                        <a:t>C</a:t>
                      </a:r>
                      <a:endParaRPr lang="en-US" sz="2000" b="0" i="1" u="none" strike="noStrike" baseline="30000" dirty="0">
                        <a:solidFill>
                          <a:schemeClr val="bg1"/>
                        </a:solidFill>
                        <a:effectLst/>
                        <a:latin typeface="Times New Roman" panose="02020603050405020304" pitchFamily="18" charset="0"/>
                        <a:cs typeface="Times New Roman" panose="02020603050405020304" pitchFamily="18" charset="0"/>
                      </a:endParaRPr>
                    </a:p>
                  </a:txBody>
                  <a:tcPr marL="6350" marR="6350" marT="6350" marB="0" anchor="b">
                    <a:solidFill>
                      <a:schemeClr val="accent1">
                        <a:lumMod val="7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454891"/>
                  </a:ext>
                </a:extLst>
              </a:tr>
              <a:tr h="281682">
                <a:tc>
                  <a:txBody>
                    <a:bodyPr/>
                    <a:lstStyle/>
                    <a:p>
                      <a:pPr algn="ctr" fontAlgn="b"/>
                      <a:r>
                        <a:rPr lang="en-US" sz="2000" i="1" u="none" strike="noStrike" dirty="0" err="1">
                          <a:solidFill>
                            <a:schemeClr val="bg1"/>
                          </a:solidFill>
                          <a:effectLst/>
                          <a:latin typeface="Times New Roman" panose="02020603050405020304" pitchFamily="18" charset="0"/>
                          <a:cs typeface="Times New Roman" panose="02020603050405020304" pitchFamily="18" charset="0"/>
                        </a:rPr>
                        <a:t>m</a:t>
                      </a:r>
                      <a:r>
                        <a:rPr lang="en-US" sz="2000" i="1" u="none" strike="noStrike" baseline="30000" dirty="0" err="1">
                          <a:solidFill>
                            <a:schemeClr val="bg1"/>
                          </a:solidFill>
                          <a:effectLst/>
                          <a:latin typeface="Times New Roman" panose="02020603050405020304" pitchFamily="18" charset="0"/>
                          <a:cs typeface="Times New Roman" panose="02020603050405020304" pitchFamily="18" charset="0"/>
                        </a:rPr>
                        <a:t>T</a:t>
                      </a:r>
                      <a:endParaRPr lang="en-US" sz="2000" b="0" i="1" u="none" strike="noStrike" baseline="30000" dirty="0">
                        <a:solidFill>
                          <a:schemeClr val="bg1"/>
                        </a:solidFill>
                        <a:effectLst/>
                        <a:latin typeface="Times New Roman" panose="02020603050405020304" pitchFamily="18" charset="0"/>
                        <a:cs typeface="Times New Roman" panose="02020603050405020304" pitchFamily="18" charset="0"/>
                      </a:endParaRPr>
                    </a:p>
                  </a:txBody>
                  <a:tcPr marL="6350" marR="6350" marT="6350" marB="0" anchor="b">
                    <a:solidFill>
                      <a:schemeClr val="accent1">
                        <a:lumMod val="60000"/>
                        <a:lumOff val="40000"/>
                      </a:schemeClr>
                    </a:solidFill>
                  </a:tcPr>
                </a:tc>
                <a:tc>
                  <a:txBody>
                    <a:bodyPr/>
                    <a:lstStyle/>
                    <a:p>
                      <a:pPr algn="ctr" fontAlgn="b"/>
                      <a:r>
                        <a:rPr lang="en-US" sz="2000" i="1" u="none" strike="noStrike" dirty="0">
                          <a:solidFill>
                            <a:schemeClr val="bg1"/>
                          </a:solidFill>
                          <a:effectLst/>
                          <a:latin typeface="Times New Roman" panose="02020603050405020304" pitchFamily="18" charset="0"/>
                          <a:cs typeface="Times New Roman" panose="02020603050405020304" pitchFamily="18" charset="0"/>
                        </a:rPr>
                        <a:t>m</a:t>
                      </a:r>
                      <a:r>
                        <a:rPr lang="en-US" sz="2000" i="1" u="none" strike="noStrike" baseline="30000" dirty="0">
                          <a:solidFill>
                            <a:schemeClr val="bg1"/>
                          </a:solidFill>
                          <a:effectLst/>
                          <a:latin typeface="Times New Roman" panose="02020603050405020304" pitchFamily="18" charset="0"/>
                          <a:cs typeface="Times New Roman" panose="02020603050405020304" pitchFamily="18" charset="0"/>
                        </a:rPr>
                        <a:t>T</a:t>
                      </a:r>
                      <a:r>
                        <a:rPr lang="en-US" sz="2000" u="none" strike="noStrike" dirty="0">
                          <a:solidFill>
                            <a:schemeClr val="bg1"/>
                          </a:solidFill>
                          <a:effectLst/>
                          <a:latin typeface="Times New Roman" panose="02020603050405020304" pitchFamily="18" charset="0"/>
                          <a:cs typeface="Times New Roman" panose="02020603050405020304" pitchFamily="18" charset="0"/>
                        </a:rPr>
                        <a:t>+0</a:t>
                      </a:r>
                      <a:endParaRPr lang="en-US" sz="2000" b="0" i="0" u="none" strike="noStrike" dirty="0">
                        <a:solidFill>
                          <a:schemeClr val="bg1"/>
                        </a:solidFill>
                        <a:effectLst/>
                        <a:latin typeface="Times New Roman" panose="02020603050405020304" pitchFamily="18" charset="0"/>
                        <a:cs typeface="Times New Roman" panose="02020603050405020304" pitchFamily="18" charset="0"/>
                      </a:endParaRPr>
                    </a:p>
                  </a:txBody>
                  <a:tcPr marL="6350" marR="6350" marT="6350" marB="0" anchor="b">
                    <a:solidFill>
                      <a:schemeClr val="accent1">
                        <a:lumMod val="60000"/>
                        <a:lumOff val="40000"/>
                      </a:schemeClr>
                    </a:solidFill>
                  </a:tcPr>
                </a:tc>
                <a:tc>
                  <a:txBody>
                    <a:bodyPr/>
                    <a:lstStyle/>
                    <a:p>
                      <a:pPr algn="ctr" fontAlgn="b"/>
                      <a:r>
                        <a:rPr lang="en-US" sz="2000" i="1" u="none" strike="noStrike" dirty="0">
                          <a:solidFill>
                            <a:schemeClr val="bg1"/>
                          </a:solidFill>
                          <a:effectLst/>
                          <a:latin typeface="Times New Roman" panose="02020603050405020304" pitchFamily="18" charset="0"/>
                          <a:cs typeface="Times New Roman" panose="02020603050405020304" pitchFamily="18" charset="0"/>
                        </a:rPr>
                        <a:t>m</a:t>
                      </a:r>
                      <a:r>
                        <a:rPr lang="en-US" sz="2000" i="1" u="none" strike="noStrike" baseline="30000" dirty="0">
                          <a:solidFill>
                            <a:schemeClr val="bg1"/>
                          </a:solidFill>
                          <a:effectLst/>
                          <a:latin typeface="Times New Roman" panose="02020603050405020304" pitchFamily="18" charset="0"/>
                          <a:cs typeface="Times New Roman" panose="02020603050405020304" pitchFamily="18" charset="0"/>
                        </a:rPr>
                        <a:t>T</a:t>
                      </a:r>
                      <a:r>
                        <a:rPr lang="en-US" sz="2000" u="none" strike="noStrike" dirty="0">
                          <a:solidFill>
                            <a:schemeClr val="bg1"/>
                          </a:solidFill>
                          <a:effectLst/>
                          <a:latin typeface="Times New Roman" panose="02020603050405020304" pitchFamily="18" charset="0"/>
                          <a:cs typeface="Times New Roman" panose="02020603050405020304" pitchFamily="18" charset="0"/>
                        </a:rPr>
                        <a:t>+1</a:t>
                      </a:r>
                      <a:endParaRPr lang="en-US" sz="2000" b="0" i="0" u="none" strike="noStrike" dirty="0">
                        <a:solidFill>
                          <a:schemeClr val="bg1"/>
                        </a:solidFill>
                        <a:effectLst/>
                        <a:latin typeface="Times New Roman" panose="02020603050405020304" pitchFamily="18" charset="0"/>
                        <a:cs typeface="Times New Roman" panose="02020603050405020304" pitchFamily="18" charset="0"/>
                      </a:endParaRPr>
                    </a:p>
                  </a:txBody>
                  <a:tcPr marL="6350" marR="6350" marT="6350" marB="0" anchor="b">
                    <a:solidFill>
                      <a:schemeClr val="accent1">
                        <a:lumMod val="60000"/>
                        <a:lumOff val="40000"/>
                      </a:schemeClr>
                    </a:solidFill>
                  </a:tcPr>
                </a:tc>
                <a:tc>
                  <a:txBody>
                    <a:bodyPr/>
                    <a:lstStyle/>
                    <a:p>
                      <a:pPr algn="ctr" fontAlgn="b"/>
                      <a:r>
                        <a:rPr lang="en-US" sz="2000" i="1" u="none" strike="noStrike" dirty="0">
                          <a:solidFill>
                            <a:schemeClr val="bg1"/>
                          </a:solidFill>
                          <a:effectLst/>
                          <a:latin typeface="Times New Roman" panose="02020603050405020304" pitchFamily="18" charset="0"/>
                          <a:cs typeface="Times New Roman" panose="02020603050405020304" pitchFamily="18" charset="0"/>
                        </a:rPr>
                        <a:t>m</a:t>
                      </a:r>
                      <a:r>
                        <a:rPr lang="en-US" sz="2000" i="1" u="none" strike="noStrike" baseline="30000" dirty="0">
                          <a:solidFill>
                            <a:schemeClr val="bg1"/>
                          </a:solidFill>
                          <a:effectLst/>
                          <a:latin typeface="Times New Roman" panose="02020603050405020304" pitchFamily="18" charset="0"/>
                          <a:cs typeface="Times New Roman" panose="02020603050405020304" pitchFamily="18" charset="0"/>
                        </a:rPr>
                        <a:t>T</a:t>
                      </a:r>
                      <a:r>
                        <a:rPr lang="en-US" sz="2000" u="none" strike="noStrike" dirty="0">
                          <a:solidFill>
                            <a:schemeClr val="bg1"/>
                          </a:solidFill>
                          <a:effectLst/>
                          <a:latin typeface="Times New Roman" panose="02020603050405020304" pitchFamily="18" charset="0"/>
                          <a:cs typeface="Times New Roman" panose="02020603050405020304" pitchFamily="18" charset="0"/>
                        </a:rPr>
                        <a:t>+2</a:t>
                      </a:r>
                      <a:endParaRPr lang="en-US" sz="2000" b="0" i="0" u="none" strike="noStrike" dirty="0">
                        <a:solidFill>
                          <a:schemeClr val="bg1"/>
                        </a:solidFill>
                        <a:effectLst/>
                        <a:latin typeface="Times New Roman" panose="02020603050405020304" pitchFamily="18" charset="0"/>
                        <a:cs typeface="Times New Roman" panose="02020603050405020304" pitchFamily="18" charset="0"/>
                      </a:endParaRPr>
                    </a:p>
                  </a:txBody>
                  <a:tcPr marL="6350" marR="6350" marT="6350" marB="0" anchor="b">
                    <a:solidFill>
                      <a:schemeClr val="accent1">
                        <a:lumMod val="60000"/>
                        <a:lumOff val="40000"/>
                      </a:schemeClr>
                    </a:solidFill>
                  </a:tcPr>
                </a:tc>
                <a:tc>
                  <a:txBody>
                    <a:bodyPr/>
                    <a:lstStyle/>
                    <a:p>
                      <a:pPr algn="ctr" fontAlgn="b"/>
                      <a:r>
                        <a:rPr lang="en-US" sz="2000" i="1" u="none" strike="noStrike" dirty="0">
                          <a:solidFill>
                            <a:schemeClr val="bg1"/>
                          </a:solidFill>
                          <a:effectLst/>
                          <a:latin typeface="Times New Roman" panose="02020603050405020304" pitchFamily="18" charset="0"/>
                          <a:cs typeface="Times New Roman" panose="02020603050405020304" pitchFamily="18" charset="0"/>
                        </a:rPr>
                        <a:t>m</a:t>
                      </a:r>
                      <a:r>
                        <a:rPr lang="en-US" sz="2000" i="1" u="none" strike="noStrike" baseline="30000" dirty="0">
                          <a:solidFill>
                            <a:schemeClr val="bg1"/>
                          </a:solidFill>
                          <a:effectLst/>
                          <a:latin typeface="Times New Roman" panose="02020603050405020304" pitchFamily="18" charset="0"/>
                          <a:cs typeface="Times New Roman" panose="02020603050405020304" pitchFamily="18" charset="0"/>
                        </a:rPr>
                        <a:t>T</a:t>
                      </a:r>
                      <a:r>
                        <a:rPr lang="en-US" sz="2000" u="none" strike="noStrike" dirty="0">
                          <a:solidFill>
                            <a:schemeClr val="bg1"/>
                          </a:solidFill>
                          <a:effectLst/>
                          <a:latin typeface="Times New Roman" panose="02020603050405020304" pitchFamily="18" charset="0"/>
                          <a:cs typeface="Times New Roman" panose="02020603050405020304" pitchFamily="18" charset="0"/>
                        </a:rPr>
                        <a:t>+3</a:t>
                      </a:r>
                      <a:endParaRPr lang="en-US" sz="2000" b="0" i="0" u="none" strike="noStrike" dirty="0">
                        <a:solidFill>
                          <a:schemeClr val="bg1"/>
                        </a:solidFill>
                        <a:effectLst/>
                        <a:latin typeface="Times New Roman" panose="02020603050405020304" pitchFamily="18" charset="0"/>
                        <a:cs typeface="Times New Roman" panose="02020603050405020304" pitchFamily="18" charset="0"/>
                      </a:endParaRPr>
                    </a:p>
                  </a:txBody>
                  <a:tcPr marL="6350" marR="6350" marT="6350" marB="0" anchor="b">
                    <a:solidFill>
                      <a:schemeClr val="accent1">
                        <a:lumMod val="60000"/>
                        <a:lumOff val="40000"/>
                      </a:schemeClr>
                    </a:solidFill>
                  </a:tcPr>
                </a:tc>
                <a:tc>
                  <a:txBody>
                    <a:bodyPr/>
                    <a:lstStyle/>
                    <a:p>
                      <a:pPr algn="ctr" fontAlgn="b"/>
                      <a:r>
                        <a:rPr lang="en-US" sz="2000" i="1" u="none" strike="noStrike" dirty="0">
                          <a:solidFill>
                            <a:schemeClr val="bg1"/>
                          </a:solidFill>
                          <a:effectLst/>
                          <a:latin typeface="Times New Roman" panose="02020603050405020304" pitchFamily="18" charset="0"/>
                          <a:cs typeface="Times New Roman" panose="02020603050405020304" pitchFamily="18" charset="0"/>
                        </a:rPr>
                        <a:t>m</a:t>
                      </a:r>
                      <a:r>
                        <a:rPr lang="en-US" sz="2000" i="1" u="none" strike="noStrike" baseline="30000" dirty="0">
                          <a:solidFill>
                            <a:schemeClr val="bg1"/>
                          </a:solidFill>
                          <a:effectLst/>
                          <a:latin typeface="Times New Roman" panose="02020603050405020304" pitchFamily="18" charset="0"/>
                          <a:cs typeface="Times New Roman" panose="02020603050405020304" pitchFamily="18" charset="0"/>
                        </a:rPr>
                        <a:t>T</a:t>
                      </a:r>
                      <a:r>
                        <a:rPr lang="en-US" sz="2000" u="none" strike="noStrike" dirty="0">
                          <a:solidFill>
                            <a:schemeClr val="bg1"/>
                          </a:solidFill>
                          <a:effectLst/>
                          <a:latin typeface="Times New Roman" panose="02020603050405020304" pitchFamily="18" charset="0"/>
                          <a:cs typeface="Times New Roman" panose="02020603050405020304" pitchFamily="18" charset="0"/>
                        </a:rPr>
                        <a:t>+4</a:t>
                      </a:r>
                      <a:endParaRPr lang="en-US" sz="2000" b="0" i="0" u="none" strike="noStrike" dirty="0">
                        <a:solidFill>
                          <a:schemeClr val="bg1"/>
                        </a:solidFill>
                        <a:effectLst/>
                        <a:latin typeface="Times New Roman" panose="02020603050405020304" pitchFamily="18" charset="0"/>
                        <a:cs typeface="Times New Roman" panose="02020603050405020304" pitchFamily="18" charset="0"/>
                      </a:endParaRPr>
                    </a:p>
                  </a:txBody>
                  <a:tcPr marL="6350" marR="6350" marT="6350" marB="0" anchor="b">
                    <a:solidFill>
                      <a:schemeClr val="accent1">
                        <a:lumMod val="60000"/>
                        <a:lumOff val="40000"/>
                      </a:schemeClr>
                    </a:solidFill>
                  </a:tcPr>
                </a:tc>
                <a:tc>
                  <a:txBody>
                    <a:bodyPr/>
                    <a:lstStyle/>
                    <a:p>
                      <a:pPr algn="ctr" fontAlgn="b"/>
                      <a:r>
                        <a:rPr lang="en-US" sz="2000" i="1" u="none" strike="noStrike" dirty="0">
                          <a:solidFill>
                            <a:schemeClr val="bg1"/>
                          </a:solidFill>
                          <a:effectLst/>
                          <a:latin typeface="Times New Roman" panose="02020603050405020304" pitchFamily="18" charset="0"/>
                          <a:cs typeface="Times New Roman" panose="02020603050405020304" pitchFamily="18" charset="0"/>
                        </a:rPr>
                        <a:t>m</a:t>
                      </a:r>
                      <a:r>
                        <a:rPr lang="en-US" sz="2000" i="1" u="none" strike="noStrike" baseline="30000" dirty="0">
                          <a:solidFill>
                            <a:schemeClr val="bg1"/>
                          </a:solidFill>
                          <a:effectLst/>
                          <a:latin typeface="Times New Roman" panose="02020603050405020304" pitchFamily="18" charset="0"/>
                          <a:cs typeface="Times New Roman" panose="02020603050405020304" pitchFamily="18" charset="0"/>
                        </a:rPr>
                        <a:t>T</a:t>
                      </a:r>
                      <a:r>
                        <a:rPr lang="en-US" sz="2000" u="none" strike="noStrike" dirty="0">
                          <a:solidFill>
                            <a:schemeClr val="bg1"/>
                          </a:solidFill>
                          <a:effectLst/>
                          <a:latin typeface="Times New Roman" panose="02020603050405020304" pitchFamily="18" charset="0"/>
                          <a:cs typeface="Times New Roman" panose="02020603050405020304" pitchFamily="18" charset="0"/>
                        </a:rPr>
                        <a:t>+5</a:t>
                      </a:r>
                      <a:endParaRPr lang="en-US" sz="2000" b="0" i="0" u="none" strike="noStrike" dirty="0">
                        <a:solidFill>
                          <a:schemeClr val="bg1"/>
                        </a:solidFill>
                        <a:effectLst/>
                        <a:latin typeface="Times New Roman" panose="02020603050405020304" pitchFamily="18" charset="0"/>
                        <a:cs typeface="Times New Roman" panose="02020603050405020304" pitchFamily="18" charset="0"/>
                      </a:endParaRPr>
                    </a:p>
                  </a:txBody>
                  <a:tcPr marL="6350" marR="6350" marT="6350" marB="0" anchor="b">
                    <a:solidFill>
                      <a:schemeClr val="accent1">
                        <a:lumMod val="60000"/>
                        <a:lumOff val="40000"/>
                      </a:schemeClr>
                    </a:solidFill>
                  </a:tcPr>
                </a:tc>
                <a:tc>
                  <a:txBody>
                    <a:bodyPr/>
                    <a:lstStyle/>
                    <a:p>
                      <a:pPr algn="ctr" fontAlgn="b"/>
                      <a:r>
                        <a:rPr lang="en-US" sz="2000" i="1" u="none" strike="noStrike" dirty="0">
                          <a:solidFill>
                            <a:schemeClr val="bg1"/>
                          </a:solidFill>
                          <a:effectLst/>
                          <a:latin typeface="Times New Roman" panose="02020603050405020304" pitchFamily="18" charset="0"/>
                          <a:cs typeface="Times New Roman" panose="02020603050405020304" pitchFamily="18" charset="0"/>
                        </a:rPr>
                        <a:t>m</a:t>
                      </a:r>
                      <a:r>
                        <a:rPr lang="en-US" sz="2000" i="1" u="none" strike="noStrike" baseline="30000" dirty="0">
                          <a:solidFill>
                            <a:schemeClr val="bg1"/>
                          </a:solidFill>
                          <a:effectLst/>
                          <a:latin typeface="Times New Roman" panose="02020603050405020304" pitchFamily="18" charset="0"/>
                          <a:cs typeface="Times New Roman" panose="02020603050405020304" pitchFamily="18" charset="0"/>
                        </a:rPr>
                        <a:t>T</a:t>
                      </a:r>
                      <a:r>
                        <a:rPr lang="en-US" sz="2000" u="none" strike="noStrike" dirty="0">
                          <a:solidFill>
                            <a:schemeClr val="bg1"/>
                          </a:solidFill>
                          <a:effectLst/>
                          <a:latin typeface="Times New Roman" panose="02020603050405020304" pitchFamily="18" charset="0"/>
                          <a:cs typeface="Times New Roman" panose="02020603050405020304" pitchFamily="18" charset="0"/>
                        </a:rPr>
                        <a:t>+10</a:t>
                      </a:r>
                      <a:endParaRPr lang="en-US" sz="2000" b="0" i="0" u="none" strike="noStrike" dirty="0">
                        <a:solidFill>
                          <a:schemeClr val="bg1"/>
                        </a:solidFill>
                        <a:effectLst/>
                        <a:latin typeface="Times New Roman" panose="02020603050405020304" pitchFamily="18" charset="0"/>
                        <a:cs typeface="Times New Roman" panose="02020603050405020304" pitchFamily="18" charset="0"/>
                      </a:endParaRPr>
                    </a:p>
                  </a:txBody>
                  <a:tcPr marL="6350" marR="6350" marT="6350" marB="0" anchor="b">
                    <a:solidFill>
                      <a:schemeClr val="accent1">
                        <a:lumMod val="60000"/>
                        <a:lumOff val="40000"/>
                      </a:schemeClr>
                    </a:solidFill>
                  </a:tcPr>
                </a:tc>
                <a:tc>
                  <a:txBody>
                    <a:bodyPr/>
                    <a:lstStyle/>
                    <a:p>
                      <a:pPr algn="ctr" fontAlgn="b"/>
                      <a:r>
                        <a:rPr lang="en-US" sz="2000" i="1" u="none" strike="noStrike" dirty="0">
                          <a:solidFill>
                            <a:schemeClr val="bg1"/>
                          </a:solidFill>
                          <a:effectLst/>
                          <a:latin typeface="Times New Roman" panose="02020603050405020304" pitchFamily="18" charset="0"/>
                          <a:cs typeface="Times New Roman" panose="02020603050405020304" pitchFamily="18" charset="0"/>
                        </a:rPr>
                        <a:t>m</a:t>
                      </a:r>
                      <a:r>
                        <a:rPr lang="en-US" sz="2000" i="1" u="none" strike="noStrike" baseline="30000" dirty="0">
                          <a:solidFill>
                            <a:schemeClr val="bg1"/>
                          </a:solidFill>
                          <a:effectLst/>
                          <a:latin typeface="Times New Roman" panose="02020603050405020304" pitchFamily="18" charset="0"/>
                          <a:cs typeface="Times New Roman" panose="02020603050405020304" pitchFamily="18" charset="0"/>
                        </a:rPr>
                        <a:t>T</a:t>
                      </a:r>
                      <a:r>
                        <a:rPr lang="en-US" sz="2000" u="none" strike="noStrike" dirty="0">
                          <a:solidFill>
                            <a:schemeClr val="bg1"/>
                          </a:solidFill>
                          <a:effectLst/>
                          <a:latin typeface="Times New Roman" panose="02020603050405020304" pitchFamily="18" charset="0"/>
                          <a:cs typeface="Times New Roman" panose="02020603050405020304" pitchFamily="18" charset="0"/>
                        </a:rPr>
                        <a:t>+15</a:t>
                      </a:r>
                      <a:endParaRPr lang="en-US" sz="2000" b="0" i="0" u="none" strike="noStrike" dirty="0">
                        <a:solidFill>
                          <a:schemeClr val="bg1"/>
                        </a:solidFill>
                        <a:effectLst/>
                        <a:latin typeface="Times New Roman" panose="02020603050405020304" pitchFamily="18" charset="0"/>
                        <a:cs typeface="Times New Roman" panose="02020603050405020304" pitchFamily="18" charset="0"/>
                      </a:endParaRPr>
                    </a:p>
                  </a:txBody>
                  <a:tcPr marL="6350" marR="6350" marT="6350" marB="0" anchor="b">
                    <a:solidFill>
                      <a:schemeClr val="accent1">
                        <a:lumMod val="60000"/>
                        <a:lumOff val="40000"/>
                      </a:schemeClr>
                    </a:solidFill>
                  </a:tcPr>
                </a:tc>
                <a:extLst>
                  <a:ext uri="{0D108BD9-81ED-4DB2-BD59-A6C34878D82A}">
                    <a16:rowId xmlns:a16="http://schemas.microsoft.com/office/drawing/2014/main" val="1021305196"/>
                  </a:ext>
                </a:extLst>
              </a:tr>
              <a:tr h="281682">
                <a:tc>
                  <a:txBody>
                    <a:bodyPr/>
                    <a:lstStyle/>
                    <a:p>
                      <a:pPr algn="ctr" fontAlgn="b"/>
                      <a:r>
                        <a:rPr lang="en-US" sz="2000" u="none" strike="noStrike" dirty="0">
                          <a:effectLst/>
                        </a:rPr>
                        <a:t>2</a:t>
                      </a:r>
                      <a:endParaRPr lang="en-US" sz="2000" b="0" i="0" u="none" strike="noStrike" dirty="0">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1.49</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1.02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0.86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dirty="0">
                          <a:effectLst/>
                        </a:rPr>
                        <a:t>0.77</a:t>
                      </a:r>
                      <a:endParaRPr lang="en-US" sz="2000" b="0" i="0" u="none" strike="noStrike" dirty="0">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dirty="0">
                          <a:effectLst/>
                        </a:rPr>
                        <a:t>0.72</a:t>
                      </a:r>
                      <a:endParaRPr lang="en-US" sz="2000" b="0" i="0" u="none" strike="noStrike" dirty="0">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dirty="0">
                          <a:effectLst/>
                        </a:rPr>
                        <a:t>0.69</a:t>
                      </a:r>
                      <a:endParaRPr lang="en-US" sz="2000" b="0" i="0" u="none" strike="noStrike" dirty="0">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0.61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0.58</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86879760"/>
                  </a:ext>
                </a:extLst>
              </a:tr>
              <a:tr h="281682">
                <a:tc>
                  <a:txBody>
                    <a:bodyPr/>
                    <a:lstStyle/>
                    <a:p>
                      <a:pPr algn="ctr" fontAlgn="b"/>
                      <a:r>
                        <a:rPr lang="en-US" sz="2000" u="none" strike="noStrike">
                          <a:effectLst/>
                        </a:rPr>
                        <a:t>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0.81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0.71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0.65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0.61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0.48</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3556112297"/>
                  </a:ext>
                </a:extLst>
              </a:tr>
              <a:tr h="281682">
                <a:tc>
                  <a:txBody>
                    <a:bodyPr/>
                    <a:lstStyle/>
                    <a:p>
                      <a:pPr algn="ctr" fontAlgn="b"/>
                      <a:r>
                        <a:rPr lang="en-US" sz="2000" u="none" strike="noStrike">
                          <a:effectLst/>
                        </a:rPr>
                        <a:t>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0.63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0.49</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0.43</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1876080093"/>
                  </a:ext>
                </a:extLst>
              </a:tr>
              <a:tr h="281682">
                <a:tc>
                  <a:txBody>
                    <a:bodyPr/>
                    <a:lstStyle/>
                    <a:p>
                      <a:pPr algn="ctr" fontAlgn="b"/>
                      <a:r>
                        <a:rPr lang="en-US" sz="2000" u="none" strike="noStrike">
                          <a:effectLst/>
                        </a:rPr>
                        <a:t>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0.39</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2457148811"/>
                  </a:ext>
                </a:extLst>
              </a:tr>
              <a:tr h="281682">
                <a:tc>
                  <a:txBody>
                    <a:bodyPr/>
                    <a:lstStyle/>
                    <a:p>
                      <a:pPr algn="ctr" fontAlgn="b"/>
                      <a:r>
                        <a:rPr lang="en-US" sz="2000" u="none" strike="noStrike">
                          <a:effectLst/>
                        </a:rPr>
                        <a:t>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0.36</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1333218477"/>
                  </a:ext>
                </a:extLst>
              </a:tr>
              <a:tr h="281682">
                <a:tc>
                  <a:txBody>
                    <a:bodyPr/>
                    <a:lstStyle/>
                    <a:p>
                      <a:pPr algn="ctr" fontAlgn="b"/>
                      <a:r>
                        <a:rPr lang="en-US" sz="2000" u="none" strike="noStrike">
                          <a:effectLst/>
                        </a:rPr>
                        <a:t>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0.39</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0.33</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1923088216"/>
                  </a:ext>
                </a:extLst>
              </a:tr>
              <a:tr h="281682">
                <a:tc>
                  <a:txBody>
                    <a:bodyPr/>
                    <a:lstStyle/>
                    <a:p>
                      <a:pPr algn="ctr" fontAlgn="b"/>
                      <a:r>
                        <a:rPr lang="en-US" sz="2000" u="none" strike="noStrike">
                          <a:effectLst/>
                        </a:rPr>
                        <a:t>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0.31</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3258847184"/>
                  </a:ext>
                </a:extLst>
              </a:tr>
              <a:tr h="281682">
                <a:tc>
                  <a:txBody>
                    <a:bodyPr/>
                    <a:lstStyle/>
                    <a:p>
                      <a:pPr algn="ctr" fontAlgn="b"/>
                      <a:r>
                        <a:rPr lang="en-US" sz="2000" u="none" strike="noStrike">
                          <a:effectLst/>
                        </a:rPr>
                        <a:t>9</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0.30</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4179388639"/>
                  </a:ext>
                </a:extLst>
              </a:tr>
              <a:tr h="281682">
                <a:tc>
                  <a:txBody>
                    <a:bodyPr/>
                    <a:lstStyle/>
                    <a:p>
                      <a:pPr algn="ctr" fontAlgn="b"/>
                      <a:r>
                        <a:rPr lang="en-US" sz="2000" u="none" strike="noStrike">
                          <a:effectLst/>
                        </a:rPr>
                        <a:t>10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0.28</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1216045582"/>
                  </a:ext>
                </a:extLst>
              </a:tr>
              <a:tr h="281682">
                <a:tc>
                  <a:txBody>
                    <a:bodyPr/>
                    <a:lstStyle/>
                    <a:p>
                      <a:pPr algn="ctr" fontAlgn="b"/>
                      <a:r>
                        <a:rPr lang="en-US" sz="2000" u="none" strike="noStrike">
                          <a:effectLst/>
                        </a:rPr>
                        <a:t>11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0.27</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2587150157"/>
                  </a:ext>
                </a:extLst>
              </a:tr>
              <a:tr h="281682">
                <a:tc>
                  <a:txBody>
                    <a:bodyPr/>
                    <a:lstStyle/>
                    <a:p>
                      <a:pPr algn="ctr" fontAlgn="b"/>
                      <a:r>
                        <a:rPr lang="en-US" sz="2000" u="none" strike="noStrike">
                          <a:effectLst/>
                        </a:rPr>
                        <a:t>12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0.29</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0.29</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0.26</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3405910490"/>
                  </a:ext>
                </a:extLst>
              </a:tr>
              <a:tr h="281682">
                <a:tc>
                  <a:txBody>
                    <a:bodyPr/>
                    <a:lstStyle/>
                    <a:p>
                      <a:pPr algn="ctr" fontAlgn="b"/>
                      <a:r>
                        <a:rPr lang="en-US" sz="2000" u="none" strike="noStrike">
                          <a:effectLst/>
                        </a:rPr>
                        <a:t>13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0.29</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0.29</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0.25</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472248462"/>
                  </a:ext>
                </a:extLst>
              </a:tr>
              <a:tr h="281682">
                <a:tc>
                  <a:txBody>
                    <a:bodyPr/>
                    <a:lstStyle/>
                    <a:p>
                      <a:pPr algn="ctr" fontAlgn="b"/>
                      <a:r>
                        <a:rPr lang="en-US" sz="2000" u="none" strike="noStrike">
                          <a:effectLst/>
                        </a:rPr>
                        <a:t>14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0.29</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0.25</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938750422"/>
                  </a:ext>
                </a:extLst>
              </a:tr>
              <a:tr h="281682">
                <a:tc>
                  <a:txBody>
                    <a:bodyPr/>
                    <a:lstStyle/>
                    <a:p>
                      <a:pPr algn="ctr" fontAlgn="b"/>
                      <a:r>
                        <a:rPr lang="en-US" sz="2000" u="none" strike="noStrike">
                          <a:effectLst/>
                        </a:rPr>
                        <a:t>15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dirty="0">
                          <a:effectLst/>
                        </a:rPr>
                        <a:t>0.24</a:t>
                      </a:r>
                      <a:endParaRPr lang="en-US" sz="2000" b="0" i="0" u="none" strike="noStrike" dirty="0">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3648727351"/>
                  </a:ext>
                </a:extLst>
              </a:tr>
            </a:tbl>
          </a:graphicData>
        </a:graphic>
      </p:graphicFrame>
    </p:spTree>
    <p:extLst>
      <p:ext uri="{BB962C8B-B14F-4D97-AF65-F5344CB8AC3E}">
        <p14:creationId xmlns:p14="http://schemas.microsoft.com/office/powerpoint/2010/main" val="9227454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A602D-231E-4F4F-A196-D0E23598CEF4}"/>
              </a:ext>
            </a:extLst>
          </p:cNvPr>
          <p:cNvSpPr>
            <a:spLocks noGrp="1"/>
          </p:cNvSpPr>
          <p:nvPr>
            <p:ph type="title"/>
          </p:nvPr>
        </p:nvSpPr>
        <p:spPr/>
        <p:txBody>
          <a:bodyPr/>
          <a:lstStyle/>
          <a:p>
            <a:r>
              <a:rPr lang="en-US" dirty="0"/>
              <a:t>You Can Use Both Covariates and Imbalance</a:t>
            </a:r>
            <a:br>
              <a:rPr lang="en-US" dirty="0"/>
            </a:br>
            <a:r>
              <a:rPr lang="en-US" dirty="0"/>
              <a:t>(and maybe larger cluster sizes)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9727E4-2965-4DF2-9927-41B723FF5BC7}"/>
                  </a:ext>
                </a:extLst>
              </p:cNvPr>
              <p:cNvSpPr>
                <a:spLocks noGrp="1"/>
              </p:cNvSpPr>
              <p:nvPr>
                <p:ph idx="1"/>
              </p:nvPr>
            </p:nvSpPr>
            <p:spPr/>
            <p:txBody>
              <a:bodyPr/>
              <a:lstStyle/>
              <a:p>
                <a:pPr marL="0" indent="0">
                  <a:buNone/>
                </a:pPr>
                <a:r>
                  <a:rPr lang="en-US" dirty="0"/>
                  <a:t>It is also possible to introduce covariates along with an unbalanced design</a:t>
                </a:r>
              </a:p>
              <a:p>
                <a:pPr marL="0" indent="0">
                  <a:buNone/>
                </a:pPr>
                <a:endParaRPr lang="en-US" dirty="0"/>
              </a:p>
              <a:p>
                <a:pPr marL="0" indent="0">
                  <a:buNone/>
                </a:pPr>
                <a:r>
                  <a:rPr lang="en-US" dirty="0">
                    <a:cs typeface="Times New Roman" panose="02020603050405020304" pitchFamily="18" charset="0"/>
                  </a:rPr>
                  <a:t>If the control group is </a:t>
                </a:r>
                <a:r>
                  <a:rPr lang="en-US" i="1" dirty="0">
                    <a:latin typeface="Times New Roman" panose="02020603050405020304" pitchFamily="18" charset="0"/>
                    <a:cs typeface="Times New Roman" panose="02020603050405020304" pitchFamily="18" charset="0"/>
                  </a:rPr>
                  <a:t>c</a:t>
                </a:r>
                <a:r>
                  <a:rPr lang="en-US" dirty="0">
                    <a:cs typeface="Times New Roman" panose="02020603050405020304" pitchFamily="18" charset="0"/>
                  </a:rPr>
                  <a:t> times as large as the treatment group, then the MDES is changed by a factor of </a:t>
                </a:r>
                <a14:m>
                  <m:oMath xmlns:m="http://schemas.openxmlformats.org/officeDocument/2006/math">
                    <m:rad>
                      <m:radPr>
                        <m:degHide m:val="on"/>
                        <m:ctrlPr>
                          <a:rPr lang="en-US" i="1" smtClean="0">
                            <a:latin typeface="Cambria Math" panose="02040503050406030204" pitchFamily="18" charset="0"/>
                            <a:cs typeface="Times New Roman" panose="02020603050405020304" pitchFamily="18" charset="0"/>
                          </a:rPr>
                        </m:ctrlPr>
                      </m:radPr>
                      <m:deg/>
                      <m:e>
                        <m:f>
                          <m:fPr>
                            <m:type m:val="lin"/>
                            <m:ctrlPr>
                              <a:rPr lang="en-US" i="1" smtClean="0">
                                <a:latin typeface="Cambria Math" panose="02040503050406030204" pitchFamily="18" charset="0"/>
                                <a:cs typeface="Times New Roman" panose="02020603050405020304" pitchFamily="18" charset="0"/>
                              </a:rPr>
                            </m:ctrlPr>
                          </m:fPr>
                          <m:num>
                            <m:d>
                              <m:dPr>
                                <m:ctrlPr>
                                  <a:rPr lang="en-US" i="1" smtClean="0">
                                    <a:latin typeface="Cambria Math" panose="02040503050406030204" pitchFamily="18" charset="0"/>
                                    <a:cs typeface="Times New Roman" panose="02020603050405020304" pitchFamily="18" charset="0"/>
                                  </a:rPr>
                                </m:ctrlPr>
                              </m:dPr>
                              <m:e>
                                <m:r>
                                  <a:rPr lang="en-US" b="0" i="1" smtClean="0">
                                    <a:latin typeface="Cambria Math" panose="02040503050406030204" pitchFamily="18" charset="0"/>
                                    <a:cs typeface="Times New Roman" panose="02020603050405020304" pitchFamily="18" charset="0"/>
                                  </a:rPr>
                                  <m:t>𝑐</m:t>
                                </m:r>
                                <m:r>
                                  <a:rPr lang="en-US" b="0" i="1" smtClean="0">
                                    <a:latin typeface="Cambria Math" panose="02040503050406030204" pitchFamily="18" charset="0"/>
                                    <a:cs typeface="Times New Roman" panose="02020603050405020304" pitchFamily="18" charset="0"/>
                                  </a:rPr>
                                  <m:t>+1</m:t>
                                </m:r>
                              </m:e>
                            </m:d>
                            <m:d>
                              <m:dPr>
                                <m:ctrlPr>
                                  <a:rPr lang="en-US" i="1" smtClean="0">
                                    <a:latin typeface="Cambria Math" panose="02040503050406030204" pitchFamily="18" charset="0"/>
                                    <a:cs typeface="Times New Roman" panose="02020603050405020304" pitchFamily="18" charset="0"/>
                                  </a:rPr>
                                </m:ctrlPr>
                              </m:dPr>
                              <m:e>
                                <m:r>
                                  <a:rPr lang="en-US" b="0" i="1" smtClean="0">
                                    <a:latin typeface="Cambria Math" panose="02040503050406030204" pitchFamily="18" charset="0"/>
                                    <a:cs typeface="Times New Roman" panose="02020603050405020304" pitchFamily="18" charset="0"/>
                                  </a:rPr>
                                  <m:t>1−</m:t>
                                </m:r>
                                <m:sSup>
                                  <m:sSupPr>
                                    <m:ctrlPr>
                                      <a:rPr lang="en-US" b="0" i="1" smtClean="0">
                                        <a:latin typeface="Cambria Math" panose="02040503050406030204" pitchFamily="18" charset="0"/>
                                        <a:cs typeface="Times New Roman" panose="02020603050405020304" pitchFamily="18" charset="0"/>
                                      </a:rPr>
                                    </m:ctrlPr>
                                  </m:sSupPr>
                                  <m:e>
                                    <m:r>
                                      <a:rPr lang="en-US" b="0" i="1" smtClean="0">
                                        <a:latin typeface="Cambria Math" panose="02040503050406030204" pitchFamily="18" charset="0"/>
                                        <a:cs typeface="Times New Roman" panose="02020603050405020304" pitchFamily="18" charset="0"/>
                                      </a:rPr>
                                      <m:t>𝑅</m:t>
                                    </m:r>
                                  </m:e>
                                  <m:sup>
                                    <m:r>
                                      <a:rPr lang="en-US" b="0" i="1" smtClean="0">
                                        <a:latin typeface="Cambria Math" panose="02040503050406030204" pitchFamily="18" charset="0"/>
                                        <a:cs typeface="Times New Roman" panose="02020603050405020304" pitchFamily="18" charset="0"/>
                                      </a:rPr>
                                      <m:t>2</m:t>
                                    </m:r>
                                  </m:sup>
                                </m:sSup>
                              </m:e>
                            </m:d>
                          </m:num>
                          <m:den>
                            <m:r>
                              <a:rPr lang="en-US" b="0" i="1" smtClean="0">
                                <a:latin typeface="Cambria Math" panose="02040503050406030204" pitchFamily="18" charset="0"/>
                                <a:cs typeface="Times New Roman" panose="02020603050405020304" pitchFamily="18" charset="0"/>
                              </a:rPr>
                              <m:t>2</m:t>
                            </m:r>
                            <m:r>
                              <a:rPr lang="en-US" b="0" i="1" smtClean="0">
                                <a:latin typeface="Cambria Math" panose="02040503050406030204" pitchFamily="18" charset="0"/>
                                <a:cs typeface="Times New Roman" panose="02020603050405020304" pitchFamily="18" charset="0"/>
                              </a:rPr>
                              <m:t>𝑐</m:t>
                            </m:r>
                          </m:den>
                        </m:f>
                      </m:e>
                    </m:rad>
                  </m:oMath>
                </a14:m>
                <a:endParaRPr lang="en-US" dirty="0">
                  <a:cs typeface="Times New Roman" panose="02020603050405020304" pitchFamily="18" charset="0"/>
                </a:endParaRPr>
              </a:p>
              <a:p>
                <a:pPr marL="0" indent="0">
                  <a:buNone/>
                </a:pPr>
                <a:endParaRPr lang="en-US" dirty="0">
                  <a:cs typeface="Times New Roman" panose="02020603050405020304" pitchFamily="18" charset="0"/>
                </a:endParaRPr>
              </a:p>
              <a:p>
                <a:pPr marL="0" indent="0">
                  <a:buNone/>
                </a:pPr>
                <a:r>
                  <a:rPr lang="en-US" dirty="0">
                    <a:cs typeface="Times New Roman" panose="02020603050405020304" pitchFamily="18" charset="0"/>
                  </a:rPr>
                  <a:t>In other words </a:t>
                </a:r>
              </a:p>
              <a:p>
                <a:pPr marL="0" indent="0">
                  <a:buNone/>
                </a:pPr>
                <a:endParaRPr lang="en-US" dirty="0">
                  <a:cs typeface="Times New Roman" panose="02020603050405020304" pitchFamily="18" charset="0"/>
                </a:endParaRPr>
              </a:p>
              <a:p>
                <a:pPr marL="0" indent="0">
                  <a:buNone/>
                </a:pPr>
                <a:r>
                  <a:rPr lang="en-US" dirty="0">
                    <a:cs typeface="Times New Roman" panose="02020603050405020304" pitchFamily="18" charset="0"/>
                  </a:rPr>
                  <a:t>	MDES(unbalanced with covariates) </a:t>
                </a:r>
                <a:r>
                  <a:rPr lang="en-US" dirty="0">
                    <a:latin typeface="Times New Roman" panose="02020603050405020304" pitchFamily="18" charset="0"/>
                    <a:cs typeface="Times New Roman" panose="02020603050405020304" pitchFamily="18" charset="0"/>
                  </a:rPr>
                  <a:t>≈</a:t>
                </a:r>
                <a:r>
                  <a:rPr lang="en-US" dirty="0">
                    <a:cs typeface="Times New Roman" panose="02020603050405020304" pitchFamily="18" charset="0"/>
                  </a:rPr>
                  <a:t> MDES(balanced)</a:t>
                </a:r>
                <a14:m>
                  <m:oMath xmlns:m="http://schemas.openxmlformats.org/officeDocument/2006/math">
                    <m:rad>
                      <m:radPr>
                        <m:degHide m:val="on"/>
                        <m:ctrlPr>
                          <a:rPr lang="en-US" i="1" smtClean="0">
                            <a:latin typeface="Cambria Math" panose="02040503050406030204" pitchFamily="18" charset="0"/>
                            <a:cs typeface="Times New Roman" panose="02020603050405020304" pitchFamily="18" charset="0"/>
                          </a:rPr>
                        </m:ctrlPr>
                      </m:radPr>
                      <m:deg/>
                      <m:e>
                        <m:f>
                          <m:fPr>
                            <m:type m:val="lin"/>
                            <m:ctrlPr>
                              <a:rPr lang="en-US" i="1" smtClean="0">
                                <a:latin typeface="Cambria Math" panose="02040503050406030204" pitchFamily="18" charset="0"/>
                                <a:cs typeface="Times New Roman" panose="02020603050405020304" pitchFamily="18" charset="0"/>
                              </a:rPr>
                            </m:ctrlPr>
                          </m:fPr>
                          <m:num>
                            <m:d>
                              <m:dPr>
                                <m:ctrlPr>
                                  <a:rPr lang="en-US" i="1" smtClean="0">
                                    <a:latin typeface="Cambria Math" panose="02040503050406030204" pitchFamily="18" charset="0"/>
                                    <a:cs typeface="Times New Roman" panose="02020603050405020304" pitchFamily="18" charset="0"/>
                                  </a:rPr>
                                </m:ctrlPr>
                              </m:dPr>
                              <m:e>
                                <m:r>
                                  <a:rPr lang="en-US" b="0" i="1" smtClean="0">
                                    <a:latin typeface="Cambria Math" panose="02040503050406030204" pitchFamily="18" charset="0"/>
                                    <a:cs typeface="Times New Roman" panose="02020603050405020304" pitchFamily="18" charset="0"/>
                                  </a:rPr>
                                  <m:t>𝑐</m:t>
                                </m:r>
                                <m:r>
                                  <a:rPr lang="en-US" b="0" i="1" smtClean="0">
                                    <a:latin typeface="Cambria Math" panose="02040503050406030204" pitchFamily="18" charset="0"/>
                                    <a:cs typeface="Times New Roman" panose="02020603050405020304" pitchFamily="18" charset="0"/>
                                  </a:rPr>
                                  <m:t>+1</m:t>
                                </m:r>
                              </m:e>
                            </m:d>
                            <m:d>
                              <m:dPr>
                                <m:ctrlPr>
                                  <a:rPr lang="en-US" i="1" smtClean="0">
                                    <a:latin typeface="Cambria Math" panose="02040503050406030204" pitchFamily="18" charset="0"/>
                                    <a:cs typeface="Times New Roman" panose="02020603050405020304" pitchFamily="18" charset="0"/>
                                  </a:rPr>
                                </m:ctrlPr>
                              </m:dPr>
                              <m:e>
                                <m:r>
                                  <a:rPr lang="en-US" b="0" i="1" smtClean="0">
                                    <a:latin typeface="Cambria Math" panose="02040503050406030204" pitchFamily="18" charset="0"/>
                                    <a:cs typeface="Times New Roman" panose="02020603050405020304" pitchFamily="18" charset="0"/>
                                  </a:rPr>
                                  <m:t>1−</m:t>
                                </m:r>
                                <m:sSup>
                                  <m:sSupPr>
                                    <m:ctrlPr>
                                      <a:rPr lang="en-US" b="0" i="1" smtClean="0">
                                        <a:latin typeface="Cambria Math" panose="02040503050406030204" pitchFamily="18" charset="0"/>
                                        <a:cs typeface="Times New Roman" panose="02020603050405020304" pitchFamily="18" charset="0"/>
                                      </a:rPr>
                                    </m:ctrlPr>
                                  </m:sSupPr>
                                  <m:e>
                                    <m:r>
                                      <a:rPr lang="en-US" b="0" i="1" smtClean="0">
                                        <a:latin typeface="Cambria Math" panose="02040503050406030204" pitchFamily="18" charset="0"/>
                                        <a:cs typeface="Times New Roman" panose="02020603050405020304" pitchFamily="18" charset="0"/>
                                      </a:rPr>
                                      <m:t>𝑅</m:t>
                                    </m:r>
                                  </m:e>
                                  <m:sup>
                                    <m:r>
                                      <a:rPr lang="en-US" b="0" i="1" smtClean="0">
                                        <a:latin typeface="Cambria Math" panose="02040503050406030204" pitchFamily="18" charset="0"/>
                                        <a:cs typeface="Times New Roman" panose="02020603050405020304" pitchFamily="18" charset="0"/>
                                      </a:rPr>
                                      <m:t>2</m:t>
                                    </m:r>
                                  </m:sup>
                                </m:sSup>
                              </m:e>
                            </m:d>
                          </m:num>
                          <m:den>
                            <m:r>
                              <a:rPr lang="en-US" b="0" i="1" smtClean="0">
                                <a:latin typeface="Cambria Math" panose="02040503050406030204" pitchFamily="18" charset="0"/>
                                <a:cs typeface="Times New Roman" panose="02020603050405020304" pitchFamily="18" charset="0"/>
                              </a:rPr>
                              <m:t>2</m:t>
                            </m:r>
                            <m:r>
                              <a:rPr lang="en-US" b="0" i="1" smtClean="0">
                                <a:latin typeface="Cambria Math" panose="02040503050406030204" pitchFamily="18" charset="0"/>
                                <a:cs typeface="Times New Roman" panose="02020603050405020304" pitchFamily="18" charset="0"/>
                              </a:rPr>
                              <m:t>𝑐</m:t>
                            </m:r>
                          </m:den>
                        </m:f>
                      </m:e>
                    </m:rad>
                  </m:oMath>
                </a14:m>
                <a:endParaRPr lang="en-US" dirty="0">
                  <a:cs typeface="Times New Roman" panose="02020603050405020304" pitchFamily="18" charset="0"/>
                </a:endParaRPr>
              </a:p>
              <a:p>
                <a:pPr marL="0" indent="0">
                  <a:buNone/>
                </a:pPr>
                <a:endParaRPr lang="en-US" dirty="0">
                  <a:cs typeface="Times New Roman" panose="02020603050405020304" pitchFamily="18" charset="0"/>
                </a:endParaRPr>
              </a:p>
              <a:p>
                <a:pPr marL="0" indent="0">
                  <a:buNone/>
                </a:pPr>
                <a:r>
                  <a:rPr lang="en-US" dirty="0">
                    <a:cs typeface="Times New Roman" panose="02020603050405020304" pitchFamily="18" charset="0"/>
                  </a:rPr>
                  <a:t>Note that both strategies contribute to a reduction in MDES (an increase in design sensitivity)</a:t>
                </a:r>
              </a:p>
              <a:p>
                <a:pPr marL="0" indent="0">
                  <a:buNone/>
                </a:pPr>
                <a:endParaRPr lang="en-US" dirty="0">
                  <a:cs typeface="Times New Roman" panose="02020603050405020304" pitchFamily="18" charset="0"/>
                </a:endParaRPr>
              </a:p>
              <a:p>
                <a:pPr marL="0" indent="0">
                  <a:buNone/>
                </a:pPr>
                <a:r>
                  <a:rPr lang="en-US" dirty="0">
                    <a:highlight>
                      <a:srgbClr val="FFFF00"/>
                    </a:highlight>
                    <a:cs typeface="Times New Roman" panose="02020603050405020304" pitchFamily="18" charset="0"/>
                  </a:rPr>
                  <a:t>Eric: This might be a good place for a demo of the joint effect of unbalance and covariates</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099727E4-2965-4DF2-9927-41B723FF5BC7}"/>
                  </a:ext>
                </a:extLst>
              </p:cNvPr>
              <p:cNvSpPr>
                <a:spLocks noGrp="1" noRot="1" noChangeAspect="1" noMove="1" noResize="1" noEditPoints="1" noAdjustHandles="1" noChangeArrowheads="1" noChangeShapeType="1" noTextEdit="1"/>
              </p:cNvSpPr>
              <p:nvPr>
                <p:ph idx="1"/>
              </p:nvPr>
            </p:nvSpPr>
            <p:spPr>
              <a:blipFill>
                <a:blip r:embed="rId2"/>
                <a:stretch>
                  <a:fillRect l="-638" t="-1401" r="-638"/>
                </a:stretch>
              </a:blipFill>
            </p:spPr>
            <p:txBody>
              <a:bodyPr/>
              <a:lstStyle/>
              <a:p>
                <a:r>
                  <a:rPr lang="en-US">
                    <a:noFill/>
                  </a:rPr>
                  <a:t> </a:t>
                </a:r>
              </a:p>
            </p:txBody>
          </p:sp>
        </mc:Fallback>
      </mc:AlternateContent>
    </p:spTree>
    <p:extLst>
      <p:ext uri="{BB962C8B-B14F-4D97-AF65-F5344CB8AC3E}">
        <p14:creationId xmlns:p14="http://schemas.microsoft.com/office/powerpoint/2010/main" val="15397478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1795</TotalTime>
  <Words>3272</Words>
  <Application>Microsoft Office PowerPoint</Application>
  <PresentationFormat>Widescreen</PresentationFormat>
  <Paragraphs>781</Paragraphs>
  <Slides>29</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2</vt:i4>
      </vt:variant>
      <vt:variant>
        <vt:lpstr>Slide Titles</vt:lpstr>
      </vt:variant>
      <vt:variant>
        <vt:i4>29</vt:i4>
      </vt:variant>
    </vt:vector>
  </HeadingPairs>
  <TitlesOfParts>
    <vt:vector size="37" baseType="lpstr">
      <vt:lpstr>-apple-system</vt:lpstr>
      <vt:lpstr>Arial</vt:lpstr>
      <vt:lpstr>Calibri</vt:lpstr>
      <vt:lpstr>Cambria Math</vt:lpstr>
      <vt:lpstr>Times New Roman</vt:lpstr>
      <vt:lpstr>Office Theme</vt:lpstr>
      <vt:lpstr>Equation</vt:lpstr>
      <vt:lpstr>MathType 7.0 Equation</vt:lpstr>
      <vt:lpstr>Cluster Randomized Trials</vt:lpstr>
      <vt:lpstr>Definition of Cluster Randomized Designs</vt:lpstr>
      <vt:lpstr>Definition of Cluster Randomized Designs</vt:lpstr>
      <vt:lpstr>Why Would You Use A Cluster Randomized Design?</vt:lpstr>
      <vt:lpstr>A Statistical Model </vt:lpstr>
      <vt:lpstr>The Stochastic Specification</vt:lpstr>
      <vt:lpstr>Effect Size</vt:lpstr>
      <vt:lpstr>Effect Size</vt:lpstr>
      <vt:lpstr>Testing the Significance of the Treatment Effect</vt:lpstr>
      <vt:lpstr>Testing the Significance of the Treatment Effect</vt:lpstr>
      <vt:lpstr>Déjà vu?</vt:lpstr>
      <vt:lpstr>Design Sensitivity</vt:lpstr>
      <vt:lpstr>MDES in Cluster Randomized Designs</vt:lpstr>
      <vt:lpstr>MDES in Cluster Randomized Designs</vt:lpstr>
      <vt:lpstr>A Graphical Representation of MDES as  Function of n</vt:lpstr>
      <vt:lpstr>MDES as a Function of m and n for ρ = 0.05</vt:lpstr>
      <vt:lpstr>MDES in Cluster Randomized Designs Depends on ρ </vt:lpstr>
      <vt:lpstr>Asymptotic MDES (as n→∞) as a Function of m and ρ</vt:lpstr>
      <vt:lpstr>A Graphical Representation of MDES as a Function of ρ </vt:lpstr>
      <vt:lpstr>The Fundamental Problem of Research Design</vt:lpstr>
      <vt:lpstr>Three Strategies to Improve Design Sensitivity</vt:lpstr>
      <vt:lpstr>Matching of Clusters Before Random Assignment</vt:lpstr>
      <vt:lpstr>Increase Cluster Size</vt:lpstr>
      <vt:lpstr>Adding Covariates</vt:lpstr>
      <vt:lpstr>The Effect of Covariates on MDES</vt:lpstr>
      <vt:lpstr>Unbalanced Designs</vt:lpstr>
      <vt:lpstr>Unbalanced Designs</vt:lpstr>
      <vt:lpstr>The Effect on MDES of Larger Control Groups</vt:lpstr>
      <vt:lpstr>You Can Use Both Covariates and Imbalance (and maybe larger cluster sizes)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Cluster Randomized Trials</dc:title>
  <dc:creator>Larry Vernon Hedges</dc:creator>
  <cp:lastModifiedBy>Larry Vernon Hedges</cp:lastModifiedBy>
  <cp:revision>33</cp:revision>
  <dcterms:created xsi:type="dcterms:W3CDTF">2021-07-02T18:17:49Z</dcterms:created>
  <dcterms:modified xsi:type="dcterms:W3CDTF">2021-07-04T17:21:11Z</dcterms:modified>
</cp:coreProperties>
</file>