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8" Type="http://schemas.openxmlformats.org/officeDocument/2006/relationships/viewProps" Target="viewProps.xml" /><Relationship Id="rId3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0" Type="http://schemas.openxmlformats.org/officeDocument/2006/relationships/tableStyles" Target="tableStyles.xml" /><Relationship Id="rId3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 to Randomized Designs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NSF Improving Education R&amp;D Evaluations Workshop 2021</a:t>
            </a:r>
            <a:br/>
            <a:br/>
            <a:r>
              <a:rPr/>
              <a:t>Tipton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2022-06-05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…“does not mean that the experimenter writes down the names of the varieties [treatments] in any order that occurs to him, but that he carries out a physical experimental process of randomization, using means that shall ensure that each variety [treatment] will have an equal chance of being tested on any particular plot of ground [unit] (Fisher, 1935, p. 51).”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randomize?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There are several processes that can be used to randomize:</a:t>
            </a:r>
          </a:p>
          <a:p>
            <a:pPr lvl="0"/>
            <a:r>
              <a:rPr/>
              <a:t>Use a well shuffled deck of cards.</a:t>
            </a:r>
          </a:p>
          <a:p>
            <a:pPr lvl="0"/>
            <a:r>
              <a:rPr/>
              <a:t>Use random number generators.</a:t>
            </a:r>
          </a:p>
          <a:p>
            <a:pPr lvl="0"/>
            <a:r>
              <a:rPr/>
              <a:t>Use a random number table.</a:t>
            </a:r>
          </a:p>
          <a:p>
            <a:pPr lvl="0"/>
            <a:r>
              <a:rPr/>
              <a:t>Use software that directly randomizes into groups.</a:t>
            </a:r>
          </a:p>
          <a:p>
            <a:pPr lvl="0"/>
            <a:r>
              <a:rPr/>
              <a:t>In each case, however, care should be made to ensure that the process is truly random. </a:t>
            </a:r>
            <a:r>
              <a:rPr b="1"/>
              <a:t>Every unit should have a known probability of being in the intervention vs. comparison group.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Deck of cards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say we want to randomize a set of 10 individuals into two groups, with ½ (5 individuals) allocated to each group. We use a deck of 10 cards, 5 of which are red and 5 of which are black.</a:t>
            </a:r>
          </a:p>
          <a:p>
            <a:pPr lvl="0"/>
            <a:r>
              <a:rPr/>
              <a:t>Red = intervention group</a:t>
            </a:r>
          </a:p>
          <a:p>
            <a:pPr lvl="0"/>
            <a:r>
              <a:rPr/>
              <a:t>Black = comparison group</a:t>
            </a:r>
          </a:p>
          <a:p>
            <a:pPr lvl="0" indent="0" marL="0">
              <a:buNone/>
            </a:pPr>
            <a:r>
              <a:rPr/>
              <a:t>Shuffle the cards well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Deck of cards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unit, choose a card, determining which group they are in.</a:t>
            </a:r>
          </a:p>
          <a:p>
            <a:pPr lvl="0"/>
            <a:r>
              <a:rPr/>
              <a:t>Person 1 is Red (intervention group)</a:t>
            </a:r>
          </a:p>
          <a:p>
            <a:pPr lvl="0"/>
            <a:r>
              <a:rPr/>
              <a:t>Person 2 is Black (comparison group)</a:t>
            </a:r>
          </a:p>
          <a:p>
            <a:pPr lvl="0" indent="0" marL="0">
              <a:buNone/>
            </a:pPr>
            <a:r>
              <a:rPr/>
              <a:t>Continue down the list of units.</a:t>
            </a:r>
          </a:p>
          <a:p>
            <a:pPr lvl="0" indent="0" marL="0">
              <a:buNone/>
            </a:pPr>
            <a:r>
              <a:rPr/>
              <a:t>When one group is full, the rest go into the other group.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(n =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We have 5 red cards and 5 black cards.</a:t>
            </a:r>
          </a:p>
          <a:p>
            <a:pPr lvl="0" indent="0" marL="0">
              <a:buNone/>
            </a:pPr>
            <a:r>
              <a:rPr/>
              <a:t>2. We shuffle the cards.</a:t>
            </a:r>
          </a:p>
          <a:p>
            <a:pPr lvl="0" indent="0" marL="0">
              <a:buNone/>
            </a:pPr>
            <a:r>
              <a:rPr/>
              <a:t>3. In order, draw a card.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two…</a:t>
            </a:r>
          </a:p>
        </p:txBody>
      </p:sp>
      <p:pic>
        <p:nvPicPr>
          <p:cNvPr descr="Ch-6-Intro-RCT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193800"/>
            <a:ext cx="7632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-6-Intro-RCT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193800"/>
            <a:ext cx="7632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-6-Intro-RC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193800"/>
            <a:ext cx="7632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-6-Intro-RCT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193800"/>
            <a:ext cx="7632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-6-Intro-RC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193800"/>
            <a:ext cx="7632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group are the last 3 in ?</a:t>
            </a:r>
          </a:p>
        </p:txBody>
      </p:sp>
      <p:pic>
        <p:nvPicPr>
          <p:cNvPr descr="Ch-6-Intro-RCT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193800"/>
            <a:ext cx="7632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the last 3, I didn’t even need to draw the cards to know which group they were in.</a:t>
            </a:r>
          </a:p>
        </p:txBody>
      </p:sp>
      <p:pic>
        <p:nvPicPr>
          <p:cNvPr descr="Ch-6-Intro-RCT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193800"/>
            <a:ext cx="7632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 this random?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“When one group is full, the rest go into the other group.”</a:t>
            </a:r>
          </a:p>
          <a:p>
            <a:pPr lvl="0" indent="0" marL="0">
              <a:buNone/>
            </a:pPr>
            <a:r>
              <a:rPr/>
              <a:t>Is that really random? Doesn’t this induce a dependence between the units?</a:t>
            </a:r>
          </a:p>
          <a:p>
            <a:pPr lvl="0" indent="0" marL="0">
              <a:buNone/>
            </a:pPr>
            <a:r>
              <a:rPr/>
              <a:t>Yes, it really is independent and random. To see why, just imagine a different shuffling of the cards … every unit would have some the same chance being selected at the start as at the end.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does this seem not random?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Because humans aren’t very good at generating random numbers.</a:t>
            </a:r>
          </a:p>
          <a:p>
            <a:pPr lvl="0" indent="0" marL="0">
              <a:buNone/>
            </a:pPr>
            <a:r>
              <a:rPr/>
              <a:t>For example, which of these runs is more likely?</a:t>
            </a:r>
          </a:p>
          <a:p>
            <a:pPr lvl="0" indent="0" marL="0">
              <a:buNone/>
            </a:pPr>
            <a:r>
              <a:rPr/>
              <a:t>#1: T, C, T, C, T, C, T, C, T, C</a:t>
            </a:r>
          </a:p>
          <a:p>
            <a:pPr lvl="0" indent="0" marL="0">
              <a:buNone/>
            </a:pPr>
            <a:r>
              <a:rPr/>
              <a:t>#2: T, C, C, T, T, C, T, C, T, C</a:t>
            </a:r>
          </a:p>
          <a:p>
            <a:pPr lvl="0" indent="0" marL="0">
              <a:buNone/>
            </a:pPr>
            <a:r>
              <a:rPr/>
              <a:t>They are both equally likely (1 out of 252 possible ways to randomize 5 out of 10 to treatment)!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Computer generated random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Computer random number generators start with what is called a </a:t>
            </a:r>
            <a:r>
              <a:rPr i="1"/>
              <a:t>seed value</a:t>
            </a:r>
            <a:r>
              <a:rPr/>
              <a:t> , which is transformed in a complex way to yield the ‘random’ number.</a:t>
            </a:r>
          </a:p>
          <a:p>
            <a:pPr lvl="0" indent="0" marL="0">
              <a:buNone/>
            </a:pPr>
            <a:r>
              <a:rPr/>
              <a:t>If you start with the same seed value, the process always yields the same random numbers.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so wrong with alternation?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Notice that in run #1, the red and blacks alternated in a pattern. Why not just use this approach? Three good reasons:</a:t>
            </a:r>
          </a:p>
          <a:p>
            <a:pPr lvl="0"/>
            <a:r>
              <a:rPr/>
              <a:t>You can manipulate this easily, particularly if you know that there are some units you’d like to be in the intervention group.</a:t>
            </a:r>
          </a:p>
          <a:p>
            <a:pPr lvl="0"/>
            <a:r>
              <a:rPr/>
              <a:t>It’s not actually random … which means that the statistical properties that we need do not hold.</a:t>
            </a:r>
          </a:p>
          <a:p>
            <a:pPr lvl="0"/>
            <a:r>
              <a:rPr/>
              <a:t>If there is any sort of cyclical property to your data, you can end up with two groups that are quite different than one another.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Theoretical Objections to Randomization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There are a variety of criticisms of random assignment and experiments. These include that they:</a:t>
            </a:r>
          </a:p>
          <a:p>
            <a:pPr lvl="0"/>
            <a:r>
              <a:rPr/>
              <a:t>Offer an oversimplified theory of causation.</a:t>
            </a:r>
          </a:p>
          <a:p>
            <a:pPr lvl="0"/>
            <a:r>
              <a:rPr/>
              <a:t>Are unsuited for complex organizations like schools.</a:t>
            </a:r>
          </a:p>
          <a:p>
            <a:pPr lvl="0"/>
            <a:r>
              <a:rPr/>
              <a:t>Are premature without good theory.</a:t>
            </a:r>
          </a:p>
          <a:p>
            <a:pPr lvl="0"/>
            <a:r>
              <a:rPr/>
              <a:t>Are politically unfeasible.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Theoretical Objections to Randomization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Despite these claims, however, randomized experiments have been possible in education. In the last 20 years, for example, over 400 such studies have been conducted in schools in the US </a:t>
            </a:r>
            <a:r>
              <a:rPr b="1"/>
              <a:t>funded by IES</a:t>
            </a:r>
            <a:r>
              <a:rPr/>
              <a:t>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Experiments often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Another criticism is that experiments often result in ‘null’ findings. That is, the effect sizes are small and often not statistically different than zero.</a:t>
            </a:r>
          </a:p>
          <a:p>
            <a:pPr lvl="0"/>
            <a:r>
              <a:rPr/>
              <a:t>But isn’t this a finding in and of itself?</a:t>
            </a:r>
          </a:p>
          <a:p>
            <a:pPr lvl="0"/>
            <a:r>
              <a:rPr i="1"/>
              <a:t>Incidentally, this is true in fields beyond education. In medicine, too, for example, the vast majority of new treatments are not found to be effective.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Aren’t there alternatives?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Yes, there are alternatives available. We will talk about two of these later this week:</a:t>
            </a:r>
          </a:p>
          <a:p>
            <a:pPr lvl="0"/>
            <a:r>
              <a:rPr/>
              <a:t>Non-equivalent control group designs</a:t>
            </a:r>
          </a:p>
          <a:p>
            <a:pPr lvl="0"/>
            <a:r>
              <a:rPr/>
              <a:t>Difference-in-difference designs</a:t>
            </a:r>
          </a:p>
          <a:p>
            <a:pPr lvl="0" indent="0" marL="0">
              <a:buNone/>
            </a:pPr>
            <a:r>
              <a:rPr/>
              <a:t>But in order to recover the causal effect, these methods:</a:t>
            </a:r>
          </a:p>
          <a:p>
            <a:pPr lvl="0"/>
            <a:r>
              <a:rPr/>
              <a:t>Require assumptions, some of which cannot be verified</a:t>
            </a:r>
          </a:p>
          <a:p>
            <a:pPr lvl="0"/>
            <a:r>
              <a:rPr/>
              <a:t>Require advanced statistical methods to be used in the analyses</a:t>
            </a:r>
          </a:p>
          <a:p>
            <a:pPr lvl="0"/>
            <a:r>
              <a:rPr/>
              <a:t>Require </a:t>
            </a:r>
            <a:r>
              <a:rPr b="1"/>
              <a:t>more</a:t>
            </a:r>
            <a:r>
              <a:rPr/>
              <a:t> data than experiments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Are they unethical?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an experiment, some people don’t get the intervention. Isn’t this unethical?</a:t>
            </a:r>
          </a:p>
          <a:p>
            <a:pPr lvl="0" indent="0" marL="0">
              <a:buNone/>
            </a:pPr>
            <a:r>
              <a:rPr/>
              <a:t>To answer this, we need to consider the risks and benefits to both participants and society.</a:t>
            </a:r>
          </a:p>
          <a:p>
            <a:pPr lvl="0" indent="0" marL="0">
              <a:buNone/>
            </a:pPr>
            <a:r>
              <a:rPr/>
              <a:t>If the potential benefits do not outweigh the risks, overall, then it is essentially </a:t>
            </a:r>
            <a:r>
              <a:rPr i="1"/>
              <a:t>never</a:t>
            </a:r>
            <a:r>
              <a:rPr/>
              <a:t> ethical to randomize.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of being in an intervention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Recall that many interventions, once evaluated, indicate that there is </a:t>
            </a:r>
            <a:r>
              <a:rPr b="1"/>
              <a:t>no</a:t>
            </a:r>
            <a:r>
              <a:rPr/>
              <a:t> evident benefit of the intervention.</a:t>
            </a:r>
          </a:p>
          <a:p>
            <a:pPr lvl="0" indent="0" marL="0">
              <a:buNone/>
            </a:pPr>
            <a:r>
              <a:rPr/>
              <a:t>Yet there is a </a:t>
            </a:r>
            <a:r>
              <a:rPr b="1"/>
              <a:t>cost</a:t>
            </a:r>
            <a:r>
              <a:rPr/>
              <a:t> to being in the intervention group:</a:t>
            </a:r>
          </a:p>
          <a:p>
            <a:pPr lvl="0" indent="0" marL="0">
              <a:buNone/>
            </a:pPr>
            <a:r>
              <a:rPr/>
              <a:t>Your routine is disrupted</a:t>
            </a:r>
          </a:p>
          <a:p>
            <a:pPr lvl="0" indent="0" marL="0">
              <a:buNone/>
            </a:pPr>
            <a:r>
              <a:rPr/>
              <a:t>Time you could have spent learning or doing some other practice or intervention is focused on this one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clinical equipoise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…states that it is ethical to randomly assign patients to a treatment or control if there is genuine uncertainty in the scientific community about whether the treatment is more effective than the control condition.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Caveat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concept of equipoise does not mean that there must be </a:t>
            </a:r>
            <a:r>
              <a:rPr i="1"/>
              <a:t>no</a:t>
            </a:r>
            <a:r>
              <a:rPr/>
              <a:t> reason to suspect the treatment is either more or less effective than the control.</a:t>
            </a:r>
          </a:p>
          <a:p>
            <a:pPr lvl="0" indent="0" marL="0">
              <a:buNone/>
            </a:pPr>
            <a:r>
              <a:rPr/>
              <a:t>It would make no sense to evaluate a treatment if there were no reason to think it might be effective.</a:t>
            </a:r>
          </a:p>
          <a:p>
            <a:pPr lvl="0" indent="0" marL="0">
              <a:buNone/>
            </a:pPr>
            <a:r>
              <a:rPr/>
              <a:t>There is little evidence from field trials to support the effectiveness of a treatment that is undergoing an initial field trial.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Randomization can be complex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think of randomization, you likely think:</a:t>
            </a:r>
          </a:p>
          <a:p>
            <a:pPr lvl="0"/>
            <a:r>
              <a:rPr/>
              <a:t>Every unit in the study has to be randomized</a:t>
            </a:r>
          </a:p>
          <a:p>
            <a:pPr lvl="0"/>
            <a:r>
              <a:rPr/>
              <a:t>Every unit has to have an equal chance of being in the intervention or comparison groups</a:t>
            </a:r>
          </a:p>
          <a:p>
            <a:pPr lvl="0"/>
            <a:r>
              <a:rPr/>
              <a:t>Randomization occurs once </a:t>
            </a:r>
            <a:r>
              <a:rPr i="1"/>
              <a:t>at the beginning of the study</a:t>
            </a:r>
          </a:p>
          <a:p>
            <a:pPr lvl="0" indent="0" marL="0">
              <a:buNone/>
            </a:pPr>
            <a:r>
              <a:rPr/>
              <a:t>None of these rules is required though!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Randomization can be complex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only requirements: - We know which units were randomized - Units that are randomized have a known probability </a:t>
                </a:r>
                <a14:m>
                  <m:oMath xmlns:m="http://schemas.openxmlformats.org/officeDocument/2006/math">
                    <m:r>
                      <m:t>0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p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1</m:t>
                    </m:r>
                  </m:oMath>
                </a14:m>
                <a:r>
                  <a:rPr/>
                  <a:t> of being in either group</a:t>
                </a:r>
              </a:p>
            </p:txBody>
          </p:sp>
        </mc:Choice>
      </mc:AlternateContent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Complexities are your friend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Being flexible with the design can make it more palatable to potential participants.</a:t>
            </a:r>
          </a:p>
          <a:p>
            <a:pPr lvl="0" indent="0" marL="0">
              <a:buNone/>
            </a:pPr>
            <a:r>
              <a:rPr/>
              <a:t>It can help you frame the study and the study design.</a:t>
            </a:r>
          </a:p>
          <a:p>
            <a:pPr lvl="0" indent="0" marL="0">
              <a:buNone/>
            </a:pPr>
            <a:r>
              <a:rPr/>
              <a:t>For example, since studies do not involve unlimited resources, it is simply </a:t>
            </a:r>
            <a:r>
              <a:rPr b="1"/>
              <a:t>not</a:t>
            </a:r>
            <a:r>
              <a:rPr/>
              <a:t> possible for every unit interested to receive the intervention.</a:t>
            </a:r>
          </a:p>
          <a:p>
            <a:pPr lvl="0" indent="0" marL="0">
              <a:buNone/>
            </a:pPr>
            <a:r>
              <a:rPr/>
              <a:t>This means that a lottery </a:t>
            </a:r>
            <a:r>
              <a:rPr b="1"/>
              <a:t>randomization</a:t>
            </a:r>
            <a:r>
              <a:rPr/>
              <a:t> is a </a:t>
            </a:r>
            <a:r>
              <a:rPr b="1"/>
              <a:t>fair</a:t>
            </a:r>
            <a:r>
              <a:rPr/>
              <a:t> way to allocate resources.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Restricted randomization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an evaluation, </a:t>
            </a:r>
            <a:r>
              <a:rPr b="1"/>
              <a:t>not</a:t>
            </a:r>
            <a:r>
              <a:rPr/>
              <a:t> all units have to be randomized. The question of what units to randomize relates </a:t>
            </a:r>
            <a:r>
              <a:rPr i="1"/>
              <a:t>not</a:t>
            </a:r>
            <a:r>
              <a:rPr/>
              <a:t> to internal validity but to </a:t>
            </a:r>
            <a:r>
              <a:rPr i="1"/>
              <a:t>external validity</a:t>
            </a:r>
            <a:r>
              <a:rPr/>
              <a:t> 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Restricted randomization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may be beneficial to only randomize units to the intervention within a subset of the sample. For example,</a:t>
            </a:r>
          </a:p>
          <a:p>
            <a:pPr lvl="0"/>
            <a:r>
              <a:rPr/>
              <a:t>You might choose to exclude some students in order to reduce variation on the pretest.</a:t>
            </a:r>
          </a:p>
          <a:p>
            <a:pPr lvl="0"/>
            <a:r>
              <a:rPr/>
              <a:t>There are certain students or teachers that you know you would like to </a:t>
            </a:r>
            <a:r>
              <a:rPr i="1"/>
              <a:t>guarantee</a:t>
            </a:r>
            <a:r>
              <a:rPr/>
              <a:t> are included in the intervention group </a:t>
            </a:r>
            <a:r>
              <a:rPr i="1"/>
              <a:t>we call these ‘wildcards’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In either case, the units that are not randomized </a:t>
            </a:r>
            <a:r>
              <a:rPr i="1"/>
              <a:t>do not</a:t>
            </a:r>
            <a:r>
              <a:rPr/>
              <a:t> </a:t>
            </a:r>
            <a:r>
              <a:rPr b="1"/>
              <a:t>end up in the analytic sample for the analysis</a:t>
            </a:r>
            <a:r>
              <a:rPr/>
              <a:t> . But they </a:t>
            </a:r>
            <a:r>
              <a:rPr i="1"/>
              <a:t>do</a:t>
            </a:r>
            <a:r>
              <a:rPr/>
              <a:t> end up in the study.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Unequal probabilities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There is no requirement that every unit have an equal probability of being in the intervention or comparison groups.</a:t>
            </a:r>
          </a:p>
          <a:p>
            <a:pPr lvl="0" indent="0" marL="0">
              <a:buNone/>
            </a:pPr>
            <a:r>
              <a:rPr/>
              <a:t>It may be more feasible </a:t>
            </a:r>
            <a:r>
              <a:rPr i="1"/>
              <a:t>in terms of money or political capital</a:t>
            </a:r>
            <a:r>
              <a:rPr/>
              <a:t> to have unequal groups, e.g., 2:1 or 1:2 instead of 1:1.</a:t>
            </a:r>
          </a:p>
          <a:p>
            <a:pPr lvl="0" indent="0" marL="0">
              <a:buNone/>
            </a:pPr>
            <a:r>
              <a:rPr/>
              <a:t>Again, the key is to know what these probabilities are and to incorporate them into the analysis.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Everyone eventually gets the intervention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There is also no rule that everyone has to stick to their assigned group forever.</a:t>
            </a:r>
          </a:p>
          <a:p>
            <a:pPr lvl="0" indent="0" marL="0">
              <a:buNone/>
            </a:pPr>
            <a:r>
              <a:rPr/>
              <a:t>Instead, it may be better to eventually provide the intervention to everyone, while randomizing the order in which they receive it.</a:t>
            </a:r>
          </a:p>
          <a:p>
            <a:pPr lvl="0" indent="0" marL="0">
              <a:buNone/>
            </a:pPr>
            <a:r>
              <a:rPr/>
              <a:t>Those that are randomized to receive it later serve as the comparison group at first.</a:t>
            </a:r>
          </a:p>
          <a:p>
            <a:pPr lvl="0" indent="0" marL="0">
              <a:buNone/>
            </a:pPr>
            <a:r>
              <a:rPr i="1"/>
              <a:t>Often referred to as a ‘delayed treatment’ design</a:t>
            </a:r>
            <a:r>
              <a:rPr/>
              <a:t>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unit gets some of the intervention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Another approach, useful in clustered settings </a:t>
            </a:r>
            <a:r>
              <a:rPr i="1"/>
              <a:t>like schools</a:t>
            </a:r>
            <a:r>
              <a:rPr/>
              <a:t>, is to guarantee that </a:t>
            </a:r>
            <a:r>
              <a:rPr b="1"/>
              <a:t>some</a:t>
            </a:r>
            <a:r>
              <a:rPr/>
              <a:t> units within the cluster will get the intervention.</a:t>
            </a:r>
          </a:p>
          <a:p>
            <a:pPr lvl="0" indent="0" marL="0">
              <a:buNone/>
            </a:pPr>
            <a:r>
              <a:rPr/>
              <a:t>For example, in a school:</a:t>
            </a:r>
          </a:p>
          <a:p>
            <a:pPr lvl="0"/>
            <a:r>
              <a:rPr/>
              <a:t>You might randomize different grade levels to receive the program</a:t>
            </a:r>
          </a:p>
          <a:p>
            <a:pPr lvl="0"/>
            <a:r>
              <a:rPr/>
              <a:t>You might only include 2nd grade in the study </a:t>
            </a:r>
            <a:r>
              <a:rPr i="1"/>
              <a:t>randomizing groups</a:t>
            </a:r>
            <a:r>
              <a:rPr/>
              <a:t>, but then provide the curriculum to everyone in the other grades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But you have to explain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recruit schools (&amp; teachers &amp; students) to be part of an evaluation, you have to get their </a:t>
            </a:r>
            <a:r>
              <a:rPr b="1"/>
              <a:t>informed consent</a:t>
            </a:r>
            <a:r>
              <a:rPr/>
              <a:t> .</a:t>
            </a:r>
          </a:p>
          <a:p>
            <a:pPr lvl="0" indent="0" marL="0">
              <a:buNone/>
            </a:pPr>
            <a:r>
              <a:rPr/>
              <a:t>This includes their consent to be randomized. Obtaining this consent requires that they understand: - That any of the schools </a:t>
            </a:r>
            <a:r>
              <a:rPr i="1"/>
              <a:t>including theirs</a:t>
            </a:r>
            <a:r>
              <a:rPr/>
              <a:t> could be in the intervention or comparison - That all of their “best” schools </a:t>
            </a:r>
            <a:r>
              <a:rPr i="1"/>
              <a:t>or teachers …</a:t>
            </a:r>
            <a:r>
              <a:rPr/>
              <a:t> could end up in the comparison condition</a:t>
            </a:r>
          </a:p>
        </p:txBody>
      </p:sp>
    </p:spTree>
  </p:cSld>
</p:sld>
</file>

<file path=ppt/slides/slide35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Overview of 4 Designs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2882900" /></p:xfrm><a:graphic><a:graphicData uri="http://schemas.openxmlformats.org/drawingml/2006/table"><a:tbl><a:tblPr firstRow="1" bandRow="1"><a:tableStyleId>{5C22544A-7EE6-4342-B048-85BDC9FD1C3A}</a:tableStyleId></a:tblPr><a:tblGrid><a:gridCol w="1168400" /><a:gridCol w="1168400" /><a:gridCol w="1168400" /><a:gridCol w="1168400" /><a:gridCol w="1168400" /><a:gridCol w="1168400" /><a:gridCol w="1168400" /></a:tblGrid><a:tr h="0"><a:tc><a:txBody><a:bodyPr /><a:lstStyle /><a:p><a:endParaRPr /></a:p></a:txBody><a:tcPr /></a:tc><a:tc><a:txBody><a:bodyPr /><a:lstStyle /><a:p><a:pPr lvl="0" indent="0" marL="0"><a:buNone /></a:pPr><a:r><a:rPr /><a:t>Notation</a:t></a:r></a:p></a:txBody><a:tcPr /></a:tc><a:tc><a:txBody><a:bodyPr /><a:lstStyle /><a:p><a:pPr lvl="0" indent="0" marL="0"><a:buNone /></a:pPr><a:r><a:rPr /><a:t>Sample Sizes</a:t></a:r></a:p></a:txBody><a:tcPr /></a:tc><a:tc><a:txBody><a:bodyPr /><a:lstStyle /><a:p><a:pPr lvl="0" indent="0" marL="0"><a:buNone /></a:pPr><a:r><a:rPr /><a:t>Chapter 7</a:t></a:r></a:p></a:txBody><a:tcPr /></a:tc><a:tc><a:txBody><a:bodyPr /><a:lstStyle /><a:p><a:pPr lvl="0" indent="0" marL="0"><a:buNone /></a:pPr><a:r><a:rPr /><a:t>Chapter 8</a:t></a:r></a:p></a:txBody><a:tcPr /></a:tc><a:tc><a:txBody><a:bodyPr /><a:lstStyle /><a:p><a:pPr lvl="0" indent="0" marL="0"><a:buNone /></a:pPr><a:r><a:rPr /><a:t>Chapter 9</a:t></a:r></a:p></a:txBody><a:tcPr /></a:tc><a:tc><a:txBody><a:bodyPr /><a:lstStyle /><a:p><a:pPr lvl="0" indent="0" marL="0"><a:buNone /></a:pPr><a:r><a:rPr /><a:t>Chapter 10</a:t></a:r></a:p></a:txBody><a:tcPr /></a:tc></a:tr><a:tr h="0"><a:tc><a:txBody><a:bodyPr /><a:lstStyle /><a:p><a:pPr lvl="0" indent="0" marL="0"><a:buNone /></a:pPr><a:r><a:rPr /><a:t>Intervention vs. Comparison</a:t></a:r></a:p></a:txBody></a:tc><a:tc><a:txBody><a:bodyPr /><a:lstStyle /><a:p><a:pPr lvl="0" indent="0" marL="0"><a:buNone /></a:pPr><a14:m><m:oMath xmlns:m="http://schemas.openxmlformats.org/officeDocument/2006/math"><m:sSub><m:e><m:r><m:t>α</m:t></m:r></m:e><m:sub><m:r><m:t>i</m:t></m:r></m:sub></m:sSub></m:oMath></a14:m></a:p></a:txBody></a:tc><a:tc><a:txBody><a:bodyPr /><a:lstStyle /><a:p><a:pPr lvl="0" indent="0" marL="0"><a:buNone /></a:pPr><a:r><a:rPr /><a:t>2</a:t></a:r></a:p></a:txBody></a:tc><a:tc><a:txBody><a:bodyPr /><a:lstStyle /><a:p><a:pPr lvl="0" indent="0" marL="0"><a:buNone /></a:pPr><a:r><a:rPr /><a:t>Individually Randomized Design</a:t></a:r></a:p></a:txBody></a:tc><a:tc><a:txBody><a:bodyPr /><a:lstStyle /><a:p><a:pPr lvl="0" indent="0" marL="0"><a:buNone /></a:pPr><a:r><a:rPr /><a:t>Randomized Block Design</a:t></a:r></a:p></a:txBody></a:tc><a:tc><a:txBody><a:bodyPr /><a:lstStyle /><a:p><a:pPr lvl="0" indent="0" marL="0"><a:buNone /></a:pPr><a:r><a:rPr /><a:t>Cluster Randomized Design</a:t></a:r></a:p></a:txBody></a:tc><a:tc><a:txBody><a:bodyPr /><a:lstStyle /><a:p><a:pPr lvl="0" indent="0" marL="0"><a:buNone /></a:pPr><a:r><a:rPr /><a:t>Multisite Cluster Randomized Design</a:t></a:r></a:p></a:txBody></a:tc></a:tr><a:tr h="0"><a:tc><a:txBody><a:bodyPr /><a:lstStyle /><a:p><a:pPr lvl="0" indent="0" marL="0"><a:buNone /></a:pPr><a:r><a:rPr /><a:t>Schools</a:t></a:r></a:p></a:txBody></a:tc><a:tc><a:txBody><a:bodyPr /><a:lstStyle /><a:p><a:pPr lvl="0" indent="0" marL="0"><a:buNone /></a:pPr><a14:m><m:oMath xmlns:m="http://schemas.openxmlformats.org/officeDocument/2006/math"><m:sSub><m:e><m:r><m:t>β</m:t></m:r></m:e><m:sub><m:r><m:t>j</m:t></m:r></m:sub></m:sSub></m:oMath></a14:m></a:p></a:txBody></a:tc><a:tc><a:txBody><a:bodyPr /><a:lstStyle /><a:p><a:pPr lvl="0" indent="0" marL="0"><a:buNone /></a:pPr><a14:m><m:oMath xmlns:m="http://schemas.openxmlformats.org/officeDocument/2006/math"><m:r><m:t>m</m:t></m:r></m:oMath></a14:m></a:p></a:txBody></a:tc><a:tc><a:txBody><a:bodyPr /><a:lstStyle /><a:p><a:endParaRPr /></a:p></a:txBody></a:tc><a:tc><a:txBody><a:bodyPr /><a:lstStyle /><a:p><a:pPr lvl="0" indent="0" marL="0"><a:buNone /></a:pPr><a:r><a:rPr /><a:t>RE</a:t></a:r></a:p></a:txBody></a:tc><a:tc><a:txBody><a:bodyPr /><a:lstStyle /><a:p><a:pPr lvl="0" indent="0" marL="0"><a:buNone /></a:pPr><a:r><a:rPr /><a:t>RE, RA</a:t></a:r></a:p></a:txBody></a:tc><a:tc><a:txBody><a:bodyPr /><a:lstStyle /><a:p><a:pPr lvl="0" indent="0" marL="0"><a:buNone /></a:pPr><a:r><a:rPr /><a:t>RE</a:t></a:r></a:p></a:txBody></a:tc></a:tr><a:tr h="0"><a:tc><a:txBody><a:bodyPr /><a:lstStyle /><a:p><a:pPr lvl="0" indent="0" marL="0"><a:buNone /></a:pPr><a:r><a:rPr /><a:t>Students</a:t></a:r></a:p></a:txBody></a:tc><a:tc><a:txBody><a:bodyPr /><a:lstStyle /><a:p><a:pPr lvl="0" indent="0" marL="0"><a:buNone /></a:pPr><a14:m><m:oMath xmlns:m="http://schemas.openxmlformats.org/officeDocument/2006/math"><m:sSub><m:e><m:r><m:t>ϵ</m:t></m:r></m:e><m:sub><m:r><m:t>k</m:t></m:r></m:sub></m:sSub></m:oMath></a14:m></a:p></a:txBody></a:tc><a:tc><a:txBody><a:bodyPr /><a:lstStyle /><a:p><a:pPr lvl="0" indent="0" marL="0"><a:buNone /></a:pPr><a14:m><m:oMath xmlns:m="http://schemas.openxmlformats.org/officeDocument/2006/math"><m:r><m:t>n</m:t></m:r></m:oMath></a14:m></a:p></a:txBody></a:tc><a:tc><a:txBody><a:bodyPr /><a:lstStyle /><a:p><a:pPr lvl="0" indent="0" marL="0"><a:buNone /></a:pPr><a:r><a:rPr /><a:t>RE, RA, O</a:t></a:r></a:p></a:txBody></a:tc><a:tc><a:txBody><a:bodyPr /><a:lstStyle /><a:p><a:pPr lvl="0" indent="0" marL="0"><a:buNone /></a:pPr><a:r><a:rPr /><a:t>RA, O</a:t></a:r></a:p></a:txBody></a:tc><a:tc><a:txBody><a:bodyPr /><a:lstStyle /><a:p><a:pPr lvl="0" indent="0" marL="0"><a:buNone /></a:pPr><a:r><a:rPr /><a:t>O</a:t></a:r></a:p></a:txBody></a:tc><a:tc><a:txBody><a:bodyPr /><a:lstStyle /><a:p><a:pPr lvl="0" indent="0" marL="0"><a:buNone /></a:pPr><a:r><a:rPr /><a:t>O</a:t></a:r></a:p></a:txBody></a:tc></a:tr><a:tr h="0"><a:tc><a:txBody><a:bodyPr /><a:lstStyle /><a:p><a:pPr lvl="0" indent="0" marL="0"><a:buNone /></a:pPr><a:r><a:rPr /><a:t>Classrooms/Teachers</a:t></a:r></a:p></a:txBody></a:tc><a:tc><a:txBody><a:bodyPr /><a:lstStyle /><a:p><a:pPr lvl="0" indent="0" marL="0"><a:buNone /></a:pPr><a14:m><m:oMath xmlns:m="http://schemas.openxmlformats.org/officeDocument/2006/math"><m:sSub><m:e><m:r><m:t>γ</m:t></m:r></m:e><m:sub><m:r><m:t>j</m:t></m:r><m:r><m:t>l</m:t></m:r></m:sub></m:sSub></m:oMath></a14:m></a:p></a:txBody></a:tc><a:tc><a:txBody><a:bodyPr /><a:lstStyle /><a:p><a:pPr lvl="0" indent="0" marL="0"><a:buNone /></a:pPr><a14:m><m:oMath xmlns:m="http://schemas.openxmlformats.org/officeDocument/2006/math"><m:r><m:t>p</m:t></m:r></m:oMath></a14:m></a:p></a:txBody></a:tc><a:tc><a:txBody><a:bodyPr /><a:lstStyle /><a:p><a:endParaRPr /></a:p></a:txBody></a:tc><a:tc><a:txBody><a:bodyPr /><a:lstStyle /><a:p><a:endParaRPr /></a:p></a:txBody></a:tc><a:tc><a:txBody><a:bodyPr /><a:lstStyle /><a:p><a:endParaRPr /></a:p></a:txBody></a:tc><a:tc><a:txBody><a:bodyPr /><a:lstStyle /><a:p><a:pPr lvl="0" indent="0" marL="0"><a:buNone /></a:pPr><a:r><a:rPr /><a:t>RA</a:t></a:r></a:p></a:txBody></a:tc></a:tr><a:tr h="0"><a:tc><a:txBody><a:bodyPr /><a:lstStyle /><a:p><a:pPr lvl="0" indent="0" marL="0"><a:buNone /></a:pPr><a:r><a:rPr /><a:t>School by Intervention Interaction</a:t></a:r></a:p></a:txBody></a:tc><a:tc><a:txBody><a:bodyPr /><a:lstStyle /><a:p><a:pPr lvl="0" indent="0" marL="0"><a:buNone /></a:pPr><a14:m><m:oMath xmlns:m="http://schemas.openxmlformats.org/officeDocument/2006/math"><m:r><m:t>α</m:t></m:r><m:sSub><m:e><m:r><m:t>β</m:t></m:r></m:e><m:sub><m:r><m:t>i</m:t></m:r><m:r><m:t>j</m:t></m:r></m:sub></m:sSub></m:oMath></a14:m></a:p></a:txBody></a:tc><a:tc><a:txBody><a:bodyPr /><a:lstStyle /><a:p><a:pPr lvl="0" indent="0" marL="0"><a:buNone /></a:pPr><a14:m><m:oMath xmlns:m="http://schemas.openxmlformats.org/officeDocument/2006/math"><m:r><m:t>2</m:t></m:r><m:r><m:t>m</m:t></m:r></m:oMath></a14:m></a:p></a:txBody></a:tc><a:tc><a:txBody><a:bodyPr /><a:lstStyle /><a:p><a:endParaRPr /></a:p></a:txBody></a:tc><a:tc><a:txBody><a:bodyPr /><a:lstStyle /><a:p><a:pPr lvl="0" indent="0" marL="0"><a:buNone /></a:pPr><a:r><a:rPr /><a:t>M*</a:t></a:r></a:p></a:txBody></a:tc><a:tc><a:txBody><a:bodyPr /><a:lstStyle /><a:p><a:endParaRPr /></a:p></a:txBody></a:tc><a:tc><a:txBody><a:bodyPr /><a:lstStyle /><a:p><a:pPr lvl="0" indent="0" marL="0"><a:buNone /></a:pPr><a:r><a:rPr /><a:t>M</a:t></a:r></a:p></a:txBody></a:tc></a:tr></a:tbl></a:graphicData></a:graphic></p:graphicFrame><p:sp><p:nvSpPr><p:cNvPr id="1" name="TextBox 3" /><p:cNvSpPr txBox="1" /><p:nvPr /></p:nvSpPr><p:spPr><a:xfrm><a:off x="457200" y="4076700" /><a:ext cx="8229600" cy="508000" /></a:xfrm><a:prstGeom prst="rect"><a:avLst /></a:prstGeom><a:noFill /></p:spPr><p:txBody><a:bodyPr /><a:lstStyle /><a:p><a:pPr lvl="0" indent="0" marL="0" algn="ctr"><a:buNone /></a:pPr><a:r><a:rPr /><a:t>RE = recruited, RA = randomized, O = observed/outcome, M = measured, * = in some models</a:t></a:r></a:p></p:txBody></p:sp></p:spTree></p:cSld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Randomized Designs</dc:title>
  <dc:creator>Tipton</dc:creator>
  <cp:keywords/>
  <dcterms:created xsi:type="dcterms:W3CDTF">2022-07-11T16:49:50Z</dcterms:created>
  <dcterms:modified xsi:type="dcterms:W3CDTF">2022-07-11T16:49:50Z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2022-06-05</vt:lpwstr>
  </property>
  <property fmtid="{D5CDD505-2E9C-101B-9397-08002B2CF9AE}" pid="3" name="output">
    <vt:lpwstr/>
  </property>
  <property fmtid="{D5CDD505-2E9C-101B-9397-08002B2CF9AE}" pid="4" name="subtitle">
    <vt:lpwstr>NSF Improving Education R&amp;D Evaluations Workshop 2021</vt:lpwstr>
  </property>
</Properties>
</file>