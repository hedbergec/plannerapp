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76" r:id="rId7"/>
    <p:sldId id="277" r:id="rId8"/>
    <p:sldId id="278" r:id="rId9"/>
    <p:sldId id="279" r:id="rId10"/>
    <p:sldId id="280" r:id="rId11"/>
    <p:sldId id="262" r:id="rId12"/>
    <p:sldId id="263" r:id="rId13"/>
    <p:sldId id="264" r:id="rId14"/>
    <p:sldId id="281" r:id="rId15"/>
    <p:sldId id="282" r:id="rId16"/>
    <p:sldId id="283" r:id="rId17"/>
    <p:sldId id="284" r:id="rId18"/>
    <p:sldId id="285" r:id="rId19"/>
    <p:sldId id="286" r:id="rId20"/>
    <p:sldId id="269" r:id="rId21"/>
    <p:sldId id="288" r:id="rId22"/>
    <p:sldId id="290" r:id="rId23"/>
    <p:sldId id="270" r:id="rId24"/>
    <p:sldId id="271" r:id="rId25"/>
    <p:sldId id="289" r:id="rId26"/>
    <p:sldId id="272" r:id="rId27"/>
    <p:sldId id="291" r:id="rId28"/>
    <p:sldId id="273" r:id="rId29"/>
    <p:sldId id="287" r:id="rId30"/>
    <p:sldId id="274" r:id="rId31"/>
    <p:sldId id="27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67"/>
    <p:restoredTop sz="96327"/>
  </p:normalViewPr>
  <p:slideViewPr>
    <p:cSldViewPr snapToGrid="0" snapToObjects="1">
      <p:cViewPr varScale="1">
        <p:scale>
          <a:sx n="96" d="100"/>
          <a:sy n="96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1092-98A5-D44E-AE0D-63CC96179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CA0CD-4ACA-AA4A-B2B2-FB370998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A16A0-A716-3D44-A0BB-18553EE72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40740-3CA8-2C47-9E88-7C183550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80848-1319-D845-A37D-75BAD518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5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CFBD-51BE-D94F-B0B6-DAED84C0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B4383-BEE3-2C4C-806F-5C7DF6491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CF139-3DB9-4546-B4DD-14BB0EFB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47E9E-1000-7C44-B172-BE20ADEA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53E7B-8067-6D46-AF3A-9CD542DC6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7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FB19-1694-2D43-BABD-421235DA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39140-2CBD-E14E-827E-1E6CD1D0E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04571-7752-DD44-933B-30074D0B9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F328F-9BD1-8744-BCB4-03F17B0A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1DFA6-268C-1048-AF0C-FA578845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9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64DD2-C7A4-E041-AD27-C028A9EA8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FE500-86CF-B24B-900E-B950825FB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00716-944A-6E45-B904-44C9EB936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C8392-9E98-D447-BE50-97A064D1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0622F-1480-7042-8C10-FCA37AE4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D6088-D9D3-214A-8BCE-36FC39BE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6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AD87-A1B3-2D49-973C-1D5A2F644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8C153-472A-E94D-A4D8-FCF896552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CBA1C-F2AE-3847-95FE-7ECEB5189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F221-41CB-6747-9A31-91C39A576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796DD3-0F75-F445-97DA-734118726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840E1E-A3AD-1E41-896D-ED1DC0AF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AACF5-90AB-2148-BAC2-3EE0BD2B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1D11AC-D8BE-6543-B6BE-656D3A9C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13E1-F38E-334E-A329-53C8BB1A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B214C-1FE9-BF47-9671-70C87E9D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A9ED2-107A-304A-94EA-87B143C3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57ED4-48C3-0B44-92AE-0C89D422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6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320CD-4457-DC4F-B114-0E3D45DD9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A3404-747B-1E40-A5A3-9C4ACF345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4A079-1974-0A49-BC86-1DBF8C45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7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2EF9-B587-4245-A56D-FA48E821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3B5DF-533A-AD48-9D2F-CF9DECCB5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EC10E-306D-734B-B1D3-CB841FE2E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192DB-4525-E343-80E2-26374554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61CA3-A25E-634F-8A55-BF7B76B0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E9920-9FB0-EF4D-A68D-A2AC8236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3A1C-84BE-3346-A94B-81C4EAC5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E583E-6BE7-D84F-A316-24F73CAFC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AB2B3-723D-FB49-8831-EAFDF3461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2A119-516B-7248-8BC7-AE1ED135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10029-1E0C-A14D-9EC6-291EB9DBB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85F05-7B51-BF4B-AFDA-7432566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8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1763-29D9-224E-880F-EDFD0126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4A82C-261E-4446-A52A-530ABF692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B7F85-E41D-4E4A-82FC-61358159B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C8C6-F1AE-C342-84C3-2018AABBB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C1001-9FBE-0844-8BFB-DF2C78CC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8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D82A9A-4393-DE4E-918F-5173DC98D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C2437-9617-ED4C-8F72-B320FB9FC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4BFFD-9624-7E4C-B1B1-3ECFF1021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9934C-16C1-8143-90B3-3761EBEF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1163B-C7A4-0D47-A3DB-CF6883A3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5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535F47-CD45-B94D-BF7B-086B5031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5D379-17EE-B547-A530-0A5E83457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AF220-FF02-534E-9AAC-277059643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2AF6D-B066-664D-ABEC-724D7E1FFE54}" type="datetimeFigureOut">
              <a:rPr lang="en-US" smtClean="0"/>
              <a:t>7/2/21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CABC8-947A-8C4F-BAC1-AD71B66C6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297A0-020B-4040-B9B8-09E28BD4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CE22D-9BE1-BA45-9707-B0473385A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1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2DE9-8657-D848-B382-C13002A43B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Difference-in-Difference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C0F68-8E69-1342-8EAC-BF2CEFA990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Elizabeth Tipton</a:t>
            </a:r>
          </a:p>
          <a:p>
            <a:endParaRPr lang="en-US" dirty="0"/>
          </a:p>
          <a:p>
            <a:r>
              <a:rPr lang="en-US" dirty="0"/>
              <a:t>NSF Improving Education R&amp;D Evaluations Workshop</a:t>
            </a:r>
          </a:p>
          <a:p>
            <a:r>
              <a:rPr lang="en-US" dirty="0"/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1221328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9B76-CDB7-1F4A-8449-E7ED7607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Pre-Post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2EA548-B514-9345-B7BA-0FFECB8930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very common approach to estimating a treatment effect is to measure participants before and after an intervention, calculating: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𝐷𝑖𝑓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this design can’t rule out threats:</a:t>
                </a:r>
              </a:p>
              <a:p>
                <a:r>
                  <a:rPr lang="en-US" b="1" dirty="0"/>
                  <a:t>Maturation: </a:t>
                </a:r>
                <a:r>
                  <a:rPr lang="en-US" dirty="0"/>
                  <a:t>What if, over the same period, participants would have improved in their knowledge anyway?</a:t>
                </a:r>
              </a:p>
              <a:p>
                <a:r>
                  <a:rPr lang="en-US" b="1" dirty="0"/>
                  <a:t>History: </a:t>
                </a:r>
                <a:r>
                  <a:rPr lang="en-US" dirty="0"/>
                  <a:t>What if, at the same time as taking part in your intervention study, participants were also experiencing other interventions?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2EA548-B514-9345-B7BA-0FFECB8930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52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0C15-2491-E64A-A2E9-B479815E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deeper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F416B-410D-AF46-89BC-3C9AB753E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can be confusing: I see that participants have large gain scores, so what do you mean that isn’t “caused” by the intervention?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Remember that the causal effect, however, is about potential outcomes. It is not about the effect you observe, but about </a:t>
            </a:r>
            <a:r>
              <a:rPr lang="en-US" b="1" dirty="0"/>
              <a:t>what would have happened in the absence of this intervention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causal effect is inherently about comparing two versions of reality. </a:t>
            </a:r>
          </a:p>
        </p:txBody>
      </p:sp>
    </p:spTree>
    <p:extLst>
      <p:ext uri="{BB962C8B-B14F-4D97-AF65-F5344CB8AC3E}">
        <p14:creationId xmlns:p14="http://schemas.microsoft.com/office/powerpoint/2010/main" val="201252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ECD2-33BF-7242-8FF1-DBF3B8C7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B22F1D-11DA-CE48-8DEB-C6FCC88D8D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Let’s take our workshop example again. We want to know the effect of attending this workshop on knowledge about research design.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could calculate the average difference between post and pre-test scores,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But is this a fair comparison to the ‘counter-factual’? Probably not. </a:t>
                </a:r>
              </a:p>
              <a:p>
                <a:r>
                  <a:rPr lang="en-US" dirty="0"/>
                  <a:t>If you are interested in research design enough to attend, might you have sought out other means to learn about design?</a:t>
                </a:r>
              </a:p>
              <a:p>
                <a:r>
                  <a:rPr lang="en-US" b="0" dirty="0"/>
                  <a:t>If you didn’t attend this workshop, might you have attended another </a:t>
                </a:r>
                <a:r>
                  <a:rPr lang="en-US" b="0" dirty="0" err="1"/>
                  <a:t>workshiop</a:t>
                </a:r>
                <a:r>
                  <a:rPr lang="en-US" b="0" dirty="0"/>
                  <a:t>?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B22F1D-11DA-CE48-8DEB-C6FCC88D8D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r="-603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96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2A7B-F287-7C44-8440-6644822D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91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Statistical Model</a:t>
            </a:r>
          </a:p>
        </p:txBody>
      </p:sp>
    </p:spTree>
    <p:extLst>
      <p:ext uri="{BB962C8B-B14F-4D97-AF65-F5344CB8AC3E}">
        <p14:creationId xmlns:p14="http://schemas.microsoft.com/office/powerpoint/2010/main" val="4282561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2A9ED-C6A7-024B-98F4-FD29ACEF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298E99-AE6E-914A-8148-7910E7B85C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Here, assume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student in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group that both a pre-test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dirty="0"/>
                  <a:t> and 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dirty="0"/>
                  <a:t> are observed, with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         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Assume that the pre- and post-tests have correlation: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𝐶𝑜𝑟𝑟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effectLst/>
                  </a:rPr>
                  <a:t>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effect size of interest is the quantity 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298E99-AE6E-914A-8148-7910E7B85C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43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nter image description here">
            <a:extLst>
              <a:ext uri="{FF2B5EF4-FFF2-40B4-BE49-F238E27FC236}">
                <a16:creationId xmlns:a16="http://schemas.microsoft.com/office/drawing/2014/main" id="{7607472B-6050-9546-BE13-D08A5DD9B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730" y="620091"/>
            <a:ext cx="7620000" cy="581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96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7B47-31E2-9E4B-BFC8-5C3A19F2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4C6D-D94B-CA45-9195-93CDE1694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960165" cy="43664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are assuming:</a:t>
            </a:r>
          </a:p>
          <a:p>
            <a:r>
              <a:rPr lang="en-US" dirty="0"/>
              <a:t>in both groups</a:t>
            </a:r>
          </a:p>
          <a:p>
            <a:r>
              <a:rPr lang="en-US" dirty="0"/>
              <a:t>the relationship between </a:t>
            </a:r>
            <a:r>
              <a:rPr lang="en-US" b="1" dirty="0"/>
              <a:t>time (X) </a:t>
            </a:r>
            <a:r>
              <a:rPr lang="en-US" dirty="0"/>
              <a:t>and</a:t>
            </a:r>
            <a:r>
              <a:rPr lang="en-US" b="1" dirty="0"/>
              <a:t> the outcome (Y)</a:t>
            </a:r>
          </a:p>
          <a:p>
            <a:r>
              <a:rPr lang="en-US" dirty="0"/>
              <a:t>is</a:t>
            </a:r>
            <a:r>
              <a:rPr lang="en-US" b="1" dirty="0"/>
              <a:t> linear  </a:t>
            </a:r>
          </a:p>
          <a:p>
            <a:r>
              <a:rPr lang="en-US" dirty="0"/>
              <a:t>and these lines are</a:t>
            </a:r>
            <a:r>
              <a:rPr lang="en-US" b="1" dirty="0"/>
              <a:t> parallel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This allows us to </a:t>
            </a:r>
            <a:r>
              <a:rPr lang="en-US" b="1" dirty="0"/>
              <a:t>extrapolate </a:t>
            </a:r>
            <a:r>
              <a:rPr lang="en-US" dirty="0"/>
              <a:t>what would have happened in the treatment group if there was no intervention. </a:t>
            </a:r>
          </a:p>
        </p:txBody>
      </p:sp>
      <p:pic>
        <p:nvPicPr>
          <p:cNvPr id="4" name="Picture 2" descr="enter image description here">
            <a:extLst>
              <a:ext uri="{FF2B5EF4-FFF2-40B4-BE49-F238E27FC236}">
                <a16:creationId xmlns:a16="http://schemas.microsoft.com/office/drawing/2014/main" id="{351EBF26-2217-A646-B13A-4CBB0C2D1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365" y="2583149"/>
            <a:ext cx="4220817" cy="322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CE9614-ED5D-6F42-98CB-D82AD74E36B6}"/>
              </a:ext>
            </a:extLst>
          </p:cNvPr>
          <p:cNvSpPr txBox="1"/>
          <p:nvPr/>
        </p:nvSpPr>
        <p:spPr>
          <a:xfrm>
            <a:off x="8077201" y="936589"/>
            <a:ext cx="29419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idea</a:t>
            </a:r>
            <a:r>
              <a:rPr lang="en-US" dirty="0"/>
              <a:t>: Without the intervention, the two groups would have the same slope over the full range of time</a:t>
            </a:r>
          </a:p>
        </p:txBody>
      </p:sp>
    </p:spTree>
    <p:extLst>
      <p:ext uri="{BB962C8B-B14F-4D97-AF65-F5344CB8AC3E}">
        <p14:creationId xmlns:p14="http://schemas.microsoft.com/office/powerpoint/2010/main" val="167416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190C-5F95-9D43-A9B0-B68730255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Trends Assumption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B5A11-C2F7-4641-BDB5-9FF19593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words, we are assuming that </a:t>
            </a:r>
            <a:r>
              <a:rPr lang="en-US" b="1" dirty="0"/>
              <a:t>in the absence of the intervention,</a:t>
            </a:r>
            <a:endParaRPr lang="en-US" dirty="0"/>
          </a:p>
          <a:p>
            <a:r>
              <a:rPr lang="en-US" dirty="0"/>
              <a:t>The two groups are changing at the same rate over time</a:t>
            </a:r>
            <a:r>
              <a:rPr lang="en-US" dirty="0">
                <a:effectLst/>
              </a:rPr>
              <a:t> </a:t>
            </a:r>
          </a:p>
          <a:p>
            <a:r>
              <a:rPr lang="en-US" dirty="0"/>
              <a:t>The slopes of their growth trajectories over time are the same</a:t>
            </a:r>
          </a:p>
          <a:p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dirty="0"/>
              <a:t>We are using the growth trajectory in the comparison group to provide ‘counter-factual’ information on that the growth trajectory would have been in the intervention group, if there were no intervention. 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18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32BB-2D61-A548-91C3-956F4EAA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Shocks Assumption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0BD01-E382-3E4F-AD41-C0FCB385E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design, the comparison condition is not explicitly required to be identical to the intervention condition.</a:t>
            </a:r>
            <a:r>
              <a:rPr lang="en-US" dirty="0">
                <a:effectLst/>
              </a:rPr>
              <a:t> </a:t>
            </a:r>
          </a:p>
          <a:p>
            <a:r>
              <a:rPr lang="en-US" dirty="0"/>
              <a:t>However, the comparison group can only control for other intervening causes if </a:t>
            </a:r>
            <a:r>
              <a:rPr lang="en-US" u="sng" dirty="0"/>
              <a:t>it experiences the same intervening causes </a:t>
            </a:r>
            <a:r>
              <a:rPr lang="en-US" dirty="0"/>
              <a:t>experienced by the intervention group.</a:t>
            </a:r>
            <a:endParaRPr lang="en-US" dirty="0">
              <a:effectLst/>
            </a:endParaRPr>
          </a:p>
          <a:p>
            <a:r>
              <a:rPr lang="en-US" dirty="0"/>
              <a:t>This means we assume that the intervention and comparison groups </a:t>
            </a:r>
            <a:r>
              <a:rPr lang="en-US" u="sng" dirty="0"/>
              <a:t>experience the same ”shocks” (other causes, other interventions) between pretest and posttest</a:t>
            </a:r>
            <a:r>
              <a:rPr lang="en-US" u="sng" dirty="0">
                <a:effectLst/>
              </a:rPr>
              <a:t> 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201162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3496A-E973-3849-9048-5199BF2C5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579095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C25C-8855-3A4C-BF40-C06340B1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 Scores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9B7FF-50B6-A64A-80D9-A5A21DDC18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In both groups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=1,2)</m:t>
                    </m:r>
                  </m:oMath>
                </a14:m>
                <a:r>
                  <a:rPr lang="en-US" dirty="0"/>
                  <a:t>, calculate gain scores for each participant: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using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= average gain score in the intervention group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= average gain score in the comparison group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the pooled within-groups variance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1.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2.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9B7FF-50B6-A64A-80D9-A5A21DDC18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 b="-6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75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E8E4-CEB6-9D4F-807B-1704075B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A44E18-5886-A94B-B3AA-8E6CA9CA57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gain score approach is simple but makes including covariates difficult. A regression approach provides a more general model.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 do this, stack your data so that it is “long” instead of “wide”, with each row including either a pre- or post- test in either the comparison- or intervention-groups. Thus, there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 rows.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A44E18-5886-A94B-B3AA-8E6CA9CA57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2340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7EEB0D1-1DA2-3749-B5D8-827B1468C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743753"/>
              </p:ext>
            </p:extLst>
          </p:nvPr>
        </p:nvGraphicFramePr>
        <p:xfrm>
          <a:off x="3448877" y="879723"/>
          <a:ext cx="565536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688">
                  <a:extLst>
                    <a:ext uri="{9D8B030D-6E8A-4147-A177-3AD203B41FA5}">
                      <a16:colId xmlns:a16="http://schemas.microsoft.com/office/drawing/2014/main" val="1483217440"/>
                    </a:ext>
                  </a:extLst>
                </a:gridCol>
                <a:gridCol w="954156">
                  <a:extLst>
                    <a:ext uri="{9D8B030D-6E8A-4147-A177-3AD203B41FA5}">
                      <a16:colId xmlns:a16="http://schemas.microsoft.com/office/drawing/2014/main" val="3430647577"/>
                    </a:ext>
                  </a:extLst>
                </a:gridCol>
                <a:gridCol w="1124024">
                  <a:extLst>
                    <a:ext uri="{9D8B030D-6E8A-4147-A177-3AD203B41FA5}">
                      <a16:colId xmlns:a16="http://schemas.microsoft.com/office/drawing/2014/main" val="3531394495"/>
                    </a:ext>
                  </a:extLst>
                </a:gridCol>
                <a:gridCol w="1036962">
                  <a:extLst>
                    <a:ext uri="{9D8B030D-6E8A-4147-A177-3AD203B41FA5}">
                      <a16:colId xmlns:a16="http://schemas.microsoft.com/office/drawing/2014/main" val="2414733394"/>
                    </a:ext>
                  </a:extLst>
                </a:gridCol>
                <a:gridCol w="1019532">
                  <a:extLst>
                    <a:ext uri="{9D8B030D-6E8A-4147-A177-3AD203B41FA5}">
                      <a16:colId xmlns:a16="http://schemas.microsoft.com/office/drawing/2014/main" val="1187388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26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159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7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99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221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07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569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76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49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2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98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61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942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964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9932-EFB2-9A43-B91E-22BB2B78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F7609-C6FC-5344-AC1D-DDB8C74ADD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Using this data, estimate the model,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𝑇𝑅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𝑃𝑂𝑆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𝑃𝑂𝑆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again:</a:t>
                </a:r>
              </a:p>
              <a:p>
                <a:r>
                  <a:rPr lang="en-US" dirty="0"/>
                  <a:t>TRT is a dummy variable indicating if an observation is in the intervention group</a:t>
                </a:r>
              </a:p>
              <a:p>
                <a:r>
                  <a:rPr lang="en-US" dirty="0"/>
                  <a:t>POST is a dummy variable indicating if the observation is a post-test (vs a pre-test)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F7609-C6FC-5344-AC1D-DDB8C74ADD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358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3CB1-9847-8540-AF4D-8A110169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Diff-in-Diff regression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B8C2E-83BA-5949-8E84-2B3B82DDB7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 this equation,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–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– 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–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is the Difference-in-Difference average treatment effect.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estimate this using regression and test hypotheses based upon the regression framework.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also adjust for covariates in this model.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B8C2E-83BA-5949-8E84-2B3B82DDB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522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D039-5552-5D41-8A51-4E687243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of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99B3E-91B7-E745-9998-F20B043C3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Neither of these two assumptions is easy to verify. </a:t>
            </a:r>
          </a:p>
        </p:txBody>
      </p:sp>
    </p:spTree>
    <p:extLst>
      <p:ext uri="{BB962C8B-B14F-4D97-AF65-F5344CB8AC3E}">
        <p14:creationId xmlns:p14="http://schemas.microsoft.com/office/powerpoint/2010/main" val="3838671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B4FB-5F9A-7343-8CB2-07E3E7B4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trends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7CB9D-3E64-E24F-8839-BFEA58622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Determining the growth trajectories of each group would require assessments of the outcome variable at many (or at least several) points in time.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may be impossible or infeasible to administer more than two such tests (the pretest and the posttest).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Strategies:</a:t>
            </a:r>
          </a:p>
          <a:p>
            <a:r>
              <a:rPr lang="en-US" dirty="0"/>
              <a:t>If possible, then include additional measures for a (randomly selected) subset of students. </a:t>
            </a:r>
          </a:p>
          <a:p>
            <a:r>
              <a:rPr lang="en-US" dirty="0"/>
              <a:t>Use extant data on growth trajectories (e.g., in ECLS) </a:t>
            </a:r>
          </a:p>
          <a:p>
            <a:r>
              <a:rPr lang="en-US" dirty="0"/>
              <a:t>Clearly state the assumptions and any evidence you have, or don’t have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53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BFBF-8BF3-294E-BB03-91BD8AF3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Shocks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7E53C-617B-8B4E-B56F-FBA79D08C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While it is difficult to know that </a:t>
            </a:r>
            <a:r>
              <a:rPr lang="en-US" i="1" dirty="0"/>
              <a:t>all possible </a:t>
            </a:r>
            <a:r>
              <a:rPr lang="en-US" dirty="0"/>
              <a:t>variables that could constitute shocks have been measured, it is possible to measure *some* of these.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Strategies:</a:t>
            </a:r>
          </a:p>
          <a:p>
            <a:r>
              <a:rPr lang="en-US" dirty="0"/>
              <a:t>Measure a variety of variables that might constitute shocks in both groups and </a:t>
            </a:r>
          </a:p>
          <a:p>
            <a:r>
              <a:rPr lang="en-US" dirty="0"/>
              <a:t>Determine whether the mean values of those variables are similar in the two groups (the logic is similar to matching).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03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C21F-C8B4-2241-BA28-08AD2C6B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53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Design Sensitivity</a:t>
            </a:r>
          </a:p>
        </p:txBody>
      </p:sp>
    </p:spTree>
    <p:extLst>
      <p:ext uri="{BB962C8B-B14F-4D97-AF65-F5344CB8AC3E}">
        <p14:creationId xmlns:p14="http://schemas.microsoft.com/office/powerpoint/2010/main" val="2807611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27E3-728C-EE49-A386-82514E3D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6D3AB-D4BE-534F-92FC-7BB93FC85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Statistical power for this design is a function of:</a:t>
            </a:r>
          </a:p>
          <a:p>
            <a:r>
              <a:rPr lang="en-US" dirty="0"/>
              <a:t>Intervention group sample size</a:t>
            </a:r>
          </a:p>
          <a:p>
            <a:r>
              <a:rPr lang="en-US" dirty="0"/>
              <a:t>Comparison group sample size</a:t>
            </a:r>
          </a:p>
          <a:p>
            <a:r>
              <a:rPr lang="en-US" dirty="0"/>
              <a:t>Effect size</a:t>
            </a:r>
          </a:p>
          <a:p>
            <a:r>
              <a:rPr lang="en-US" dirty="0"/>
              <a:t>Correlation between pre- and post-test</a:t>
            </a:r>
          </a:p>
        </p:txBody>
      </p:sp>
    </p:spTree>
    <p:extLst>
      <p:ext uri="{BB962C8B-B14F-4D97-AF65-F5344CB8AC3E}">
        <p14:creationId xmlns:p14="http://schemas.microsoft.com/office/powerpoint/2010/main" val="3674977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C998-E0FE-A54C-90FA-D0206054B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D3931-EEF2-D041-A848-3EB0838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(something here exploring sensitivity)</a:t>
            </a:r>
          </a:p>
        </p:txBody>
      </p:sp>
    </p:spTree>
    <p:extLst>
      <p:ext uri="{BB962C8B-B14F-4D97-AF65-F5344CB8AC3E}">
        <p14:creationId xmlns:p14="http://schemas.microsoft.com/office/powerpoint/2010/main" val="950787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64C3-0F5B-6845-BBFD-449C59AB6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Strategies to Increase Design Sensitivity</a:t>
            </a:r>
          </a:p>
        </p:txBody>
      </p:sp>
    </p:spTree>
    <p:extLst>
      <p:ext uri="{BB962C8B-B14F-4D97-AF65-F5344CB8AC3E}">
        <p14:creationId xmlns:p14="http://schemas.microsoft.com/office/powerpoint/2010/main" val="3691307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BF670-C77C-544A-A13B-EAEA82AE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Unequal group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DF1B8-CC50-E148-AFB9-348030FEA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Just as with randomized studies, there may be reasons why it is easier to collect data in the intervention group or comparison group.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r>
              <a:rPr lang="en-US" dirty="0"/>
              <a:t>The intervention may need to be small, but there is administrative data that can be used for the comparison group (which is much larger)</a:t>
            </a:r>
          </a:p>
          <a:p>
            <a:r>
              <a:rPr lang="en-US" dirty="0"/>
              <a:t>Schools are only willing to participate if most classes get the intervention – thus a smaller fraction is available for the comparison </a:t>
            </a:r>
          </a:p>
        </p:txBody>
      </p:sp>
    </p:spTree>
    <p:extLst>
      <p:ext uri="{BB962C8B-B14F-4D97-AF65-F5344CB8AC3E}">
        <p14:creationId xmlns:p14="http://schemas.microsoft.com/office/powerpoint/2010/main" val="261901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951C-73D7-8143-9DDC-4FE87894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DE241-5C32-754E-B452-A240074F2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Something here exploring sensitivity with unequal sizes</a:t>
            </a:r>
          </a:p>
        </p:txBody>
      </p:sp>
    </p:spTree>
    <p:extLst>
      <p:ext uri="{BB962C8B-B14F-4D97-AF65-F5344CB8AC3E}">
        <p14:creationId xmlns:p14="http://schemas.microsoft.com/office/powerpoint/2010/main" val="1374277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B634-32FB-5A42-B512-2846A3B9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covariates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234AB-604A-C640-BE22-12F992938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using the regression approach, covariates can be included. These offer two benefits:</a:t>
            </a:r>
          </a:p>
          <a:p>
            <a:pPr marL="514350" indent="-514350">
              <a:buAutoNum type="arabicPeriod"/>
            </a:pPr>
            <a:r>
              <a:rPr lang="en-US" dirty="0"/>
              <a:t>They improve the internal validity of the design, as they lead to groups that are more similar (on observed covariates), thus ruling out other possible explanations (e.g., selection)</a:t>
            </a:r>
          </a:p>
          <a:p>
            <a:pPr marL="514350" indent="-514350">
              <a:buAutoNum type="arabicPeriod"/>
            </a:pPr>
            <a:r>
              <a:rPr lang="en-US" dirty="0"/>
              <a:t>They improve statistical conclusion validity, by improving sensitivity. Including covariates reduces the residual variation, thus improving power.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53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C6CB-747F-9E44-8E5C-2FBA9B21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8654E-DBFF-9849-ACCF-0C7F1D70E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(something here showing how covariates help)</a:t>
            </a:r>
          </a:p>
        </p:txBody>
      </p:sp>
    </p:spTree>
    <p:extLst>
      <p:ext uri="{BB962C8B-B14F-4D97-AF65-F5344CB8AC3E}">
        <p14:creationId xmlns:p14="http://schemas.microsoft.com/office/powerpoint/2010/main" val="794705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F619-9565-0444-8706-CB5953D4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408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Planning a </a:t>
            </a:r>
            <a:r>
              <a:rPr lang="en-US" dirty="0" err="1"/>
              <a:t>DiD</a:t>
            </a:r>
            <a:r>
              <a:rPr lang="en-US" dirty="0"/>
              <a:t> Study</a:t>
            </a:r>
          </a:p>
        </p:txBody>
      </p:sp>
    </p:spTree>
    <p:extLst>
      <p:ext uri="{BB962C8B-B14F-4D97-AF65-F5344CB8AC3E}">
        <p14:creationId xmlns:p14="http://schemas.microsoft.com/office/powerpoint/2010/main" val="2973641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C484B-2CA4-BD4C-8765-579558CA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need?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CD7F-C3A3-E743-B49D-ED5F095CE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At a minimum, you will need an:</a:t>
            </a:r>
          </a:p>
          <a:p>
            <a:r>
              <a:rPr lang="en-US" dirty="0"/>
              <a:t>Intervention group</a:t>
            </a:r>
          </a:p>
          <a:p>
            <a:r>
              <a:rPr lang="en-US" dirty="0"/>
              <a:t>Comparison group</a:t>
            </a:r>
          </a:p>
          <a:p>
            <a:r>
              <a:rPr lang="en-US" dirty="0"/>
              <a:t>Pre- and post- test measure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Ideally, you will also have:</a:t>
            </a:r>
          </a:p>
          <a:p>
            <a:r>
              <a:rPr lang="en-US" dirty="0"/>
              <a:t>Measures of other potential causes (“shocks”) experienced in the two groups</a:t>
            </a:r>
          </a:p>
          <a:p>
            <a:r>
              <a:rPr lang="en-US" dirty="0"/>
              <a:t>Measures at additional time-points (for at least a random subset)</a:t>
            </a:r>
          </a:p>
          <a:p>
            <a:r>
              <a:rPr lang="en-US" dirty="0"/>
              <a:t>Covariates correlated with the outcomes</a:t>
            </a:r>
          </a:p>
        </p:txBody>
      </p:sp>
    </p:spTree>
    <p:extLst>
      <p:ext uri="{BB962C8B-B14F-4D97-AF65-F5344CB8AC3E}">
        <p14:creationId xmlns:p14="http://schemas.microsoft.com/office/powerpoint/2010/main" val="778089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2E5B-79B5-2A45-AE19-24210DDF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 comparison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3E614-2AFA-9E4F-A1B7-7CE8AB140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ideal comparison group is somewhat like your intervention group. For example:</a:t>
            </a:r>
          </a:p>
          <a:p>
            <a:r>
              <a:rPr lang="en-US" dirty="0"/>
              <a:t>A different grade in the same school</a:t>
            </a:r>
          </a:p>
          <a:p>
            <a:r>
              <a:rPr lang="en-US" dirty="0"/>
              <a:t>Another, similar school in the same district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don’t have to be identical, but you should have reason to expect that their growth trajectories would be parallel and that they would experience similar ‘shocks’.</a:t>
            </a:r>
          </a:p>
        </p:txBody>
      </p:sp>
    </p:spTree>
    <p:extLst>
      <p:ext uri="{BB962C8B-B14F-4D97-AF65-F5344CB8AC3E}">
        <p14:creationId xmlns:p14="http://schemas.microsoft.com/office/powerpoint/2010/main" val="389120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D46A-F7D7-934E-9CE1-2794E8AF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careful about </a:t>
            </a:r>
            <a:r>
              <a:rPr lang="en-US"/>
              <a:t>regression effects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70D446-4B47-DD4A-B23F-04EC5C7B9B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Let’s say you have an intervention group and data on pre-test scores already measured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may be tempting to go about trying to find exact matches for each of these in some comparison group reservoir (i.e.,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 remember that pre-tests are not perfect measures and that they include some random error.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As a result, this approach can lead to </a:t>
                </a:r>
                <a:r>
                  <a:rPr lang="en-US" b="1" i="1" dirty="0"/>
                  <a:t>regression to the mean</a:t>
                </a:r>
                <a:r>
                  <a:rPr lang="en-US" i="1" dirty="0"/>
                  <a:t>, </a:t>
                </a:r>
                <a:r>
                  <a:rPr lang="en-US" dirty="0"/>
                  <a:t>producing average treatment effect estimates that are </a:t>
                </a:r>
                <a:r>
                  <a:rPr lang="en-US" b="1" i="1" dirty="0"/>
                  <a:t>smaller</a:t>
                </a:r>
                <a:r>
                  <a:rPr lang="en-US" dirty="0"/>
                  <a:t> than they should be. </a:t>
                </a:r>
                <a:endParaRPr lang="en-US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70D446-4B47-DD4A-B23F-04EC5C7B9B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r="-1327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652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1464</Words>
  <Application>Microsoft Macintosh PowerPoint</Application>
  <PresentationFormat>Widescreen</PresentationFormat>
  <Paragraphs>218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Office Theme</vt:lpstr>
      <vt:lpstr>Difference-in-Difference</vt:lpstr>
      <vt:lpstr>Pre-Post Problems</vt:lpstr>
      <vt:lpstr>A deeper problem</vt:lpstr>
      <vt:lpstr>Example</vt:lpstr>
      <vt:lpstr>Statistical Model</vt:lpstr>
      <vt:lpstr>Model</vt:lpstr>
      <vt:lpstr>PowerPoint Presentation</vt:lpstr>
      <vt:lpstr>How does this work?</vt:lpstr>
      <vt:lpstr>Parallel Trends Assumption</vt:lpstr>
      <vt:lpstr>Common Shocks Assumption</vt:lpstr>
      <vt:lpstr>Statistical Analysis</vt:lpstr>
      <vt:lpstr>Gain Scores</vt:lpstr>
      <vt:lpstr>Regression</vt:lpstr>
      <vt:lpstr>PowerPoint Presentation</vt:lpstr>
      <vt:lpstr>Estimation</vt:lpstr>
      <vt:lpstr>Diff-in-Diff regression coefficient</vt:lpstr>
      <vt:lpstr>Verification of Assumptions</vt:lpstr>
      <vt:lpstr>Parallel trends verification</vt:lpstr>
      <vt:lpstr>Common Shocks Verification</vt:lpstr>
      <vt:lpstr>Design Sensitivity</vt:lpstr>
      <vt:lpstr>Design parameters</vt:lpstr>
      <vt:lpstr>PowerPoint Presentation</vt:lpstr>
      <vt:lpstr>Strategies to Increase Design Sensitivity</vt:lpstr>
      <vt:lpstr>Unequal group sizes</vt:lpstr>
      <vt:lpstr>PowerPoint Presentation</vt:lpstr>
      <vt:lpstr>Using covariates</vt:lpstr>
      <vt:lpstr>PowerPoint Presentation</vt:lpstr>
      <vt:lpstr>Planning a DiD Study</vt:lpstr>
      <vt:lpstr>What do you need?</vt:lpstr>
      <vt:lpstr>Selecting a comparison group</vt:lpstr>
      <vt:lpstr>Be careful about regression effects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Difference-in-Difference</dc:title>
  <dc:creator>Elizabeth Tipton</dc:creator>
  <cp:lastModifiedBy>Elizabeth Tipton</cp:lastModifiedBy>
  <cp:revision>28</cp:revision>
  <dcterms:created xsi:type="dcterms:W3CDTF">2021-06-28T20:40:01Z</dcterms:created>
  <dcterms:modified xsi:type="dcterms:W3CDTF">2021-07-02T20:43:52Z</dcterms:modified>
</cp:coreProperties>
</file>