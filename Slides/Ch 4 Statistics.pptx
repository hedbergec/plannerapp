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7" r:id="rId2"/>
    <p:sldId id="291" r:id="rId3"/>
    <p:sldId id="258" r:id="rId4"/>
    <p:sldId id="259" r:id="rId5"/>
    <p:sldId id="292" r:id="rId6"/>
    <p:sldId id="260" r:id="rId7"/>
    <p:sldId id="261" r:id="rId8"/>
    <p:sldId id="293" r:id="rId9"/>
    <p:sldId id="294" r:id="rId10"/>
    <p:sldId id="295" r:id="rId11"/>
    <p:sldId id="296" r:id="rId12"/>
    <p:sldId id="262" r:id="rId13"/>
    <p:sldId id="263" r:id="rId14"/>
    <p:sldId id="297" r:id="rId15"/>
    <p:sldId id="264" r:id="rId16"/>
    <p:sldId id="265" r:id="rId17"/>
    <p:sldId id="298" r:id="rId18"/>
    <p:sldId id="299" r:id="rId19"/>
    <p:sldId id="266" r:id="rId20"/>
    <p:sldId id="267" r:id="rId21"/>
    <p:sldId id="300" r:id="rId22"/>
    <p:sldId id="301" r:id="rId23"/>
    <p:sldId id="302" r:id="rId24"/>
    <p:sldId id="303" r:id="rId25"/>
    <p:sldId id="268" r:id="rId26"/>
    <p:sldId id="269" r:id="rId27"/>
    <p:sldId id="304" r:id="rId28"/>
    <p:sldId id="306" r:id="rId29"/>
    <p:sldId id="305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307" r:id="rId39"/>
    <p:sldId id="308" r:id="rId40"/>
    <p:sldId id="309" r:id="rId41"/>
    <p:sldId id="310" r:id="rId42"/>
    <p:sldId id="311" r:id="rId43"/>
    <p:sldId id="312" r:id="rId44"/>
    <p:sldId id="31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46"/>
    <p:restoredTop sz="96327"/>
  </p:normalViewPr>
  <p:slideViewPr>
    <p:cSldViewPr snapToGrid="0" snapToObjects="1">
      <p:cViewPr>
        <p:scale>
          <a:sx n="90" d="100"/>
          <a:sy n="90" d="100"/>
        </p:scale>
        <p:origin x="54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CCBF9-48AA-F544-AD56-D02B223692DD}" type="datetimeFigureOut">
              <a:rPr lang="en-US" smtClean="0"/>
              <a:t>6/21/21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E33D5-B136-1545-97F9-D0931CDC7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5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0817-0583-C941-A723-932E008FD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A6144-EB41-234B-8EC9-939A8001A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463AB-1C88-B640-9FE3-1B456A3C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F34A5-6B77-7D46-848B-4D975F5F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E5761-D86B-234C-9176-0E6B04927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2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A7D4-6F63-3C43-BE8D-C9E846FEA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94B07-43F6-BA49-8FFA-683E32453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87ECD-7256-0044-844D-72B86C7E6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6D007-59D2-E84F-9660-7564104B0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6FAEF-5814-5A40-9C14-234A5645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4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BE46-5768-494A-983E-C65A4DB45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2166F-AB1A-F540-8E32-868BDE84F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78173-308B-794F-888C-1E2973B11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5F56C-D67C-1247-8882-538E184C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172EC-DD00-5E47-A9AC-B2923750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87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780F4-B948-6E4C-A7CF-26AEEF56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E5E21-7B51-E64E-94B0-A0E77B933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B5430-EF01-2748-BB9B-EA51C5165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4A550-5DD3-1C4E-9A58-13746B1D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886DE-5486-E24C-AD3D-FA4F6ECB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DED61-9605-7B4E-BF86-BB7C33D72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3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E3D7-1294-2749-A952-F7E016547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1C0FE-A831-0042-B194-0F58A2C66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E3C9F-97D0-3E47-9EF4-D13EE3A00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56BA2-86F1-4B46-9D0D-B15C7A92F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E6D285-73F1-A743-B806-27BCD3F87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B6BDC9-0030-FF4E-B7B5-13A5F42E9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E0F53-B0F3-ED47-899C-32CB7A7D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9E3DF-67E7-7E4E-82F8-4FF7A717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1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7C59-8125-FC43-976E-0DAD8E01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6BE17F-3F8B-F148-B9C8-7685257F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46675-E279-AB47-8571-EE65B178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06BAF-BAFF-1B47-A9A9-7FBB270C4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9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9D851-858B-3247-B24F-62E004A0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936ECA-5003-114E-AB42-AC9F2B94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CF662-1BC8-A743-9BBA-E56F99BA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7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F8A2-F9F7-C841-8E0C-93A2C1A7F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B1DA-2756-A840-9D21-2E27BD957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BD13E-FFE8-EE4B-BA2C-79D457C5A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A504F-3E54-D84D-91D3-D2D4A576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75D54-8F53-DC4F-8CFB-0FF3C133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2AB9D-60BB-4240-B324-B02404D7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9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C731-0C6D-A944-AB5F-115C13F4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FC02CC-0016-FE4C-8B99-CB5C699A0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8783E-7B18-D04C-8411-9BA3D31A0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68FAB-E3AF-7E48-A830-08107681C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B8F7D-A5F4-1146-AE5D-19F7F449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E1B15-A46E-384F-AF28-5AE0F8B8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7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2DD9-1D92-5842-8AAF-48150ED7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C3C89-C1AC-914F-9371-2743175BD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D55DE-B004-EA44-8808-B0542E91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0FD24-0D1A-E04F-8602-2939E01F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EC065-D07F-3741-B612-4EBFA50F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11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F69F03-A219-C044-B52F-EC7AEE6C4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E62DC-EFEC-4042-8AC3-1B8C65D02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D5BCF-987C-9148-98AA-2A7E2D20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C6C54-692F-124B-90F3-D2F82ECF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9E23A-B63A-674B-9CAE-C32D5FB5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40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8181B-DBB7-AF44-877A-84D3FD52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EFDA9-B31F-AB45-8E86-D606EE555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44AF3-23D0-AF46-A224-7ADBB142F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0BA02-0AB6-694D-8F4E-8BA80AEA67FC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C6F57-8E42-2141-B291-BFD99B182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20A63-EB76-6C4F-9B6D-559F19C14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4051B-BCF5-3346-8364-21C0C5EC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5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2DE9-8657-D848-B382-C13002A43B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 of 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C0F68-8E69-1342-8EAC-BF2CEFA990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Elizabeth Tipton</a:t>
            </a:r>
          </a:p>
          <a:p>
            <a:endParaRPr lang="en-US" dirty="0"/>
          </a:p>
          <a:p>
            <a:r>
              <a:rPr lang="en-US" dirty="0"/>
              <a:t>NSF Improving Education R&amp;D Evaluations Workshop</a:t>
            </a:r>
          </a:p>
          <a:p>
            <a:r>
              <a:rPr lang="en-US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1221328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E466-E522-2E43-8635-A85703167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warm-up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58A47-C716-9B4F-B09B-5C3FA59FA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327" y="180187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Throughout the week, the text, lectures, and labs will use statistical notation.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It’s important that we begin with shared language and notation.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session, I’m going to give a ‘warm-up’, a high -level review of statistics.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ask questions. </a:t>
            </a:r>
          </a:p>
        </p:txBody>
      </p:sp>
    </p:spTree>
    <p:extLst>
      <p:ext uri="{BB962C8B-B14F-4D97-AF65-F5344CB8AC3E}">
        <p14:creationId xmlns:p14="http://schemas.microsoft.com/office/powerpoint/2010/main" val="2892945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E8A8-C8BC-4A49-BF13-8C2BDEA0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33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Populations and Samples</a:t>
            </a:r>
          </a:p>
        </p:txBody>
      </p:sp>
    </p:spTree>
    <p:extLst>
      <p:ext uri="{BB962C8B-B14F-4D97-AF65-F5344CB8AC3E}">
        <p14:creationId xmlns:p14="http://schemas.microsoft.com/office/powerpoint/2010/main" val="152527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EC7B-C37B-614A-BFB6-9AA6217F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CCF09-CB8C-2C46-9827-AB58D8F74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i="1" dirty="0"/>
              <a:t>population</a:t>
            </a:r>
            <a:r>
              <a:rPr lang="en-US" i="1" dirty="0"/>
              <a:t> </a:t>
            </a:r>
            <a:r>
              <a:rPr lang="en-US" dirty="0"/>
              <a:t>is the conceivable (and possibly infinite) set of </a:t>
            </a:r>
            <a:r>
              <a:rPr lang="en-US" i="1" dirty="0"/>
              <a:t>possible</a:t>
            </a:r>
            <a:r>
              <a:rPr lang="en-US" dirty="0"/>
              <a:t> observations.</a:t>
            </a:r>
          </a:p>
          <a:p>
            <a:r>
              <a:rPr lang="en-US" dirty="0"/>
              <a:t>A </a:t>
            </a:r>
            <a:r>
              <a:rPr lang="en-US" b="1" i="1" dirty="0"/>
              <a:t>sample</a:t>
            </a:r>
            <a:r>
              <a:rPr lang="en-US" dirty="0"/>
              <a:t> is a subset of a population that can be observed. </a:t>
            </a:r>
          </a:p>
          <a:p>
            <a:endParaRPr lang="en-US" dirty="0"/>
          </a:p>
          <a:p>
            <a:r>
              <a:rPr lang="en-US" dirty="0"/>
              <a:t>Samples can be small or large and can be selected from the population in any possible way.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458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20D88-1920-3449-AD20-8AE94657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132B0-CFEA-3147-A77C-9050169EE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Characteristics of </a:t>
            </a:r>
            <a:r>
              <a:rPr lang="en-US" b="1" dirty="0"/>
              <a:t>populations</a:t>
            </a:r>
            <a:r>
              <a:rPr lang="en-US" dirty="0"/>
              <a:t> are called </a:t>
            </a:r>
            <a:r>
              <a:rPr lang="en-US" i="1" dirty="0"/>
              <a:t>parameters.</a:t>
            </a:r>
          </a:p>
          <a:p>
            <a:r>
              <a:rPr lang="en-US" dirty="0"/>
              <a:t>Characteristics of </a:t>
            </a:r>
            <a:r>
              <a:rPr lang="en-US" b="1" dirty="0"/>
              <a:t>samples</a:t>
            </a:r>
            <a:r>
              <a:rPr lang="en-US" dirty="0"/>
              <a:t> are called </a:t>
            </a:r>
            <a:r>
              <a:rPr lang="en-US" i="1" dirty="0"/>
              <a:t>statistics</a:t>
            </a:r>
            <a:r>
              <a:rPr lang="en-US" dirty="0"/>
              <a:t>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typically use Greek letters for parameters and Roman letters for statistics.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D751A8E-6E26-F642-BC61-35D02C277B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535408"/>
                  </p:ext>
                </p:extLst>
              </p:nvPr>
            </p:nvGraphicFramePr>
            <p:xfrm>
              <a:off x="3598222" y="4543521"/>
              <a:ext cx="5795159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4422">
                      <a:extLst>
                        <a:ext uri="{9D8B030D-6E8A-4147-A177-3AD203B41FA5}">
                          <a16:colId xmlns:a16="http://schemas.microsoft.com/office/drawing/2014/main" val="2570877057"/>
                        </a:ext>
                      </a:extLst>
                    </a:gridCol>
                    <a:gridCol w="2161309">
                      <a:extLst>
                        <a:ext uri="{9D8B030D-6E8A-4147-A177-3AD203B41FA5}">
                          <a16:colId xmlns:a16="http://schemas.microsoft.com/office/drawing/2014/main" val="2586004234"/>
                        </a:ext>
                      </a:extLst>
                    </a:gridCol>
                    <a:gridCol w="1959428">
                      <a:extLst>
                        <a:ext uri="{9D8B030D-6E8A-4147-A177-3AD203B41FA5}">
                          <a16:colId xmlns:a16="http://schemas.microsoft.com/office/drawing/2014/main" val="26608950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Statistic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4804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dirty="0"/>
                            <a:t> (mu)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dirty="0"/>
                            <a:t> (or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1649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(sigma-squared)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15667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D751A8E-6E26-F642-BC61-35D02C277B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535408"/>
                  </p:ext>
                </p:extLst>
              </p:nvPr>
            </p:nvGraphicFramePr>
            <p:xfrm>
              <a:off x="3598222" y="4543521"/>
              <a:ext cx="5795159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4422">
                      <a:extLst>
                        <a:ext uri="{9D8B030D-6E8A-4147-A177-3AD203B41FA5}">
                          <a16:colId xmlns:a16="http://schemas.microsoft.com/office/drawing/2014/main" val="2570877057"/>
                        </a:ext>
                      </a:extLst>
                    </a:gridCol>
                    <a:gridCol w="2161309">
                      <a:extLst>
                        <a:ext uri="{9D8B030D-6E8A-4147-A177-3AD203B41FA5}">
                          <a16:colId xmlns:a16="http://schemas.microsoft.com/office/drawing/2014/main" val="2586004234"/>
                        </a:ext>
                      </a:extLst>
                    </a:gridCol>
                    <a:gridCol w="1959428">
                      <a:extLst>
                        <a:ext uri="{9D8B030D-6E8A-4147-A177-3AD203B41FA5}">
                          <a16:colId xmlns:a16="http://schemas.microsoft.com/office/drawing/2014/main" val="26608950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Statistic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4804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235" t="-110345" r="-92941" b="-1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5484" t="-110345" r="-1935" b="-1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1649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235" t="-203333" r="-92941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5484" t="-203333" r="-1935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15667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93386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F0EE-64D8-F941-968D-ABB199A0E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18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Random Sampling</a:t>
            </a:r>
          </a:p>
        </p:txBody>
      </p:sp>
    </p:spTree>
    <p:extLst>
      <p:ext uri="{BB962C8B-B14F-4D97-AF65-F5344CB8AC3E}">
        <p14:creationId xmlns:p14="http://schemas.microsoft.com/office/powerpoint/2010/main" val="1932591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1FDD-8B58-6D46-937A-1190A301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26DE6-B6A4-3846-94C0-0C8BE851B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sample, we can summarize the data using statistics. </a:t>
            </a:r>
          </a:p>
          <a:p>
            <a:pPr lvl="1"/>
            <a:r>
              <a:rPr lang="en-US" dirty="0"/>
              <a:t>”The sample mean is 4.2.”</a:t>
            </a:r>
          </a:p>
          <a:p>
            <a:pPr lvl="1"/>
            <a:r>
              <a:rPr lang="en-US" dirty="0"/>
              <a:t>“ The variance in our sample is 1.3.”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can be calculated (i.e., there is a formula) using data that we have collected. We definitively *know* these values.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58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A0B59-5629-C74F-9D95-CAE6E3BDA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-&gt; Population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C3DF3-DFCB-CF44-9552-4D3AAC33E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can also use the statistics in our sample to </a:t>
            </a:r>
            <a:r>
              <a:rPr lang="en-US" b="1" dirty="0"/>
              <a:t>estimate </a:t>
            </a:r>
            <a:r>
              <a:rPr lang="en-US" dirty="0"/>
              <a:t>associated population parameters.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Remember: we can never definitively know these parameter values.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get from a sample to a population, we need </a:t>
            </a:r>
            <a:r>
              <a:rPr lang="en-US" b="1" dirty="0"/>
              <a:t>random sampling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63761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3872-0ED7-1549-9BD9-0AC892823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C3533-27D3-534E-8EF3-2FCA2D20A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In random sampling, every unit (e.g., student, school) in the population has a non-zero probability of being in the sample. </a:t>
            </a:r>
          </a:p>
          <a:p>
            <a:r>
              <a:rPr lang="en-US" dirty="0"/>
              <a:t>This provides the bridge we need to make inferences.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Thinking this way shifts our perspective. Now the sample we observe is not the only sample, but one of an infinite number of possible samples we could have observed.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So, while the mean in our sample is 4.2, in another sample from the same population, the mean could have been 5.1 (or 3.9 or 4.1 or 1.2 …). </a:t>
            </a:r>
          </a:p>
        </p:txBody>
      </p:sp>
    </p:spTree>
    <p:extLst>
      <p:ext uri="{BB962C8B-B14F-4D97-AF65-F5344CB8AC3E}">
        <p14:creationId xmlns:p14="http://schemas.microsoft.com/office/powerpoint/2010/main" val="2714607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69D2-3BAD-AB42-B8BC-95333A26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bridge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DCB5A-74E5-3E45-9FAB-D5A427AC72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Because we know the probability that a unit (e.g., school) is sampled, we* can develop properties of sample statistics to infer the values of their associated population parameters.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example, we* can show that if we take samples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units, if the population mean is 5.0 and the population variance is 1.0, then:</a:t>
                </a:r>
              </a:p>
              <a:p>
                <a:r>
                  <a:rPr lang="en-US" dirty="0"/>
                  <a:t>Across all possible samples, the average sample mean will be 5.0</a:t>
                </a:r>
              </a:p>
              <a:p>
                <a:r>
                  <a:rPr lang="en-US" dirty="0"/>
                  <a:t>Approximately 95% of the samples will have sample means between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(5.0−1.96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1/10,</m:t>
                        </m:r>
                      </m:e>
                    </m:rad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5.0−1.96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1/10</m:t>
                        </m:r>
                      </m:e>
                    </m:rad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DCB5A-74E5-3E45-9FAB-D5A427AC72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724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D1D4439-2465-0942-847D-07B3FAA32431}"/>
              </a:ext>
            </a:extLst>
          </p:cNvPr>
          <p:cNvSpPr txBox="1"/>
          <p:nvPr/>
        </p:nvSpPr>
        <p:spPr>
          <a:xfrm>
            <a:off x="9084623" y="365125"/>
            <a:ext cx="415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We = statisticians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448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B358-F740-BC4D-AB1A-4E2C99989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right?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FD583-8151-4D4E-8D7A-B2D2B7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“But our samples aren’t random?” “And didn’t we say that we weren’t going to generalize to populations?”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where it gets a bit dicey. Even though the sample you see is not a random sample from a larger target population, it *can* be conceived of as a random sample from *some* population.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377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C171-7DA1-D14B-8B85-A5F8B025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205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Models and Notation</a:t>
            </a:r>
          </a:p>
        </p:txBody>
      </p:sp>
    </p:spTree>
    <p:extLst>
      <p:ext uri="{BB962C8B-B14F-4D97-AF65-F5344CB8AC3E}">
        <p14:creationId xmlns:p14="http://schemas.microsoft.com/office/powerpoint/2010/main" val="611168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509E-0CD5-7543-BDAA-3E457BB5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we will use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0AD3F3-1754-1F46-9CEF-A53B43C79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0" dirty="0"/>
                  <a:t>* We observe units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total sample size.</a:t>
                </a:r>
              </a:p>
              <a:p>
                <a:pPr marL="0" indent="0">
                  <a:buNone/>
                </a:pPr>
                <a:r>
                  <a:rPr lang="en-US" dirty="0"/>
                  <a:t>* For unit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we observe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(“Y-</a:t>
                </a:r>
                <a:r>
                  <a:rPr lang="en-US" dirty="0" err="1"/>
                  <a:t>i</a:t>
                </a:r>
                <a:r>
                  <a:rPr lang="en-US" dirty="0"/>
                  <a:t>” or “Y-sub-</a:t>
                </a:r>
                <a:r>
                  <a:rPr lang="en-US" dirty="0" err="1"/>
                  <a:t>i</a:t>
                </a:r>
                <a:r>
                  <a:rPr lang="en-US" dirty="0"/>
                  <a:t>”).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basic statistical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That is, every observed measure can be decomposed into two parts: </a:t>
                </a:r>
              </a:p>
              <a:p>
                <a:r>
                  <a:rPr lang="en-US" dirty="0"/>
                  <a:t>The population mean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), which is unknowable</a:t>
                </a:r>
              </a:p>
              <a:p>
                <a:r>
                  <a:rPr lang="en-US" dirty="0"/>
                  <a:t>A residual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we assume that: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(“epsilon-</a:t>
                </a:r>
                <a:r>
                  <a:rPr lang="en-US" dirty="0" err="1"/>
                  <a:t>i</a:t>
                </a:r>
                <a:r>
                  <a:rPr lang="en-US" dirty="0"/>
                  <a:t> is normally distributed with a mean of 0 and a variance of sigma-squared”)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0AD3F3-1754-1F46-9CEF-A53B43C79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4636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CFB78-D26F-7648-A602-5577425ED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with an intervention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DFF065-B1CC-A948-84B4-72FCDB7D50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can extend this to include an intervention using something like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is 0 or 1 if </a:t>
                </a:r>
                <a:r>
                  <a:rPr lang="en-US" dirty="0"/>
                  <a:t>the unit is in the comparison or treatment group.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In this model,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b="0" dirty="0"/>
                  <a:t> is the average outcome in the comparison condition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="0" dirty="0"/>
                  <a:t> is the average difference between the intervention and comparison conditions.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DFF065-B1CC-A948-84B4-72FCDB7D50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346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AB42-6D96-1643-A585-BC47D16C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704" y="2858944"/>
            <a:ext cx="10515600" cy="1325563"/>
          </a:xfrm>
        </p:spPr>
        <p:txBody>
          <a:bodyPr/>
          <a:lstStyle/>
          <a:p>
            <a:r>
              <a:rPr lang="en-US" dirty="0"/>
              <a:t>Estimators and Sampling Distributions</a:t>
            </a:r>
          </a:p>
        </p:txBody>
      </p:sp>
    </p:spTree>
    <p:extLst>
      <p:ext uri="{BB962C8B-B14F-4D97-AF65-F5344CB8AC3E}">
        <p14:creationId xmlns:p14="http://schemas.microsoft.com/office/powerpoint/2010/main" val="1356361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A841-5A1D-1541-BFE3-6498DD69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parameters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53E515-D838-514A-A5DA-696DB4ABE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can use sample statistics to estimate population parameters.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example, we can use well-known formulas like: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 to estimate the population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dirty="0"/>
                  <a:t> to estimate the population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how do we connect them?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53E515-D838-514A-A5DA-696DB4ABE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550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C0C1-1AAB-8648-99B3-B599DB90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051D69-D674-E540-99FA-5D698326F7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Based on the theory of random sampling, we* can show that the sample statistics follow sampling distributions.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example: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(“The sample mean is normally distributed with a mean of mu and a variance of sigma-squared divided by n”)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(“The sample variance follows the variance sigma-squared times a chi-squared distribution with n minus 1 degrees of freedom”)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051D69-D674-E540-99FA-5D698326F7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603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E0E705C-7A6B-EB41-B50F-61F3A55787F5}"/>
              </a:ext>
            </a:extLst>
          </p:cNvPr>
          <p:cNvSpPr txBox="1"/>
          <p:nvPr/>
        </p:nvSpPr>
        <p:spPr>
          <a:xfrm>
            <a:off x="9084623" y="365125"/>
            <a:ext cx="415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We = statisticians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725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5EDC-4814-9542-9F32-5EAF4B78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72A2-5E57-D84B-A3C8-29634D7ED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we know the sampling distribution and our sample statistics, we can now use these distributions to infer </a:t>
            </a:r>
            <a:r>
              <a:rPr lang="en-US" i="1" dirty="0"/>
              <a:t>how close our estimate is likely to be to the true parameter value.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example, we can use this sampling distribution to create:</a:t>
            </a:r>
          </a:p>
          <a:p>
            <a:r>
              <a:rPr lang="en-US" dirty="0"/>
              <a:t>A confidence interval </a:t>
            </a:r>
          </a:p>
          <a:p>
            <a:r>
              <a:rPr lang="en-US" dirty="0"/>
              <a:t>A hypothesis test</a:t>
            </a:r>
          </a:p>
        </p:txBody>
      </p:sp>
    </p:spTree>
    <p:extLst>
      <p:ext uri="{BB962C8B-B14F-4D97-AF65-F5344CB8AC3E}">
        <p14:creationId xmlns:p14="http://schemas.microsoft.com/office/powerpoint/2010/main" val="252125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174FE-BC2E-8F48-B80F-8815CC7D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Statistical Inference</a:t>
            </a:r>
          </a:p>
        </p:txBody>
      </p:sp>
    </p:spTree>
    <p:extLst>
      <p:ext uri="{BB962C8B-B14F-4D97-AF65-F5344CB8AC3E}">
        <p14:creationId xmlns:p14="http://schemas.microsoft.com/office/powerpoint/2010/main" val="89778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D7DD-C151-214D-839B-C0526F524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with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4F47E-3453-EB44-BC54-9E195BBE79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We often want to make decisions regarding the population parameter value, such as:</a:t>
                </a:r>
              </a:p>
              <a:p>
                <a:r>
                  <a:rPr lang="en-US" dirty="0"/>
                  <a:t> The intervention causes changes in outcomes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intervention is no different than usual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do so based using </a:t>
                </a:r>
                <a:r>
                  <a:rPr lang="en-US" i="1" dirty="0"/>
                  <a:t>hypothesis tests.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4F47E-3453-EB44-BC54-9E195BBE79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282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51D4E-9C8A-E84F-ACF5-4E1A973F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Scientific vs Statistical Hypotheses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1F27F-FF8A-DE4A-9F73-1E59871E84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word ‘hypotheses’ is very confusing.  Scientifically speaking, my ‘hypothesis’ is likely that the intervention *does* improve outcomes. (Or else, why am I conducting this study?)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Statistically, however, this is not what we mean. A hypothesis test in statistical language is a form of argument. We might call it a ‘stochastic proof by contradiction.’ 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u="sng" dirty="0"/>
                  <a:t>Stochastic proof by contradiction.</a:t>
                </a:r>
              </a:p>
              <a:p>
                <a:pPr marL="0" indent="0">
                  <a:buNone/>
                </a:pPr>
                <a:r>
                  <a:rPr lang="en-US" dirty="0"/>
                  <a:t>I want to prove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Begin by assuming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 </a:t>
                </a:r>
              </a:p>
              <a:p>
                <a:pPr marL="0" indent="0">
                  <a:buNone/>
                </a:pPr>
                <a:r>
                  <a:rPr lang="en-US" dirty="0"/>
                  <a:t>Show that my data </a:t>
                </a:r>
                <a:r>
                  <a:rPr lang="en-US" i="1" dirty="0"/>
                  <a:t>is extremely unlikely </a:t>
                </a:r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Thus, conclude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1F27F-FF8A-DE4A-9F73-1E59871E8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907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308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D529-7F4A-BB41-9902-B56AB02B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hypothesis testing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9B324-5570-CD4F-872F-4630F31C4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Scientifically, we hypothesize that our intervention is effective.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Statistically, we are skeptical. We begin by assuming that our intervention is </a:t>
                </a:r>
                <a:r>
                  <a:rPr lang="en-US" b="1" dirty="0"/>
                  <a:t>not</a:t>
                </a:r>
                <a:r>
                  <a:rPr lang="en-US" dirty="0"/>
                  <a:t> effective: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conduct a study and calculate a test statistic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regarding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Under the null hypothesis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), we know the sampling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We can locate our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this distribution and we find the value we observe is very uncommon (e.g., values this large only occur in 1% of samples).</a:t>
                </a:r>
              </a:p>
              <a:p>
                <a:r>
                  <a:rPr lang="en-US" dirty="0"/>
                  <a:t>We thus conclude that it is very unlikely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instead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9B324-5570-CD4F-872F-4630F31C4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715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3882-33BF-5448-AFAE-0DCE30B6D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this is a stochastic proof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AF97C4-4016-A942-9133-373D613B4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Our logic is based on an event being “unlikely” not “impossible.” We’re worried about errors:</a:t>
                </a:r>
              </a:p>
              <a:p>
                <a:r>
                  <a:rPr lang="en-US" b="1" dirty="0"/>
                  <a:t>Type I error: </a:t>
                </a:r>
                <a:r>
                  <a:rPr lang="en-US" dirty="0"/>
                  <a:t>We may reject our assertion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because we get an unlikely value, but it may truly just be an unlikely event. </a:t>
                </a:r>
              </a:p>
              <a:p>
                <a:r>
                  <a:rPr lang="en-US" b="1" dirty="0"/>
                  <a:t>Type II error: </a:t>
                </a:r>
                <a:r>
                  <a:rPr lang="en-US" dirty="0"/>
                  <a:t>We may *not* reject our assertion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even though we should have, e.g., because our data set is small.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Both errors are costly:</a:t>
                </a:r>
              </a:p>
              <a:p>
                <a:r>
                  <a:rPr lang="en-US" dirty="0"/>
                  <a:t>Type I errors mean we say “yay, this intervention works!” when it doesn’t.</a:t>
                </a:r>
              </a:p>
              <a:p>
                <a:r>
                  <a:rPr lang="en-US" dirty="0"/>
                  <a:t>Type II errors mean we conducted a study that was doomed to fail from the beginning – i.e., in which we were unlikely to ever have enough evidence to prove that the intervention worked.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AF97C4-4016-A942-9133-373D613B4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 r="-1568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198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C87A-F1CF-8D45-A47C-7FD66A1D4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power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DEFE6-0134-4343-8F63-17FDCB7608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 general, the field, by convention, has set Type I error to be 5%. </a:t>
                </a:r>
              </a:p>
              <a:p>
                <a:r>
                  <a:rPr lang="en-US" dirty="0"/>
                  <a:t>Thus, if p&lt; .05 we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Similarly, the field has set Type II error to be 20%. </a:t>
                </a:r>
              </a:p>
              <a:p>
                <a:r>
                  <a:rPr lang="en-US" dirty="0"/>
                  <a:t>Type II error is specific to an alternative hypothesis. That is, if the true value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dirty="0"/>
                  <a:t> then the Type II error is different than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=.2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typically refer to this in terms of </a:t>
                </a:r>
                <a:r>
                  <a:rPr lang="en-US" b="1" dirty="0"/>
                  <a:t>statistical power</a:t>
                </a:r>
                <a:r>
                  <a:rPr lang="en-US" dirty="0"/>
                  <a:t>,</a:t>
                </a:r>
                <a:r>
                  <a:rPr lang="en-US" b="1" dirty="0"/>
                  <a:t> </a:t>
                </a:r>
                <a:r>
                  <a:rPr lang="en-US" dirty="0"/>
                  <a:t>which is 1 – Type II error. </a:t>
                </a:r>
              </a:p>
              <a:p>
                <a:r>
                  <a:rPr lang="en-US" dirty="0"/>
                  <a:t>Thus, the conventional power is desired to be 80%.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DEFE6-0134-4343-8F63-17FDCB7608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206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175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D4F6-5E55-3F45-AF8F-83782667D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205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Effect Sizes</a:t>
            </a:r>
          </a:p>
        </p:txBody>
      </p:sp>
    </p:spTree>
    <p:extLst>
      <p:ext uri="{BB962C8B-B14F-4D97-AF65-F5344CB8AC3E}">
        <p14:creationId xmlns:p14="http://schemas.microsoft.com/office/powerpoint/2010/main" val="1803478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B085-982F-E54D-A1D4-4A157CA7D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scales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64291-FBC9-D343-91C7-A9B403ED3D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dirty="0"/>
                  <a:t> a big effect or a small effect?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That depends on if the scale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is:</a:t>
                </a:r>
              </a:p>
              <a:p>
                <a:r>
                  <a:rPr lang="en-US" dirty="0"/>
                  <a:t>A raw SAT score</a:t>
                </a:r>
              </a:p>
              <a:p>
                <a:r>
                  <a:rPr lang="en-US" dirty="0"/>
                  <a:t>A percentile on the SAT score</a:t>
                </a:r>
              </a:p>
              <a:p>
                <a:r>
                  <a:rPr lang="en-US" dirty="0"/>
                  <a:t>The number of problems answered correctly (out of 10)</a:t>
                </a:r>
              </a:p>
              <a:p>
                <a:r>
                  <a:rPr lang="en-US" dirty="0"/>
                  <a:t>The number of problems answered correctly (out of 5)</a:t>
                </a:r>
              </a:p>
              <a:p>
                <a:r>
                  <a:rPr lang="en-US" dirty="0"/>
                  <a:t>If a problem is answered correctly (out of 1)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64291-FBC9-D343-91C7-A9B403ED3D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753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55D5-8E83-0B4C-BBEC-0174C798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sizes use a common scale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35A80F-2B32-7B45-B664-F86BA250FB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Throughout this workshop, we will use Cohen’s d (aka ‘standardized mean difference’) as our effect size: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𝑇𝑟𝑒𝑎𝑡𝑚𝑒𝑛𝑡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𝐸𝑓𝑓𝑒𝑐𝑡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𝑆𝑡𝑎𝑛𝑑𝑎𝑟𝑑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𝐷𝑒𝑣𝑖𝑎𝑡𝑖𝑜𝑛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our previous model, this means,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b="0" dirty="0"/>
                  <a:t> is thus interpreted as something like:</a:t>
                </a:r>
                <a:r>
                  <a:rPr lang="en-US" dirty="0"/>
                  <a:t> “The intervention causes student mindfulness scores to increase an estimate of 0.19 standard deviations.”</a:t>
                </a:r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35A80F-2B32-7B45-B664-F86BA250FB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182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E720-123B-4945-B3E4-0D267311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and effect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F7F6B-CCC1-E34B-9217-D89553847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reliability of the measurement of the outcome variable has an important relation with the effect size.</a:t>
            </a:r>
          </a:p>
          <a:p>
            <a:r>
              <a:rPr lang="en-US" dirty="0"/>
              <a:t>It does *not* affect the numerator (the difference)</a:t>
            </a:r>
          </a:p>
          <a:p>
            <a:r>
              <a:rPr lang="en-US" dirty="0"/>
              <a:t>It *does* affect the denominator (the standard deviation)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general, the lower the reliability, the smaller the effect size. (Thus improving the reliability of a test can increase the effect size).</a:t>
            </a:r>
          </a:p>
        </p:txBody>
      </p:sp>
    </p:spTree>
    <p:extLst>
      <p:ext uri="{BB962C8B-B14F-4D97-AF65-F5344CB8AC3E}">
        <p14:creationId xmlns:p14="http://schemas.microsoft.com/office/powerpoint/2010/main" val="4280099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B92F-28DC-F543-AE1C-678B894EC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of measures and effect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4D1B6-19BD-8949-A7C2-4053A9F63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alignment of the measure and intervention can have a large effect on the numerator (the mean difference). </a:t>
            </a:r>
          </a:p>
          <a:p>
            <a:r>
              <a:rPr lang="en-US" dirty="0"/>
              <a:t>A measure that is proximal (highly aligned) with the intervention will lead to a larger effect size.</a:t>
            </a:r>
          </a:p>
          <a:p>
            <a:r>
              <a:rPr lang="en-US" dirty="0"/>
              <a:t>A measure that is distal (e.g., standardized) with the intervention will lead to a smaller effect size. </a:t>
            </a:r>
          </a:p>
        </p:txBody>
      </p:sp>
    </p:spTree>
    <p:extLst>
      <p:ext uri="{BB962C8B-B14F-4D97-AF65-F5344CB8AC3E}">
        <p14:creationId xmlns:p14="http://schemas.microsoft.com/office/powerpoint/2010/main" val="3599807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B113-9FA1-6B45-9D6B-7CA9CC738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Design Sensitivity</a:t>
            </a:r>
          </a:p>
        </p:txBody>
      </p:sp>
    </p:spTree>
    <p:extLst>
      <p:ext uri="{BB962C8B-B14F-4D97-AF65-F5344CB8AC3E}">
        <p14:creationId xmlns:p14="http://schemas.microsoft.com/office/powerpoint/2010/main" val="33361397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AEC7-690D-834C-BDE8-E67634F0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ways to talk about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8FDB5-D7A0-904A-BC1C-D399AD01D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Statistical power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Minimal detectable effect size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Precision</a:t>
            </a:r>
          </a:p>
        </p:txBody>
      </p:sp>
    </p:spTree>
    <p:extLst>
      <p:ext uri="{BB962C8B-B14F-4D97-AF65-F5344CB8AC3E}">
        <p14:creationId xmlns:p14="http://schemas.microsoft.com/office/powerpoint/2010/main" val="38570574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F088-8749-764A-BFF9-20502A88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203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Design Complexities and Models</a:t>
            </a:r>
          </a:p>
        </p:txBody>
      </p:sp>
    </p:spTree>
    <p:extLst>
      <p:ext uri="{BB962C8B-B14F-4D97-AF65-F5344CB8AC3E}">
        <p14:creationId xmlns:p14="http://schemas.microsoft.com/office/powerpoint/2010/main" val="875239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672C-15A6-3D42-A3E3-953865C7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61043-7F8D-C142-86CD-9B1261B84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33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E2BE-DA5F-EB4D-9D82-F6A46B62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Factors, Covariates, and Blocks</a:t>
            </a:r>
          </a:p>
        </p:txBody>
      </p:sp>
    </p:spTree>
    <p:extLst>
      <p:ext uri="{BB962C8B-B14F-4D97-AF65-F5344CB8AC3E}">
        <p14:creationId xmlns:p14="http://schemas.microsoft.com/office/powerpoint/2010/main" val="6891135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664F-9FE8-4B47-B632-B48F5355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confusing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00C9B-C988-3844-BED5-E989F5C38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Factor: </a:t>
            </a:r>
            <a:r>
              <a:rPr lang="en-US" dirty="0"/>
              <a:t>A variable that is manipulated by randomly assigning their values.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Covariate</a:t>
            </a:r>
            <a:r>
              <a:rPr lang="en-US" dirty="0"/>
              <a:t>: Any variable that cannot be affected by the treatment (intervention or comparison) but that are correlated with the outcome.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Block</a:t>
            </a:r>
            <a:r>
              <a:rPr lang="en-US" dirty="0"/>
              <a:t>: A categorical covariate. </a:t>
            </a:r>
          </a:p>
          <a:p>
            <a:pPr lvl="1"/>
            <a:r>
              <a:rPr lang="en-US" dirty="0"/>
              <a:t>Naturally occurring: Schools, districts.</a:t>
            </a:r>
          </a:p>
          <a:p>
            <a:pPr lvl="1"/>
            <a:r>
              <a:rPr lang="en-US" dirty="0"/>
              <a:t>Discretized characteristics: SES, urbanicity, etc.  </a:t>
            </a:r>
          </a:p>
        </p:txBody>
      </p:sp>
    </p:spTree>
    <p:extLst>
      <p:ext uri="{BB962C8B-B14F-4D97-AF65-F5344CB8AC3E}">
        <p14:creationId xmlns:p14="http://schemas.microsoft.com/office/powerpoint/2010/main" val="3837912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3860-B3E6-2A46-BBF2-EC0C2F7D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Cluster Sampling</a:t>
            </a:r>
          </a:p>
        </p:txBody>
      </p:sp>
    </p:spTree>
    <p:extLst>
      <p:ext uri="{BB962C8B-B14F-4D97-AF65-F5344CB8AC3E}">
        <p14:creationId xmlns:p14="http://schemas.microsoft.com/office/powerpoint/2010/main" val="36447157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4388F-569F-E344-8E76-EE746D38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random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AF9A84-A049-AC48-AC81-2AB3D8FDEA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While simple random sampling is the simplest – every unit gets the same probability of being sampled – in real life it is often not realistic.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example, if I want to randomly sample students I would have to:</a:t>
                </a:r>
              </a:p>
              <a:p>
                <a:r>
                  <a:rPr lang="en-US" dirty="0"/>
                  <a:t>Create a list of all possible students</a:t>
                </a:r>
              </a:p>
              <a:p>
                <a:r>
                  <a:rPr lang="en-US" dirty="0"/>
                  <a:t>Randomly select a sample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of these students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how can I get a list of all possible students? Does this even exist?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AF9A84-A049-AC48-AC81-2AB3D8FDE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3833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58031-26CE-8F4B-9549-F3E7CB01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Two-stage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B5EAE2-8BAD-2442-9EF1-74FE3F313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Since students attend schools, wouldn’t it be easier to: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Create a list of schools in the population 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Randomly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schools 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Within each of these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schools, randomly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students, for a total sample size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students.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easier.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B5EAE2-8BAD-2442-9EF1-74FE3F313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9741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BE71-2028-ED47-B001-3E3F779C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Two-stage decisions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550310-8BC5-4E44-A412-F1A2B7DC4B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I need a sample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/>
                  <a:t> students, I might: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Randomly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 schools, and then randomly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dirty="0"/>
                  <a:t> students from each school.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Randomly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dirty="0"/>
                  <a:t> schools, then randomly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 students from each school.</a:t>
                </a:r>
              </a:p>
              <a:p>
                <a:pPr marL="0" indent="0">
                  <a:buNone/>
                </a:pPr>
                <a:r>
                  <a:rPr lang="en-US" dirty="0"/>
                  <a:t>Both result in samples of 100 students, but clearly #2 is a less expensive strategy.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 should do #2, right?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550310-8BC5-4E44-A412-F1A2B7DC4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3751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6B18-2CC3-CE40-AE25-A79355CF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DAD759-4179-FC44-8662-0F950CF6F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Here’s the problem: Teachers, families, students, neighborhoods and so on are *not* randomly assigned to schools.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Students in the same school are both demographically more similar to one another and have more common schooling experiences than students in different schools.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Put another way, the outcomes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of students in the same school are </a:t>
                </a:r>
                <a:r>
                  <a:rPr lang="en-US" b="1" dirty="0"/>
                  <a:t>correlated</a:t>
                </a:r>
                <a:r>
                  <a:rPr lang="en-US" dirty="0"/>
                  <a:t> with one another.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call this </a:t>
                </a:r>
                <a:r>
                  <a:rPr lang="en-US" b="1" dirty="0"/>
                  <a:t>clustering</a:t>
                </a:r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DAD759-4179-FC44-8662-0F950CF6F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510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DFF6E-E48E-0C48-BE34-D85E0BC3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Intraclass 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52409-4056-B64A-8DE9-D2FE070AA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Again, let’s assume that in the population the mean is </a:t>
                </a:r>
                <a:r>
                  <a:rPr lang="en-US" i="1" dirty="0" err="1"/>
                  <a:t>μ</a:t>
                </a:r>
                <a:r>
                  <a:rPr lang="en-US" dirty="0"/>
                  <a:t> and the variance is </a:t>
                </a:r>
                <a:r>
                  <a:rPr lang="en-US" i="1" dirty="0"/>
                  <a:t>σ</a:t>
                </a:r>
                <a:r>
                  <a:rPr lang="en-US" i="1" baseline="30000" dirty="0"/>
                  <a:t>2</a:t>
                </a:r>
                <a:r>
                  <a:rPr lang="en-US" dirty="0"/>
                  <a:t>.  </a:t>
                </a:r>
              </a:p>
              <a:p>
                <a:pPr marL="0" indent="0">
                  <a:buNone/>
                </a:pPr>
                <a:r>
                  <a:rPr lang="en-US" dirty="0"/>
                  <a:t>In a two-stage random sample of </a:t>
                </a:r>
                <a:r>
                  <a:rPr lang="en-US" i="1" dirty="0"/>
                  <a:t>n</a:t>
                </a:r>
                <a:r>
                  <a:rPr lang="en-US" dirty="0"/>
                  <a:t> individuals from each of </a:t>
                </a:r>
                <a:r>
                  <a:rPr lang="en-US" i="1" dirty="0"/>
                  <a:t>m</a:t>
                </a:r>
                <a:r>
                  <a:rPr lang="en-US" dirty="0"/>
                  <a:t> clusters (a total sample size </a:t>
                </a:r>
                <a:r>
                  <a:rPr lang="en-US" i="1" dirty="0"/>
                  <a:t>N = </a:t>
                </a:r>
                <a:r>
                  <a:rPr lang="en-US" i="1" dirty="0" err="1"/>
                  <a:t>mn</a:t>
                </a:r>
                <a:r>
                  <a:rPr lang="en-US" dirty="0"/>
                  <a:t>),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/>
                              </m:ctrlPr>
                            </m:radPr>
                            <m:deg/>
                            <m:e>
                              <m:r>
                                <a:rPr lang="en-US" i="1"/>
                                <m:t>𝑁</m:t>
                              </m:r>
                            </m:e>
                          </m:rad>
                        </m:den>
                      </m:f>
                      <m:rad>
                        <m:radPr>
                          <m:degHide m:val="on"/>
                          <m:ctrlPr>
                            <a:rPr lang="en-US" i="1"/>
                          </m:ctrlPr>
                        </m:radPr>
                        <m:deg/>
                        <m:e>
                          <m:r>
                            <a:rPr lang="en-US" i="1"/>
                            <m:t>1+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𝑛</m:t>
                              </m:r>
                              <m:r>
                                <a:rPr lang="en-US" i="1"/>
                                <m:t>−1</m:t>
                              </m:r>
                            </m:e>
                          </m:d>
                          <m:r>
                            <a:rPr lang="en-US" i="1"/>
                            <m:t>𝜌</m:t>
                          </m:r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intraclass correlation (ICC)</a:t>
                </a:r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52409-4056-B64A-8DE9-D2FE070AA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9858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F4B1785-4ECC-B247-8307-C41157B3DB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Comparing these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F4B1785-4ECC-B247-8307-C41157B3D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9EA89C-9085-5C43-9441-B7152230EE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Case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(simple random sample)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Case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1.18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Case 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70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So, in Case 3 (the least expensive!), the standard error is 70% larger than a random sample!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9EA89C-9085-5C43-9441-B7152230EE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488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760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8E4A-64F8-9748-9C72-938E60FC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B4EC0B-4AF3-4E48-8A81-5749999133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typically refer to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/>
                      <m:t>1+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  <m:r>
                          <a:rPr lang="en-US" i="1"/>
                          <m:t>−1</m:t>
                        </m:r>
                      </m:e>
                    </m:d>
                    <m:r>
                      <a:rPr lang="en-US" i="1"/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</a:rPr>
                  <a:t> as a ‘design effect’, which reflects how much larger the variance (squared standard error) of a sample mean is from a two-stage (vs a one-stage) sample.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It is highly affected by the ICC. In the US, when th</a:t>
                </a:r>
                <a:r>
                  <a:rPr lang="en-US" dirty="0"/>
                  <a:t>e outcome is an achievement test, we know that the ICC is typically between 0.15 and 0.25. </a:t>
                </a: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/>
                  <a:t>That is, 15-25% of the variation in achievement test scores is between schools!</a:t>
                </a:r>
                <a:r>
                  <a:rPr lang="en-US" dirty="0">
                    <a:effectLst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B4EC0B-4AF3-4E48-8A81-574999913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7933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EAF64-919A-7C42-ACC5-A151752B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Clusters affect design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5A9D6-293D-E749-8C51-0DFF97946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most evaluations, nesting / clustering is just a fact of life.  But it’s an important fact that has large implications for design.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is a fundamental tension:</a:t>
            </a:r>
          </a:p>
          <a:p>
            <a:r>
              <a:rPr lang="en-US" dirty="0"/>
              <a:t>More clusters (schools) means greater precision and statistical power.</a:t>
            </a:r>
          </a:p>
          <a:p>
            <a:r>
              <a:rPr lang="en-US" dirty="0"/>
              <a:t>Fewer clusters (schools) is easier to implement and far less costly.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general question is: </a:t>
            </a:r>
            <a:r>
              <a:rPr lang="en-US" b="1" dirty="0"/>
              <a:t>What is the smallest number of clusters (schools) I can possibly include so that I have adequate power?</a:t>
            </a:r>
          </a:p>
        </p:txBody>
      </p:sp>
    </p:spTree>
    <p:extLst>
      <p:ext uri="{BB962C8B-B14F-4D97-AF65-F5344CB8AC3E}">
        <p14:creationId xmlns:p14="http://schemas.microsoft.com/office/powerpoint/2010/main" val="1541314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2444</Words>
  <Application>Microsoft Macintosh PowerPoint</Application>
  <PresentationFormat>Widescreen</PresentationFormat>
  <Paragraphs>254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Office Theme</vt:lpstr>
      <vt:lpstr>Review of Statistics</vt:lpstr>
      <vt:lpstr>A warm-up  </vt:lpstr>
      <vt:lpstr>Populations and Samples</vt:lpstr>
      <vt:lpstr>Overview</vt:lpstr>
      <vt:lpstr>Notation </vt:lpstr>
      <vt:lpstr>Random Sampling</vt:lpstr>
      <vt:lpstr>Descriptive statistics</vt:lpstr>
      <vt:lpstr>Sample -&gt; Population link</vt:lpstr>
      <vt:lpstr>Random sampling</vt:lpstr>
      <vt:lpstr>The bridge</vt:lpstr>
      <vt:lpstr>Is this right?</vt:lpstr>
      <vt:lpstr>Models and Notation</vt:lpstr>
      <vt:lpstr>Notation we will use</vt:lpstr>
      <vt:lpstr>Now with an intervention</vt:lpstr>
      <vt:lpstr>Estimators and Sampling Distributions</vt:lpstr>
      <vt:lpstr>Estimating parameters </vt:lpstr>
      <vt:lpstr>Sampling distributions</vt:lpstr>
      <vt:lpstr>In practice </vt:lpstr>
      <vt:lpstr>Statistical Inference</vt:lpstr>
      <vt:lpstr>Decision making with data</vt:lpstr>
      <vt:lpstr>Scientific vs Statistical Hypotheses</vt:lpstr>
      <vt:lpstr>Null hypothesis testing</vt:lpstr>
      <vt:lpstr>But this is a stochastic proof </vt:lpstr>
      <vt:lpstr>Statistical power </vt:lpstr>
      <vt:lpstr>Effect Sizes</vt:lpstr>
      <vt:lpstr>Common scales</vt:lpstr>
      <vt:lpstr>Effect sizes use a common scale</vt:lpstr>
      <vt:lpstr>Measurement and effect size</vt:lpstr>
      <vt:lpstr>Alignment of measures and effect size</vt:lpstr>
      <vt:lpstr>Design Sensitivity</vt:lpstr>
      <vt:lpstr>3 ways to talk about sensitivity</vt:lpstr>
      <vt:lpstr>Design Complexities and Models</vt:lpstr>
      <vt:lpstr>PowerPoint Presentation</vt:lpstr>
      <vt:lpstr>Factors, Covariates, and Blocks</vt:lpstr>
      <vt:lpstr>3 confusing concepts</vt:lpstr>
      <vt:lpstr>Cluster Sampling</vt:lpstr>
      <vt:lpstr>Simple random sampling</vt:lpstr>
      <vt:lpstr>Two-stage sampling</vt:lpstr>
      <vt:lpstr>Two-stage decisions </vt:lpstr>
      <vt:lpstr>Clustering</vt:lpstr>
      <vt:lpstr>Intraclass correlation</vt:lpstr>
      <vt:lpstr>Comparing these (ρ=0.1,N=100)</vt:lpstr>
      <vt:lpstr>Design effect</vt:lpstr>
      <vt:lpstr>Clusters affect design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Statistics</dc:title>
  <dc:creator>Elizabeth Tipton</dc:creator>
  <cp:lastModifiedBy>Elizabeth Tipton</cp:lastModifiedBy>
  <cp:revision>65</cp:revision>
  <dcterms:created xsi:type="dcterms:W3CDTF">2021-06-21T19:43:35Z</dcterms:created>
  <dcterms:modified xsi:type="dcterms:W3CDTF">2021-06-21T21:33:54Z</dcterms:modified>
</cp:coreProperties>
</file>