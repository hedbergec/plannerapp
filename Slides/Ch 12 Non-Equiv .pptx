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7" r:id="rId2"/>
    <p:sldId id="258" r:id="rId3"/>
    <p:sldId id="259" r:id="rId4"/>
    <p:sldId id="260" r:id="rId5"/>
    <p:sldId id="261" r:id="rId6"/>
    <p:sldId id="269" r:id="rId7"/>
    <p:sldId id="270" r:id="rId8"/>
    <p:sldId id="271" r:id="rId9"/>
    <p:sldId id="281" r:id="rId10"/>
    <p:sldId id="263" r:id="rId11"/>
    <p:sldId id="264" r:id="rId12"/>
    <p:sldId id="265" r:id="rId13"/>
    <p:sldId id="266" r:id="rId14"/>
    <p:sldId id="268" r:id="rId15"/>
    <p:sldId id="282" r:id="rId16"/>
    <p:sldId id="283" r:id="rId17"/>
    <p:sldId id="290" r:id="rId18"/>
    <p:sldId id="284" r:id="rId19"/>
    <p:sldId id="267" r:id="rId20"/>
    <p:sldId id="285" r:id="rId21"/>
    <p:sldId id="286" r:id="rId22"/>
    <p:sldId id="291" r:id="rId23"/>
    <p:sldId id="292" r:id="rId24"/>
    <p:sldId id="289" r:id="rId25"/>
    <p:sldId id="293" r:id="rId26"/>
    <p:sldId id="294" r:id="rId27"/>
    <p:sldId id="295" r:id="rId28"/>
    <p:sldId id="296" r:id="rId29"/>
    <p:sldId id="297"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298" r:id="rId43"/>
    <p:sldId id="299" r:id="rId44"/>
    <p:sldId id="300" r:id="rId45"/>
    <p:sldId id="301" r:id="rId46"/>
    <p:sldId id="302" r:id="rId47"/>
    <p:sldId id="303" r:id="rId48"/>
    <p:sldId id="304" r:id="rId49"/>
    <p:sldId id="317" r:id="rId50"/>
    <p:sldId id="318" r:id="rId51"/>
    <p:sldId id="319" r:id="rId52"/>
    <p:sldId id="320" r:id="rId53"/>
    <p:sldId id="321"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9"/>
    <p:restoredTop sz="96327"/>
  </p:normalViewPr>
  <p:slideViewPr>
    <p:cSldViewPr snapToGrid="0" snapToObjects="1">
      <p:cViewPr>
        <p:scale>
          <a:sx n="114" d="100"/>
          <a:sy n="114" d="100"/>
        </p:scale>
        <p:origin x="184" y="1040"/>
      </p:cViewPr>
      <p:guideLst/>
    </p:cSldViewPr>
  </p:slideViewPr>
  <p:outlineViewPr>
    <p:cViewPr>
      <p:scale>
        <a:sx n="33" d="100"/>
        <a:sy n="33" d="100"/>
      </p:scale>
      <p:origin x="0" y="-38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CB7741-1B0E-AF4B-9EFF-5E5A567AF61E}" type="doc">
      <dgm:prSet loTypeId="urn:microsoft.com/office/officeart/2005/8/layout/venn1" loCatId="" qsTypeId="urn:microsoft.com/office/officeart/2005/8/quickstyle/simple1" qsCatId="simple" csTypeId="urn:microsoft.com/office/officeart/2005/8/colors/accent1_2" csCatId="accent1" phldr="1"/>
      <dgm:spPr/>
    </dgm:pt>
    <dgm:pt modelId="{2E3CDBB4-797E-1341-A80B-F3A905CEF89A}">
      <dgm:prSet phldrT="[Text]"/>
      <dgm:spPr/>
      <dgm:t>
        <a:bodyPr/>
        <a:lstStyle/>
        <a:p>
          <a:r>
            <a:rPr lang="en-US" dirty="0"/>
            <a:t>Selection into Treatment </a:t>
          </a:r>
        </a:p>
      </dgm:t>
    </dgm:pt>
    <dgm:pt modelId="{AD87BF9E-FEBC-E24D-BE00-05076615FE69}" type="parTrans" cxnId="{BE1C9D2F-FB30-F94B-82AF-EE78B725B027}">
      <dgm:prSet/>
      <dgm:spPr/>
      <dgm:t>
        <a:bodyPr/>
        <a:lstStyle/>
        <a:p>
          <a:endParaRPr lang="en-US"/>
        </a:p>
      </dgm:t>
    </dgm:pt>
    <dgm:pt modelId="{6B2A9381-79ED-3346-A452-3413D57A37DF}" type="sibTrans" cxnId="{BE1C9D2F-FB30-F94B-82AF-EE78B725B027}">
      <dgm:prSet/>
      <dgm:spPr/>
      <dgm:t>
        <a:bodyPr/>
        <a:lstStyle/>
        <a:p>
          <a:endParaRPr lang="en-US"/>
        </a:p>
      </dgm:t>
    </dgm:pt>
    <dgm:pt modelId="{7CD8FF1B-C08C-1947-A559-7D6A1E9E506E}">
      <dgm:prSet phldrT="[Text]"/>
      <dgm:spPr/>
      <dgm:t>
        <a:bodyPr/>
        <a:lstStyle/>
        <a:p>
          <a:r>
            <a:rPr lang="en-US" dirty="0"/>
            <a:t>Outcome of interest</a:t>
          </a:r>
        </a:p>
      </dgm:t>
    </dgm:pt>
    <dgm:pt modelId="{1DADD8F1-23A2-0944-8E70-9B648A5727AF}" type="parTrans" cxnId="{DEC0D57D-D010-ED45-A39A-DC8A09765B8A}">
      <dgm:prSet/>
      <dgm:spPr/>
      <dgm:t>
        <a:bodyPr/>
        <a:lstStyle/>
        <a:p>
          <a:endParaRPr lang="en-US"/>
        </a:p>
      </dgm:t>
    </dgm:pt>
    <dgm:pt modelId="{817ECB72-FBEA-394B-9EF2-CBF74F815D89}" type="sibTrans" cxnId="{DEC0D57D-D010-ED45-A39A-DC8A09765B8A}">
      <dgm:prSet/>
      <dgm:spPr/>
      <dgm:t>
        <a:bodyPr/>
        <a:lstStyle/>
        <a:p>
          <a:endParaRPr lang="en-US"/>
        </a:p>
      </dgm:t>
    </dgm:pt>
    <dgm:pt modelId="{0AF3A748-75DB-3042-93B6-E97790C15970}" type="pres">
      <dgm:prSet presAssocID="{0FCB7741-1B0E-AF4B-9EFF-5E5A567AF61E}" presName="compositeShape" presStyleCnt="0">
        <dgm:presLayoutVars>
          <dgm:chMax val="7"/>
          <dgm:dir/>
          <dgm:resizeHandles val="exact"/>
        </dgm:presLayoutVars>
      </dgm:prSet>
      <dgm:spPr/>
    </dgm:pt>
    <dgm:pt modelId="{35346F6C-C9DD-FC4F-AEB2-E80C5DE19FD9}" type="pres">
      <dgm:prSet presAssocID="{2E3CDBB4-797E-1341-A80B-F3A905CEF89A}" presName="circ1" presStyleLbl="vennNode1" presStyleIdx="0" presStyleCnt="2"/>
      <dgm:spPr/>
    </dgm:pt>
    <dgm:pt modelId="{AFF4E96D-C883-EC47-88BE-82F2C3556C9B}" type="pres">
      <dgm:prSet presAssocID="{2E3CDBB4-797E-1341-A80B-F3A905CEF89A}" presName="circ1Tx" presStyleLbl="revTx" presStyleIdx="0" presStyleCnt="0">
        <dgm:presLayoutVars>
          <dgm:chMax val="0"/>
          <dgm:chPref val="0"/>
          <dgm:bulletEnabled val="1"/>
        </dgm:presLayoutVars>
      </dgm:prSet>
      <dgm:spPr/>
    </dgm:pt>
    <dgm:pt modelId="{C6A1A29A-ADA7-DA4B-9269-787A40B9B988}" type="pres">
      <dgm:prSet presAssocID="{7CD8FF1B-C08C-1947-A559-7D6A1E9E506E}" presName="circ2" presStyleLbl="vennNode1" presStyleIdx="1" presStyleCnt="2"/>
      <dgm:spPr/>
    </dgm:pt>
    <dgm:pt modelId="{C60F60D6-8163-A144-992C-E3112A4E74FF}" type="pres">
      <dgm:prSet presAssocID="{7CD8FF1B-C08C-1947-A559-7D6A1E9E506E}" presName="circ2Tx" presStyleLbl="revTx" presStyleIdx="0" presStyleCnt="0">
        <dgm:presLayoutVars>
          <dgm:chMax val="0"/>
          <dgm:chPref val="0"/>
          <dgm:bulletEnabled val="1"/>
        </dgm:presLayoutVars>
      </dgm:prSet>
      <dgm:spPr/>
    </dgm:pt>
  </dgm:ptLst>
  <dgm:cxnLst>
    <dgm:cxn modelId="{BE1C9D2F-FB30-F94B-82AF-EE78B725B027}" srcId="{0FCB7741-1B0E-AF4B-9EFF-5E5A567AF61E}" destId="{2E3CDBB4-797E-1341-A80B-F3A905CEF89A}" srcOrd="0" destOrd="0" parTransId="{AD87BF9E-FEBC-E24D-BE00-05076615FE69}" sibTransId="{6B2A9381-79ED-3346-A452-3413D57A37DF}"/>
    <dgm:cxn modelId="{DEC0D57D-D010-ED45-A39A-DC8A09765B8A}" srcId="{0FCB7741-1B0E-AF4B-9EFF-5E5A567AF61E}" destId="{7CD8FF1B-C08C-1947-A559-7D6A1E9E506E}" srcOrd="1" destOrd="0" parTransId="{1DADD8F1-23A2-0944-8E70-9B648A5727AF}" sibTransId="{817ECB72-FBEA-394B-9EF2-CBF74F815D89}"/>
    <dgm:cxn modelId="{C1FE6AA4-11E1-8348-9F89-719B452BF65D}" type="presOf" srcId="{2E3CDBB4-797E-1341-A80B-F3A905CEF89A}" destId="{AFF4E96D-C883-EC47-88BE-82F2C3556C9B}" srcOrd="1" destOrd="0" presId="urn:microsoft.com/office/officeart/2005/8/layout/venn1"/>
    <dgm:cxn modelId="{B4E06DCA-E52A-D443-8379-FD60211A6BB5}" type="presOf" srcId="{0FCB7741-1B0E-AF4B-9EFF-5E5A567AF61E}" destId="{0AF3A748-75DB-3042-93B6-E97790C15970}" srcOrd="0" destOrd="0" presId="urn:microsoft.com/office/officeart/2005/8/layout/venn1"/>
    <dgm:cxn modelId="{983B31DE-B98F-C24C-94B2-DB515328C6B1}" type="presOf" srcId="{2E3CDBB4-797E-1341-A80B-F3A905CEF89A}" destId="{35346F6C-C9DD-FC4F-AEB2-E80C5DE19FD9}" srcOrd="0" destOrd="0" presId="urn:microsoft.com/office/officeart/2005/8/layout/venn1"/>
    <dgm:cxn modelId="{F9079CE7-B71C-9B4C-8709-A6134F4956FA}" type="presOf" srcId="{7CD8FF1B-C08C-1947-A559-7D6A1E9E506E}" destId="{C6A1A29A-ADA7-DA4B-9269-787A40B9B988}" srcOrd="0" destOrd="0" presId="urn:microsoft.com/office/officeart/2005/8/layout/venn1"/>
    <dgm:cxn modelId="{CF0BB5FD-1B37-A642-9FB9-E62ED3C711E2}" type="presOf" srcId="{7CD8FF1B-C08C-1947-A559-7D6A1E9E506E}" destId="{C60F60D6-8163-A144-992C-E3112A4E74FF}" srcOrd="1" destOrd="0" presId="urn:microsoft.com/office/officeart/2005/8/layout/venn1"/>
    <dgm:cxn modelId="{B7EEE7E9-A616-1A45-808C-447FDB6F371F}" type="presParOf" srcId="{0AF3A748-75DB-3042-93B6-E97790C15970}" destId="{35346F6C-C9DD-FC4F-AEB2-E80C5DE19FD9}" srcOrd="0" destOrd="0" presId="urn:microsoft.com/office/officeart/2005/8/layout/venn1"/>
    <dgm:cxn modelId="{1E9D6A2E-4868-9242-BCC1-E3A73EEEB8D2}" type="presParOf" srcId="{0AF3A748-75DB-3042-93B6-E97790C15970}" destId="{AFF4E96D-C883-EC47-88BE-82F2C3556C9B}" srcOrd="1" destOrd="0" presId="urn:microsoft.com/office/officeart/2005/8/layout/venn1"/>
    <dgm:cxn modelId="{F9B74234-9664-E342-9884-1B24778BB7A7}" type="presParOf" srcId="{0AF3A748-75DB-3042-93B6-E97790C15970}" destId="{C6A1A29A-ADA7-DA4B-9269-787A40B9B988}" srcOrd="2" destOrd="0" presId="urn:microsoft.com/office/officeart/2005/8/layout/venn1"/>
    <dgm:cxn modelId="{6CC7F6DE-B53C-3440-AD7F-7F56C65B2764}" type="presParOf" srcId="{0AF3A748-75DB-3042-93B6-E97790C15970}" destId="{C60F60D6-8163-A144-992C-E3112A4E74FF}"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CB7741-1B0E-AF4B-9EFF-5E5A567AF61E}" type="doc">
      <dgm:prSet loTypeId="urn:microsoft.com/office/officeart/2005/8/layout/venn1" loCatId="" qsTypeId="urn:microsoft.com/office/officeart/2005/8/quickstyle/simple1" qsCatId="simple" csTypeId="urn:microsoft.com/office/officeart/2005/8/colors/accent1_2" csCatId="accent1" phldr="1"/>
      <dgm:spPr/>
    </dgm:pt>
    <dgm:pt modelId="{2E3CDBB4-797E-1341-A80B-F3A905CEF89A}">
      <dgm:prSet phldrT="[Text]"/>
      <dgm:spPr/>
      <dgm:t>
        <a:bodyPr/>
        <a:lstStyle/>
        <a:p>
          <a:r>
            <a:rPr lang="en-US" dirty="0"/>
            <a:t>Selection into Intervention </a:t>
          </a:r>
        </a:p>
      </dgm:t>
    </dgm:pt>
    <dgm:pt modelId="{AD87BF9E-FEBC-E24D-BE00-05076615FE69}" type="parTrans" cxnId="{BE1C9D2F-FB30-F94B-82AF-EE78B725B027}">
      <dgm:prSet/>
      <dgm:spPr/>
      <dgm:t>
        <a:bodyPr/>
        <a:lstStyle/>
        <a:p>
          <a:endParaRPr lang="en-US"/>
        </a:p>
      </dgm:t>
    </dgm:pt>
    <dgm:pt modelId="{6B2A9381-79ED-3346-A452-3413D57A37DF}" type="sibTrans" cxnId="{BE1C9D2F-FB30-F94B-82AF-EE78B725B027}">
      <dgm:prSet/>
      <dgm:spPr/>
      <dgm:t>
        <a:bodyPr/>
        <a:lstStyle/>
        <a:p>
          <a:endParaRPr lang="en-US"/>
        </a:p>
      </dgm:t>
    </dgm:pt>
    <dgm:pt modelId="{7CD8FF1B-C08C-1947-A559-7D6A1E9E506E}">
      <dgm:prSet phldrT="[Text]"/>
      <dgm:spPr/>
      <dgm:t>
        <a:bodyPr/>
        <a:lstStyle/>
        <a:p>
          <a:r>
            <a:rPr lang="en-US" dirty="0"/>
            <a:t>Outcome of interest</a:t>
          </a:r>
        </a:p>
      </dgm:t>
    </dgm:pt>
    <dgm:pt modelId="{1DADD8F1-23A2-0944-8E70-9B648A5727AF}" type="parTrans" cxnId="{DEC0D57D-D010-ED45-A39A-DC8A09765B8A}">
      <dgm:prSet/>
      <dgm:spPr/>
      <dgm:t>
        <a:bodyPr/>
        <a:lstStyle/>
        <a:p>
          <a:endParaRPr lang="en-US"/>
        </a:p>
      </dgm:t>
    </dgm:pt>
    <dgm:pt modelId="{817ECB72-FBEA-394B-9EF2-CBF74F815D89}" type="sibTrans" cxnId="{DEC0D57D-D010-ED45-A39A-DC8A09765B8A}">
      <dgm:prSet/>
      <dgm:spPr/>
      <dgm:t>
        <a:bodyPr/>
        <a:lstStyle/>
        <a:p>
          <a:endParaRPr lang="en-US"/>
        </a:p>
      </dgm:t>
    </dgm:pt>
    <dgm:pt modelId="{0AF3A748-75DB-3042-93B6-E97790C15970}" type="pres">
      <dgm:prSet presAssocID="{0FCB7741-1B0E-AF4B-9EFF-5E5A567AF61E}" presName="compositeShape" presStyleCnt="0">
        <dgm:presLayoutVars>
          <dgm:chMax val="7"/>
          <dgm:dir/>
          <dgm:resizeHandles val="exact"/>
        </dgm:presLayoutVars>
      </dgm:prSet>
      <dgm:spPr/>
    </dgm:pt>
    <dgm:pt modelId="{35346F6C-C9DD-FC4F-AEB2-E80C5DE19FD9}" type="pres">
      <dgm:prSet presAssocID="{2E3CDBB4-797E-1341-A80B-F3A905CEF89A}" presName="circ1" presStyleLbl="vennNode1" presStyleIdx="0" presStyleCnt="2"/>
      <dgm:spPr/>
    </dgm:pt>
    <dgm:pt modelId="{AFF4E96D-C883-EC47-88BE-82F2C3556C9B}" type="pres">
      <dgm:prSet presAssocID="{2E3CDBB4-797E-1341-A80B-F3A905CEF89A}" presName="circ1Tx" presStyleLbl="revTx" presStyleIdx="0" presStyleCnt="0">
        <dgm:presLayoutVars>
          <dgm:chMax val="0"/>
          <dgm:chPref val="0"/>
          <dgm:bulletEnabled val="1"/>
        </dgm:presLayoutVars>
      </dgm:prSet>
      <dgm:spPr/>
    </dgm:pt>
    <dgm:pt modelId="{C6A1A29A-ADA7-DA4B-9269-787A40B9B988}" type="pres">
      <dgm:prSet presAssocID="{7CD8FF1B-C08C-1947-A559-7D6A1E9E506E}" presName="circ2" presStyleLbl="vennNode1" presStyleIdx="1" presStyleCnt="2"/>
      <dgm:spPr/>
    </dgm:pt>
    <dgm:pt modelId="{C60F60D6-8163-A144-992C-E3112A4E74FF}" type="pres">
      <dgm:prSet presAssocID="{7CD8FF1B-C08C-1947-A559-7D6A1E9E506E}" presName="circ2Tx" presStyleLbl="revTx" presStyleIdx="0" presStyleCnt="0">
        <dgm:presLayoutVars>
          <dgm:chMax val="0"/>
          <dgm:chPref val="0"/>
          <dgm:bulletEnabled val="1"/>
        </dgm:presLayoutVars>
      </dgm:prSet>
      <dgm:spPr/>
    </dgm:pt>
  </dgm:ptLst>
  <dgm:cxnLst>
    <dgm:cxn modelId="{BE1C9D2F-FB30-F94B-82AF-EE78B725B027}" srcId="{0FCB7741-1B0E-AF4B-9EFF-5E5A567AF61E}" destId="{2E3CDBB4-797E-1341-A80B-F3A905CEF89A}" srcOrd="0" destOrd="0" parTransId="{AD87BF9E-FEBC-E24D-BE00-05076615FE69}" sibTransId="{6B2A9381-79ED-3346-A452-3413D57A37DF}"/>
    <dgm:cxn modelId="{DEC0D57D-D010-ED45-A39A-DC8A09765B8A}" srcId="{0FCB7741-1B0E-AF4B-9EFF-5E5A567AF61E}" destId="{7CD8FF1B-C08C-1947-A559-7D6A1E9E506E}" srcOrd="1" destOrd="0" parTransId="{1DADD8F1-23A2-0944-8E70-9B648A5727AF}" sibTransId="{817ECB72-FBEA-394B-9EF2-CBF74F815D89}"/>
    <dgm:cxn modelId="{C1FE6AA4-11E1-8348-9F89-719B452BF65D}" type="presOf" srcId="{2E3CDBB4-797E-1341-A80B-F3A905CEF89A}" destId="{AFF4E96D-C883-EC47-88BE-82F2C3556C9B}" srcOrd="1" destOrd="0" presId="urn:microsoft.com/office/officeart/2005/8/layout/venn1"/>
    <dgm:cxn modelId="{B4E06DCA-E52A-D443-8379-FD60211A6BB5}" type="presOf" srcId="{0FCB7741-1B0E-AF4B-9EFF-5E5A567AF61E}" destId="{0AF3A748-75DB-3042-93B6-E97790C15970}" srcOrd="0" destOrd="0" presId="urn:microsoft.com/office/officeart/2005/8/layout/venn1"/>
    <dgm:cxn modelId="{983B31DE-B98F-C24C-94B2-DB515328C6B1}" type="presOf" srcId="{2E3CDBB4-797E-1341-A80B-F3A905CEF89A}" destId="{35346F6C-C9DD-FC4F-AEB2-E80C5DE19FD9}" srcOrd="0" destOrd="0" presId="urn:microsoft.com/office/officeart/2005/8/layout/venn1"/>
    <dgm:cxn modelId="{F9079CE7-B71C-9B4C-8709-A6134F4956FA}" type="presOf" srcId="{7CD8FF1B-C08C-1947-A559-7D6A1E9E506E}" destId="{C6A1A29A-ADA7-DA4B-9269-787A40B9B988}" srcOrd="0" destOrd="0" presId="urn:microsoft.com/office/officeart/2005/8/layout/venn1"/>
    <dgm:cxn modelId="{CF0BB5FD-1B37-A642-9FB9-E62ED3C711E2}" type="presOf" srcId="{7CD8FF1B-C08C-1947-A559-7D6A1E9E506E}" destId="{C60F60D6-8163-A144-992C-E3112A4E74FF}" srcOrd="1" destOrd="0" presId="urn:microsoft.com/office/officeart/2005/8/layout/venn1"/>
    <dgm:cxn modelId="{B7EEE7E9-A616-1A45-808C-447FDB6F371F}" type="presParOf" srcId="{0AF3A748-75DB-3042-93B6-E97790C15970}" destId="{35346F6C-C9DD-FC4F-AEB2-E80C5DE19FD9}" srcOrd="0" destOrd="0" presId="urn:microsoft.com/office/officeart/2005/8/layout/venn1"/>
    <dgm:cxn modelId="{1E9D6A2E-4868-9242-BCC1-E3A73EEEB8D2}" type="presParOf" srcId="{0AF3A748-75DB-3042-93B6-E97790C15970}" destId="{AFF4E96D-C883-EC47-88BE-82F2C3556C9B}" srcOrd="1" destOrd="0" presId="urn:microsoft.com/office/officeart/2005/8/layout/venn1"/>
    <dgm:cxn modelId="{F9B74234-9664-E342-9884-1B24778BB7A7}" type="presParOf" srcId="{0AF3A748-75DB-3042-93B6-E97790C15970}" destId="{C6A1A29A-ADA7-DA4B-9269-787A40B9B988}" srcOrd="2" destOrd="0" presId="urn:microsoft.com/office/officeart/2005/8/layout/venn1"/>
    <dgm:cxn modelId="{6CC7F6DE-B53C-3440-AD7F-7F56C65B2764}" type="presParOf" srcId="{0AF3A748-75DB-3042-93B6-E97790C15970}" destId="{C60F60D6-8163-A144-992C-E3112A4E74FF}"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46F6C-C9DD-FC4F-AEB2-E80C5DE19FD9}">
      <dsp:nvSpPr>
        <dsp:cNvPr id="0" name=""/>
        <dsp:cNvSpPr/>
      </dsp:nvSpPr>
      <dsp:spPr>
        <a:xfrm>
          <a:off x="1534447"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044700">
            <a:lnSpc>
              <a:spcPct val="90000"/>
            </a:lnSpc>
            <a:spcBef>
              <a:spcPct val="0"/>
            </a:spcBef>
            <a:spcAft>
              <a:spcPct val="35000"/>
            </a:spcAft>
            <a:buNone/>
          </a:pPr>
          <a:r>
            <a:rPr lang="en-US" sz="4600" kern="1200" dirty="0"/>
            <a:t>Selection into Treatment </a:t>
          </a:r>
        </a:p>
      </dsp:txBody>
      <dsp:txXfrm>
        <a:off x="2138760" y="522160"/>
        <a:ext cx="2495231" cy="3307016"/>
      </dsp:txXfrm>
    </dsp:sp>
    <dsp:sp modelId="{C6A1A29A-ADA7-DA4B-9269-787A40B9B988}">
      <dsp:nvSpPr>
        <dsp:cNvPr id="0" name=""/>
        <dsp:cNvSpPr/>
      </dsp:nvSpPr>
      <dsp:spPr>
        <a:xfrm>
          <a:off x="4653486"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044700">
            <a:lnSpc>
              <a:spcPct val="90000"/>
            </a:lnSpc>
            <a:spcBef>
              <a:spcPct val="0"/>
            </a:spcBef>
            <a:spcAft>
              <a:spcPct val="35000"/>
            </a:spcAft>
            <a:buNone/>
          </a:pPr>
          <a:r>
            <a:rPr lang="en-US" sz="4600" kern="1200" dirty="0"/>
            <a:t>Outcome of interest</a:t>
          </a:r>
        </a:p>
      </dsp:txBody>
      <dsp:txXfrm>
        <a:off x="5881607" y="522160"/>
        <a:ext cx="2495231" cy="3307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46F6C-C9DD-FC4F-AEB2-E80C5DE19FD9}">
      <dsp:nvSpPr>
        <dsp:cNvPr id="0" name=""/>
        <dsp:cNvSpPr/>
      </dsp:nvSpPr>
      <dsp:spPr>
        <a:xfrm>
          <a:off x="1534447"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33550">
            <a:lnSpc>
              <a:spcPct val="90000"/>
            </a:lnSpc>
            <a:spcBef>
              <a:spcPct val="0"/>
            </a:spcBef>
            <a:spcAft>
              <a:spcPct val="35000"/>
            </a:spcAft>
            <a:buNone/>
          </a:pPr>
          <a:r>
            <a:rPr lang="en-US" sz="3900" kern="1200" dirty="0"/>
            <a:t>Selection into Intervention </a:t>
          </a:r>
        </a:p>
      </dsp:txBody>
      <dsp:txXfrm>
        <a:off x="2138760" y="522160"/>
        <a:ext cx="2495231" cy="3307016"/>
      </dsp:txXfrm>
    </dsp:sp>
    <dsp:sp modelId="{C6A1A29A-ADA7-DA4B-9269-787A40B9B988}">
      <dsp:nvSpPr>
        <dsp:cNvPr id="0" name=""/>
        <dsp:cNvSpPr/>
      </dsp:nvSpPr>
      <dsp:spPr>
        <a:xfrm>
          <a:off x="4653486"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33550">
            <a:lnSpc>
              <a:spcPct val="90000"/>
            </a:lnSpc>
            <a:spcBef>
              <a:spcPct val="0"/>
            </a:spcBef>
            <a:spcAft>
              <a:spcPct val="35000"/>
            </a:spcAft>
            <a:buNone/>
          </a:pPr>
          <a:r>
            <a:rPr lang="en-US" sz="3900" kern="1200" dirty="0"/>
            <a:t>Outcome of interest</a:t>
          </a:r>
        </a:p>
      </dsp:txBody>
      <dsp:txXfrm>
        <a:off x="5881607" y="522160"/>
        <a:ext cx="2495231" cy="3307016"/>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40.032"/>
    </inkml:context>
    <inkml:brush xml:id="br0">
      <inkml:brushProperty name="width" value="0.05" units="cm"/>
      <inkml:brushProperty name="height" value="0.05" units="cm"/>
      <inkml:brushProperty name="color" value="#E71224"/>
    </inkml:brush>
  </inkml:definitions>
  <inkml:trace contextRef="#ctx0" brushRef="#br0">1448 102 24575,'-20'-3'0,"-3"-1"0,-19-2 0,-20-2 0,-12-1 0,17 0 0,-2 1 0,3 2 0,1 0 0,1 0 0,2 1 0,-33 1 0,36 5 0,13 0 0,13 0 0,8 1 0,2-2 0,1 1 0,2-1 0,2 1 0,3 1 0,-1 1 0,-1 2 0,-2 1 0,-2 3 0,-4 1 0,-5 4 0,-4 2 0,-1 1 0,-8 6 0,-7 2 0,-3 4 0,-11 3 0,7-2 0,-3 1 0,12-3 0,7-4 0,7-3 0,4-1 0,2-4 0,1 5 0,5-3 0,1 2 0,-1 4 0,2-3 0,-3 2 0,0 3 0,3 0 0,1 1 0,3 2 0,2 0 0,1-2 0,1 6 0,2 0 0,-1 0 0,2 8 0,3 0 0,1 3 0,4 8 0,2 0 0,2 2 0,2 4 0,-3-6 0,-1-3 0,-1-1 0,-4-9 0,-3-5 0,0-4 0,-3-6 0,2-1 0,0 1 0,1-3 0,1 6 0,0-2 0,-1 0 0,1-1 0,-1-3 0,0-2 0,2 4 0,0-1 0,1 1 0,2 2 0,0-4 0,1 2 0,6-1 0,-1 2 0,8 0 0,-2 0 0,6 0 0,-4-5 0,9 2 0,-1-5 0,4-4 0,5-2 0,1-4 0,6 1 0,6-3 0,1 1 0,-1-3 0,4 3 0,-5-2 0,-2 2 0,4-3 0,-6 1 0,5-2 0,5 3 0,-6-2 0,9 2 0,2-3 0,-5-2 0,10-3 0,-11-3 0,-2-2 0,-5-8 0,-12-4 0,-7-6 0,-6-5 0,-4 5 0,1 1 0,5-1 0,3 5 0,0-1 0,4 2 0,-5 3 0,-1 1 0,-2-4 0,-4-1 0,0-3 0,1-6 0,1-2 0,2-6 0,0-13 0,-2-2 0,-2-1 0,-2 1 0,-3 12 0,-1 4 0,-3 0 0,-4 3 0,-2 0 0,-4-4 0,0 6 0,-2-11 0,2 5 0,-2 3 0,1 2 0,-1 7 0,-1 2 0,-3-6 0,-3 2 0,-1-4 0,-3-3 0,1 3 0,-1 1 0,1 0 0,0 8 0,0-1 0,-6-3 0,-6-4 0,-2-2 0,-1 2 0,9 9 0,3 4 0,0 1 0,-5-4 0,-7-3 0,-11-5 0,4 5 0,1 5 0,3 3 0,-5 1 0,-10-2 0,-30-7 0,-12 1 0,30 8 0,-3-1-356,-15-2 1,-2 0 355,4 1 0,0 1 0,3 0 0,3 2 0,-27-5 0,48 12 0,25 10 0,21 22 0,1-13 0,5 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44.138"/>
    </inkml:context>
    <inkml:brush xml:id="br0">
      <inkml:brushProperty name="width" value="0.05" units="cm"/>
      <inkml:brushProperty name="height" value="0.05" units="cm"/>
      <inkml:brushProperty name="color" value="#E71224"/>
    </inkml:brush>
  </inkml:definitions>
  <inkml:trace contextRef="#ctx0" brushRef="#br0">2235 0 24575,'0'7'0,"-1"2"0,-1 0 0,-2 5 0,-3 2 0,-2 4 0,-8 3 0,-3 6 0,-5-1 0,-3 8 0,-3-1 0,-3 2 0,-7 4 0,-2-3 0,-1-2 0,-6 0 0,4-4 0,-4 2 0,-1 5 0,4-1 0,0 3 0,-4 6 0,0 1 0,2-4 0,-4 6 0,9-13 0,-1 4 0,-3-2 0,6-3 0,0-2 0,1 1 0,7-5 0,-9 5 0,3 2 0,0-1 0,-4 5 0,0 0 0,2-3 0,-7 6 0,5-5 0,0 2 0,1 5-6784,2-2 6784,5-1 0,-3 4 0,6-8 0,1-1 0,3-6 0,3-4 0,0-1 6784,-4 4-6784,1-2 0,1-1 0,1 2 0,2-1 0,3 1 0,-6 10 0,3 1 0,-2 0 0,1-2 0,6-15 0,4-6 0,2-6 0,2-1 0,1 1 0,-3 2 0,5-3 0,-2 1 0,4-3 0,0-2 0,2-1 0,2-6 0,2-9 0,-1-4 0,1-10 0,3 1 0,4-2 0,4-3 0,6 0 0,-2 2 0,4 2 0,-5 2 0,0 2 0,-3 1 0,-3 2 0,-3 2 0,-2 2 0,-1 3 0,-1 5 0,-4 10 0,-2 6 0,-7 9 0,-4 3 0,-3 1 0,-2 3 0,3-3 0,5-3 0,2-2 0,6-4 0,0-2 0,0 4 0,3-1 0,-1 1 0,1 0 0,1-2 0,1-1 0,1 1 0,0-3 0,0 1 0,0 0 0,1-2 0,0 0 0,1 1 0,1 1 0,1 0 0,1-1 0,-1-4 0,-1-3 0,-1-4 0,0-5 0,8-9 0,5-7 0,9-10 0,7-2 0,0 0 0,9-4 0,-1 2 0,-1 3 0,-5 4 0,-9 9 0,-8 6 0,-3 5 0,-5 3 0,3 1 0,3 0 0,11 3 0,5-2 0,11 2 0,-4-2 0,-5 0 0,-7-2 0,-13 1 0,-4 1 0,-6-1 0,-1 2 0,0-1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47.322"/>
    </inkml:context>
    <inkml:brush xml:id="br0">
      <inkml:brushProperty name="width" value="0.05" units="cm"/>
      <inkml:brushProperty name="height" value="0.05" units="cm"/>
      <inkml:brushProperty name="color" value="#E71224"/>
    </inkml:brush>
  </inkml:definitions>
  <inkml:trace contextRef="#ctx0" brushRef="#br0">1 0 24575,'20'22'0,"11"10"0,12 12 0,4 6 0,9 6 0,-6-2 0,3 0 0,7 3 0,0-1 0,-2-5 0,4-1 0,-17-15 0,0-3 0,-7-2 0,1 1 0,1 0 0,6 5 0,-5-4 0,8 8 0,-3-4 0,-3-3 0,-4-2 0,-12-10 0,-1 0 0,-2-2 0,-2 0 0,0 2 0,5 4 0,4 3 0,8 2 0,11 7 0,-1-3 0,-3-2 0,-8-2 0,-7-5 0,-6-1 0,6 5 0,-5-2 0,3 4 0,6 6 0,0 7 0,3 3 0,2 8 0,-5-6 0,-3 0 0,2 4 0,-4-6 0,10 9 0,-7-13 0,-2-4 0,-9-12 0,-8-7 0,0 0 0,-3-2 0,0 2 0,-2-5 0,3 2 0,-4-5 0,2 1 0,-1-1 0,3 2 0,-2-1 0,1 0 0,-3-2 0,1 0 0,4 3 0,2 4 0,3 1 0,4 4 0,-1-2 0,0 0 0,-3-3 0,-4-3 0,-5-2 0,4 2 0,0 2 0,2-1 0,-1 2 0,-7-9 0,1-2 0,-6-1 0,4 0 0,2 4 0,0 0 0,0-1 0,-4-4 0,-2-1 0,-1-10 0,-2-19 0,-3-5 0,1-15 0,-2 14 0,4 0 0,-1 6 0,2 3 0,0 2 0,0 7 0,0 4 0,0 1 0,-1-3 0,0 0 0,-1-6 0,0 1 0,0-2 0,2-1 0,0 6 0,0 5 0,7 15 0,3 9 0,5 7 0,0 4 0,-2 2 0,-1 3 0,1 4 0,-3-1 0,-2-4 0,-3-5 0,-3-6 0,0 0 0,0 6 0,2 0 0,3 9 0,0-6 0,-2-3 0,-1-6 0,-2-7 0,-1-2 0,2 0 0,-2 2 0,2 0 0,-2 0 0,0-7 0,-1-1 0,0-2 0,-4-5 0,-18-14 0,-11-9 0,-30-20 0,-17 1 0,0 3 0,-3 6 0,31 16 0,10 6 0,17 9 0,6 2 0,6 2 0,5 0 0,5 1 0,0 0 0,-1 2 0,-1 0 0,1-1 0,1 0 0,2 0 0,0-1 0,1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54.724"/>
    </inkml:context>
    <inkml:brush xml:id="br0">
      <inkml:brushProperty name="width" value="0.05" units="cm"/>
      <inkml:brushProperty name="height" value="0.05" units="cm"/>
      <inkml:brushProperty name="color" value="#F6630D"/>
    </inkml:brush>
  </inkml:definitions>
  <inkml:trace contextRef="#ctx0" brushRef="#br0">1404 44 24575,'-9'-2'0,"0"-1"0,-3-1 0,-3 1 0,-1-1 0,-9 0 0,-1-1 0,-18 0 0,-10-1 0,-5 2 0,-6 1 0,9 2 0,3 1 0,-2 0 0,3 0 0,3 0 0,0 2 0,10 2 0,5 1 0,1 1 0,-2-1 0,-1 1 0,-4 2 0,6 5 0,-14 20 0,15-6 0,-17 23 0,9-3 0,-3 9 0,-9 21 0,5 0 0,2 10 0,22-37 0,2 0 0,-9 38 0,15-37 0,2 0 0,-1 24 0,4-12 0,6-11 0,3-6 0,0 0 0,5 5 0,-1-4 0,4-2 0,-1 2 0,3-4 0,0 2 0,5 6 0,4-4 0,1-5 0,9-1 0,2-9 0,10-1 0,17 2 0,29-7 0,-36-15 0,4-2 0,21-2 0,4-3-237,-6-2 0,0-2 237,0-1 0,-1-2 0,-9-1 0,-5-4 0,19-12 0,-14-3 0,-16-7 0,-11 4 0,-5-2 0,-8-8 474,-10 1-474,-3-15 0,-1-1 0,2 0 0,7-1 0,4 7 0,4 2 0,3-3 0,-1 0 0,-3-4 0,-1-10 0,-2 0 0,2 4 0,8-5 0,0 6 0,-1-1 0,-5-2 0,-13 7 0,-9 2 0,-14-12 0,-26-11 0,-5-3 0,-11 0 0,22 34 0,12 16 0,9 17 0,-11-1 0,-7-3 0,-16-5 0,6 3 0,-8 1 0,0 3 0,5 1 0,2 2 0,16 3 0,6-1 0,3 3 0,0-2 0,0 1 0,-3 1 0,-2-1 0,-4 2 0,-16-1 0,-12 2 0,19-1 0,0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57.796"/>
    </inkml:context>
    <inkml:brush xml:id="br0">
      <inkml:brushProperty name="width" value="0.05" units="cm"/>
      <inkml:brushProperty name="height" value="0.05" units="cm"/>
      <inkml:brushProperty name="color" value="#F6630D"/>
    </inkml:brush>
  </inkml:definitions>
  <inkml:trace contextRef="#ctx0" brushRef="#br0">2606 2575 24575,'-10'-14'0,"-1"-1"0,-2-2 0,-1-3 0,-6-5 0,-1-2 0,-13-10 0,2 1 0,-2 3 0,1 0 0,6 5 0,0 3 0,4-3 0,1 5 0,4 0 0,-4-3 0,1 0 0,-5-3 0,-1 0 0,7 4 0,3 3 0,6 4 0,2-2 0,-3-2 0,-5-8 0,0-1 0,-2 2 0,4 0 0,3 7 0,-1-4 0,-3-1 0,-4-3 0,0 1 0,-8-4 0,0 3 0,-19-12 0,-4-1 0,-7-2 0,-3-2 0,8 7 0,2 3 0,3-1 0,5 5 0,6 0 0,-7-4 0,2 0 0,-5-1 0,-12-9 0,2 9 0,-1-1 0,1 5 0,15 7 0,1-1 0,5 1 0,-2 2 0,5-1 0,1 1 0,10 4 0,2 1 0,4 2 0,1 2 0,0-1 0,1 0 0,-4-3 0,-6-9 0,-6-4 0,-6-8 0,-13-8 0,-5-8 0,-5 0 0,-1-4 0,16 16 0,9 9 0,15 11 0,7 9 0,3 0 0,-1-1 0,-1 1 0,1-1 0,-1 2 0,3 3 0,-1 2 0,1-1 0,-2-1 0,-1-1 0,-3-4 0,3 4 0,-2-2 0,3 1 0,-1-1 0,-2-1 0,2 2 0,2 2 0,2 3 0,4 2 0,-2 1 0,1-1 0,1 2 0,1 1 0,2 11 0,0 5 0,1 10 0,1 4 0,-1-2 0,1 4 0,-1-5 0,0-1 0,-1 0 0,0 0 0,-1 1 0,-2 5 0,0 0 0,-3 4 0,0-2 0,-1-3 0,-1 0 0,3-2 0,-1-2 0,3-5 0,2-9 0,1-5 0,0-8 0,0-12 0,-1-5 0,0-15 0,-1 0 0,2-3 0,0 0 0,0 1 0,1 3 0,-2 2 0,1 11 0,0 6 0,1 3 0,0 3 0,0-2 0,0-1 0,0 0 0,0-4 0,0 4 0,-1 1 0,0 4 0,1 5 0,0 1 0,4 1 0,3 0 0,9 1 0,11-1 0,6-2 0,13-1 0,0 1 0,2-1 0,1 2 0,-9 0 0,-5 1 0,-4 4 0,1 2 0,16 6 0,14 3 0,2 1 0,0-1 0,-25-5 0,-13-4 0,-16-3 0,-6 1 0,-3-2 0,2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5:01.013"/>
    </inkml:context>
    <inkml:brush xml:id="br0">
      <inkml:brushProperty name="width" value="0.05" units="cm"/>
      <inkml:brushProperty name="height" value="0.05" units="cm"/>
      <inkml:brushProperty name="color" value="#F6630D"/>
    </inkml:brush>
  </inkml:definitions>
  <inkml:trace contextRef="#ctx0" brushRef="#br0">0 2542 24575,'15'-14'0,"1"-1"0,7-16 0,10-7 0,8-10 0,8 0 0,7-1 0,-7 9 0,13-9 0,0 4 0,4-5 0,9-6 0,1-1 0,-1-5 0,-36 27 0,-1 0 0,27-30 0,-11 5 0,1 3 0,-5 13 0,1 3 0,6-3 0,-9 3 0,-3-4 0,-6-6 0,-2 1 0,1-1 0,10-7 0,4 1 0,-1 1 0,-2-3 0,-17 12 0,-3-3 0,-8 6 0,1 3 0,4-4 0,14-13 0,16-13 0,-19 23 0,2-1 0,2 4 0,-1 0 0,-8 6 0,0 1 0,22-17 0,-28 26 0,-7 11 0,-10 8 0,-4 3 0,2 2 0,3-5 0,5-1 0,2-2 0,1-2 0,1 1 0,-3-2 0,4 1 0,0-3 0,1 1 0,3-3 0,-4 3 0,0-4 0,-3 2 0,0 0 0,3-1 0,-3 2 0,1-1 0,-2 0 0,-5 3 0,-1 2 0,-6 5 0,-3 5 0,-3 3 0,-8 0 0,-12 2 0,-9 1 0,-16 2 0,2-1 0,-8 1 0,-12-1 0,5 0 0,-11 1 0,19 2 0,14-1 0,17-2 0,11-1 0,9-2 0,13 1 0,2-1 0,10 1 0,1-3 0,-3 1 0,4-3 0,-2-1 0,-2 2 0,-2-1 0,-3 2 0,-1 1 0,11 0 0,7 1 0,2 0 0,-2 0 0,-8 0 0,-11 0 0,5 3 0,5 6 0,3 2 0,-3 0 0,-7-2 0,-12-3 0,0-1 0,-1 2 0,3-2 0,-2 2 0,-1-3 0,-2-1 0,-2-1 0,0 0 0,0 3 0,1 3 0,0 0 0,1 3 0,0 1 0,0 1 0,1 6 0,-1-1 0,0 5 0,-1 5 0,1 3 0,0 3 0,0 8 0,1-2 0,-2-1 0,-1-5 0,0-13 0,-1-3 0,-1-3 0,1-3 0,-1 2 0,0 0 0,1-1 0,-1 2 0,0 2 0,1-1 0,-1 0 0,1-5 0,-1-6 0,-2 2 0,2-6 0,-2 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5:04.242"/>
    </inkml:context>
    <inkml:brush xml:id="br0">
      <inkml:brushProperty name="width" value="0.05" units="cm"/>
      <inkml:brushProperty name="height" value="0.05" units="cm"/>
      <inkml:brushProperty name="color" value="#F6630D"/>
    </inkml:brush>
  </inkml:definitions>
  <inkml:trace contextRef="#ctx0" brushRef="#br0">0 77 24575,'35'6'0,"27"1"0,20-1 0,-31-4 0,4 0 0,14 0 0,4-1-496,1-1 1,2-2 495,3 1 0,2-1 0,9 0 0,-2 0 0,-15 0 0,0-1 0,17-1 0,1 0 0,-7 0 0,0 0 0,2-3 0,0-1 0,5 2 0,-1 1 0,-7-3 0,-3 1 0,-4 3 0,0 0 0,-1 0 0,-3 0 93,-13 1 0,-3 0-93,1 1 0,-1 1 0,0-2 0,0 1 0,6 1 0,1 1 0,-5 0 0,2 0 0,18 0 0,3 0-321,-9 0 1,0 0 320,5 1 0,1 1 0,10-1 0,-1 0 0,-6 2 0,-1 0 0,-1-1 0,0-1 0,3 0 0,-2-1 0,-12 0 0,-1 0 0,-1 0 0,0 0-47,0 0 0,-3 0 47,-7 2 0,-3-1 718,36-1-718,-23-1 57,-36 0-57,-15-1 664,-3 1-664,4 3 101,6-2-101,2 2 0,-12-2 0,-3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5:08.832"/>
    </inkml:context>
    <inkml:brush xml:id="br0">
      <inkml:brushProperty name="width" value="0.05" units="cm"/>
      <inkml:brushProperty name="height" value="0.05" units="cm"/>
      <inkml:brushProperty name="color" value="#E71224"/>
    </inkml:brush>
  </inkml:definitions>
  <inkml:trace contextRef="#ctx0" brushRef="#br0">1 156 24575,'30'-1'0,"9"-2"0,15-3 0,14-3 0,28-5 0,-46 7 0,2 0 0,19-2 0,4 0-394,1 1 1,1 1 393,3 1 0,1 1 0,8 0 0,0 0 0,-5 2 0,-2 1 0,1-1 0,0 0 0,9 0 0,-1 1 0,-8 0 0,-1 0 0,-2 1 0,0 0 0,7 1 0,-1 0 0,-12 2 0,-1 0 0,5-2 0,0 0 0,-1 2 0,10-2 0,1-3 0,14-2 0,3 1 0,-12 0 0,-18 1 0,-7 1 0,6 0-370,18-1 0,11-2 0,-2 1 0,-19 2 370,-14 1 0,-11 0 0,-4 1 0,-2 0 0,1 0 0,-2 0 0,27 3 0,-7-1 0,-15 2 727,-19-1-727,-6-1 1540,-7-1-1540,-5 0 0,5 1 0,1 0 0,1 0 0,5-1 0,-1-1 0,3 0 0,-1 0 0,-5 0 0,-7 1 0,-8-1 0,-4 1 0,-1 0 0,0 0 0,1 0 0,-5-1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81C6E8-1E58-AE43-8BBD-EA04CB6D83D5}" type="datetimeFigureOut">
              <a:rPr lang="en-US" smtClean="0"/>
              <a:t>6/22/21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109444-A108-4B47-BEB4-D4A34F829AB7}" type="slidenum">
              <a:rPr lang="en-US" smtClean="0"/>
              <a:t>‹#›</a:t>
            </a:fld>
            <a:endParaRPr lang="en-US"/>
          </a:p>
        </p:txBody>
      </p:sp>
    </p:spTree>
    <p:extLst>
      <p:ext uri="{BB962C8B-B14F-4D97-AF65-F5344CB8AC3E}">
        <p14:creationId xmlns:p14="http://schemas.microsoft.com/office/powerpoint/2010/main" val="1680277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375B09E-52E8-954E-AA88-7C38BBCEF875}" type="slidenum">
              <a:rPr lang="en-US" smtClean="0"/>
              <a:t>6</a:t>
            </a:fld>
            <a:endParaRPr lang="en-US"/>
          </a:p>
        </p:txBody>
      </p:sp>
    </p:spTree>
    <p:extLst>
      <p:ext uri="{BB962C8B-B14F-4D97-AF65-F5344CB8AC3E}">
        <p14:creationId xmlns:p14="http://schemas.microsoft.com/office/powerpoint/2010/main" val="2425954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87A90E-59A5-524F-AB11-C1B336982122}" type="slidenum">
              <a:rPr lang="en-US" smtClean="0"/>
              <a:t>23</a:t>
            </a:fld>
            <a:endParaRPr lang="en-US"/>
          </a:p>
        </p:txBody>
      </p:sp>
    </p:spTree>
    <p:extLst>
      <p:ext uri="{BB962C8B-B14F-4D97-AF65-F5344CB8AC3E}">
        <p14:creationId xmlns:p14="http://schemas.microsoft.com/office/powerpoint/2010/main" val="942303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C670-DF35-9445-B14B-45C9EC7CB6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252CAB-9080-AB4A-9AFE-601400BA64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AF7C31-1E43-C049-93CC-133F7D6FA69A}"/>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9E319CF5-3ED7-4D46-A9E9-B05F81DF2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E9AD7-6298-2E4B-9DCB-328114518B9F}"/>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125234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C08F3-5637-9A4F-8939-02FD82C101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984ED8-327B-C74D-8A99-957B99B1B2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0D7CC-82AB-B145-9E5B-5E27FF870DA5}"/>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312CFC11-74B7-5245-9ED5-76527520DF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549F9-8A6C-584B-80B9-B0F40522B69A}"/>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004032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B1F5-6876-9B44-86C1-99F37B641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54F86B-92C1-C347-9EB3-52E16DF398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5749E2-E023-BF4E-8172-08FDEA9FFC8D}"/>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2750D9E3-5123-4C43-BC55-62B780D19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4E34CC-80D3-5244-A304-027988B91A20}"/>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23888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025C9-12A6-CB4A-B577-8AF7CBD736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EED9B2-96BC-F24D-AF85-6AA8CA9AB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6EC01E-1759-6E48-8B2D-4817E11CC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93D861-198A-304B-A8D7-1805950878B8}"/>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6" name="Footer Placeholder 5">
            <a:extLst>
              <a:ext uri="{FF2B5EF4-FFF2-40B4-BE49-F238E27FC236}">
                <a16:creationId xmlns:a16="http://schemas.microsoft.com/office/drawing/2014/main" id="{55F6648A-0E92-0D43-B9CC-4249BB6923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1D39EC-4371-CC45-BA12-B58FBC4A17B1}"/>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771001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7444F-0C77-664C-A0FE-1AEFE5F599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7A7B1D-1CC5-D846-BBBF-477401A14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DB4296-ADD2-6040-A3E1-068A254555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76B78A-7240-E447-9159-156EB02833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815DE8-2E4E-C643-A5C5-8530AF529B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04E17B-0634-384C-A7E5-8EC21E5BCB64}"/>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8" name="Footer Placeholder 7">
            <a:extLst>
              <a:ext uri="{FF2B5EF4-FFF2-40B4-BE49-F238E27FC236}">
                <a16:creationId xmlns:a16="http://schemas.microsoft.com/office/drawing/2014/main" id="{BFE0F549-09F1-4F48-A9BA-A8674771A3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1CACC1-334A-1B4F-AF10-0D7123EEA8CF}"/>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23539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7DC36-326B-034B-9769-4B98D54336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F310D6-2F5A-8F4A-8B60-6F4DAA78E416}"/>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4" name="Footer Placeholder 3">
            <a:extLst>
              <a:ext uri="{FF2B5EF4-FFF2-40B4-BE49-F238E27FC236}">
                <a16:creationId xmlns:a16="http://schemas.microsoft.com/office/drawing/2014/main" id="{0471998D-E6E5-CA41-92D6-BC6A726F1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DEE79C-5D7B-A44D-BF00-5F135AD44C35}"/>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841646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BAF320-E8AF-7946-A820-0DCA8311CC0B}"/>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3" name="Footer Placeholder 2">
            <a:extLst>
              <a:ext uri="{FF2B5EF4-FFF2-40B4-BE49-F238E27FC236}">
                <a16:creationId xmlns:a16="http://schemas.microsoft.com/office/drawing/2014/main" id="{BAE8FE9A-34C6-1E4C-9500-3864536131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708A0A-C938-5F42-BBEE-6C7E74C37907}"/>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612828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23E1-40B8-1241-A58C-5D701F0DEA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ACABC9-1EFA-6F4E-8195-D50D31EA39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811842-89FB-0E4D-8852-211770C54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17FDDE-49E2-D64B-8E59-5B48206A8073}"/>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6" name="Footer Placeholder 5">
            <a:extLst>
              <a:ext uri="{FF2B5EF4-FFF2-40B4-BE49-F238E27FC236}">
                <a16:creationId xmlns:a16="http://schemas.microsoft.com/office/drawing/2014/main" id="{2DBAC8A0-CFBC-374D-93DC-913C9364A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A10DBA-C091-4743-AD2A-CEC036A72D15}"/>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2415104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F45A8-DE0A-7B43-8197-22E2E8168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2AA158-1561-CA49-A524-931F994EEC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25DBC-F42D-7441-B68A-288AD7011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756008-163B-E84F-AF90-CA761E506546}"/>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6" name="Footer Placeholder 5">
            <a:extLst>
              <a:ext uri="{FF2B5EF4-FFF2-40B4-BE49-F238E27FC236}">
                <a16:creationId xmlns:a16="http://schemas.microsoft.com/office/drawing/2014/main" id="{4377DCC5-3895-4047-AA44-8D53CC2504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FAC0AB-5AD9-2A48-8854-7CA4DC8103CF}"/>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2627894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5ACC-8BD4-CF43-B9E3-E5DE23AEB2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853754-0AF1-4D4B-AF7A-A34469A98A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2C9BAB-FB4F-9748-84B8-804B874B6A13}"/>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D75D3F3B-CDCD-694B-B9F1-5891ACDF6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04FCC-36CC-484E-A687-994A9BD8AE33}"/>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829217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53F58-709F-944C-9B71-BBB3CEE51C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EAA82C-00B6-C143-A282-79ECDDD19A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B2000-F221-E242-B5F2-C0CFD7B99BF4}"/>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7DE1CB9C-6474-D743-A8E5-441860DC81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252F4-2678-5F41-9D84-5C0C2A32C5A0}"/>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605218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006350-E4DC-EF4D-8441-425E2AD70A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D888DD-1EF0-904C-89E5-03F9B59A59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6D3BB-9255-434C-8602-09B78B1382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4212096E-CFF1-5041-834E-8C172C65AF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3F28CF-A062-4541-877C-0A9425981D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48AB9-5EC2-574D-BCFC-521B4E41239C}" type="slidenum">
              <a:rPr lang="en-US" smtClean="0"/>
              <a:t>‹#›</a:t>
            </a:fld>
            <a:endParaRPr lang="en-US"/>
          </a:p>
        </p:txBody>
      </p:sp>
    </p:spTree>
    <p:extLst>
      <p:ext uri="{BB962C8B-B14F-4D97-AF65-F5344CB8AC3E}">
        <p14:creationId xmlns:p14="http://schemas.microsoft.com/office/powerpoint/2010/main" val="347312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NULL"/><Relationship Id="rId18"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image" Target="NULL"/><Relationship Id="rId12" Type="http://schemas.openxmlformats.org/officeDocument/2006/relationships/customXml" Target="../ink/ink5.xml"/><Relationship Id="rId17" Type="http://schemas.openxmlformats.org/officeDocument/2006/relationships/image" Target="NULL"/><Relationship Id="rId2" Type="http://schemas.openxmlformats.org/officeDocument/2006/relationships/image" Target="../media/image5.png"/><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image" Target="NULL"/><Relationship Id="rId10" Type="http://schemas.openxmlformats.org/officeDocument/2006/relationships/customXml" Target="../ink/ink4.xml"/><Relationship Id="rId19" Type="http://schemas.openxmlformats.org/officeDocument/2006/relationships/image" Target="NULL"/><Relationship Id="rId4" Type="http://schemas.openxmlformats.org/officeDocument/2006/relationships/customXml" Target="../ink/ink1.xml"/><Relationship Id="rId9" Type="http://schemas.openxmlformats.org/officeDocument/2006/relationships/image" Target="NULL"/><Relationship Id="rId14" Type="http://schemas.openxmlformats.org/officeDocument/2006/relationships/customXml" Target="../ink/ink6.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A2DE9-8657-D848-B382-C13002A43BC9}"/>
              </a:ext>
            </a:extLst>
          </p:cNvPr>
          <p:cNvSpPr>
            <a:spLocks noGrp="1"/>
          </p:cNvSpPr>
          <p:nvPr>
            <p:ph type="ctrTitle"/>
          </p:nvPr>
        </p:nvSpPr>
        <p:spPr/>
        <p:txBody>
          <a:bodyPr/>
          <a:lstStyle/>
          <a:p>
            <a:r>
              <a:rPr lang="en-US" dirty="0"/>
              <a:t>Non-Equivalent Control Group Designs</a:t>
            </a:r>
          </a:p>
        </p:txBody>
      </p:sp>
      <p:sp>
        <p:nvSpPr>
          <p:cNvPr id="3" name="Subtitle 2">
            <a:extLst>
              <a:ext uri="{FF2B5EF4-FFF2-40B4-BE49-F238E27FC236}">
                <a16:creationId xmlns:a16="http://schemas.microsoft.com/office/drawing/2014/main" id="{252C0F68-8E69-1342-8EAC-BF2CEFA99035}"/>
              </a:ext>
            </a:extLst>
          </p:cNvPr>
          <p:cNvSpPr>
            <a:spLocks noGrp="1"/>
          </p:cNvSpPr>
          <p:nvPr>
            <p:ph type="subTitle" idx="1"/>
          </p:nvPr>
        </p:nvSpPr>
        <p:spPr/>
        <p:txBody>
          <a:bodyPr>
            <a:normAutofit lnSpcReduction="10000"/>
          </a:bodyPr>
          <a:lstStyle/>
          <a:p>
            <a:r>
              <a:rPr lang="en-US" dirty="0"/>
              <a:t>Elizabeth Tipton</a:t>
            </a:r>
          </a:p>
          <a:p>
            <a:endParaRPr lang="en-US" dirty="0"/>
          </a:p>
          <a:p>
            <a:r>
              <a:rPr lang="en-US" dirty="0"/>
              <a:t>NSF Improving Education R&amp;D Evaluations Workshop</a:t>
            </a:r>
          </a:p>
          <a:p>
            <a:r>
              <a:rPr lang="en-US" dirty="0"/>
              <a:t>2021</a:t>
            </a:r>
          </a:p>
        </p:txBody>
      </p:sp>
    </p:spTree>
    <p:extLst>
      <p:ext uri="{BB962C8B-B14F-4D97-AF65-F5344CB8AC3E}">
        <p14:creationId xmlns:p14="http://schemas.microsoft.com/office/powerpoint/2010/main" val="1221328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0E89B-10E6-864E-B22D-3714E33FE09A}"/>
              </a:ext>
            </a:extLst>
          </p:cNvPr>
          <p:cNvSpPr>
            <a:spLocks noGrp="1"/>
          </p:cNvSpPr>
          <p:nvPr>
            <p:ph type="title"/>
          </p:nvPr>
        </p:nvSpPr>
        <p:spPr/>
        <p:txBody>
          <a:bodyPr/>
          <a:lstStyle/>
          <a:p>
            <a:r>
              <a:rPr lang="en-US" dirty="0"/>
              <a:t>Quasi-experiments</a:t>
            </a:r>
          </a:p>
        </p:txBody>
      </p:sp>
      <p:sp>
        <p:nvSpPr>
          <p:cNvPr id="3" name="Content Placeholder 2">
            <a:extLst>
              <a:ext uri="{FF2B5EF4-FFF2-40B4-BE49-F238E27FC236}">
                <a16:creationId xmlns:a16="http://schemas.microsoft.com/office/drawing/2014/main" id="{AFCFF2C4-1858-1144-8E16-D32B096FBFD2}"/>
              </a:ext>
            </a:extLst>
          </p:cNvPr>
          <p:cNvSpPr>
            <a:spLocks noGrp="1"/>
          </p:cNvSpPr>
          <p:nvPr>
            <p:ph idx="1"/>
          </p:nvPr>
        </p:nvSpPr>
        <p:spPr/>
        <p:txBody>
          <a:bodyPr/>
          <a:lstStyle/>
          <a:p>
            <a:pPr marL="0" indent="0">
              <a:buNone/>
            </a:pPr>
            <a:r>
              <a:rPr lang="en-US" dirty="0"/>
              <a:t>Some researchers believe that it is easier to implement a quasi-experimental design than to conduct an experiment.  </a:t>
            </a:r>
          </a:p>
          <a:p>
            <a:pPr marL="0" indent="0">
              <a:buNone/>
            </a:pPr>
            <a:endParaRPr lang="en-US" dirty="0"/>
          </a:p>
          <a:p>
            <a:pPr marL="0" indent="0">
              <a:buNone/>
            </a:pPr>
            <a:r>
              <a:rPr lang="en-US" dirty="0"/>
              <a:t>We believe that quasi-experimental designs are indeed easier to implement </a:t>
            </a:r>
            <a:r>
              <a:rPr lang="en-US" i="1" dirty="0"/>
              <a:t>poorly</a:t>
            </a:r>
            <a:r>
              <a:rPr lang="en-US" dirty="0"/>
              <a:t>, but much </a:t>
            </a:r>
            <a:r>
              <a:rPr lang="en-US" i="1" dirty="0"/>
              <a:t>more</a:t>
            </a:r>
            <a:r>
              <a:rPr lang="en-US" dirty="0"/>
              <a:t> difficult to implement well. </a:t>
            </a:r>
          </a:p>
          <a:p>
            <a:pPr marL="0" indent="0">
              <a:buNone/>
            </a:pPr>
            <a:endParaRPr lang="en-US" dirty="0"/>
          </a:p>
        </p:txBody>
      </p:sp>
    </p:spTree>
    <p:extLst>
      <p:ext uri="{BB962C8B-B14F-4D97-AF65-F5344CB8AC3E}">
        <p14:creationId xmlns:p14="http://schemas.microsoft.com/office/powerpoint/2010/main" val="2182735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A2ADE-9B6C-6845-B6FE-4E6EFDEF7485}"/>
              </a:ext>
            </a:extLst>
          </p:cNvPr>
          <p:cNvSpPr>
            <a:spLocks noGrp="1"/>
          </p:cNvSpPr>
          <p:nvPr>
            <p:ph type="title"/>
          </p:nvPr>
        </p:nvSpPr>
        <p:spPr/>
        <p:txBody>
          <a:bodyPr/>
          <a:lstStyle/>
          <a:p>
            <a:r>
              <a:rPr lang="en-US" dirty="0"/>
              <a:t>You should be worried</a:t>
            </a:r>
          </a:p>
        </p:txBody>
      </p:sp>
      <p:sp>
        <p:nvSpPr>
          <p:cNvPr id="3" name="Content Placeholder 2">
            <a:extLst>
              <a:ext uri="{FF2B5EF4-FFF2-40B4-BE49-F238E27FC236}">
                <a16:creationId xmlns:a16="http://schemas.microsoft.com/office/drawing/2014/main" id="{18E9AB50-6D4A-1647-BA68-5AE8A22FC108}"/>
              </a:ext>
            </a:extLst>
          </p:cNvPr>
          <p:cNvSpPr>
            <a:spLocks noGrp="1"/>
          </p:cNvSpPr>
          <p:nvPr>
            <p:ph idx="1"/>
          </p:nvPr>
        </p:nvSpPr>
        <p:spPr/>
        <p:txBody>
          <a:bodyPr>
            <a:normAutofit lnSpcReduction="10000"/>
          </a:bodyPr>
          <a:lstStyle/>
          <a:p>
            <a:pPr marL="514350" indent="-514350">
              <a:buAutoNum type="arabicPeriod"/>
            </a:pPr>
            <a:r>
              <a:rPr lang="en-US" dirty="0"/>
              <a:t>History</a:t>
            </a:r>
          </a:p>
          <a:p>
            <a:pPr lvl="1"/>
            <a:r>
              <a:rPr lang="en-US" dirty="0"/>
              <a:t>What if, in between when the intervention was implemented and the outcome observed, some *other intervention* also occurred. </a:t>
            </a:r>
          </a:p>
          <a:p>
            <a:pPr lvl="1"/>
            <a:r>
              <a:rPr lang="en-US" dirty="0"/>
              <a:t>Example: What if at the same time teachers implemented your new science program, they also adopted a new math program?</a:t>
            </a:r>
          </a:p>
          <a:p>
            <a:pPr marL="514350" indent="-514350">
              <a:buAutoNum type="arabicPeriod"/>
            </a:pPr>
            <a:r>
              <a:rPr lang="en-US" dirty="0"/>
              <a:t>Maturation</a:t>
            </a:r>
          </a:p>
          <a:p>
            <a:pPr lvl="1"/>
            <a:r>
              <a:rPr lang="en-US" dirty="0"/>
              <a:t>What if the participants knowledge would have increased over time, even without your intervention?</a:t>
            </a:r>
          </a:p>
          <a:p>
            <a:pPr marL="514350" indent="-514350">
              <a:buAutoNum type="arabicPeriod"/>
            </a:pPr>
            <a:r>
              <a:rPr lang="en-US" dirty="0"/>
              <a:t>Selection</a:t>
            </a:r>
          </a:p>
          <a:p>
            <a:pPr lvl="1"/>
            <a:r>
              <a:rPr lang="en-US" dirty="0"/>
              <a:t>What if the types of teachers that signed up for your program are different – more motivated, better teachers, more experienced – than those that didn’t?</a:t>
            </a:r>
          </a:p>
        </p:txBody>
      </p:sp>
    </p:spTree>
    <p:extLst>
      <p:ext uri="{BB962C8B-B14F-4D97-AF65-F5344CB8AC3E}">
        <p14:creationId xmlns:p14="http://schemas.microsoft.com/office/powerpoint/2010/main" val="405280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E994E-BD5C-7049-89BB-FE56D637ED82}"/>
              </a:ext>
            </a:extLst>
          </p:cNvPr>
          <p:cNvSpPr>
            <a:spLocks noGrp="1"/>
          </p:cNvSpPr>
          <p:nvPr>
            <p:ph type="title"/>
          </p:nvPr>
        </p:nvSpPr>
        <p:spPr/>
        <p:txBody>
          <a:bodyPr/>
          <a:lstStyle/>
          <a:p>
            <a:r>
              <a:rPr lang="en-US" dirty="0"/>
              <a:t>You will likely need help</a:t>
            </a:r>
          </a:p>
        </p:txBody>
      </p:sp>
      <p:sp>
        <p:nvSpPr>
          <p:cNvPr id="3" name="Content Placeholder 2">
            <a:extLst>
              <a:ext uri="{FF2B5EF4-FFF2-40B4-BE49-F238E27FC236}">
                <a16:creationId xmlns:a16="http://schemas.microsoft.com/office/drawing/2014/main" id="{CEBA8F91-6518-1243-9D00-2D7AD36A17B6}"/>
              </a:ext>
            </a:extLst>
          </p:cNvPr>
          <p:cNvSpPr>
            <a:spLocks noGrp="1"/>
          </p:cNvSpPr>
          <p:nvPr>
            <p:ph idx="1"/>
          </p:nvPr>
        </p:nvSpPr>
        <p:spPr/>
        <p:txBody>
          <a:bodyPr>
            <a:normAutofit lnSpcReduction="10000"/>
          </a:bodyPr>
          <a:lstStyle/>
          <a:p>
            <a:pPr marL="0" indent="0">
              <a:buNone/>
            </a:pPr>
            <a:r>
              <a:rPr lang="en-US" dirty="0"/>
              <a:t>A strong design makes for an easy analysis:</a:t>
            </a:r>
          </a:p>
          <a:p>
            <a:r>
              <a:rPr lang="en-US" dirty="0"/>
              <a:t>In an experiment, the analyses are often quite straightforward – you are simply comparing average outcomes in the intervention group versus those in the comparison group.</a:t>
            </a:r>
          </a:p>
          <a:p>
            <a:endParaRPr lang="en-US" dirty="0"/>
          </a:p>
          <a:p>
            <a:pPr marL="0" indent="0">
              <a:buNone/>
            </a:pPr>
            <a:r>
              <a:rPr lang="en-US" dirty="0"/>
              <a:t>A weaker design requires a more complex analysis:</a:t>
            </a:r>
          </a:p>
          <a:p>
            <a:r>
              <a:rPr lang="en-US" dirty="0"/>
              <a:t>In quasi-experiments, the analyses are much more complex, as as tests for model assumptions.</a:t>
            </a:r>
          </a:p>
          <a:p>
            <a:r>
              <a:rPr lang="en-US" dirty="0"/>
              <a:t>Doing these analyses well requires expertise – we recommend choosing a consultant or collaborator with these skills.</a:t>
            </a:r>
          </a:p>
        </p:txBody>
      </p:sp>
    </p:spTree>
    <p:extLst>
      <p:ext uri="{BB962C8B-B14F-4D97-AF65-F5344CB8AC3E}">
        <p14:creationId xmlns:p14="http://schemas.microsoft.com/office/powerpoint/2010/main" val="2684746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DFE3-36F2-7E43-9A50-6AC5C24EC86B}"/>
              </a:ext>
            </a:extLst>
          </p:cNvPr>
          <p:cNvSpPr>
            <a:spLocks noGrp="1"/>
          </p:cNvSpPr>
          <p:nvPr>
            <p:ph type="title"/>
          </p:nvPr>
        </p:nvSpPr>
        <p:spPr>
          <a:xfrm>
            <a:off x="838200" y="2766218"/>
            <a:ext cx="10515600" cy="1325563"/>
          </a:xfrm>
        </p:spPr>
        <p:txBody>
          <a:bodyPr/>
          <a:lstStyle/>
          <a:p>
            <a:pPr algn="ctr"/>
            <a:r>
              <a:rPr lang="en-US" dirty="0"/>
              <a:t>Selection Bias</a:t>
            </a:r>
          </a:p>
        </p:txBody>
      </p:sp>
    </p:spTree>
    <p:extLst>
      <p:ext uri="{BB962C8B-B14F-4D97-AF65-F5344CB8AC3E}">
        <p14:creationId xmlns:p14="http://schemas.microsoft.com/office/powerpoint/2010/main" val="925283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140B8-959F-9F4C-B47B-AF2762AD57A3}"/>
              </a:ext>
            </a:extLst>
          </p:cNvPr>
          <p:cNvSpPr>
            <a:spLocks noGrp="1"/>
          </p:cNvSpPr>
          <p:nvPr>
            <p:ph type="title"/>
          </p:nvPr>
        </p:nvSpPr>
        <p:spPr/>
        <p:txBody>
          <a:bodyPr/>
          <a:lstStyle/>
          <a:p>
            <a:r>
              <a:rPr lang="en-US" dirty="0"/>
              <a:t>Selection processes</a:t>
            </a:r>
          </a:p>
        </p:txBody>
      </p:sp>
      <p:sp>
        <p:nvSpPr>
          <p:cNvPr id="3" name="Content Placeholder 2">
            <a:extLst>
              <a:ext uri="{FF2B5EF4-FFF2-40B4-BE49-F238E27FC236}">
                <a16:creationId xmlns:a16="http://schemas.microsoft.com/office/drawing/2014/main" id="{610BA6C5-2716-1946-BF09-2094493412B5}"/>
              </a:ext>
            </a:extLst>
          </p:cNvPr>
          <p:cNvSpPr>
            <a:spLocks noGrp="1"/>
          </p:cNvSpPr>
          <p:nvPr>
            <p:ph idx="1"/>
          </p:nvPr>
        </p:nvSpPr>
        <p:spPr/>
        <p:txBody>
          <a:bodyPr>
            <a:normAutofit fontScale="92500" lnSpcReduction="20000"/>
          </a:bodyPr>
          <a:lstStyle/>
          <a:p>
            <a:pPr marL="0" indent="0">
              <a:buNone/>
            </a:pPr>
            <a:r>
              <a:rPr lang="en-US" b="1" dirty="0"/>
              <a:t>Example: Smoking as an adult </a:t>
            </a:r>
            <a:endParaRPr lang="en-US" b="1" dirty="0">
              <a:effectLst/>
            </a:endParaRPr>
          </a:p>
          <a:p>
            <a:pPr marL="457200" lvl="1" indent="0">
              <a:buNone/>
            </a:pPr>
            <a:r>
              <a:rPr lang="en-US" dirty="0"/>
              <a:t>More likely in low-SES population</a:t>
            </a:r>
            <a:br>
              <a:rPr lang="en-US" dirty="0"/>
            </a:br>
            <a:r>
              <a:rPr lang="en-US" dirty="0"/>
              <a:t>More likely to have adverse childhood experiences </a:t>
            </a:r>
          </a:p>
          <a:p>
            <a:pPr marL="457200" lvl="1" indent="0">
              <a:buNone/>
            </a:pPr>
            <a:r>
              <a:rPr lang="en-US" dirty="0"/>
              <a:t>People around them smoke</a:t>
            </a:r>
            <a:br>
              <a:rPr lang="en-US" dirty="0"/>
            </a:br>
            <a:r>
              <a:rPr lang="en-US" dirty="0"/>
              <a:t>Likely to have started smoking as children</a:t>
            </a:r>
            <a:br>
              <a:rPr lang="en-US" dirty="0"/>
            </a:br>
            <a:r>
              <a:rPr lang="en-US" dirty="0"/>
              <a:t>More likely to have mental health issues</a:t>
            </a:r>
            <a:br>
              <a:rPr lang="en-US" dirty="0"/>
            </a:br>
            <a:r>
              <a:rPr lang="en-US" dirty="0"/>
              <a:t>Weight control</a:t>
            </a:r>
            <a:br>
              <a:rPr lang="en-US" dirty="0"/>
            </a:br>
            <a:r>
              <a:rPr lang="en-US" dirty="0"/>
              <a:t>Parents smoked </a:t>
            </a:r>
            <a:endParaRPr lang="en-US" dirty="0">
              <a:effectLst/>
            </a:endParaRPr>
          </a:p>
          <a:p>
            <a:pPr marL="0" indent="0">
              <a:buNone/>
            </a:pPr>
            <a:r>
              <a:rPr lang="en-US" b="1" dirty="0"/>
              <a:t>Example: Kids play on a sports team </a:t>
            </a:r>
            <a:endParaRPr lang="en-US" b="1" dirty="0">
              <a:effectLst/>
            </a:endParaRPr>
          </a:p>
          <a:p>
            <a:pPr marL="457200" lvl="1" indent="0">
              <a:buNone/>
            </a:pPr>
            <a:r>
              <a:rPr lang="en-US" dirty="0"/>
              <a:t>Parents played</a:t>
            </a:r>
            <a:br>
              <a:rPr lang="en-US" dirty="0"/>
            </a:br>
            <a:r>
              <a:rPr lang="en-US" dirty="0"/>
              <a:t>Have parents/ adults available to help</a:t>
            </a:r>
            <a:br>
              <a:rPr lang="en-US" dirty="0"/>
            </a:br>
            <a:r>
              <a:rPr lang="en-US" dirty="0"/>
              <a:t>Mid- to high- SES</a:t>
            </a:r>
            <a:br>
              <a:rPr lang="en-US" dirty="0"/>
            </a:br>
            <a:r>
              <a:rPr lang="en-US" dirty="0"/>
              <a:t>Are healthy</a:t>
            </a:r>
            <a:br>
              <a:rPr lang="en-US" dirty="0"/>
            </a:br>
            <a:r>
              <a:rPr lang="en-US" dirty="0"/>
              <a:t>Parents perceive it will positively affect outcomes</a:t>
            </a:r>
          </a:p>
          <a:p>
            <a:pPr marL="457200" lvl="1" indent="0">
              <a:buNone/>
            </a:pPr>
            <a:r>
              <a:rPr lang="en-US" dirty="0"/>
              <a:t>Available to them </a:t>
            </a:r>
            <a:endParaRPr lang="en-US" dirty="0">
              <a:effectLst/>
            </a:endParaRPr>
          </a:p>
          <a:p>
            <a:pPr marL="0" indent="0">
              <a:buNone/>
            </a:pPr>
            <a:endParaRPr lang="en-US" dirty="0"/>
          </a:p>
        </p:txBody>
      </p:sp>
    </p:spTree>
    <p:extLst>
      <p:ext uri="{BB962C8B-B14F-4D97-AF65-F5344CB8AC3E}">
        <p14:creationId xmlns:p14="http://schemas.microsoft.com/office/powerpoint/2010/main" val="2019058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25C2B-1FAC-B740-B15A-4CBB5A6D9707}"/>
              </a:ext>
            </a:extLst>
          </p:cNvPr>
          <p:cNvSpPr>
            <a:spLocks noGrp="1"/>
          </p:cNvSpPr>
          <p:nvPr>
            <p:ph type="title"/>
          </p:nvPr>
        </p:nvSpPr>
        <p:spPr/>
        <p:txBody>
          <a:bodyPr/>
          <a:lstStyle/>
          <a:p>
            <a:r>
              <a:rPr lang="en-US" dirty="0"/>
              <a:t>Selection </a:t>
            </a:r>
            <a:r>
              <a:rPr lang="en-US" dirty="0">
                <a:sym typeface="Wingdings" pitchFamily="2" charset="2"/>
              </a:rPr>
              <a:t> </a:t>
            </a:r>
            <a:r>
              <a:rPr lang="en-US" dirty="0"/>
              <a:t>Confounding</a:t>
            </a:r>
          </a:p>
        </p:txBody>
      </p:sp>
      <p:sp>
        <p:nvSpPr>
          <p:cNvPr id="3" name="Content Placeholder 2">
            <a:extLst>
              <a:ext uri="{FF2B5EF4-FFF2-40B4-BE49-F238E27FC236}">
                <a16:creationId xmlns:a16="http://schemas.microsoft.com/office/drawing/2014/main" id="{FC08B09D-CE95-D644-AF43-1D4AD8D6A113}"/>
              </a:ext>
            </a:extLst>
          </p:cNvPr>
          <p:cNvSpPr>
            <a:spLocks noGrp="1"/>
          </p:cNvSpPr>
          <p:nvPr>
            <p:ph idx="1"/>
          </p:nvPr>
        </p:nvSpPr>
        <p:spPr/>
        <p:txBody>
          <a:bodyPr/>
          <a:lstStyle/>
          <a:p>
            <a:pPr marL="0" indent="0">
              <a:buNone/>
            </a:pPr>
            <a:r>
              <a:rPr lang="en-US" b="1" i="1" dirty="0"/>
              <a:t>Confounding factors </a:t>
            </a:r>
            <a:r>
              <a:rPr lang="en-US" dirty="0"/>
              <a:t>influence </a:t>
            </a:r>
            <a:r>
              <a:rPr lang="en-US" i="1" dirty="0"/>
              <a:t>both </a:t>
            </a:r>
            <a:r>
              <a:rPr lang="en-US" dirty="0"/>
              <a:t>the treatment assignment process (why some individuals are treated and others are not) </a:t>
            </a:r>
            <a:r>
              <a:rPr lang="en-US" i="1" dirty="0"/>
              <a:t>and </a:t>
            </a:r>
            <a:r>
              <a:rPr lang="en-US" dirty="0"/>
              <a:t>the outcome. </a:t>
            </a:r>
          </a:p>
          <a:p>
            <a:pPr marL="0" indent="0">
              <a:buNone/>
            </a:pPr>
            <a:r>
              <a:rPr lang="en-US" dirty="0"/>
              <a:t>Confounding is the direct result of </a:t>
            </a:r>
            <a:r>
              <a:rPr lang="en-US" b="1" i="1" dirty="0"/>
              <a:t>differential selection </a:t>
            </a:r>
            <a:r>
              <a:rPr lang="en-US" dirty="0"/>
              <a:t>: i.e., wherein the treatment or intervention is not selected randomly but based on some background characteristics or perception of the effectiveness of the treatment. </a:t>
            </a:r>
            <a:endParaRPr lang="en-US" dirty="0">
              <a:effectLst/>
            </a:endParaRPr>
          </a:p>
          <a:p>
            <a:pPr marL="0" indent="0">
              <a:buNone/>
            </a:pPr>
            <a:endParaRPr lang="en-US" dirty="0"/>
          </a:p>
          <a:p>
            <a:pPr marL="0" indent="0">
              <a:buNone/>
            </a:pPr>
            <a:r>
              <a:rPr lang="en-US" dirty="0"/>
              <a:t>Importantly, this selection process is </a:t>
            </a:r>
            <a:r>
              <a:rPr lang="en-US" i="1" dirty="0"/>
              <a:t>unknown </a:t>
            </a:r>
            <a:r>
              <a:rPr lang="en-US" dirty="0"/>
              <a:t>to the researcher. </a:t>
            </a:r>
            <a:endParaRPr lang="en-US" dirty="0">
              <a:effectLst/>
            </a:endParaRPr>
          </a:p>
          <a:p>
            <a:pPr marL="0" indent="0">
              <a:buNone/>
            </a:pPr>
            <a:endParaRPr lang="en-US" dirty="0"/>
          </a:p>
        </p:txBody>
      </p:sp>
    </p:spTree>
    <p:extLst>
      <p:ext uri="{BB962C8B-B14F-4D97-AF65-F5344CB8AC3E}">
        <p14:creationId xmlns:p14="http://schemas.microsoft.com/office/powerpoint/2010/main" val="2510748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3B4BD-4176-234E-B912-03B57A806765}"/>
              </a:ext>
            </a:extLst>
          </p:cNvPr>
          <p:cNvSpPr>
            <a:spLocks noGrp="1"/>
          </p:cNvSpPr>
          <p:nvPr>
            <p:ph type="title"/>
          </p:nvPr>
        </p:nvSpPr>
        <p:spPr/>
        <p:txBody>
          <a:bodyPr/>
          <a:lstStyle/>
          <a:p>
            <a:r>
              <a:rPr lang="en-US" dirty="0"/>
              <a:t>Detecting confounding</a:t>
            </a:r>
          </a:p>
        </p:txBody>
      </p:sp>
      <p:sp>
        <p:nvSpPr>
          <p:cNvPr id="3" name="Content Placeholder 2">
            <a:extLst>
              <a:ext uri="{FF2B5EF4-FFF2-40B4-BE49-F238E27FC236}">
                <a16:creationId xmlns:a16="http://schemas.microsoft.com/office/drawing/2014/main" id="{3F6CFCCD-C0A0-0E47-B144-39B480D11E92}"/>
              </a:ext>
            </a:extLst>
          </p:cNvPr>
          <p:cNvSpPr>
            <a:spLocks noGrp="1"/>
          </p:cNvSpPr>
          <p:nvPr>
            <p:ph idx="1"/>
          </p:nvPr>
        </p:nvSpPr>
        <p:spPr/>
        <p:txBody>
          <a:bodyPr/>
          <a:lstStyle/>
          <a:p>
            <a:pPr marL="0" indent="0">
              <a:buNone/>
            </a:pPr>
            <a:r>
              <a:rPr lang="en-US" dirty="0"/>
              <a:t>Think about the selection process: </a:t>
            </a:r>
            <a:endParaRPr lang="en-US" dirty="0">
              <a:effectLst/>
            </a:endParaRPr>
          </a:p>
          <a:p>
            <a:r>
              <a:rPr lang="en-US" dirty="0"/>
              <a:t>How did some units end up in treatment and others not?</a:t>
            </a:r>
            <a:br>
              <a:rPr lang="en-US" dirty="0"/>
            </a:br>
            <a:r>
              <a:rPr lang="en-US" dirty="0"/>
              <a:t>Examine data and identify baseline (pre-treatment) covariates</a:t>
            </a:r>
            <a:br>
              <a:rPr lang="en-US" dirty="0"/>
            </a:br>
            <a:r>
              <a:rPr lang="en-US" dirty="0"/>
              <a:t>Calculate </a:t>
            </a:r>
            <a:r>
              <a:rPr lang="en-US" i="1" dirty="0"/>
              <a:t>balance </a:t>
            </a:r>
            <a:r>
              <a:rPr lang="en-US" dirty="0"/>
              <a:t>statistics (compare means, SDs) between T/C on these covariates </a:t>
            </a:r>
            <a:endParaRPr lang="en-US" dirty="0">
              <a:effectLst/>
            </a:endParaRPr>
          </a:p>
          <a:p>
            <a:r>
              <a:rPr lang="en-US" dirty="0"/>
              <a:t>Remember: In a randomized experiment, the </a:t>
            </a:r>
            <a:r>
              <a:rPr lang="en-US" i="1" dirty="0"/>
              <a:t>distribution </a:t>
            </a:r>
            <a:r>
              <a:rPr lang="en-US" dirty="0"/>
              <a:t>of these covariates would be the </a:t>
            </a:r>
            <a:r>
              <a:rPr lang="en-US" i="1" dirty="0"/>
              <a:t>same </a:t>
            </a:r>
            <a:r>
              <a:rPr lang="en-US" dirty="0"/>
              <a:t>in both T &amp; C. This is your standard of comparison here </a:t>
            </a:r>
            <a:endParaRPr lang="en-US" dirty="0">
              <a:effectLst/>
            </a:endParaRPr>
          </a:p>
          <a:p>
            <a:r>
              <a:rPr lang="en-US" dirty="0"/>
              <a:t>Scrutinize: are there other, </a:t>
            </a:r>
            <a:r>
              <a:rPr lang="en-US" i="1" dirty="0"/>
              <a:t>unmeasured </a:t>
            </a:r>
            <a:r>
              <a:rPr lang="en-US" dirty="0"/>
              <a:t>confounds not included here? </a:t>
            </a:r>
            <a:endParaRPr lang="en-US" dirty="0">
              <a:effectLst/>
            </a:endParaRPr>
          </a:p>
          <a:p>
            <a:pPr marL="0" indent="0">
              <a:buNone/>
            </a:pPr>
            <a:endParaRPr lang="en-US" dirty="0"/>
          </a:p>
        </p:txBody>
      </p:sp>
    </p:spTree>
    <p:extLst>
      <p:ext uri="{BB962C8B-B14F-4D97-AF65-F5344CB8AC3E}">
        <p14:creationId xmlns:p14="http://schemas.microsoft.com/office/powerpoint/2010/main" val="1961964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64657-5ABA-A44B-95E9-B4171191758A}"/>
              </a:ext>
            </a:extLst>
          </p:cNvPr>
          <p:cNvSpPr>
            <a:spLocks noGrp="1"/>
          </p:cNvSpPr>
          <p:nvPr>
            <p:ph type="title"/>
          </p:nvPr>
        </p:nvSpPr>
        <p:spPr/>
        <p:txBody>
          <a:bodyPr/>
          <a:lstStyle/>
          <a:p>
            <a:r>
              <a:rPr lang="en-US" dirty="0"/>
              <a:t>An intersection</a:t>
            </a:r>
          </a:p>
        </p:txBody>
      </p:sp>
      <p:graphicFrame>
        <p:nvGraphicFramePr>
          <p:cNvPr id="4" name="Content Placeholder 3">
            <a:extLst>
              <a:ext uri="{FF2B5EF4-FFF2-40B4-BE49-F238E27FC236}">
                <a16:creationId xmlns:a16="http://schemas.microsoft.com/office/drawing/2014/main" id="{CE3A8C3E-9867-124B-BC8C-C57315927C6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Arrow Connector 7">
            <a:extLst>
              <a:ext uri="{FF2B5EF4-FFF2-40B4-BE49-F238E27FC236}">
                <a16:creationId xmlns:a16="http://schemas.microsoft.com/office/drawing/2014/main" id="{5495203A-37A0-EE40-99D3-81A3B5C933B6}"/>
              </a:ext>
            </a:extLst>
          </p:cNvPr>
          <p:cNvCxnSpPr/>
          <p:nvPr/>
        </p:nvCxnSpPr>
        <p:spPr>
          <a:xfrm>
            <a:off x="1890793" y="2293749"/>
            <a:ext cx="4205207" cy="127086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70415F67-04D9-DC45-9A8E-3E1CD5879E9F}"/>
              </a:ext>
            </a:extLst>
          </p:cNvPr>
          <p:cNvSpPr txBox="1"/>
          <p:nvPr/>
        </p:nvSpPr>
        <p:spPr>
          <a:xfrm>
            <a:off x="464949" y="2107769"/>
            <a:ext cx="1255363" cy="1200329"/>
          </a:xfrm>
          <a:prstGeom prst="rect">
            <a:avLst/>
          </a:prstGeom>
          <a:noFill/>
        </p:spPr>
        <p:txBody>
          <a:bodyPr wrap="square" rtlCol="0">
            <a:spAutoFit/>
          </a:bodyPr>
          <a:lstStyle/>
          <a:p>
            <a:r>
              <a:rPr lang="en-US" dirty="0"/>
              <a:t>Strong ignorability set of variables</a:t>
            </a:r>
          </a:p>
        </p:txBody>
      </p:sp>
    </p:spTree>
    <p:extLst>
      <p:ext uri="{BB962C8B-B14F-4D97-AF65-F5344CB8AC3E}">
        <p14:creationId xmlns:p14="http://schemas.microsoft.com/office/powerpoint/2010/main" val="3643275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72A7-574E-5D44-857B-858529C7AE71}"/>
              </a:ext>
            </a:extLst>
          </p:cNvPr>
          <p:cNvSpPr>
            <a:spLocks noGrp="1"/>
          </p:cNvSpPr>
          <p:nvPr>
            <p:ph type="title"/>
          </p:nvPr>
        </p:nvSpPr>
        <p:spPr/>
        <p:txBody>
          <a:bodyPr/>
          <a:lstStyle/>
          <a:p>
            <a:r>
              <a:rPr lang="en-US" dirty="0"/>
              <a:t>What bias?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587681-2131-C14D-9013-D2026E2F6D25}"/>
                  </a:ext>
                </a:extLst>
              </p:cNvPr>
              <p:cNvSpPr>
                <a:spLocks noGrp="1"/>
              </p:cNvSpPr>
              <p:nvPr>
                <p:ph idx="1"/>
              </p:nvPr>
            </p:nvSpPr>
            <p:spPr/>
            <p:txBody>
              <a:bodyPr/>
              <a:lstStyle/>
              <a:p>
                <a:pPr marL="0" indent="0">
                  <a:buNone/>
                </a:pPr>
                <a:r>
                  <a:rPr lang="en-US" dirty="0"/>
                  <a:t>To see how selection results in bias, imagine that our outcome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oMath>
                </a14:m>
                <a:r>
                  <a:rPr lang="en-US" dirty="0"/>
                  <a:t> is a measure of knowledge about research designs. </a:t>
                </a:r>
              </a:p>
              <a:p>
                <a:pPr marL="0" indent="0">
                  <a:buNone/>
                </a:pPr>
                <a:r>
                  <a:rPr lang="en-US" dirty="0"/>
                  <a:t>We might expect that knowledge of research designs is affected by: </a:t>
                </a:r>
              </a:p>
              <a:p>
                <a:r>
                  <a:rPr lang="en-US" dirty="0"/>
                  <a:t>degree held (e.g., doctorate),</a:t>
                </a:r>
              </a:p>
              <a:p>
                <a:r>
                  <a:rPr lang="en-US" dirty="0"/>
                  <a:t>field of study (e.g., statistics vs biology), </a:t>
                </a:r>
              </a:p>
              <a:p>
                <a:r>
                  <a:rPr lang="en-US" dirty="0"/>
                  <a:t>career stage (e.g., # of years since school),</a:t>
                </a:r>
              </a:p>
              <a:p>
                <a:r>
                  <a:rPr lang="en-US" dirty="0"/>
                  <a:t>comfort with mathematical models,</a:t>
                </a:r>
              </a:p>
              <a:p>
                <a:pPr marL="0" indent="0">
                  <a:buNone/>
                </a:pPr>
                <a:r>
                  <a:rPr lang="en-US" dirty="0"/>
                  <a:t>And so on.  </a:t>
                </a:r>
              </a:p>
            </p:txBody>
          </p:sp>
        </mc:Choice>
        <mc:Fallback>
          <p:sp>
            <p:nvSpPr>
              <p:cNvPr id="3" name="Content Placeholder 2">
                <a:extLst>
                  <a:ext uri="{FF2B5EF4-FFF2-40B4-BE49-F238E27FC236}">
                    <a16:creationId xmlns:a16="http://schemas.microsoft.com/office/drawing/2014/main" id="{1E587681-2131-C14D-9013-D2026E2F6D25}"/>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726172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99A4-E2BB-2B45-A3D9-DF34EF2A0EB0}"/>
              </a:ext>
            </a:extLst>
          </p:cNvPr>
          <p:cNvSpPr>
            <a:spLocks noGrp="1"/>
          </p:cNvSpPr>
          <p:nvPr>
            <p:ph type="title"/>
          </p:nvPr>
        </p:nvSpPr>
        <p:spPr/>
        <p:txBody>
          <a:bodyPr/>
          <a:lstStyle/>
          <a:p>
            <a:r>
              <a:rPr lang="en-US" dirty="0"/>
              <a:t>To be formal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9675AA-464A-F648-B32E-95D3B78EB529}"/>
                  </a:ext>
                </a:extLst>
              </p:cNvPr>
              <p:cNvSpPr>
                <a:spLocks noGrp="1"/>
              </p:cNvSpPr>
              <p:nvPr>
                <p:ph idx="1"/>
              </p:nvPr>
            </p:nvSpPr>
            <p:spPr>
              <a:xfrm>
                <a:off x="336176" y="1825625"/>
                <a:ext cx="11031071" cy="4351338"/>
              </a:xfrm>
            </p:spPr>
            <p:txBody>
              <a:bodyPr/>
              <a:lstStyle/>
              <a:p>
                <a:pPr marL="0" indent="0">
                  <a:buNone/>
                </a:pPr>
                <a:r>
                  <a:rPr lang="en-US" dirty="0"/>
                  <a:t>In general, we might model this as,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𝑅𝐷𝐾</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r>
                        <a:rPr lang="en-US" b="0" i="1" smtClean="0">
                          <a:latin typeface="Cambria Math" panose="02040503050406030204" pitchFamily="18" charset="0"/>
                        </a:rPr>
                        <m:t>𝑄𝑢𝑎𝑛𝑡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r>
                        <a:rPr lang="en-US" b="0" i="1" smtClean="0">
                          <a:latin typeface="Cambria Math" panose="02040503050406030204" pitchFamily="18" charset="0"/>
                        </a:rPr>
                        <m:t>𝑌𝑒𝑎𝑟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r>
                        <a:rPr lang="en-US" b="0" i="1" smtClean="0">
                          <a:latin typeface="Cambria Math" panose="02040503050406030204" pitchFamily="18" charset="0"/>
                        </a:rPr>
                        <m:t>𝐶𝑜𝑚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oMath>
                  </m:oMathPara>
                </a14:m>
                <a:endParaRPr lang="en-US" dirty="0"/>
              </a:p>
              <a:p>
                <a:pPr marL="0" indent="0">
                  <a:buNone/>
                </a:pPr>
                <a:endParaRPr lang="en-US" dirty="0"/>
              </a:p>
              <a:p>
                <a:pPr marL="0" indent="0">
                  <a:buNone/>
                </a:pPr>
                <a:r>
                  <a:rPr lang="en-US" dirty="0"/>
                  <a:t>And we might expect that workshop participants get a ‘boost’ in this knowledge,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𝑅𝐷𝐾</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𝑊𝑜𝑟𝑘𝑠h𝑜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r>
                        <a:rPr lang="en-US" b="0" i="1" smtClean="0">
                          <a:latin typeface="Cambria Math" panose="02040503050406030204" pitchFamily="18" charset="0"/>
                        </a:rPr>
                        <m:t>𝑄𝑢𝑎𝑛𝑡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r>
                        <a:rPr lang="en-US" b="0" i="1" smtClean="0">
                          <a:latin typeface="Cambria Math" panose="02040503050406030204" pitchFamily="18" charset="0"/>
                        </a:rPr>
                        <m:t>𝑌𝑒𝑎𝑟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r>
                        <a:rPr lang="en-US" b="0" i="1" smtClean="0">
                          <a:latin typeface="Cambria Math" panose="02040503050406030204" pitchFamily="18" charset="0"/>
                        </a:rPr>
                        <m:t>𝐶𝑜𝑚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oMath>
                  </m:oMathPara>
                </a14:m>
                <a:endParaRPr lang="en-US" dirty="0"/>
              </a:p>
            </p:txBody>
          </p:sp>
        </mc:Choice>
        <mc:Fallback>
          <p:sp>
            <p:nvSpPr>
              <p:cNvPr id="3" name="Content Placeholder 2">
                <a:extLst>
                  <a:ext uri="{FF2B5EF4-FFF2-40B4-BE49-F238E27FC236}">
                    <a16:creationId xmlns:a16="http://schemas.microsoft.com/office/drawing/2014/main" id="{679675AA-464A-F648-B32E-95D3B78EB529}"/>
                  </a:ext>
                </a:extLst>
              </p:cNvPr>
              <p:cNvSpPr>
                <a:spLocks noGrp="1" noRot="1" noChangeAspect="1" noMove="1" noResize="1" noEditPoints="1" noAdjustHandles="1" noChangeArrowheads="1" noChangeShapeType="1" noTextEdit="1"/>
              </p:cNvSpPr>
              <p:nvPr>
                <p:ph idx="1"/>
              </p:nvPr>
            </p:nvSpPr>
            <p:spPr>
              <a:xfrm>
                <a:off x="336176" y="1825625"/>
                <a:ext cx="11031071" cy="4351338"/>
              </a:xfrm>
              <a:blipFill>
                <a:blip r:embed="rId2"/>
                <a:stretch>
                  <a:fillRect l="-1149" t="-2326"/>
                </a:stretch>
              </a:blipFill>
            </p:spPr>
            <p:txBody>
              <a:bodyPr/>
              <a:lstStyle/>
              <a:p>
                <a:r>
                  <a:rPr lang="en-US">
                    <a:noFill/>
                  </a:rPr>
                  <a:t> </a:t>
                </a:r>
              </a:p>
            </p:txBody>
          </p:sp>
        </mc:Fallback>
      </mc:AlternateContent>
    </p:spTree>
    <p:extLst>
      <p:ext uri="{BB962C8B-B14F-4D97-AF65-F5344CB8AC3E}">
        <p14:creationId xmlns:p14="http://schemas.microsoft.com/office/powerpoint/2010/main" val="2298804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1673-9681-FF4B-BC70-DD2D59589AF3}"/>
              </a:ext>
            </a:extLst>
          </p:cNvPr>
          <p:cNvSpPr>
            <a:spLocks noGrp="1"/>
          </p:cNvSpPr>
          <p:nvPr>
            <p:ph type="title"/>
          </p:nvPr>
        </p:nvSpPr>
        <p:spPr/>
        <p:txBody>
          <a:bodyPr/>
          <a:lstStyle/>
          <a:p>
            <a:r>
              <a:rPr lang="en-US" dirty="0"/>
              <a:t>Comparing them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A3798C8-7D0A-8141-AEF3-EC213013D421}"/>
                  </a:ext>
                </a:extLst>
              </p:cNvPr>
              <p:cNvSpPr>
                <a:spLocks noGrp="1"/>
              </p:cNvSpPr>
              <p:nvPr>
                <p:ph idx="1"/>
              </p:nvPr>
            </p:nvSpPr>
            <p:spPr/>
            <p:txBody>
              <a:bodyPr/>
              <a:lstStyle/>
              <a:p>
                <a:pPr marL="0" indent="0">
                  <a:buNone/>
                </a:pPr>
                <a:r>
                  <a:rPr lang="en-US" dirty="0"/>
                  <a:t>We could compare the average knowledge in the two groups:</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dirty="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𝑅𝐷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e>
                      </m:acc>
                      <m:r>
                        <a:rPr lang="en-US" b="0" i="1" dirty="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𝑅𝐷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𝑐</m:t>
                              </m:r>
                            </m:sub>
                          </m:sSub>
                        </m:e>
                      </m:acc>
                    </m:oMath>
                  </m:oMathPara>
                </a14:m>
                <a:endParaRPr lang="en-US" b="0" dirty="0"/>
              </a:p>
              <a:p>
                <a:pPr marL="0" indent="0">
                  <a:buNone/>
                </a:pPr>
                <a:r>
                  <a:rPr lang="en-US" dirty="0"/>
                  <a:t>Which we could write out as:</a:t>
                </a:r>
              </a:p>
              <a:p>
                <a:pPr marL="0" indent="0">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m:t>
                    </m:r>
                  </m:oMath>
                </a14:m>
                <a:r>
                  <a:rPr lang="en-US" b="0" dirty="0"/>
                  <a:t> </a:t>
                </a:r>
                <a14:m>
                  <m:oMath xmlns:m="http://schemas.openxmlformats.org/officeDocument/2006/math">
                    <m:d>
                      <m:dPr>
                        <m:ctrlPr>
                          <a:rPr lang="en-US" b="0" i="0"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e>
                    </m:d>
                    <m:r>
                      <a:rPr lang="en-US" b="0" i="0" smtClean="0">
                        <a:latin typeface="Cambria Math" panose="02040503050406030204" pitchFamily="18" charset="0"/>
                      </a:rPr>
                      <m:t>−</m:t>
                    </m:r>
                    <m:d>
                      <m:dPr>
                        <m:ctrlPr>
                          <a:rPr lang="en-US" b="0" i="0"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𝑐</m:t>
                                </m:r>
                              </m:sub>
                            </m:sSub>
                          </m:e>
                        </m:acc>
                      </m:e>
                    </m:d>
                  </m:oMath>
                </a14:m>
                <a:endParaRPr lang="en-US" b="0" dirty="0"/>
              </a:p>
              <a:p>
                <a:pPr marL="0" indent="0">
                  <a:buNone/>
                </a:pPr>
                <a:endParaRPr lang="en-US" dirty="0"/>
              </a:p>
              <a:p>
                <a:pPr marL="0"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a14:m>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a14:m>
                <a:r>
                  <a:rPr lang="en-US" dirty="0"/>
                  <a:t>	</a:t>
                </a:r>
              </a:p>
              <a:p>
                <a:pPr marL="0" indent="0">
                  <a:buNone/>
                </a:pPr>
                <a:endParaRPr lang="en-US" dirty="0"/>
              </a:p>
            </p:txBody>
          </p:sp>
        </mc:Choice>
        <mc:Fallback>
          <p:sp>
            <p:nvSpPr>
              <p:cNvPr id="3" name="Content Placeholder 2">
                <a:extLst>
                  <a:ext uri="{FF2B5EF4-FFF2-40B4-BE49-F238E27FC236}">
                    <a16:creationId xmlns:a16="http://schemas.microsoft.com/office/drawing/2014/main" id="{1A3798C8-7D0A-8141-AEF3-EC213013D421}"/>
                  </a:ext>
                </a:extLst>
              </p:cNvPr>
              <p:cNvSpPr>
                <a:spLocks noGrp="1" noRot="1" noChangeAspect="1" noMove="1" noResize="1" noEditPoints="1" noAdjustHandles="1" noChangeArrowheads="1" noChangeShapeType="1" noTextEdit="1"/>
              </p:cNvSpPr>
              <p:nvPr>
                <p:ph idx="1"/>
              </p:nvPr>
            </p:nvSpPr>
            <p:spPr>
              <a:blipFill>
                <a:blip r:embed="rId2"/>
                <a:stretch>
                  <a:fillRect l="-1206" t="-2326" b="-12209"/>
                </a:stretch>
              </a:blipFill>
            </p:spPr>
            <p:txBody>
              <a:bodyPr/>
              <a:lstStyle/>
              <a:p>
                <a:r>
                  <a:rPr lang="en-US">
                    <a:noFill/>
                  </a:rPr>
                  <a:t> </a:t>
                </a:r>
              </a:p>
            </p:txBody>
          </p:sp>
        </mc:Fallback>
      </mc:AlternateContent>
    </p:spTree>
    <p:extLst>
      <p:ext uri="{BB962C8B-B14F-4D97-AF65-F5344CB8AC3E}">
        <p14:creationId xmlns:p14="http://schemas.microsoft.com/office/powerpoint/2010/main" val="2542292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903FC-4672-D34C-B4AA-EC39DBEF392E}"/>
              </a:ext>
            </a:extLst>
          </p:cNvPr>
          <p:cNvSpPr>
            <a:spLocks noGrp="1"/>
          </p:cNvSpPr>
          <p:nvPr>
            <p:ph type="title"/>
          </p:nvPr>
        </p:nvSpPr>
        <p:spPr/>
        <p:txBody>
          <a:bodyPr/>
          <a:lstStyle/>
          <a:p>
            <a:r>
              <a:rPr lang="en-US" dirty="0"/>
              <a:t>Uh oh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674B700-E21D-8840-9D69-5E759420EA18}"/>
                  </a:ext>
                </a:extLst>
              </p:cNvPr>
              <p:cNvSpPr>
                <a:spLocks noGrp="1"/>
              </p:cNvSpPr>
              <p:nvPr>
                <p:ph idx="1"/>
              </p:nvPr>
            </p:nvSpPr>
            <p:spPr/>
            <p:txBody>
              <a:bodyPr>
                <a:normAutofit fontScale="85000" lnSpcReduction="20000"/>
              </a:bodyPr>
              <a:lstStyle/>
              <a:p>
                <a:pPr marL="0" indent="0" algn="ctr">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a14:m>
                <a:r>
                  <a:rPr lang="en-US" b="0" dirty="0"/>
                  <a:t> </a:t>
                </a: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oMath>
                  </m:oMathPara>
                </a14:m>
                <a:endParaRPr lang="en-US" b="0" i="1" dirty="0">
                  <a:latin typeface="Cambria Math" panose="02040503050406030204" pitchFamily="18" charset="0"/>
                </a:endParaRPr>
              </a:p>
              <a:p>
                <a:pPr marL="0" indent="0" algn="ctr">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e>
                    </m:d>
                  </m:oMath>
                </a14:m>
                <a:r>
                  <a:rPr lang="en-US" b="0" dirty="0"/>
                  <a:t> </a:t>
                </a:r>
                <a14:m>
                  <m:oMath xmlns:m="http://schemas.openxmlformats.org/officeDocument/2006/math">
                    <m:r>
                      <a:rPr lang="en-US" b="0" i="1" smtClean="0">
                        <a:latin typeface="Cambria Math" panose="02040503050406030204" pitchFamily="18" charset="0"/>
                      </a:rPr>
                      <m:t>+</m:t>
                    </m:r>
                  </m:oMath>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m:oMathPara>
                </a14:m>
                <a:endParaRPr lang="en-US" dirty="0"/>
              </a:p>
              <a:p>
                <a:pPr marL="0" indent="0">
                  <a:buNone/>
                </a:pPr>
                <a:r>
                  <a:rPr lang="en-US" dirty="0"/>
                  <a:t>	</a:t>
                </a:r>
              </a:p>
              <a:p>
                <a:pPr marL="0" indent="0">
                  <a:buNone/>
                </a:pPr>
                <a:r>
                  <a:rPr lang="en-US" dirty="0"/>
                  <a:t>We want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 </m:t>
                    </m:r>
                  </m:oMath>
                </a14:m>
                <a:r>
                  <a:rPr lang="en-US" dirty="0"/>
                  <a:t>to be a good estimate of the causal effect </a:t>
                </a:r>
                <a14:m>
                  <m:oMath xmlns:m="http://schemas.openxmlformats.org/officeDocument/2006/math">
                    <m:r>
                      <a:rPr lang="en-US" b="0" i="1" smtClean="0">
                        <a:latin typeface="Cambria Math" panose="02040503050406030204" pitchFamily="18" charset="0"/>
                      </a:rPr>
                      <m:t>𝛽</m:t>
                    </m:r>
                  </m:oMath>
                </a14:m>
                <a:r>
                  <a:rPr lang="en-US" dirty="0"/>
                  <a:t> of the intervention. </a:t>
                </a:r>
              </a:p>
              <a:p>
                <a:pPr marL="0" indent="0">
                  <a:buNone/>
                </a:pPr>
                <a:r>
                  <a:rPr lang="en-US" dirty="0"/>
                  <a:t>But it’s not a good estimate if the two groups – workshop attendees and comparison – differ in terms of their doctorate status, their field, their years of experience, or their comfort with math. </a:t>
                </a:r>
              </a:p>
              <a:p>
                <a:pPr marL="0" indent="0">
                  <a:buNone/>
                </a:pPr>
                <a:endParaRPr lang="en-US" dirty="0"/>
              </a:p>
              <a:p>
                <a:pPr marL="0" indent="0">
                  <a:buNone/>
                </a:pPr>
                <a:r>
                  <a:rPr lang="en-US" dirty="0"/>
                  <a:t>If they differ, then the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 </m:t>
                    </m:r>
                  </m:oMath>
                </a14:m>
                <a:r>
                  <a:rPr lang="en-US" dirty="0"/>
                  <a:t>is a combination of the causal effect *and* these differences. </a:t>
                </a:r>
              </a:p>
            </p:txBody>
          </p:sp>
        </mc:Choice>
        <mc:Fallback>
          <p:sp>
            <p:nvSpPr>
              <p:cNvPr id="3" name="Content Placeholder 2">
                <a:extLst>
                  <a:ext uri="{FF2B5EF4-FFF2-40B4-BE49-F238E27FC236}">
                    <a16:creationId xmlns:a16="http://schemas.microsoft.com/office/drawing/2014/main" id="{4674B700-E21D-8840-9D69-5E759420EA18}"/>
                  </a:ext>
                </a:extLst>
              </p:cNvPr>
              <p:cNvSpPr>
                <a:spLocks noGrp="1" noRot="1" noChangeAspect="1" noMove="1" noResize="1" noEditPoints="1" noAdjustHandles="1" noChangeArrowheads="1" noChangeShapeType="1" noTextEdit="1"/>
              </p:cNvSpPr>
              <p:nvPr>
                <p:ph idx="1"/>
              </p:nvPr>
            </p:nvSpPr>
            <p:spPr>
              <a:blipFill>
                <a:blip r:embed="rId2"/>
                <a:stretch>
                  <a:fillRect l="-965" t="-3488" r="-12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C0F09DC5-DC83-A545-B2E4-7D80D7F77C09}"/>
              </a:ext>
            </a:extLst>
          </p:cNvPr>
          <p:cNvSpPr/>
          <p:nvPr/>
        </p:nvSpPr>
        <p:spPr>
          <a:xfrm>
            <a:off x="2089230" y="2806208"/>
            <a:ext cx="8013540" cy="1195086"/>
          </a:xfrm>
          <a:prstGeom prst="rect">
            <a:avLst/>
          </a:prstGeom>
          <a:solidFill>
            <a:schemeClr val="bg1">
              <a:lumMod val="85000"/>
              <a:alpha val="242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D08D937-3CBB-0649-9C13-43D13A231B27}"/>
              </a:ext>
            </a:extLst>
          </p:cNvPr>
          <p:cNvSpPr/>
          <p:nvPr/>
        </p:nvSpPr>
        <p:spPr>
          <a:xfrm>
            <a:off x="5370652" y="1606490"/>
            <a:ext cx="1203767" cy="543226"/>
          </a:xfrm>
          <a:prstGeom prst="rect">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83415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7D7D4-332E-A145-9E83-ACD7C1312DD4}"/>
              </a:ext>
            </a:extLst>
          </p:cNvPr>
          <p:cNvSpPr>
            <a:spLocks noGrp="1"/>
          </p:cNvSpPr>
          <p:nvPr>
            <p:ph type="title"/>
          </p:nvPr>
        </p:nvSpPr>
        <p:spPr/>
        <p:txBody>
          <a:bodyPr/>
          <a:lstStyle/>
          <a:p>
            <a:r>
              <a:rPr lang="en-US" dirty="0"/>
              <a:t>But what about in RCTs?</a:t>
            </a:r>
          </a:p>
        </p:txBody>
      </p:sp>
      <p:sp>
        <p:nvSpPr>
          <p:cNvPr id="3" name="Content Placeholder 2">
            <a:extLst>
              <a:ext uri="{FF2B5EF4-FFF2-40B4-BE49-F238E27FC236}">
                <a16:creationId xmlns:a16="http://schemas.microsoft.com/office/drawing/2014/main" id="{5E6E897F-DC1C-C94E-864C-54EB90AC4E48}"/>
              </a:ext>
            </a:extLst>
          </p:cNvPr>
          <p:cNvSpPr>
            <a:spLocks noGrp="1"/>
          </p:cNvSpPr>
          <p:nvPr>
            <p:ph idx="1"/>
          </p:nvPr>
        </p:nvSpPr>
        <p:spPr/>
        <p:txBody>
          <a:bodyPr/>
          <a:lstStyle/>
          <a:p>
            <a:pPr marL="0" indent="0">
              <a:buNone/>
            </a:pPr>
            <a:r>
              <a:rPr lang="en-US" dirty="0"/>
              <a:t>Wouldn’t this same problem occur there? Couldn’t there be ‘unhappy’ randomizations that lead to some differences between the groups.</a:t>
            </a:r>
          </a:p>
          <a:p>
            <a:pPr marL="0" indent="0">
              <a:buNone/>
            </a:pPr>
            <a:endParaRPr lang="en-US" dirty="0"/>
          </a:p>
          <a:p>
            <a:pPr marL="0" indent="0">
              <a:buNone/>
            </a:pPr>
            <a:r>
              <a:rPr lang="en-US" dirty="0"/>
              <a:t>Yes, there could be some differences. But what you learned the last few days is:</a:t>
            </a:r>
          </a:p>
          <a:p>
            <a:r>
              <a:rPr lang="en-US" dirty="0"/>
              <a:t>If the differences are truly random, they are taken into account in the standard errors and don’t have to be adjusted for.</a:t>
            </a:r>
          </a:p>
          <a:p>
            <a:r>
              <a:rPr lang="en-US" dirty="0"/>
              <a:t>But if you do adjust for them, you can improve precision (and thus power). </a:t>
            </a:r>
          </a:p>
        </p:txBody>
      </p:sp>
    </p:spTree>
    <p:extLst>
      <p:ext uri="{BB962C8B-B14F-4D97-AF65-F5344CB8AC3E}">
        <p14:creationId xmlns:p14="http://schemas.microsoft.com/office/powerpoint/2010/main" val="3189375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C6AC4-A0F4-F44D-ADD0-CD6A4F3FB58F}"/>
              </a:ext>
            </a:extLst>
          </p:cNvPr>
          <p:cNvSpPr>
            <a:spLocks noGrp="1"/>
          </p:cNvSpPr>
          <p:nvPr>
            <p:ph type="title"/>
          </p:nvPr>
        </p:nvSpPr>
        <p:spPr>
          <a:xfrm>
            <a:off x="838200" y="2766218"/>
            <a:ext cx="10515600" cy="1325563"/>
          </a:xfrm>
        </p:spPr>
        <p:txBody>
          <a:bodyPr/>
          <a:lstStyle/>
          <a:p>
            <a:pPr algn="ctr"/>
            <a:r>
              <a:rPr lang="en-US" dirty="0"/>
              <a:t>Selection processes</a:t>
            </a:r>
          </a:p>
        </p:txBody>
      </p:sp>
    </p:spTree>
    <p:extLst>
      <p:ext uri="{BB962C8B-B14F-4D97-AF65-F5344CB8AC3E}">
        <p14:creationId xmlns:p14="http://schemas.microsoft.com/office/powerpoint/2010/main" val="1270862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48DD-8739-F444-8E2E-8A6FDCE97F42}"/>
              </a:ext>
            </a:extLst>
          </p:cNvPr>
          <p:cNvSpPr>
            <a:spLocks noGrp="1"/>
          </p:cNvSpPr>
          <p:nvPr>
            <p:ph type="title"/>
          </p:nvPr>
        </p:nvSpPr>
        <p:spPr/>
        <p:txBody>
          <a:bodyPr/>
          <a:lstStyle/>
          <a:p>
            <a:r>
              <a:rPr lang="en-US" dirty="0"/>
              <a:t>What do we do about selection?</a:t>
            </a:r>
          </a:p>
        </p:txBody>
      </p:sp>
      <p:sp>
        <p:nvSpPr>
          <p:cNvPr id="3" name="Content Placeholder 2">
            <a:extLst>
              <a:ext uri="{FF2B5EF4-FFF2-40B4-BE49-F238E27FC236}">
                <a16:creationId xmlns:a16="http://schemas.microsoft.com/office/drawing/2014/main" id="{DB428B66-A4D6-E64E-8AB3-DD1B1061931D}"/>
              </a:ext>
            </a:extLst>
          </p:cNvPr>
          <p:cNvSpPr>
            <a:spLocks noGrp="1"/>
          </p:cNvSpPr>
          <p:nvPr>
            <p:ph idx="1"/>
          </p:nvPr>
        </p:nvSpPr>
        <p:spPr/>
        <p:txBody>
          <a:bodyPr>
            <a:normAutofit fontScale="92500" lnSpcReduction="10000"/>
          </a:bodyPr>
          <a:lstStyle/>
          <a:p>
            <a:pPr marL="0" indent="0">
              <a:buNone/>
            </a:pPr>
            <a:r>
              <a:rPr lang="en-US" dirty="0"/>
              <a:t>Soon, I will provide an overview of approaches, including:</a:t>
            </a:r>
          </a:p>
          <a:p>
            <a:r>
              <a:rPr lang="en-US" dirty="0"/>
              <a:t>Matching</a:t>
            </a:r>
          </a:p>
          <a:p>
            <a:r>
              <a:rPr lang="en-US" dirty="0"/>
              <a:t>Regression</a:t>
            </a:r>
          </a:p>
          <a:p>
            <a:r>
              <a:rPr lang="en-US" dirty="0"/>
              <a:t>Weighting</a:t>
            </a:r>
          </a:p>
          <a:p>
            <a:endParaRPr lang="en-US" dirty="0"/>
          </a:p>
          <a:p>
            <a:pPr marL="0" indent="0">
              <a:buNone/>
            </a:pPr>
            <a:r>
              <a:rPr lang="en-US" dirty="0"/>
              <a:t>What all of these approaches have in common is that they require a set of confounders to be measured and specified and, ultimately, included in a model.</a:t>
            </a:r>
          </a:p>
          <a:p>
            <a:pPr marL="0" indent="0">
              <a:buNone/>
            </a:pPr>
            <a:endParaRPr lang="en-US" dirty="0"/>
          </a:p>
          <a:p>
            <a:pPr marL="0" indent="0">
              <a:buNone/>
            </a:pPr>
            <a:r>
              <a:rPr lang="en-US" dirty="0"/>
              <a:t>This is much harder than it sounds. </a:t>
            </a:r>
          </a:p>
        </p:txBody>
      </p:sp>
    </p:spTree>
    <p:extLst>
      <p:ext uri="{BB962C8B-B14F-4D97-AF65-F5344CB8AC3E}">
        <p14:creationId xmlns:p14="http://schemas.microsoft.com/office/powerpoint/2010/main" val="3709137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64657-5ABA-A44B-95E9-B4171191758A}"/>
              </a:ext>
            </a:extLst>
          </p:cNvPr>
          <p:cNvSpPr>
            <a:spLocks noGrp="1"/>
          </p:cNvSpPr>
          <p:nvPr>
            <p:ph type="title"/>
          </p:nvPr>
        </p:nvSpPr>
        <p:spPr/>
        <p:txBody>
          <a:bodyPr/>
          <a:lstStyle/>
          <a:p>
            <a:r>
              <a:rPr lang="en-US" dirty="0"/>
              <a:t>Confounders (again)</a:t>
            </a:r>
          </a:p>
        </p:txBody>
      </p:sp>
      <p:graphicFrame>
        <p:nvGraphicFramePr>
          <p:cNvPr id="4" name="Content Placeholder 3">
            <a:extLst>
              <a:ext uri="{FF2B5EF4-FFF2-40B4-BE49-F238E27FC236}">
                <a16:creationId xmlns:a16="http://schemas.microsoft.com/office/drawing/2014/main" id="{CE3A8C3E-9867-124B-BC8C-C57315927C63}"/>
              </a:ext>
            </a:extLst>
          </p:cNvPr>
          <p:cNvGraphicFramePr>
            <a:graphicFrameLocks noGrp="1"/>
          </p:cNvGraphicFramePr>
          <p:nvPr>
            <p:ph idx="1"/>
            <p:extLst>
              <p:ext uri="{D42A27DB-BD31-4B8C-83A1-F6EECF244321}">
                <p14:modId xmlns:p14="http://schemas.microsoft.com/office/powerpoint/2010/main" val="12590858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Arrow Connector 7">
            <a:extLst>
              <a:ext uri="{FF2B5EF4-FFF2-40B4-BE49-F238E27FC236}">
                <a16:creationId xmlns:a16="http://schemas.microsoft.com/office/drawing/2014/main" id="{5495203A-37A0-EE40-99D3-81A3B5C933B6}"/>
              </a:ext>
            </a:extLst>
          </p:cNvPr>
          <p:cNvCxnSpPr/>
          <p:nvPr/>
        </p:nvCxnSpPr>
        <p:spPr>
          <a:xfrm>
            <a:off x="1890793" y="2293749"/>
            <a:ext cx="4205207" cy="127086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70415F67-04D9-DC45-9A8E-3E1CD5879E9F}"/>
              </a:ext>
            </a:extLst>
          </p:cNvPr>
          <p:cNvSpPr txBox="1"/>
          <p:nvPr/>
        </p:nvSpPr>
        <p:spPr>
          <a:xfrm>
            <a:off x="464949" y="2107769"/>
            <a:ext cx="1255363" cy="1200329"/>
          </a:xfrm>
          <a:prstGeom prst="rect">
            <a:avLst/>
          </a:prstGeom>
          <a:noFill/>
        </p:spPr>
        <p:txBody>
          <a:bodyPr wrap="square" rtlCol="0">
            <a:spAutoFit/>
          </a:bodyPr>
          <a:lstStyle/>
          <a:p>
            <a:r>
              <a:rPr lang="en-US" dirty="0"/>
              <a:t>Need to measure these variables</a:t>
            </a:r>
          </a:p>
        </p:txBody>
      </p:sp>
    </p:spTree>
    <p:extLst>
      <p:ext uri="{BB962C8B-B14F-4D97-AF65-F5344CB8AC3E}">
        <p14:creationId xmlns:p14="http://schemas.microsoft.com/office/powerpoint/2010/main" val="3121749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BBD15-F872-0F48-9139-948825C1A367}"/>
              </a:ext>
            </a:extLst>
          </p:cNvPr>
          <p:cNvSpPr>
            <a:spLocks noGrp="1"/>
          </p:cNvSpPr>
          <p:nvPr>
            <p:ph type="title"/>
          </p:nvPr>
        </p:nvSpPr>
        <p:spPr/>
        <p:txBody>
          <a:bodyPr/>
          <a:lstStyle/>
          <a:p>
            <a:r>
              <a:rPr lang="en-US" dirty="0"/>
              <a:t>Begin by thinking about selection</a:t>
            </a:r>
          </a:p>
        </p:txBody>
      </p:sp>
      <p:sp>
        <p:nvSpPr>
          <p:cNvPr id="3" name="Content Placeholder 2">
            <a:extLst>
              <a:ext uri="{FF2B5EF4-FFF2-40B4-BE49-F238E27FC236}">
                <a16:creationId xmlns:a16="http://schemas.microsoft.com/office/drawing/2014/main" id="{FAC21525-EAE7-5B41-8BF6-AEBEE8DD6BC6}"/>
              </a:ext>
            </a:extLst>
          </p:cNvPr>
          <p:cNvSpPr>
            <a:spLocks noGrp="1"/>
          </p:cNvSpPr>
          <p:nvPr>
            <p:ph idx="1"/>
          </p:nvPr>
        </p:nvSpPr>
        <p:spPr/>
        <p:txBody>
          <a:bodyPr/>
          <a:lstStyle/>
          <a:p>
            <a:pPr lvl="0"/>
            <a:r>
              <a:rPr lang="en-US" dirty="0"/>
              <a:t>Why did you (as researcher) approach </a:t>
            </a:r>
            <a:r>
              <a:rPr lang="en-US" i="1" dirty="0"/>
              <a:t>these</a:t>
            </a:r>
            <a:r>
              <a:rPr lang="en-US" dirty="0"/>
              <a:t> schools, teachers, or students to be part of the intervention?  Were there certain criteria that they met in order for you to think they would be a good fit?</a:t>
            </a:r>
          </a:p>
          <a:p>
            <a:pPr lvl="0"/>
            <a:r>
              <a:rPr lang="en-US" dirty="0"/>
              <a:t>Why did the schools and/ or teachers taking part in the intervention group decide to join the study? Here, it is important to think both of the reasons they gave as well as how those that joined the study compare to those that did not. </a:t>
            </a:r>
          </a:p>
          <a:p>
            <a:pPr lvl="0"/>
            <a:r>
              <a:rPr lang="en-US" dirty="0"/>
              <a:t>Why did the parents and/ or students agreeing to be in the intervention agree to do so? Are they different than those that did not?</a:t>
            </a:r>
          </a:p>
          <a:p>
            <a:pPr marL="0" indent="0">
              <a:buNone/>
            </a:pPr>
            <a:endParaRPr lang="en-US" dirty="0"/>
          </a:p>
        </p:txBody>
      </p:sp>
    </p:spTree>
    <p:extLst>
      <p:ext uri="{BB962C8B-B14F-4D97-AF65-F5344CB8AC3E}">
        <p14:creationId xmlns:p14="http://schemas.microsoft.com/office/powerpoint/2010/main" val="1716472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58771-3C3C-FD42-A186-D7EA9D40907F}"/>
              </a:ext>
            </a:extLst>
          </p:cNvPr>
          <p:cNvSpPr>
            <a:spLocks noGrp="1"/>
          </p:cNvSpPr>
          <p:nvPr>
            <p:ph type="title"/>
          </p:nvPr>
        </p:nvSpPr>
        <p:spPr/>
        <p:txBody>
          <a:bodyPr/>
          <a:lstStyle/>
          <a:p>
            <a:r>
              <a:rPr lang="en-US" dirty="0"/>
              <a:t>For example</a:t>
            </a:r>
          </a:p>
        </p:txBody>
      </p:sp>
      <p:sp>
        <p:nvSpPr>
          <p:cNvPr id="3" name="Content Placeholder 2">
            <a:extLst>
              <a:ext uri="{FF2B5EF4-FFF2-40B4-BE49-F238E27FC236}">
                <a16:creationId xmlns:a16="http://schemas.microsoft.com/office/drawing/2014/main" id="{4AE9B30A-2885-384F-85E9-24376BFBB909}"/>
              </a:ext>
            </a:extLst>
          </p:cNvPr>
          <p:cNvSpPr>
            <a:spLocks noGrp="1"/>
          </p:cNvSpPr>
          <p:nvPr>
            <p:ph idx="1"/>
          </p:nvPr>
        </p:nvSpPr>
        <p:spPr/>
        <p:txBody>
          <a:bodyPr/>
          <a:lstStyle/>
          <a:p>
            <a:pPr marL="0" indent="0">
              <a:buNone/>
            </a:pPr>
            <a:r>
              <a:rPr lang="en-US" dirty="0"/>
              <a:t>In order to attend this workshop, you had to apply. </a:t>
            </a:r>
          </a:p>
          <a:p>
            <a:pPr marL="0" indent="0">
              <a:buNone/>
            </a:pPr>
            <a:endParaRPr lang="en-US" dirty="0"/>
          </a:p>
          <a:p>
            <a:pPr marL="0" indent="0">
              <a:buNone/>
            </a:pPr>
            <a:r>
              <a:rPr lang="en-US" dirty="0"/>
              <a:t>Then based upon this application, we selected some (and not others) to attend.</a:t>
            </a:r>
          </a:p>
          <a:p>
            <a:pPr marL="0" indent="0">
              <a:buNone/>
            </a:pPr>
            <a:endParaRPr lang="en-US" dirty="0"/>
          </a:p>
          <a:p>
            <a:pPr marL="0" indent="0">
              <a:buNone/>
            </a:pPr>
            <a:r>
              <a:rPr lang="en-US" dirty="0"/>
              <a:t>And then you had the choice to attend or to not attend.</a:t>
            </a:r>
          </a:p>
          <a:p>
            <a:pPr marL="0" indent="0">
              <a:buNone/>
            </a:pPr>
            <a:endParaRPr lang="en-US" dirty="0"/>
          </a:p>
          <a:p>
            <a:pPr marL="0" indent="0">
              <a:buNone/>
            </a:pPr>
            <a:r>
              <a:rPr lang="en-US" dirty="0"/>
              <a:t>That’s 3 selection processes at play here, all of which could result in differences between those of you with us and others in the field.</a:t>
            </a:r>
          </a:p>
        </p:txBody>
      </p:sp>
    </p:spTree>
    <p:extLst>
      <p:ext uri="{BB962C8B-B14F-4D97-AF65-F5344CB8AC3E}">
        <p14:creationId xmlns:p14="http://schemas.microsoft.com/office/powerpoint/2010/main" val="1902467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FE77-D9FF-EB4B-B1BA-6D9C32BD4024}"/>
              </a:ext>
            </a:extLst>
          </p:cNvPr>
          <p:cNvSpPr>
            <a:spLocks noGrp="1"/>
          </p:cNvSpPr>
          <p:nvPr>
            <p:ph type="title"/>
          </p:nvPr>
        </p:nvSpPr>
        <p:spPr>
          <a:xfrm>
            <a:off x="722453" y="2766218"/>
            <a:ext cx="10515600" cy="1325563"/>
          </a:xfrm>
        </p:spPr>
        <p:txBody>
          <a:bodyPr>
            <a:normAutofit fontScale="90000"/>
          </a:bodyPr>
          <a:lstStyle/>
          <a:p>
            <a:r>
              <a:rPr lang="en-US" dirty="0"/>
              <a:t>Importantly, keep in mind that selection is not always explicit and that a process that seems ‘random’ may still result in confounding. </a:t>
            </a:r>
            <a:br>
              <a:rPr lang="en-US" dirty="0"/>
            </a:br>
            <a:endParaRPr lang="en-US" dirty="0"/>
          </a:p>
        </p:txBody>
      </p:sp>
    </p:spTree>
    <p:extLst>
      <p:ext uri="{BB962C8B-B14F-4D97-AF65-F5344CB8AC3E}">
        <p14:creationId xmlns:p14="http://schemas.microsoft.com/office/powerpoint/2010/main" val="3850102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AAF22-EF50-E049-BE67-BF27A363273D}"/>
              </a:ext>
            </a:extLst>
          </p:cNvPr>
          <p:cNvSpPr>
            <a:spLocks noGrp="1"/>
          </p:cNvSpPr>
          <p:nvPr>
            <p:ph type="title"/>
          </p:nvPr>
        </p:nvSpPr>
        <p:spPr/>
        <p:txBody>
          <a:bodyPr/>
          <a:lstStyle/>
          <a:p>
            <a:r>
              <a:rPr lang="en-US" dirty="0"/>
              <a:t>Directed acyclic graphs (DAGs) can help</a:t>
            </a:r>
          </a:p>
        </p:txBody>
      </p:sp>
      <p:sp>
        <p:nvSpPr>
          <p:cNvPr id="3" name="Content Placeholder 2">
            <a:extLst>
              <a:ext uri="{FF2B5EF4-FFF2-40B4-BE49-F238E27FC236}">
                <a16:creationId xmlns:a16="http://schemas.microsoft.com/office/drawing/2014/main" id="{F6EB20A5-50CC-F444-948A-C445731CCF68}"/>
              </a:ext>
            </a:extLst>
          </p:cNvPr>
          <p:cNvSpPr>
            <a:spLocks noGrp="1"/>
          </p:cNvSpPr>
          <p:nvPr>
            <p:ph idx="1"/>
          </p:nvPr>
        </p:nvSpPr>
        <p:spPr/>
        <p:txBody>
          <a:bodyPr/>
          <a:lstStyle/>
          <a:p>
            <a:pPr marL="0" indent="0">
              <a:buNone/>
            </a:pPr>
            <a:r>
              <a:rPr lang="en-US" dirty="0"/>
              <a:t>One strategy to identify confounders is to use a DAG (like an SEM or path model).</a:t>
            </a:r>
          </a:p>
          <a:p>
            <a:pPr marL="0" indent="0">
              <a:buNone/>
            </a:pPr>
            <a:endParaRPr lang="en-US" dirty="0"/>
          </a:p>
          <a:p>
            <a:pPr marL="0" indent="0">
              <a:buNone/>
            </a:pPr>
            <a:r>
              <a:rPr lang="en-US" dirty="0"/>
              <a:t>In a DAG, you specify:</a:t>
            </a:r>
          </a:p>
          <a:p>
            <a:r>
              <a:rPr lang="en-US" dirty="0"/>
              <a:t>Variables (observed or unobserved)</a:t>
            </a:r>
          </a:p>
          <a:p>
            <a:r>
              <a:rPr lang="en-US" dirty="0"/>
              <a:t>Arrows (directed) that indicate the direction of dependency</a:t>
            </a:r>
          </a:p>
        </p:txBody>
      </p:sp>
    </p:spTree>
    <p:extLst>
      <p:ext uri="{BB962C8B-B14F-4D97-AF65-F5344CB8AC3E}">
        <p14:creationId xmlns:p14="http://schemas.microsoft.com/office/powerpoint/2010/main" val="2552523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701A3-F4E7-A145-AFE0-12943D1AE1F8}"/>
              </a:ext>
            </a:extLst>
          </p:cNvPr>
          <p:cNvSpPr>
            <a:spLocks noGrp="1"/>
          </p:cNvSpPr>
          <p:nvPr>
            <p:ph type="title"/>
          </p:nvPr>
        </p:nvSpPr>
        <p:spPr/>
        <p:txBody>
          <a:bodyPr/>
          <a:lstStyle/>
          <a:p>
            <a:r>
              <a:rPr lang="en-US" dirty="0"/>
              <a:t>Interpreting DAGs</a:t>
            </a:r>
          </a:p>
        </p:txBody>
      </p:sp>
      <p:sp>
        <p:nvSpPr>
          <p:cNvPr id="3" name="Content Placeholder 2">
            <a:extLst>
              <a:ext uri="{FF2B5EF4-FFF2-40B4-BE49-F238E27FC236}">
                <a16:creationId xmlns:a16="http://schemas.microsoft.com/office/drawing/2014/main" id="{0DD3EC67-6BFF-AB4D-81CA-22AD4C9E71A2}"/>
              </a:ext>
            </a:extLst>
          </p:cNvPr>
          <p:cNvSpPr>
            <a:spLocks noGrp="1"/>
          </p:cNvSpPr>
          <p:nvPr>
            <p:ph idx="1"/>
          </p:nvPr>
        </p:nvSpPr>
        <p:spPr>
          <a:xfrm>
            <a:off x="821018" y="4535394"/>
            <a:ext cx="10367682" cy="1957481"/>
          </a:xfrm>
        </p:spPr>
        <p:txBody>
          <a:bodyPr>
            <a:normAutofit lnSpcReduction="10000"/>
          </a:bodyPr>
          <a:lstStyle/>
          <a:p>
            <a:r>
              <a:rPr lang="en-US" b="1" i="1" dirty="0"/>
              <a:t>Absence </a:t>
            </a:r>
            <a:r>
              <a:rPr lang="en-US" dirty="0"/>
              <a:t>of a directed edge is an assertion of no dependency, and so typically requires justification/backing in theory. </a:t>
            </a:r>
            <a:endParaRPr lang="en-US" dirty="0">
              <a:effectLst/>
            </a:endParaRPr>
          </a:p>
          <a:p>
            <a:r>
              <a:rPr lang="en-US" dirty="0"/>
              <a:t>Once specified, DAGs can be used to </a:t>
            </a:r>
            <a:r>
              <a:rPr lang="en-US" b="1" i="1" dirty="0"/>
              <a:t>identify conditional independencies </a:t>
            </a:r>
            <a:r>
              <a:rPr lang="en-US" dirty="0"/>
              <a:t>among variables, and thus determine which covariates to use for conditioning. </a:t>
            </a:r>
            <a:endParaRPr lang="en-US" dirty="0">
              <a:effectLst/>
            </a:endParaRPr>
          </a:p>
          <a:p>
            <a:endParaRPr lang="en-US" dirty="0"/>
          </a:p>
        </p:txBody>
      </p:sp>
      <p:pic>
        <p:nvPicPr>
          <p:cNvPr id="4" name="Picture 3" descr="Diagram&#10;&#10;Description automatically generated">
            <a:extLst>
              <a:ext uri="{FF2B5EF4-FFF2-40B4-BE49-F238E27FC236}">
                <a16:creationId xmlns:a16="http://schemas.microsoft.com/office/drawing/2014/main" id="{44A778C7-A463-C846-9205-3B1DD7834C1C}"/>
              </a:ext>
            </a:extLst>
          </p:cNvPr>
          <p:cNvPicPr>
            <a:picLocks noChangeAspect="1"/>
          </p:cNvPicPr>
          <p:nvPr/>
        </p:nvPicPr>
        <p:blipFill>
          <a:blip r:embed="rId2"/>
          <a:stretch>
            <a:fillRect/>
          </a:stretch>
        </p:blipFill>
        <p:spPr>
          <a:xfrm>
            <a:off x="5747952" y="556217"/>
            <a:ext cx="5802364" cy="3979177"/>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02D7540-7DCC-D24B-B1A0-CB47EA8F5B44}"/>
                  </a:ext>
                </a:extLst>
              </p:cNvPr>
              <p:cNvSpPr txBox="1"/>
              <p:nvPr/>
            </p:nvSpPr>
            <p:spPr>
              <a:xfrm>
                <a:off x="838200" y="3150399"/>
                <a:ext cx="4184119" cy="1384995"/>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2</m:t>
                        </m:r>
                      </m:sub>
                    </m:sSub>
                  </m:oMath>
                </a14:m>
                <a:r>
                  <a:rPr lang="en-US" sz="2800" dirty="0">
                    <a:latin typeface="Calibri" panose="020F0502020204030204" pitchFamily="34" charset="0"/>
                    <a:cs typeface="Calibri" panose="020F0502020204030204" pitchFamily="34" charset="0"/>
                  </a:rPr>
                  <a:t> are confounders because they affect both Intervention and </a:t>
                </a:r>
                <a14:m>
                  <m:oMath xmlns:m="http://schemas.openxmlformats.org/officeDocument/2006/math">
                    <m:r>
                      <a:rPr lang="en-US" sz="2800" b="0" i="1" smtClean="0">
                        <a:latin typeface="Cambria Math" panose="02040503050406030204" pitchFamily="18" charset="0"/>
                      </a:rPr>
                      <m:t>𝑌</m:t>
                    </m:r>
                  </m:oMath>
                </a14:m>
                <a:endParaRPr lang="en-US" sz="2800" dirty="0">
                  <a:latin typeface="Calibri" panose="020F0502020204030204" pitchFamily="34" charset="0"/>
                  <a:cs typeface="Calibri" panose="020F0502020204030204" pitchFamily="34" charset="0"/>
                </a:endParaRPr>
              </a:p>
            </p:txBody>
          </p:sp>
        </mc:Choice>
        <mc:Fallback>
          <p:sp>
            <p:nvSpPr>
              <p:cNvPr id="5" name="TextBox 4">
                <a:extLst>
                  <a:ext uri="{FF2B5EF4-FFF2-40B4-BE49-F238E27FC236}">
                    <a16:creationId xmlns:a16="http://schemas.microsoft.com/office/drawing/2014/main" id="{D02D7540-7DCC-D24B-B1A0-CB47EA8F5B44}"/>
                  </a:ext>
                </a:extLst>
              </p:cNvPr>
              <p:cNvSpPr txBox="1">
                <a:spLocks noRot="1" noChangeAspect="1" noMove="1" noResize="1" noEditPoints="1" noAdjustHandles="1" noChangeArrowheads="1" noChangeShapeType="1" noTextEdit="1"/>
              </p:cNvSpPr>
              <p:nvPr/>
            </p:nvSpPr>
            <p:spPr>
              <a:xfrm>
                <a:off x="838200" y="3150399"/>
                <a:ext cx="4184119" cy="1384995"/>
              </a:xfrm>
              <a:prstGeom prst="rect">
                <a:avLst/>
              </a:prstGeom>
              <a:blipFill>
                <a:blip r:embed="rId3"/>
                <a:stretch>
                  <a:fillRect l="-2727" t="-5455" r="-2727" b="-10909"/>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2E77DC4-0502-DA45-97CA-0A8C5C58C383}"/>
                  </a:ext>
                </a:extLst>
              </p14:cNvPr>
              <p14:cNvContentPartPr/>
              <p14:nvPr/>
            </p14:nvContentPartPr>
            <p14:xfrm>
              <a:off x="8747561" y="608652"/>
              <a:ext cx="749880" cy="720000"/>
            </p14:xfrm>
          </p:contentPart>
        </mc:Choice>
        <mc:Fallback xmlns="">
          <p:pic>
            <p:nvPicPr>
              <p:cNvPr id="6" name="Ink 5">
                <a:extLst>
                  <a:ext uri="{FF2B5EF4-FFF2-40B4-BE49-F238E27FC236}">
                    <a16:creationId xmlns:a16="http://schemas.microsoft.com/office/drawing/2014/main" id="{02E77DC4-0502-DA45-97CA-0A8C5C58C383}"/>
                  </a:ext>
                </a:extLst>
              </p:cNvPr>
              <p:cNvPicPr/>
              <p:nvPr/>
            </p:nvPicPr>
            <p:blipFill>
              <a:blip r:embed="rId5"/>
              <a:stretch>
                <a:fillRect/>
              </a:stretch>
            </p:blipFill>
            <p:spPr>
              <a:xfrm>
                <a:off x="8738561" y="600012"/>
                <a:ext cx="767520" cy="737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695D0D3-572E-6541-B941-2B0ADF6DE602}"/>
                  </a:ext>
                </a:extLst>
              </p14:cNvPr>
              <p14:cNvContentPartPr/>
              <p14:nvPr/>
            </p14:nvContentPartPr>
            <p14:xfrm>
              <a:off x="8028641" y="1329012"/>
              <a:ext cx="804960" cy="853560"/>
            </p14:xfrm>
          </p:contentPart>
        </mc:Choice>
        <mc:Fallback xmlns="">
          <p:pic>
            <p:nvPicPr>
              <p:cNvPr id="7" name="Ink 6">
                <a:extLst>
                  <a:ext uri="{FF2B5EF4-FFF2-40B4-BE49-F238E27FC236}">
                    <a16:creationId xmlns:a16="http://schemas.microsoft.com/office/drawing/2014/main" id="{7695D0D3-572E-6541-B941-2B0ADF6DE602}"/>
                  </a:ext>
                </a:extLst>
              </p:cNvPr>
              <p:cNvPicPr/>
              <p:nvPr/>
            </p:nvPicPr>
            <p:blipFill>
              <a:blip r:embed="rId7"/>
              <a:stretch>
                <a:fillRect/>
              </a:stretch>
            </p:blipFill>
            <p:spPr>
              <a:xfrm>
                <a:off x="8020001" y="1320012"/>
                <a:ext cx="822600" cy="871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D7E54541-AD56-244F-BD4E-B513790ADA3E}"/>
                  </a:ext>
                </a:extLst>
              </p14:cNvPr>
              <p14:cNvContentPartPr/>
              <p14:nvPr/>
            </p14:nvContentPartPr>
            <p14:xfrm>
              <a:off x="9391601" y="1286892"/>
              <a:ext cx="898920" cy="925200"/>
            </p14:xfrm>
          </p:contentPart>
        </mc:Choice>
        <mc:Fallback xmlns="">
          <p:pic>
            <p:nvPicPr>
              <p:cNvPr id="8" name="Ink 7">
                <a:extLst>
                  <a:ext uri="{FF2B5EF4-FFF2-40B4-BE49-F238E27FC236}">
                    <a16:creationId xmlns:a16="http://schemas.microsoft.com/office/drawing/2014/main" id="{D7E54541-AD56-244F-BD4E-B513790ADA3E}"/>
                  </a:ext>
                </a:extLst>
              </p:cNvPr>
              <p:cNvPicPr/>
              <p:nvPr/>
            </p:nvPicPr>
            <p:blipFill>
              <a:blip r:embed="rId9"/>
              <a:stretch>
                <a:fillRect/>
              </a:stretch>
            </p:blipFill>
            <p:spPr>
              <a:xfrm>
                <a:off x="9382961" y="1277892"/>
                <a:ext cx="916560" cy="942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93CB7EA9-8209-8D4B-8A9D-16A511D9FB3D}"/>
                  </a:ext>
                </a:extLst>
              </p14:cNvPr>
              <p14:cNvContentPartPr/>
              <p14:nvPr/>
            </p14:nvContentPartPr>
            <p14:xfrm>
              <a:off x="8870681" y="3667572"/>
              <a:ext cx="586080" cy="608400"/>
            </p14:xfrm>
          </p:contentPart>
        </mc:Choice>
        <mc:Fallback xmlns="">
          <p:pic>
            <p:nvPicPr>
              <p:cNvPr id="9" name="Ink 8">
                <a:extLst>
                  <a:ext uri="{FF2B5EF4-FFF2-40B4-BE49-F238E27FC236}">
                    <a16:creationId xmlns:a16="http://schemas.microsoft.com/office/drawing/2014/main" id="{93CB7EA9-8209-8D4B-8A9D-16A511D9FB3D}"/>
                  </a:ext>
                </a:extLst>
              </p:cNvPr>
              <p:cNvPicPr/>
              <p:nvPr/>
            </p:nvPicPr>
            <p:blipFill>
              <a:blip r:embed="rId11"/>
              <a:stretch>
                <a:fillRect/>
              </a:stretch>
            </p:blipFill>
            <p:spPr>
              <a:xfrm>
                <a:off x="8861681" y="3658572"/>
                <a:ext cx="603720" cy="62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D893AC91-8ACC-7A48-A570-66B22EEC4034}"/>
                  </a:ext>
                </a:extLst>
              </p14:cNvPr>
              <p14:cNvContentPartPr/>
              <p14:nvPr/>
            </p14:nvContentPartPr>
            <p14:xfrm>
              <a:off x="7968881" y="2789172"/>
              <a:ext cx="938160" cy="927000"/>
            </p14:xfrm>
          </p:contentPart>
        </mc:Choice>
        <mc:Fallback xmlns="">
          <p:pic>
            <p:nvPicPr>
              <p:cNvPr id="10" name="Ink 9">
                <a:extLst>
                  <a:ext uri="{FF2B5EF4-FFF2-40B4-BE49-F238E27FC236}">
                    <a16:creationId xmlns:a16="http://schemas.microsoft.com/office/drawing/2014/main" id="{D893AC91-8ACC-7A48-A570-66B22EEC4034}"/>
                  </a:ext>
                </a:extLst>
              </p:cNvPr>
              <p:cNvPicPr/>
              <p:nvPr/>
            </p:nvPicPr>
            <p:blipFill>
              <a:blip r:embed="rId13"/>
              <a:stretch>
                <a:fillRect/>
              </a:stretch>
            </p:blipFill>
            <p:spPr>
              <a:xfrm>
                <a:off x="7959881" y="2780532"/>
                <a:ext cx="955800" cy="944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B70B194E-ED31-B34D-8598-FDA14C4E5B47}"/>
                  </a:ext>
                </a:extLst>
              </p14:cNvPr>
              <p14:cNvContentPartPr/>
              <p14:nvPr/>
            </p14:nvContentPartPr>
            <p14:xfrm>
              <a:off x="9397721" y="2781612"/>
              <a:ext cx="899640" cy="915120"/>
            </p14:xfrm>
          </p:contentPart>
        </mc:Choice>
        <mc:Fallback xmlns="">
          <p:pic>
            <p:nvPicPr>
              <p:cNvPr id="11" name="Ink 10">
                <a:extLst>
                  <a:ext uri="{FF2B5EF4-FFF2-40B4-BE49-F238E27FC236}">
                    <a16:creationId xmlns:a16="http://schemas.microsoft.com/office/drawing/2014/main" id="{B70B194E-ED31-B34D-8598-FDA14C4E5B47}"/>
                  </a:ext>
                </a:extLst>
              </p:cNvPr>
              <p:cNvPicPr/>
              <p:nvPr/>
            </p:nvPicPr>
            <p:blipFill>
              <a:blip r:embed="rId15"/>
              <a:stretch>
                <a:fillRect/>
              </a:stretch>
            </p:blipFill>
            <p:spPr>
              <a:xfrm>
                <a:off x="9388721" y="2772972"/>
                <a:ext cx="917280" cy="932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889F6937-9402-8947-9BC7-90DB9848A7B7}"/>
                  </a:ext>
                </a:extLst>
              </p14:cNvPr>
              <p14:cNvContentPartPr/>
              <p14:nvPr/>
            </p14:nvContentPartPr>
            <p14:xfrm>
              <a:off x="2818001" y="3559212"/>
              <a:ext cx="1699920" cy="37080"/>
            </p14:xfrm>
          </p:contentPart>
        </mc:Choice>
        <mc:Fallback xmlns="">
          <p:pic>
            <p:nvPicPr>
              <p:cNvPr id="12" name="Ink 11">
                <a:extLst>
                  <a:ext uri="{FF2B5EF4-FFF2-40B4-BE49-F238E27FC236}">
                    <a16:creationId xmlns:a16="http://schemas.microsoft.com/office/drawing/2014/main" id="{889F6937-9402-8947-9BC7-90DB9848A7B7}"/>
                  </a:ext>
                </a:extLst>
              </p:cNvPr>
              <p:cNvPicPr/>
              <p:nvPr/>
            </p:nvPicPr>
            <p:blipFill>
              <a:blip r:embed="rId17"/>
              <a:stretch>
                <a:fillRect/>
              </a:stretch>
            </p:blipFill>
            <p:spPr>
              <a:xfrm>
                <a:off x="2809001" y="3550572"/>
                <a:ext cx="17175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32727A23-B525-FA46-89D4-322A1967B5C2}"/>
                  </a:ext>
                </a:extLst>
              </p14:cNvPr>
              <p14:cNvContentPartPr/>
              <p14:nvPr/>
            </p14:nvContentPartPr>
            <p14:xfrm>
              <a:off x="2805041" y="3627972"/>
              <a:ext cx="1588320" cy="56160"/>
            </p14:xfrm>
          </p:contentPart>
        </mc:Choice>
        <mc:Fallback xmlns="">
          <p:pic>
            <p:nvPicPr>
              <p:cNvPr id="13" name="Ink 12">
                <a:extLst>
                  <a:ext uri="{FF2B5EF4-FFF2-40B4-BE49-F238E27FC236}">
                    <a16:creationId xmlns:a16="http://schemas.microsoft.com/office/drawing/2014/main" id="{32727A23-B525-FA46-89D4-322A1967B5C2}"/>
                  </a:ext>
                </a:extLst>
              </p:cNvPr>
              <p:cNvPicPr/>
              <p:nvPr/>
            </p:nvPicPr>
            <p:blipFill>
              <a:blip r:embed="rId19"/>
              <a:stretch>
                <a:fillRect/>
              </a:stretch>
            </p:blipFill>
            <p:spPr>
              <a:xfrm>
                <a:off x="2796401" y="3618972"/>
                <a:ext cx="1605960" cy="73800"/>
              </a:xfrm>
              <a:prstGeom prst="rect">
                <a:avLst/>
              </a:prstGeom>
            </p:spPr>
          </p:pic>
        </mc:Fallback>
      </mc:AlternateContent>
      <p:sp>
        <p:nvSpPr>
          <p:cNvPr id="15" name="Oval 14">
            <a:extLst>
              <a:ext uri="{FF2B5EF4-FFF2-40B4-BE49-F238E27FC236}">
                <a16:creationId xmlns:a16="http://schemas.microsoft.com/office/drawing/2014/main" id="{613E0913-F0E3-BA44-A075-1F2633F9561B}"/>
              </a:ext>
            </a:extLst>
          </p:cNvPr>
          <p:cNvSpPr/>
          <p:nvPr/>
        </p:nvSpPr>
        <p:spPr>
          <a:xfrm>
            <a:off x="7315200" y="2136110"/>
            <a:ext cx="713441" cy="6995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Intervention</a:t>
            </a:r>
          </a:p>
        </p:txBody>
      </p:sp>
    </p:spTree>
    <p:extLst>
      <p:ext uri="{BB962C8B-B14F-4D97-AF65-F5344CB8AC3E}">
        <p14:creationId xmlns:p14="http://schemas.microsoft.com/office/powerpoint/2010/main" val="159768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B648B-A144-934C-989B-9F37D8742A01}"/>
              </a:ext>
            </a:extLst>
          </p:cNvPr>
          <p:cNvSpPr>
            <a:spLocks noGrp="1"/>
          </p:cNvSpPr>
          <p:nvPr>
            <p:ph type="title"/>
          </p:nvPr>
        </p:nvSpPr>
        <p:spPr>
          <a:xfrm>
            <a:off x="645683" y="164570"/>
            <a:ext cx="4944152" cy="1622321"/>
          </a:xfrm>
        </p:spPr>
        <p:txBody>
          <a:bodyPr>
            <a:normAutofit/>
          </a:bodyPr>
          <a:lstStyle/>
          <a:p>
            <a:r>
              <a:rPr lang="en-US" dirty="0"/>
              <a:t>An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6A95115-92D4-1945-8B34-33F1D868CD93}"/>
                  </a:ext>
                </a:extLst>
              </p:cNvPr>
              <p:cNvSpPr>
                <a:spLocks noGrp="1"/>
              </p:cNvSpPr>
              <p:nvPr>
                <p:ph idx="1"/>
              </p:nvPr>
            </p:nvSpPr>
            <p:spPr>
              <a:xfrm>
                <a:off x="645684" y="1663908"/>
                <a:ext cx="4947398" cy="4559911"/>
              </a:xfrm>
            </p:spPr>
            <p:txBody>
              <a:bodyPr>
                <a:normAutofit/>
              </a:bodyPr>
              <a:lstStyle/>
              <a:p>
                <a:pPr marL="0" indent="0">
                  <a:buNone/>
                </a:pPr>
                <a14:m>
                  <m:oMath xmlns:m="http://schemas.openxmlformats.org/officeDocument/2006/math">
                    <m:r>
                      <a:rPr lang="en-US" sz="2400" b="0" i="1" smtClean="0">
                        <a:latin typeface="Cambria Math" panose="02040503050406030204" pitchFamily="18" charset="0"/>
                      </a:rPr>
                      <m:t>𝐼𝑛𝑡𝑒𝑟𝑣𝑒𝑛𝑡𝑖𝑜𝑛</m:t>
                    </m:r>
                    <m:r>
                      <a:rPr lang="en-US" sz="2400" b="0" i="1" smtClean="0">
                        <a:latin typeface="Cambria Math" panose="02040503050406030204" pitchFamily="18" charset="0"/>
                      </a:rPr>
                      <m:t>: </m:t>
                    </m:r>
                  </m:oMath>
                </a14:m>
                <a:r>
                  <a:rPr lang="en-US" sz="2400" dirty="0"/>
                  <a:t>Retention in first grade</a:t>
                </a:r>
                <a:br>
                  <a:rPr lang="en-US" sz="2400" dirty="0"/>
                </a:br>
                <a14:m>
                  <m:oMath xmlns:m="http://schemas.openxmlformats.org/officeDocument/2006/math">
                    <m:r>
                      <a:rPr lang="en-US" sz="2400" b="0" i="1">
                        <a:latin typeface="Cambria Math" panose="02040503050406030204" pitchFamily="18" charset="0"/>
                      </a:rPr>
                      <m:t>𝑌</m:t>
                    </m:r>
                  </m:oMath>
                </a14:m>
                <a:r>
                  <a:rPr lang="en-US" sz="2400" dirty="0"/>
                  <a:t>: Reading performance in third grade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1</m:t>
                        </m:r>
                      </m:sub>
                    </m:sSub>
                  </m:oMath>
                </a14:m>
                <a:r>
                  <a:rPr lang="en-US" sz="2400" dirty="0"/>
                  <a:t>: Sex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2</m:t>
                        </m:r>
                      </m:sub>
                    </m:sSub>
                  </m:oMath>
                </a14:m>
                <a:r>
                  <a:rPr lang="en-US" sz="2400" dirty="0"/>
                  <a:t>: Teacher perception of student behavior in first grade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3</m:t>
                        </m:r>
                      </m:sub>
                    </m:sSub>
                  </m:oMath>
                </a14:m>
                <a:r>
                  <a:rPr lang="en-US" sz="2400" dirty="0"/>
                  <a:t>: Family SES</a:t>
                </a:r>
                <a:br>
                  <a:rPr lang="en-US" sz="2400" dirty="0"/>
                </a:b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4</m:t>
                        </m:r>
                      </m:sub>
                    </m:sSub>
                  </m:oMath>
                </a14:m>
                <a:r>
                  <a:rPr lang="en-US" sz="2400" dirty="0"/>
                  <a:t>: Reading comprehension in first grade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𝑀</m:t>
                        </m:r>
                      </m:e>
                      <m:sub>
                        <m:r>
                          <a:rPr lang="en-US" sz="2400" b="0" i="1">
                            <a:latin typeface="Cambria Math" panose="02040503050406030204" pitchFamily="18" charset="0"/>
                          </a:rPr>
                          <m:t>1</m:t>
                        </m:r>
                      </m:sub>
                    </m:sSub>
                  </m:oMath>
                </a14:m>
                <a:r>
                  <a:rPr lang="en-US" sz="2400" dirty="0"/>
                  <a:t>: Hyperactivity</a:t>
                </a:r>
                <a:br>
                  <a:rPr lang="en-US" sz="2400" dirty="0"/>
                </a:b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𝑀</m:t>
                        </m:r>
                      </m:e>
                      <m:sub>
                        <m:r>
                          <a:rPr lang="en-US" sz="2400" b="0" i="1">
                            <a:latin typeface="Cambria Math" panose="02040503050406030204" pitchFamily="18" charset="0"/>
                          </a:rPr>
                          <m:t>2</m:t>
                        </m:r>
                      </m:sub>
                    </m:sSub>
                  </m:oMath>
                </a14:m>
                <a:r>
                  <a:rPr lang="en-US" sz="2400" dirty="0"/>
                  <a:t>: Academic self-concept </a:t>
                </a:r>
                <a:endParaRPr lang="en-US" sz="2400" dirty="0">
                  <a:effectLst/>
                </a:endParaRPr>
              </a:p>
              <a:p>
                <a:endParaRPr lang="en-US" sz="2200" dirty="0"/>
              </a:p>
            </p:txBody>
          </p:sp>
        </mc:Choice>
        <mc:Fallback>
          <p:sp>
            <p:nvSpPr>
              <p:cNvPr id="3" name="Content Placeholder 2">
                <a:extLst>
                  <a:ext uri="{FF2B5EF4-FFF2-40B4-BE49-F238E27FC236}">
                    <a16:creationId xmlns:a16="http://schemas.microsoft.com/office/drawing/2014/main" id="{F6A95115-92D4-1945-8B34-33F1D868CD93}"/>
                  </a:ext>
                </a:extLst>
              </p:cNvPr>
              <p:cNvSpPr>
                <a:spLocks noGrp="1" noRot="1" noChangeAspect="1" noMove="1" noResize="1" noEditPoints="1" noAdjustHandles="1" noChangeArrowheads="1" noChangeShapeType="1" noTextEdit="1"/>
              </p:cNvSpPr>
              <p:nvPr>
                <p:ph idx="1"/>
              </p:nvPr>
            </p:nvSpPr>
            <p:spPr>
              <a:xfrm>
                <a:off x="645684" y="1663908"/>
                <a:ext cx="4947398" cy="4559911"/>
              </a:xfrm>
              <a:blipFill>
                <a:blip r:embed="rId3"/>
                <a:stretch>
                  <a:fillRect l="-1790" t="-1667" r="-2813"/>
                </a:stretch>
              </a:blipFill>
            </p:spPr>
            <p:txBody>
              <a:bodyPr/>
              <a:lstStyle/>
              <a:p>
                <a:r>
                  <a:rPr lang="en-US">
                    <a:noFill/>
                  </a:rPr>
                  <a:t> </a:t>
                </a:r>
              </a:p>
            </p:txBody>
          </p:sp>
        </mc:Fallback>
      </mc:AlternateContent>
      <p:pic>
        <p:nvPicPr>
          <p:cNvPr id="5" name="Picture 4" descr="Diagram&#10;&#10;Description automatically generated">
            <a:extLst>
              <a:ext uri="{FF2B5EF4-FFF2-40B4-BE49-F238E27FC236}">
                <a16:creationId xmlns:a16="http://schemas.microsoft.com/office/drawing/2014/main" id="{111D04FB-2476-A64D-AA03-E509809F28EB}"/>
              </a:ext>
            </a:extLst>
          </p:cNvPr>
          <p:cNvPicPr>
            <a:picLocks noChangeAspect="1"/>
          </p:cNvPicPr>
          <p:nvPr/>
        </p:nvPicPr>
        <p:blipFill>
          <a:blip r:embed="rId4"/>
          <a:stretch>
            <a:fillRect/>
          </a:stretch>
        </p:blipFill>
        <p:spPr>
          <a:xfrm>
            <a:off x="7080278" y="833418"/>
            <a:ext cx="4124393" cy="5187917"/>
          </a:xfrm>
          <a:prstGeom prst="rect">
            <a:avLst/>
          </a:prstGeom>
          <a:effectLst/>
        </p:spPr>
      </p:pic>
      <p:sp>
        <p:nvSpPr>
          <p:cNvPr id="7" name="Oval 6">
            <a:extLst>
              <a:ext uri="{FF2B5EF4-FFF2-40B4-BE49-F238E27FC236}">
                <a16:creationId xmlns:a16="http://schemas.microsoft.com/office/drawing/2014/main" id="{14280559-03B9-F448-939C-00042D6AF4C4}"/>
              </a:ext>
            </a:extLst>
          </p:cNvPr>
          <p:cNvSpPr/>
          <p:nvPr/>
        </p:nvSpPr>
        <p:spPr>
          <a:xfrm>
            <a:off x="8252749" y="2992636"/>
            <a:ext cx="648183" cy="69968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Intervention</a:t>
            </a:r>
          </a:p>
        </p:txBody>
      </p:sp>
    </p:spTree>
    <p:extLst>
      <p:ext uri="{BB962C8B-B14F-4D97-AF65-F5344CB8AC3E}">
        <p14:creationId xmlns:p14="http://schemas.microsoft.com/office/powerpoint/2010/main" val="2214096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494D-6AC8-FA4C-9BE7-BAA803CC49D1}"/>
              </a:ext>
            </a:extLst>
          </p:cNvPr>
          <p:cNvSpPr>
            <a:spLocks noGrp="1"/>
          </p:cNvSpPr>
          <p:nvPr>
            <p:ph type="title"/>
          </p:nvPr>
        </p:nvSpPr>
        <p:spPr/>
        <p:txBody>
          <a:bodyPr/>
          <a:lstStyle/>
          <a:p>
            <a:r>
              <a:rPr lang="en-US" dirty="0"/>
              <a:t>This helps you identify confounders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3BABFC5-4054-494C-BE6C-C2F6F7207DF7}"/>
                  </a:ext>
                </a:extLst>
              </p:cNvPr>
              <p:cNvSpPr>
                <a:spLocks noGrp="1"/>
              </p:cNvSpPr>
              <p:nvPr>
                <p:ph idx="1"/>
              </p:nvPr>
            </p:nvSpPr>
            <p:spPr/>
            <p:txBody>
              <a:bodyPr/>
              <a:lstStyle/>
              <a:p>
                <a:pPr marL="0" indent="0">
                  <a:buNone/>
                </a:pPr>
                <a:r>
                  <a:rPr lang="en-US" dirty="0"/>
                  <a:t>For example: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Sex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Teacher perception of student behavior in first grade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oMath>
                </a14:m>
                <a:r>
                  <a:rPr lang="en-US" dirty="0"/>
                  <a:t>: Family SES</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4</m:t>
                        </m:r>
                      </m:sub>
                    </m:sSub>
                  </m:oMath>
                </a14:m>
                <a:r>
                  <a:rPr lang="en-US" dirty="0"/>
                  <a:t>: Reading comprehension in first grade </a:t>
                </a:r>
              </a:p>
              <a:p>
                <a:pPr marL="0" indent="0">
                  <a:buNone/>
                </a:pPr>
                <a:endParaRPr lang="en-US" dirty="0"/>
              </a:p>
              <a:p>
                <a:pPr marL="0" indent="0">
                  <a:buNone/>
                </a:pPr>
                <a:r>
                  <a:rPr lang="en-US" dirty="0"/>
                  <a:t>You might have measures of some of these, but not all. Drawing out the DAG can help you understand how large a threat these missing variables might be. </a:t>
                </a:r>
              </a:p>
            </p:txBody>
          </p:sp>
        </mc:Choice>
        <mc:Fallback>
          <p:sp>
            <p:nvSpPr>
              <p:cNvPr id="3" name="Content Placeholder 2">
                <a:extLst>
                  <a:ext uri="{FF2B5EF4-FFF2-40B4-BE49-F238E27FC236}">
                    <a16:creationId xmlns:a16="http://schemas.microsoft.com/office/drawing/2014/main" id="{53BABFC5-4054-494C-BE6C-C2F6F7207DF7}"/>
                  </a:ext>
                </a:extLst>
              </p:cNvPr>
              <p:cNvSpPr>
                <a:spLocks noGrp="1" noRot="1" noChangeAspect="1" noMove="1" noResize="1" noEditPoints="1" noAdjustHandles="1" noChangeArrowheads="1" noChangeShapeType="1" noTextEdit="1"/>
              </p:cNvSpPr>
              <p:nvPr>
                <p:ph idx="1"/>
              </p:nvPr>
            </p:nvSpPr>
            <p:spPr>
              <a:blipFill>
                <a:blip r:embed="rId2"/>
                <a:stretch>
                  <a:fillRect l="-1206" t="-2326" r="-1930"/>
                </a:stretch>
              </a:blipFill>
            </p:spPr>
            <p:txBody>
              <a:bodyPr/>
              <a:lstStyle/>
              <a:p>
                <a:r>
                  <a:rPr lang="en-US">
                    <a:noFill/>
                  </a:rPr>
                  <a:t> </a:t>
                </a:r>
              </a:p>
            </p:txBody>
          </p:sp>
        </mc:Fallback>
      </mc:AlternateContent>
    </p:spTree>
    <p:extLst>
      <p:ext uri="{BB962C8B-B14F-4D97-AF65-F5344CB8AC3E}">
        <p14:creationId xmlns:p14="http://schemas.microsoft.com/office/powerpoint/2010/main" val="2033288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4FC74-8BC8-9847-983C-D1A42F1D7822}"/>
              </a:ext>
            </a:extLst>
          </p:cNvPr>
          <p:cNvSpPr>
            <a:spLocks noGrp="1"/>
          </p:cNvSpPr>
          <p:nvPr>
            <p:ph type="title"/>
          </p:nvPr>
        </p:nvSpPr>
        <p:spPr/>
        <p:txBody>
          <a:bodyPr/>
          <a:lstStyle/>
          <a:p>
            <a:r>
              <a:rPr lang="en-US" dirty="0"/>
              <a:t>Omitted variables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4B6DF16-F7EB-1045-B09D-B9C498EAC33D}"/>
                  </a:ext>
                </a:extLst>
              </p:cNvPr>
              <p:cNvSpPr>
                <a:spLocks noGrp="1"/>
              </p:cNvSpPr>
              <p:nvPr>
                <p:ph idx="1"/>
              </p:nvPr>
            </p:nvSpPr>
            <p:spPr/>
            <p:txBody>
              <a:bodyPr>
                <a:normAutofit/>
              </a:bodyPr>
              <a:lstStyle/>
              <a:p>
                <a:pPr marL="0" indent="0">
                  <a:buNone/>
                </a:pPr>
                <a:r>
                  <a:rPr lang="en-US" dirty="0"/>
                  <a:t>Imagine if we were able to guarantee (somehow) that:</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r>
                  <a:rPr lang="en-US" dirty="0"/>
                  <a:t>Great! Now we have,</a:t>
                </a: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m:oMathPara>
                </a14:m>
                <a:endParaRPr lang="en-US" dirty="0"/>
              </a:p>
              <a:p>
                <a:pPr marL="0" indent="0">
                  <a:buNone/>
                </a:pPr>
                <a:r>
                  <a:rPr lang="en-US" dirty="0"/>
                  <a:t>	</a:t>
                </a:r>
              </a:p>
              <a:p>
                <a:pPr marL="0" indent="0">
                  <a:buNone/>
                </a:pPr>
                <a:r>
                  <a:rPr lang="en-US" dirty="0"/>
                  <a:t>But what about </a:t>
                </a:r>
                <a14:m>
                  <m:oMath xmlns:m="http://schemas.openxmlformats.org/officeDocument/2006/math">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a14:m>
                <a:r>
                  <a:rPr lang="en-US" b="0"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r>
                      <a:rPr lang="en-US" b="0" i="0" smtClean="0">
                        <a:latin typeface="Cambria Math" panose="02040503050406030204" pitchFamily="18" charset="0"/>
                      </a:rPr>
                      <m:t>?</m:t>
                    </m:r>
                  </m:oMath>
                </a14:m>
                <a:r>
                  <a:rPr lang="en-US" dirty="0"/>
                  <a:t> These include both ‘random’ error and omitted variables – the confounders we didn’t measure. </a:t>
                </a:r>
              </a:p>
              <a:p>
                <a:pPr marL="0" indent="0">
                  <a:buNone/>
                </a:pPr>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A4B6DF16-F7EB-1045-B09D-B9C498EAC33D}"/>
                  </a:ext>
                </a:extLst>
              </p:cNvPr>
              <p:cNvSpPr>
                <a:spLocks noGrp="1" noRot="1" noChangeAspect="1" noMove="1" noResize="1" noEditPoints="1" noAdjustHandles="1" noChangeArrowheads="1" noChangeShapeType="1" noTextEdit="1"/>
              </p:cNvSpPr>
              <p:nvPr>
                <p:ph idx="1"/>
              </p:nvPr>
            </p:nvSpPr>
            <p:spPr>
              <a:blipFill>
                <a:blip r:embed="rId2"/>
                <a:stretch>
                  <a:fillRect l="-1206" t="-2326" b="-3779"/>
                </a:stretch>
              </a:blipFill>
            </p:spPr>
            <p:txBody>
              <a:bodyPr/>
              <a:lstStyle/>
              <a:p>
                <a:r>
                  <a:rPr lang="en-US">
                    <a:noFill/>
                  </a:rPr>
                  <a:t> </a:t>
                </a:r>
              </a:p>
            </p:txBody>
          </p:sp>
        </mc:Fallback>
      </mc:AlternateContent>
    </p:spTree>
    <p:extLst>
      <p:ext uri="{BB962C8B-B14F-4D97-AF65-F5344CB8AC3E}">
        <p14:creationId xmlns:p14="http://schemas.microsoft.com/office/powerpoint/2010/main" val="4157668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7D023-32DF-AD4B-956D-6A11DA36B8FA}"/>
              </a:ext>
            </a:extLst>
          </p:cNvPr>
          <p:cNvSpPr>
            <a:spLocks noGrp="1"/>
          </p:cNvSpPr>
          <p:nvPr>
            <p:ph type="title"/>
          </p:nvPr>
        </p:nvSpPr>
        <p:spPr/>
        <p:txBody>
          <a:bodyPr/>
          <a:lstStyle/>
          <a:p>
            <a:r>
              <a:rPr lang="en-US" dirty="0"/>
              <a:t>Omitted variable bias, always lurking</a:t>
            </a:r>
          </a:p>
        </p:txBody>
      </p:sp>
      <p:sp>
        <p:nvSpPr>
          <p:cNvPr id="3" name="Content Placeholder 2">
            <a:extLst>
              <a:ext uri="{FF2B5EF4-FFF2-40B4-BE49-F238E27FC236}">
                <a16:creationId xmlns:a16="http://schemas.microsoft.com/office/drawing/2014/main" id="{6A522C52-EEA4-7B4B-B66D-729E914DF805}"/>
              </a:ext>
            </a:extLst>
          </p:cNvPr>
          <p:cNvSpPr>
            <a:spLocks noGrp="1"/>
          </p:cNvSpPr>
          <p:nvPr>
            <p:ph idx="1"/>
          </p:nvPr>
        </p:nvSpPr>
        <p:spPr/>
        <p:txBody>
          <a:bodyPr/>
          <a:lstStyle/>
          <a:p>
            <a:pPr marL="0" indent="0">
              <a:buNone/>
            </a:pPr>
            <a:r>
              <a:rPr lang="en-US" dirty="0"/>
              <a:t>In the next part, we’ll go over several methods for adjusting for a set of specified confounders.</a:t>
            </a:r>
          </a:p>
          <a:p>
            <a:pPr marL="0" indent="0">
              <a:buNone/>
            </a:pPr>
            <a:endParaRPr lang="en-US" dirty="0"/>
          </a:p>
          <a:p>
            <a:pPr marL="0" indent="0">
              <a:buNone/>
            </a:pPr>
            <a:r>
              <a:rPr lang="en-US" dirty="0"/>
              <a:t>But properties of these estimators – and their ability to recover the causal effect of an intervention – depend upon having the right covariate set.</a:t>
            </a:r>
          </a:p>
          <a:p>
            <a:pPr marL="0" indent="0">
              <a:buNone/>
            </a:pPr>
            <a:endParaRPr lang="en-US" dirty="0"/>
          </a:p>
          <a:p>
            <a:pPr marL="0" indent="0">
              <a:buNone/>
            </a:pPr>
            <a:r>
              <a:rPr lang="en-US" dirty="0"/>
              <a:t>An ever-present threat is that of ‘omitted variable </a:t>
            </a:r>
            <a:r>
              <a:rPr lang="en-US" dirty="0" err="1"/>
              <a:t>bias’</a:t>
            </a:r>
            <a:r>
              <a:rPr lang="en-US" dirty="0"/>
              <a:t> – confounders that exist in the real world, but that aren’t accounted for in the model. </a:t>
            </a:r>
          </a:p>
        </p:txBody>
      </p:sp>
    </p:spTree>
    <p:extLst>
      <p:ext uri="{BB962C8B-B14F-4D97-AF65-F5344CB8AC3E}">
        <p14:creationId xmlns:p14="http://schemas.microsoft.com/office/powerpoint/2010/main" val="1016980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2A1C7-28EF-294A-A3AB-34F4313F8654}"/>
              </a:ext>
            </a:extLst>
          </p:cNvPr>
          <p:cNvSpPr>
            <a:spLocks noGrp="1"/>
          </p:cNvSpPr>
          <p:nvPr>
            <p:ph type="title"/>
          </p:nvPr>
        </p:nvSpPr>
        <p:spPr/>
        <p:txBody>
          <a:bodyPr/>
          <a:lstStyle/>
          <a:p>
            <a:r>
              <a:rPr lang="en-US" dirty="0"/>
              <a:t>Best practice</a:t>
            </a:r>
          </a:p>
        </p:txBody>
      </p:sp>
      <p:sp>
        <p:nvSpPr>
          <p:cNvPr id="3" name="Content Placeholder 2">
            <a:extLst>
              <a:ext uri="{FF2B5EF4-FFF2-40B4-BE49-F238E27FC236}">
                <a16:creationId xmlns:a16="http://schemas.microsoft.com/office/drawing/2014/main" id="{1DE9F593-B903-E34A-8C18-0485583CCDF5}"/>
              </a:ext>
            </a:extLst>
          </p:cNvPr>
          <p:cNvSpPr>
            <a:spLocks noGrp="1"/>
          </p:cNvSpPr>
          <p:nvPr>
            <p:ph idx="1"/>
          </p:nvPr>
        </p:nvSpPr>
        <p:spPr/>
        <p:txBody>
          <a:bodyPr/>
          <a:lstStyle/>
          <a:p>
            <a:pPr marL="0" indent="0">
              <a:buNone/>
            </a:pPr>
            <a:r>
              <a:rPr lang="en-US" dirty="0"/>
              <a:t>Given this concern, the best practice involves:</a:t>
            </a:r>
          </a:p>
          <a:p>
            <a:r>
              <a:rPr lang="en-US" dirty="0"/>
              <a:t>Reporting the DAG that led to the adjustment model used</a:t>
            </a:r>
          </a:p>
          <a:p>
            <a:r>
              <a:rPr lang="en-US" dirty="0"/>
              <a:t>Reporting the covariates (assumed confounders) that were adjusted for in your analyses</a:t>
            </a:r>
          </a:p>
          <a:p>
            <a:r>
              <a:rPr lang="en-US" dirty="0"/>
              <a:t>Being very clear that your goal is to estimate the causal effect, but that to do so you’ve had to use a model and assumptions</a:t>
            </a:r>
          </a:p>
        </p:txBody>
      </p:sp>
    </p:spTree>
    <p:extLst>
      <p:ext uri="{BB962C8B-B14F-4D97-AF65-F5344CB8AC3E}">
        <p14:creationId xmlns:p14="http://schemas.microsoft.com/office/powerpoint/2010/main" val="3607545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F037-E707-DF41-8EA1-596A45F99FF3}"/>
              </a:ext>
            </a:extLst>
          </p:cNvPr>
          <p:cNvSpPr>
            <a:spLocks noGrp="1"/>
          </p:cNvSpPr>
          <p:nvPr>
            <p:ph type="title"/>
          </p:nvPr>
        </p:nvSpPr>
        <p:spPr/>
        <p:txBody>
          <a:bodyPr/>
          <a:lstStyle/>
          <a:p>
            <a:r>
              <a:rPr lang="en-US" dirty="0"/>
              <a:t>Worst practice</a:t>
            </a:r>
          </a:p>
        </p:txBody>
      </p:sp>
      <p:sp>
        <p:nvSpPr>
          <p:cNvPr id="3" name="Content Placeholder 2">
            <a:extLst>
              <a:ext uri="{FF2B5EF4-FFF2-40B4-BE49-F238E27FC236}">
                <a16:creationId xmlns:a16="http://schemas.microsoft.com/office/drawing/2014/main" id="{C9B921E5-6C6B-BB47-BDED-8B63E72C6B99}"/>
              </a:ext>
            </a:extLst>
          </p:cNvPr>
          <p:cNvSpPr>
            <a:spLocks noGrp="1"/>
          </p:cNvSpPr>
          <p:nvPr>
            <p:ph idx="1"/>
          </p:nvPr>
        </p:nvSpPr>
        <p:spPr/>
        <p:txBody>
          <a:bodyPr>
            <a:normAutofit fontScale="92500" lnSpcReduction="20000"/>
          </a:bodyPr>
          <a:lstStyle/>
          <a:p>
            <a:pPr marL="0" indent="0">
              <a:buNone/>
            </a:pPr>
            <a:r>
              <a:rPr lang="en-US" dirty="0"/>
              <a:t>You may see all of this and feel like you want to throw up your hands and declare, </a:t>
            </a:r>
          </a:p>
          <a:p>
            <a:pPr marL="0" indent="0">
              <a:buNone/>
            </a:pPr>
            <a:endParaRPr lang="en-US" dirty="0"/>
          </a:p>
          <a:p>
            <a:pPr marL="0" indent="0">
              <a:buNone/>
            </a:pPr>
            <a:r>
              <a:rPr lang="en-US" dirty="0"/>
              <a:t>“But I’m not trying to estimate a causal effect. I know this effect is just associational! Of course, correlation is not causation!”</a:t>
            </a:r>
          </a:p>
          <a:p>
            <a:pPr marL="0" indent="0">
              <a:buNone/>
            </a:pPr>
            <a:endParaRPr lang="en-US" dirty="0"/>
          </a:p>
          <a:p>
            <a:pPr marL="0" indent="0">
              <a:buNone/>
            </a:pPr>
            <a:r>
              <a:rPr lang="en-US" dirty="0"/>
              <a:t>But this isn’t fair. What does this association even mean, if not causal? Why would you care about the differences between these groups otherwise? </a:t>
            </a:r>
          </a:p>
          <a:p>
            <a:pPr marL="0" indent="0">
              <a:buNone/>
            </a:pPr>
            <a:endParaRPr lang="en-US" dirty="0"/>
          </a:p>
          <a:p>
            <a:pPr marL="0" indent="0">
              <a:buNone/>
            </a:pPr>
            <a:r>
              <a:rPr lang="en-US" dirty="0"/>
              <a:t>Own that you care about the causality here. And own that this is difficult, that you’ve done the best you can, and that your results require some assumptions. </a:t>
            </a:r>
          </a:p>
        </p:txBody>
      </p:sp>
    </p:spTree>
    <p:extLst>
      <p:ext uri="{BB962C8B-B14F-4D97-AF65-F5344CB8AC3E}">
        <p14:creationId xmlns:p14="http://schemas.microsoft.com/office/powerpoint/2010/main" val="2423336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34051-A4D1-A34E-AD8E-6F4A2C57C47D}"/>
              </a:ext>
            </a:extLst>
          </p:cNvPr>
          <p:cNvSpPr>
            <a:spLocks noGrp="1"/>
          </p:cNvSpPr>
          <p:nvPr>
            <p:ph type="title"/>
          </p:nvPr>
        </p:nvSpPr>
        <p:spPr>
          <a:xfrm>
            <a:off x="757177" y="2766218"/>
            <a:ext cx="10515600" cy="1325563"/>
          </a:xfrm>
        </p:spPr>
        <p:txBody>
          <a:bodyPr/>
          <a:lstStyle/>
          <a:p>
            <a:pPr algn="ctr"/>
            <a:r>
              <a:rPr lang="en-US" dirty="0"/>
              <a:t>Matching Models</a:t>
            </a:r>
          </a:p>
        </p:txBody>
      </p:sp>
    </p:spTree>
    <p:extLst>
      <p:ext uri="{BB962C8B-B14F-4D97-AF65-F5344CB8AC3E}">
        <p14:creationId xmlns:p14="http://schemas.microsoft.com/office/powerpoint/2010/main" val="4259496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52F7-7676-C841-9349-F66029AAFAE3}"/>
              </a:ext>
            </a:extLst>
          </p:cNvPr>
          <p:cNvSpPr>
            <a:spLocks noGrp="1"/>
          </p:cNvSpPr>
          <p:nvPr>
            <p:ph type="title"/>
          </p:nvPr>
        </p:nvSpPr>
        <p:spPr/>
        <p:txBody>
          <a:bodyPr/>
          <a:lstStyle/>
          <a:p>
            <a:r>
              <a:rPr lang="en-US" dirty="0"/>
              <a:t>Single confounder (theoretical only)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11E73B-8CF0-5D4B-A720-B1A9670B327A}"/>
                  </a:ext>
                </a:extLst>
              </p:cNvPr>
              <p:cNvSpPr>
                <a:spLocks noGrp="1"/>
              </p:cNvSpPr>
              <p:nvPr>
                <p:ph idx="1"/>
              </p:nvPr>
            </p:nvSpPr>
            <p:spPr/>
            <p:txBody>
              <a:bodyPr/>
              <a:lstStyle/>
              <a:p>
                <a:pPr marL="0" indent="0">
                  <a:buNone/>
                </a:pPr>
                <a:r>
                  <a:rPr lang="en-US" dirty="0"/>
                  <a:t>If we had only a single confounder, for each unit in the intervention group, the most obvious approach is to find an exact match in the comparison reservoir (i.e.,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r>
                      <a:rPr lang="en-US" b="0" i="1" smtClean="0">
                        <a:latin typeface="Cambria Math" panose="02040503050406030204" pitchFamily="18" charset="0"/>
                      </a:rPr>
                      <m:t>).</m:t>
                    </m:r>
                  </m:oMath>
                </a14:m>
                <a:endParaRPr lang="en-US" dirty="0"/>
              </a:p>
              <a:p>
                <a:pPr marL="0" indent="0">
                  <a:buNone/>
                </a:pPr>
                <a:endParaRPr lang="en-US" dirty="0"/>
              </a:p>
              <a:p>
                <a:pPr marL="0" indent="0">
                  <a:buNone/>
                </a:pPr>
                <a:r>
                  <a:rPr lang="en-US" dirty="0"/>
                  <a:t>But we have to do this for every unit, which means this may not be possible.</a:t>
                </a:r>
              </a:p>
              <a:p>
                <a:pPr marL="0" indent="0">
                  <a:buNone/>
                </a:pPr>
                <a:endParaRPr lang="en-US" dirty="0"/>
              </a:p>
              <a:p>
                <a:pPr marL="0" indent="0">
                  <a:buNone/>
                </a:pPr>
                <a:r>
                  <a:rPr lang="en-US" dirty="0"/>
                  <a:t>Instead, we might want to ‘coarsen’ this match. </a:t>
                </a:r>
              </a:p>
              <a:p>
                <a:pPr marL="0" indent="0">
                  <a:buNone/>
                </a:pPr>
                <a:endParaRPr lang="en-US" dirty="0"/>
              </a:p>
            </p:txBody>
          </p:sp>
        </mc:Choice>
        <mc:Fallback>
          <p:sp>
            <p:nvSpPr>
              <p:cNvPr id="3" name="Content Placeholder 2">
                <a:extLst>
                  <a:ext uri="{FF2B5EF4-FFF2-40B4-BE49-F238E27FC236}">
                    <a16:creationId xmlns:a16="http://schemas.microsoft.com/office/drawing/2014/main" id="{E511E73B-8CF0-5D4B-A720-B1A9670B327A}"/>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4263959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9FE86-D399-B946-B392-630AA6488007}"/>
              </a:ext>
            </a:extLst>
          </p:cNvPr>
          <p:cNvSpPr>
            <a:spLocks noGrp="1"/>
          </p:cNvSpPr>
          <p:nvPr>
            <p:ph type="title"/>
          </p:nvPr>
        </p:nvSpPr>
        <p:spPr/>
        <p:txBody>
          <a:bodyPr/>
          <a:lstStyle/>
          <a:p>
            <a:r>
              <a:rPr lang="en-US" dirty="0"/>
              <a:t>Coarsened matches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AD710B-B4B8-0740-99EC-DF8DA1D7CF55}"/>
                  </a:ext>
                </a:extLst>
              </p:cNvPr>
              <p:cNvSpPr>
                <a:spLocks noGrp="1"/>
              </p:cNvSpPr>
              <p:nvPr>
                <p:ph idx="1"/>
              </p:nvPr>
            </p:nvSpPr>
            <p:spPr/>
            <p:txBody>
              <a:bodyPr>
                <a:normAutofit fontScale="92500" lnSpcReduction="10000"/>
              </a:bodyPr>
              <a:lstStyle/>
              <a:p>
                <a:pPr marL="514350" indent="-514350">
                  <a:buAutoNum type="arabicPeriod"/>
                </a:pPr>
                <a:r>
                  <a:rPr lang="en-US" dirty="0"/>
                  <a:t>Stratification</a:t>
                </a:r>
              </a:p>
              <a:p>
                <a:pPr lvl="1"/>
                <a:r>
                  <a:rPr lang="en-US" dirty="0"/>
                  <a:t>In this approach, we first divide all of the values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r>
                  <a:rPr lang="en-US" dirty="0"/>
                  <a:t> found in the intervention group into equal sized groups. </a:t>
                </a:r>
              </a:p>
              <a:p>
                <a:pPr lvl="1"/>
                <a:r>
                  <a:rPr lang="en-US" dirty="0"/>
                  <a:t>Within each of these equal sized groups, we find matches with similar values in the comparison condition. </a:t>
                </a:r>
              </a:p>
              <a:p>
                <a:pPr marL="457200" lvl="1" indent="0">
                  <a:buNone/>
                </a:pPr>
                <a:r>
                  <a:rPr lang="en-US" dirty="0"/>
                  <a:t>  </a:t>
                </a:r>
              </a:p>
              <a:p>
                <a:pPr marL="514350" indent="-514350">
                  <a:buAutoNum type="arabicPeriod"/>
                </a:pPr>
                <a:r>
                  <a:rPr lang="en-US" dirty="0"/>
                  <a:t>Caliper matching</a:t>
                </a:r>
              </a:p>
              <a:p>
                <a:pPr lvl="1"/>
                <a:r>
                  <a:rPr lang="en-US" dirty="0"/>
                  <a:t>In this approach, we loosen our matching criteria. </a:t>
                </a:r>
              </a:p>
              <a:p>
                <a:pPr lvl="1"/>
                <a:r>
                  <a:rPr lang="en-US" dirty="0"/>
                  <a:t>Instead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r>
                  <a:rPr lang="en-US" dirty="0"/>
                  <a:t> (exact matching), we determine a ‘caliper width’ </a:t>
                </a:r>
                <a14:m>
                  <m:oMath xmlns:m="http://schemas.openxmlformats.org/officeDocument/2006/math">
                    <m:r>
                      <a:rPr lang="en-US" b="0" i="1" smtClean="0">
                        <a:latin typeface="Cambria Math" panose="02040503050406030204" pitchFamily="18" charset="0"/>
                      </a:rPr>
                      <m:t>𝜖</m:t>
                    </m:r>
                  </m:oMath>
                </a14:m>
                <a:r>
                  <a:rPr lang="en-US" dirty="0"/>
                  <a:t> and then seek a match within that.</a:t>
                </a:r>
              </a:p>
              <a:p>
                <a:pPr lvl="1"/>
                <a:r>
                  <a:rPr lang="en-US" dirty="0"/>
                  <a:t>For each unit in the intervention group we seek a comparison unit that is close (but not exactly) the same value, i.e.,</a:t>
                </a:r>
              </a:p>
              <a:p>
                <a:pPr marL="45720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r>
                        <a:rPr lang="en-US" b="0" i="1" smtClean="0">
                          <a:latin typeface="Cambria Math" panose="02040503050406030204" pitchFamily="18" charset="0"/>
                        </a:rPr>
                        <m:t>&lt;</m:t>
                      </m:r>
                      <m:r>
                        <a:rPr lang="en-US" b="0" i="1" smtClean="0">
                          <a:latin typeface="Cambria Math" panose="02040503050406030204" pitchFamily="18" charset="0"/>
                        </a:rPr>
                        <m:t>𝜖</m:t>
                      </m:r>
                    </m:oMath>
                  </m:oMathPara>
                </a14:m>
                <a:endParaRPr lang="en-US" dirty="0"/>
              </a:p>
              <a:p>
                <a:pPr marL="457200" lvl="1" indent="0">
                  <a:buNone/>
                </a:pPr>
                <a:endParaRPr lang="en-US" dirty="0"/>
              </a:p>
            </p:txBody>
          </p:sp>
        </mc:Choice>
        <mc:Fallback>
          <p:sp>
            <p:nvSpPr>
              <p:cNvPr id="3" name="Content Placeholder 2">
                <a:extLst>
                  <a:ext uri="{FF2B5EF4-FFF2-40B4-BE49-F238E27FC236}">
                    <a16:creationId xmlns:a16="http://schemas.microsoft.com/office/drawing/2014/main" id="{4AAD710B-B4B8-0740-99EC-DF8DA1D7CF55}"/>
                  </a:ext>
                </a:extLst>
              </p:cNvPr>
              <p:cNvSpPr>
                <a:spLocks noGrp="1" noRot="1" noChangeAspect="1" noMove="1" noResize="1" noEditPoints="1" noAdjustHandles="1" noChangeArrowheads="1" noChangeShapeType="1" noTextEdit="1"/>
              </p:cNvSpPr>
              <p:nvPr>
                <p:ph idx="1"/>
              </p:nvPr>
            </p:nvSpPr>
            <p:spPr>
              <a:blipFill>
                <a:blip r:embed="rId2"/>
                <a:stretch>
                  <a:fillRect l="-1086" t="-3198" r="-1086"/>
                </a:stretch>
              </a:blipFill>
            </p:spPr>
            <p:txBody>
              <a:bodyPr/>
              <a:lstStyle/>
              <a:p>
                <a:r>
                  <a:rPr lang="en-US">
                    <a:noFill/>
                  </a:rPr>
                  <a:t> </a:t>
                </a:r>
              </a:p>
            </p:txBody>
          </p:sp>
        </mc:Fallback>
      </mc:AlternateContent>
    </p:spTree>
    <p:extLst>
      <p:ext uri="{BB962C8B-B14F-4D97-AF65-F5344CB8AC3E}">
        <p14:creationId xmlns:p14="http://schemas.microsoft.com/office/powerpoint/2010/main" val="1881483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9041-4A8B-4D40-A506-11C17DB80AAF}"/>
              </a:ext>
            </a:extLst>
          </p:cNvPr>
          <p:cNvSpPr>
            <a:spLocks noGrp="1"/>
          </p:cNvSpPr>
          <p:nvPr>
            <p:ph type="title"/>
          </p:nvPr>
        </p:nvSpPr>
        <p:spPr/>
        <p:txBody>
          <a:bodyPr/>
          <a:lstStyle/>
          <a:p>
            <a:r>
              <a:rPr lang="en-US" dirty="0"/>
              <a:t>For example</a:t>
            </a:r>
          </a:p>
        </p:txBody>
      </p:sp>
      <p:sp>
        <p:nvSpPr>
          <p:cNvPr id="3" name="Content Placeholder 2">
            <a:extLst>
              <a:ext uri="{FF2B5EF4-FFF2-40B4-BE49-F238E27FC236}">
                <a16:creationId xmlns:a16="http://schemas.microsoft.com/office/drawing/2014/main" id="{B03F2863-F3FD-DE48-9378-CE232EEAB9A3}"/>
              </a:ext>
            </a:extLst>
          </p:cNvPr>
          <p:cNvSpPr>
            <a:spLocks noGrp="1"/>
          </p:cNvSpPr>
          <p:nvPr>
            <p:ph idx="1"/>
          </p:nvPr>
        </p:nvSpPr>
        <p:spPr/>
        <p:txBody>
          <a:bodyPr/>
          <a:lstStyle/>
          <a:p>
            <a:pPr marL="0" indent="0">
              <a:buNone/>
            </a:pPr>
            <a:r>
              <a:rPr lang="en-US" dirty="0"/>
              <a:t>In our workshop example, we might look for comparison researchers that:</a:t>
            </a:r>
          </a:p>
          <a:p>
            <a:r>
              <a:rPr lang="en-US" dirty="0"/>
              <a:t>Have the exact same degrees – e.g., doctorates (exact matching)</a:t>
            </a:r>
          </a:p>
          <a:p>
            <a:r>
              <a:rPr lang="en-US" dirty="0"/>
              <a:t>Have similar years of experience in the field (caliper matching), e.g., where we define similar as “+/- 2 years”</a:t>
            </a:r>
          </a:p>
        </p:txBody>
      </p:sp>
    </p:spTree>
    <p:extLst>
      <p:ext uri="{BB962C8B-B14F-4D97-AF65-F5344CB8AC3E}">
        <p14:creationId xmlns:p14="http://schemas.microsoft.com/office/powerpoint/2010/main" val="1170451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3EA03-DECB-AB4D-A198-10B96E5BE816}"/>
              </a:ext>
            </a:extLst>
          </p:cNvPr>
          <p:cNvSpPr>
            <a:spLocks noGrp="1"/>
          </p:cNvSpPr>
          <p:nvPr>
            <p:ph type="title"/>
          </p:nvPr>
        </p:nvSpPr>
        <p:spPr/>
        <p:txBody>
          <a:bodyPr/>
          <a:lstStyle/>
          <a:p>
            <a:r>
              <a:rPr lang="en-US" dirty="0"/>
              <a:t>Multiple confounders</a:t>
            </a:r>
          </a:p>
        </p:txBody>
      </p:sp>
      <p:sp>
        <p:nvSpPr>
          <p:cNvPr id="3" name="Content Placeholder 2">
            <a:extLst>
              <a:ext uri="{FF2B5EF4-FFF2-40B4-BE49-F238E27FC236}">
                <a16:creationId xmlns:a16="http://schemas.microsoft.com/office/drawing/2014/main" id="{F0185D8D-B23D-944F-8A7B-E5C2E7B3BA2B}"/>
              </a:ext>
            </a:extLst>
          </p:cNvPr>
          <p:cNvSpPr>
            <a:spLocks noGrp="1"/>
          </p:cNvSpPr>
          <p:nvPr>
            <p:ph idx="1"/>
          </p:nvPr>
        </p:nvSpPr>
        <p:spPr/>
        <p:txBody>
          <a:bodyPr/>
          <a:lstStyle/>
          <a:p>
            <a:pPr marL="0" indent="0">
              <a:buNone/>
            </a:pPr>
            <a:r>
              <a:rPr lang="en-US" dirty="0"/>
              <a:t>With one, or even two or three confounders, this isn’t that terrible.</a:t>
            </a:r>
          </a:p>
          <a:p>
            <a:pPr marL="0" indent="0">
              <a:buNone/>
            </a:pPr>
            <a:endParaRPr lang="en-US" dirty="0"/>
          </a:p>
          <a:p>
            <a:pPr marL="0" indent="0">
              <a:buNone/>
            </a:pPr>
            <a:r>
              <a:rPr lang="en-US" dirty="0"/>
              <a:t>But remember – those DAGs suggest that there are more. This makes matching *very* tricky.</a:t>
            </a:r>
          </a:p>
          <a:p>
            <a:pPr marL="0" indent="0">
              <a:buNone/>
            </a:pPr>
            <a:endParaRPr lang="en-US" dirty="0"/>
          </a:p>
          <a:p>
            <a:pPr marL="0" indent="0">
              <a:buNone/>
            </a:pPr>
            <a:r>
              <a:rPr lang="en-US" dirty="0"/>
              <a:t>One approach is to take this multivariate problem and turn it into a single variable, then use the same matching approaches as in the single confounder case. </a:t>
            </a:r>
          </a:p>
        </p:txBody>
      </p:sp>
    </p:spTree>
    <p:extLst>
      <p:ext uri="{BB962C8B-B14F-4D97-AF65-F5344CB8AC3E}">
        <p14:creationId xmlns:p14="http://schemas.microsoft.com/office/powerpoint/2010/main" val="2117698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8C770-8191-3B4B-A5AD-DAED27E795DC}"/>
              </a:ext>
            </a:extLst>
          </p:cNvPr>
          <p:cNvSpPr>
            <a:spLocks noGrp="1"/>
          </p:cNvSpPr>
          <p:nvPr>
            <p:ph type="title"/>
          </p:nvPr>
        </p:nvSpPr>
        <p:spPr/>
        <p:txBody>
          <a:bodyPr/>
          <a:lstStyle/>
          <a:p>
            <a:r>
              <a:rPr lang="en-US" dirty="0" err="1"/>
              <a:t>Mahalanobis</a:t>
            </a:r>
            <a:r>
              <a:rPr lang="en-US" dirty="0"/>
              <a:t> distance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73DA177-8454-9C46-B007-8BE962E84A20}"/>
                  </a:ext>
                </a:extLst>
              </p:cNvPr>
              <p:cNvSpPr>
                <a:spLocks noGrp="1"/>
              </p:cNvSpPr>
              <p:nvPr>
                <p:ph idx="1"/>
              </p:nvPr>
            </p:nvSpPr>
            <p:spPr/>
            <p:txBody>
              <a:bodyPr>
                <a:normAutofit lnSpcReduction="10000"/>
              </a:bodyPr>
              <a:lstStyle/>
              <a:p>
                <a:pPr marL="0" indent="0">
                  <a:buNone/>
                </a:pPr>
                <a:r>
                  <a:rPr lang="en-US" dirty="0"/>
                  <a:t>Assume that we have participant </a:t>
                </a:r>
                <a14:m>
                  <m:oMath xmlns:m="http://schemas.openxmlformats.org/officeDocument/2006/math">
                    <m:r>
                      <a:rPr lang="en-US" b="0" i="1" smtClean="0">
                        <a:latin typeface="Cambria Math" panose="02040503050406030204" pitchFamily="18" charset="0"/>
                      </a:rPr>
                      <m:t>𝑎</m:t>
                    </m:r>
                  </m:oMath>
                </a14:m>
                <a:r>
                  <a:rPr lang="en-US" dirty="0"/>
                  <a:t> who has </a:t>
                </a:r>
                <a14:m>
                  <m:oMath xmlns:m="http://schemas.openxmlformats.org/officeDocument/2006/math">
                    <m:r>
                      <a:rPr lang="en-US" b="0" i="1" smtClean="0">
                        <a:latin typeface="Cambria Math" panose="02040503050406030204" pitchFamily="18" charset="0"/>
                      </a:rPr>
                      <m:t>𝑘</m:t>
                    </m:r>
                  </m:oMath>
                </a14:m>
                <a:r>
                  <a:rPr lang="en-US" dirty="0"/>
                  <a:t> confounder values. </a:t>
                </a:r>
              </a:p>
              <a:p>
                <a:pPr marL="0" indent="0">
                  <a:buNone/>
                </a:pPr>
                <a:r>
                  <a:rPr lang="en-US" dirty="0"/>
                  <a:t>We seek a match (a participant </a:t>
                </a:r>
                <a14:m>
                  <m:oMath xmlns:m="http://schemas.openxmlformats.org/officeDocument/2006/math">
                    <m:r>
                      <a:rPr lang="en-US" b="0" i="1" smtClean="0">
                        <a:latin typeface="Cambria Math" panose="02040503050406030204" pitchFamily="18" charset="0"/>
                      </a:rPr>
                      <m:t>𝑗</m:t>
                    </m:r>
                  </m:oMath>
                </a14:m>
                <a:r>
                  <a:rPr lang="en-US" dirty="0"/>
                  <a:t>) that has a similar set of </a:t>
                </a:r>
                <a14:m>
                  <m:oMath xmlns:m="http://schemas.openxmlformats.org/officeDocument/2006/math">
                    <m:r>
                      <a:rPr lang="en-US" b="0" i="1" smtClean="0">
                        <a:latin typeface="Cambria Math" panose="02040503050406030204" pitchFamily="18" charset="0"/>
                      </a:rPr>
                      <m:t>𝑘</m:t>
                    </m:r>
                  </m:oMath>
                </a14:m>
                <a:r>
                  <a:rPr lang="en-US" dirty="0"/>
                  <a:t> confounder values. </a:t>
                </a:r>
              </a:p>
              <a:p>
                <a:pPr marL="0" indent="0">
                  <a:buNone/>
                </a:pPr>
                <a:r>
                  <a:rPr lang="en-US" dirty="0"/>
                  <a:t>Assume that these </a:t>
                </a:r>
                <a14:m>
                  <m:oMath xmlns:m="http://schemas.openxmlformats.org/officeDocument/2006/math">
                    <m:r>
                      <a:rPr lang="en-US" b="0" i="1" smtClean="0">
                        <a:latin typeface="Cambria Math" panose="02040503050406030204" pitchFamily="18" charset="0"/>
                      </a:rPr>
                      <m:t>𝑘</m:t>
                    </m:r>
                  </m:oMath>
                </a14:m>
                <a:r>
                  <a:rPr lang="en-US" dirty="0"/>
                  <a:t> confounder values are correlated with one another.</a:t>
                </a:r>
              </a:p>
              <a:p>
                <a:pPr marL="0" indent="0">
                  <a:buNone/>
                </a:pPr>
                <a:endParaRPr lang="en-US" dirty="0"/>
              </a:p>
              <a:p>
                <a:pPr marL="0" indent="0">
                  <a:buNone/>
                </a:pPr>
                <a:r>
                  <a:rPr lang="en-US" dirty="0"/>
                  <a:t>Then for each possible match, we can calculate:</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𝑀</m:t>
                          </m:r>
                        </m:e>
                        <m:sub>
                          <m:r>
                            <a:rPr lang="en-US" b="0" i="1" smtClean="0">
                              <a:latin typeface="Cambria Math" panose="02040503050406030204" pitchFamily="18" charset="0"/>
                            </a:rPr>
                            <m:t>𝑎𝑗</m:t>
                          </m:r>
                        </m:sub>
                      </m:sSub>
                      <m:r>
                        <a:rPr lang="en-US" i="1"/>
                        <m:t>=</m:t>
                      </m:r>
                      <m:rad>
                        <m:radPr>
                          <m:degHide m:val="on"/>
                          <m:ctrlPr>
                            <a:rPr lang="en-US" i="1"/>
                          </m:ctrlPr>
                        </m:radPr>
                        <m:deg/>
                        <m:e>
                          <m:d>
                            <m:dPr>
                              <m:ctrlPr>
                                <a:rPr lang="en-US" i="1"/>
                              </m:ctrlPr>
                            </m:dPr>
                            <m:e>
                              <m:sSub>
                                <m:sSubPr>
                                  <m:ctrlPr>
                                    <a:rPr lang="en-US" i="1"/>
                                  </m:ctrlPr>
                                </m:sSubPr>
                                <m:e>
                                  <m:r>
                                    <a:rPr lang="en-US" b="1" i="1"/>
                                    <m:t>𝐱</m:t>
                                  </m:r>
                                </m:e>
                                <m:sub>
                                  <m:r>
                                    <a:rPr lang="en-US" b="0" i="1" smtClean="0">
                                      <a:latin typeface="Cambria Math" panose="02040503050406030204" pitchFamily="18" charset="0"/>
                                    </a:rPr>
                                    <m:t>𝑎</m:t>
                                  </m:r>
                                </m:sub>
                              </m:sSub>
                              <m:r>
                                <a:rPr lang="en-US" i="1"/>
                                <m:t>−</m:t>
                              </m:r>
                              <m:sSub>
                                <m:sSubPr>
                                  <m:ctrlPr>
                                    <a:rPr lang="en-US" i="1"/>
                                  </m:ctrlPr>
                                </m:sSubPr>
                                <m:e>
                                  <m:r>
                                    <a:rPr lang="en-US" b="1" i="1"/>
                                    <m:t>𝐱</m:t>
                                  </m:r>
                                </m:e>
                                <m:sub>
                                  <m:r>
                                    <a:rPr lang="en-US" b="0" i="1" smtClean="0">
                                      <a:latin typeface="Cambria Math" panose="02040503050406030204" pitchFamily="18" charset="0"/>
                                    </a:rPr>
                                    <m:t>𝑗</m:t>
                                  </m:r>
                                </m:sub>
                              </m:sSub>
                            </m:e>
                          </m:d>
                          <m:sSup>
                            <m:sSupPr>
                              <m:ctrlPr>
                                <a:rPr lang="en-US" i="1"/>
                              </m:ctrlPr>
                            </m:sSupPr>
                            <m:e>
                              <m:r>
                                <a:rPr lang="en-US" b="1" i="1"/>
                                <m:t>𝚺</m:t>
                              </m:r>
                            </m:e>
                            <m:sup>
                              <m:r>
                                <a:rPr lang="en-US" i="1"/>
                                <m:t>−1</m:t>
                              </m:r>
                            </m:sup>
                          </m:sSup>
                          <m:d>
                            <m:dPr>
                              <m:ctrlPr>
                                <a:rPr lang="en-US" i="1"/>
                              </m:ctrlPr>
                            </m:dPr>
                            <m:e>
                              <m:sSub>
                                <m:sSubPr>
                                  <m:ctrlPr>
                                    <a:rPr lang="en-US" i="1"/>
                                  </m:ctrlPr>
                                </m:sSubPr>
                                <m:e>
                                  <m:r>
                                    <a:rPr lang="en-US" b="1" i="1"/>
                                    <m:t>𝐱</m:t>
                                  </m:r>
                                </m:e>
                                <m:sub>
                                  <m:r>
                                    <a:rPr lang="en-US" b="0" i="1" smtClean="0">
                                      <a:latin typeface="Cambria Math" panose="02040503050406030204" pitchFamily="18" charset="0"/>
                                    </a:rPr>
                                    <m:t>𝑎</m:t>
                                  </m:r>
                                </m:sub>
                              </m:sSub>
                              <m:r>
                                <a:rPr lang="en-US" i="1"/>
                                <m:t>−</m:t>
                              </m:r>
                              <m:sSub>
                                <m:sSubPr>
                                  <m:ctrlPr>
                                    <a:rPr lang="en-US" i="1"/>
                                  </m:ctrlPr>
                                </m:sSubPr>
                                <m:e>
                                  <m:r>
                                    <a:rPr lang="en-US" b="1" i="1"/>
                                    <m:t>𝐱</m:t>
                                  </m:r>
                                </m:e>
                                <m:sub>
                                  <m:r>
                                    <a:rPr lang="en-US" b="0" i="1" smtClean="0">
                                      <a:latin typeface="Cambria Math" panose="02040503050406030204" pitchFamily="18" charset="0"/>
                                    </a:rPr>
                                    <m:t>𝑗</m:t>
                                  </m:r>
                                </m:sub>
                              </m:sSub>
                            </m:e>
                          </m:d>
                        </m:e>
                      </m:rad>
                      <m:r>
                        <a:rPr lang="en-US" i="1"/>
                        <m:t>.</m:t>
                      </m:r>
                    </m:oMath>
                  </m:oMathPara>
                </a14:m>
                <a:endParaRPr lang="en-US" dirty="0"/>
              </a:p>
              <a:p>
                <a:pPr marL="0" indent="0">
                  <a:buNone/>
                </a:pPr>
                <a:r>
                  <a:rPr lang="en-US" dirty="0"/>
                  <a:t>Now, choose the match so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𝑎𝑗</m:t>
                        </m:r>
                      </m:sub>
                    </m:sSub>
                    <m:r>
                      <a:rPr lang="en-US" b="0" i="1" smtClean="0">
                        <a:latin typeface="Cambria Math" panose="02040503050406030204" pitchFamily="18" charset="0"/>
                      </a:rPr>
                      <m:t>&lt;</m:t>
                    </m:r>
                    <m:r>
                      <a:rPr lang="en-US" b="0" i="1" smtClean="0">
                        <a:latin typeface="Cambria Math" panose="02040503050406030204" pitchFamily="18" charset="0"/>
                      </a:rPr>
                      <m:t>𝜖</m:t>
                    </m:r>
                    <m:r>
                      <a:rPr lang="en-US" b="0" i="1" smtClean="0">
                        <a:latin typeface="Cambria Math" panose="02040503050406030204" pitchFamily="18" charset="0"/>
                      </a:rPr>
                      <m:t>.</m:t>
                    </m:r>
                  </m:oMath>
                </a14:m>
                <a:r>
                  <a:rPr lang="en-US" baseline="-25000" dirty="0"/>
                  <a:t> </a:t>
                </a:r>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373DA177-8454-9C46-B007-8BE962E84A20}"/>
                  </a:ext>
                </a:extLst>
              </p:cNvPr>
              <p:cNvSpPr>
                <a:spLocks noGrp="1" noRot="1" noChangeAspect="1" noMove="1" noResize="1" noEditPoints="1" noAdjustHandles="1" noChangeArrowheads="1" noChangeShapeType="1" noTextEdit="1"/>
              </p:cNvSpPr>
              <p:nvPr>
                <p:ph idx="1"/>
              </p:nvPr>
            </p:nvSpPr>
            <p:spPr>
              <a:blipFill>
                <a:blip r:embed="rId2"/>
                <a:stretch>
                  <a:fillRect l="-1206" t="-3198" r="-1206" b="-1744"/>
                </a:stretch>
              </a:blipFill>
            </p:spPr>
            <p:txBody>
              <a:bodyPr/>
              <a:lstStyle/>
              <a:p>
                <a:r>
                  <a:rPr lang="en-US">
                    <a:noFill/>
                  </a:rPr>
                  <a:t> </a:t>
                </a:r>
              </a:p>
            </p:txBody>
          </p:sp>
        </mc:Fallback>
      </mc:AlternateContent>
    </p:spTree>
    <p:extLst>
      <p:ext uri="{BB962C8B-B14F-4D97-AF65-F5344CB8AC3E}">
        <p14:creationId xmlns:p14="http://schemas.microsoft.com/office/powerpoint/2010/main" val="1040046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B860-F900-DF4D-B10F-BD58FF1B5444}"/>
              </a:ext>
            </a:extLst>
          </p:cNvPr>
          <p:cNvSpPr>
            <a:spLocks noGrp="1"/>
          </p:cNvSpPr>
          <p:nvPr>
            <p:ph type="title"/>
          </p:nvPr>
        </p:nvSpPr>
        <p:spPr/>
        <p:txBody>
          <a:bodyPr/>
          <a:lstStyle/>
          <a:p>
            <a:r>
              <a:rPr lang="en-US" dirty="0"/>
              <a:t>Vectors? Really?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2A7CDA5-2552-6249-85F3-B7E43419483D}"/>
                  </a:ext>
                </a:extLst>
              </p:cNvPr>
              <p:cNvSpPr>
                <a:spLocks noGrp="1"/>
              </p:cNvSpPr>
              <p:nvPr>
                <p:ph idx="1"/>
              </p:nvPr>
            </p:nvSpPr>
            <p:spPr/>
            <p:txBody>
              <a:bodyPr>
                <a:normAutofit fontScale="92500" lnSpcReduction="20000"/>
              </a:bodyPr>
              <a:lstStyle/>
              <a:p>
                <a:pPr marL="0" indent="0">
                  <a:buNone/>
                </a:pPr>
                <a:r>
                  <a:rPr lang="en-US" dirty="0"/>
                  <a:t>It may help to see what this looks like in a simple case. Let’s say we have 2 variables that are correlated </a:t>
                </a:r>
                <a14:m>
                  <m:oMath xmlns:m="http://schemas.openxmlformats.org/officeDocument/2006/math">
                    <m:r>
                      <a:rPr lang="en-US" b="0" i="1" smtClean="0">
                        <a:latin typeface="Cambria Math" panose="02040503050406030204" pitchFamily="18" charset="0"/>
                      </a:rPr>
                      <m:t>𝜌</m:t>
                    </m:r>
                  </m:oMath>
                </a14:m>
                <a:r>
                  <a:rPr lang="en-US" dirty="0"/>
                  <a:t>. For example, years of experience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and comfort with math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𝑎𝑗</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𝑗</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den>
                                  </m:f>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𝑗</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den>
                                  </m:f>
                                </m:e>
                              </m:d>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𝜌</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𝑗</m:t>
                                  </m:r>
                                </m:sub>
                              </m:sSub>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den>
                          </m:f>
                        </m:e>
                      </m:rad>
                    </m:oMath>
                  </m:oMathPara>
                </a14:m>
                <a:endParaRPr lang="en-US" dirty="0"/>
              </a:p>
              <a:p>
                <a:pPr marL="0" indent="0">
                  <a:buNone/>
                </a:pPr>
                <a:endParaRPr lang="en-US" dirty="0"/>
              </a:p>
              <a:p>
                <a:pPr marL="0" indent="0">
                  <a:buNone/>
                </a:pPr>
                <a:r>
                  <a:rPr lang="en-US" dirty="0"/>
                  <a:t>What this illustrates is that the </a:t>
                </a:r>
                <a:r>
                  <a:rPr lang="en-US" dirty="0" err="1"/>
                  <a:t>Mahalanobis</a:t>
                </a:r>
                <a:r>
                  <a:rPr lang="en-US" dirty="0"/>
                  <a:t> distance:</a:t>
                </a:r>
              </a:p>
              <a:p>
                <a:r>
                  <a:rPr lang="en-US" dirty="0"/>
                  <a:t>Standardizes the variables to be on the same scale (so as to not over-weight some covariates because they have a larger scale)</a:t>
                </a:r>
              </a:p>
              <a:p>
                <a:r>
                  <a:rPr lang="en-US" dirty="0"/>
                  <a:t>Adjusts for correlation between the covariates</a:t>
                </a:r>
              </a:p>
            </p:txBody>
          </p:sp>
        </mc:Choice>
        <mc:Fallback>
          <p:sp>
            <p:nvSpPr>
              <p:cNvPr id="3" name="Content Placeholder 2">
                <a:extLst>
                  <a:ext uri="{FF2B5EF4-FFF2-40B4-BE49-F238E27FC236}">
                    <a16:creationId xmlns:a16="http://schemas.microsoft.com/office/drawing/2014/main" id="{52A7CDA5-2552-6249-85F3-B7E43419483D}"/>
                  </a:ext>
                </a:extLst>
              </p:cNvPr>
              <p:cNvSpPr>
                <a:spLocks noGrp="1" noRot="1" noChangeAspect="1" noMove="1" noResize="1" noEditPoints="1" noAdjustHandles="1" noChangeArrowheads="1" noChangeShapeType="1" noTextEdit="1"/>
              </p:cNvSpPr>
              <p:nvPr>
                <p:ph idx="1"/>
              </p:nvPr>
            </p:nvSpPr>
            <p:spPr>
              <a:blipFill>
                <a:blip r:embed="rId2"/>
                <a:stretch>
                  <a:fillRect l="-1086" t="-3488" b="-2035"/>
                </a:stretch>
              </a:blipFill>
            </p:spPr>
            <p:txBody>
              <a:bodyPr/>
              <a:lstStyle/>
              <a:p>
                <a:r>
                  <a:rPr lang="en-US">
                    <a:noFill/>
                  </a:rPr>
                  <a:t> </a:t>
                </a:r>
              </a:p>
            </p:txBody>
          </p:sp>
        </mc:Fallback>
      </mc:AlternateContent>
    </p:spTree>
    <p:extLst>
      <p:ext uri="{BB962C8B-B14F-4D97-AF65-F5344CB8AC3E}">
        <p14:creationId xmlns:p14="http://schemas.microsoft.com/office/powerpoint/2010/main" val="3495370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B877-3923-404C-850B-B76F13334E01}"/>
              </a:ext>
            </a:extLst>
          </p:cNvPr>
          <p:cNvSpPr>
            <a:spLocks noGrp="1"/>
          </p:cNvSpPr>
          <p:nvPr>
            <p:ph type="title"/>
          </p:nvPr>
        </p:nvSpPr>
        <p:spPr/>
        <p:txBody>
          <a:bodyPr/>
          <a:lstStyle/>
          <a:p>
            <a:r>
              <a:rPr lang="en-US" dirty="0"/>
              <a:t>General strategy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8D2CD7-08E1-754E-9E7A-98B4215850D9}"/>
                  </a:ext>
                </a:extLst>
              </p:cNvPr>
              <p:cNvSpPr>
                <a:spLocks noGrp="1"/>
              </p:cNvSpPr>
              <p:nvPr>
                <p:ph idx="1"/>
              </p:nvPr>
            </p:nvSpPr>
            <p:spPr/>
            <p:txBody>
              <a:bodyPr/>
              <a:lstStyle/>
              <a:p>
                <a:pPr marL="514350" indent="-514350">
                  <a:buAutoNum type="arabicPeriod"/>
                </a:pPr>
                <a:r>
                  <a:rPr lang="en-US" dirty="0"/>
                  <a:t>Begin with </a:t>
                </a:r>
                <a14:m>
                  <m:oMath xmlns:m="http://schemas.openxmlformats.org/officeDocument/2006/math">
                    <m:r>
                      <a:rPr lang="en-US" b="0" i="1" smtClean="0">
                        <a:latin typeface="Cambria Math" panose="02040503050406030204" pitchFamily="18" charset="0"/>
                      </a:rPr>
                      <m:t>𝑛</m:t>
                    </m:r>
                  </m:oMath>
                </a14:m>
                <a:r>
                  <a:rPr lang="en-US" dirty="0"/>
                  <a:t> units in the intervention group and </a:t>
                </a:r>
                <a14:m>
                  <m:oMath xmlns:m="http://schemas.openxmlformats.org/officeDocument/2006/math">
                    <m:r>
                      <a:rPr lang="en-US" b="0" i="1" smtClean="0">
                        <a:latin typeface="Cambria Math" panose="02040503050406030204" pitchFamily="18" charset="0"/>
                      </a:rPr>
                      <m:t>𝑁</m:t>
                    </m:r>
                  </m:oMath>
                </a14:m>
                <a:r>
                  <a:rPr lang="en-US" dirty="0"/>
                  <a:t> units that could possibly be comparisons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&gt;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a:t>
                </a:r>
              </a:p>
              <a:p>
                <a:pPr marL="514350" indent="-514350">
                  <a:buAutoNum type="arabicPeriod"/>
                </a:pPr>
                <a:r>
                  <a:rPr lang="en-US" dirty="0"/>
                  <a:t>Take an intervention unit </a:t>
                </a:r>
                <a14:m>
                  <m:oMath xmlns:m="http://schemas.openxmlformats.org/officeDocument/2006/math">
                    <m:r>
                      <a:rPr lang="en-US" b="0" i="1" smtClean="0">
                        <a:latin typeface="Cambria Math" panose="02040503050406030204" pitchFamily="18" charset="0"/>
                      </a:rPr>
                      <m:t>𝑎</m:t>
                    </m:r>
                    <m:r>
                      <a:rPr lang="en-US" b="0" i="0" smtClean="0">
                        <a:latin typeface="Cambria Math" panose="02040503050406030204" pitchFamily="18" charset="0"/>
                      </a:rPr>
                      <m:t> </m:t>
                    </m:r>
                  </m:oMath>
                </a14:m>
                <a:r>
                  <a:rPr lang="en-US" dirty="0"/>
                  <a:t>and calculate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𝑎𝑗</m:t>
                        </m:r>
                      </m:sub>
                    </m:sSub>
                  </m:oMath>
                </a14:m>
                <a:r>
                  <a:rPr lang="en-US" dirty="0"/>
                  <a:t> for every possible comparison unit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=1,…,</m:t>
                    </m:r>
                    <m:r>
                      <a:rPr lang="en-US" b="0" i="1" smtClean="0">
                        <a:latin typeface="Cambria Math" panose="02040503050406030204" pitchFamily="18" charset="0"/>
                      </a:rPr>
                      <m:t>𝑁</m:t>
                    </m:r>
                  </m:oMath>
                </a14:m>
                <a:r>
                  <a:rPr lang="en-US" dirty="0"/>
                  <a:t>.</a:t>
                </a:r>
              </a:p>
              <a:p>
                <a:pPr marL="514350" indent="-514350">
                  <a:buAutoNum type="arabicPeriod"/>
                </a:pPr>
                <a:r>
                  <a:rPr lang="en-US" dirty="0"/>
                  <a:t>Determine the closest match. Put this match aside.</a:t>
                </a:r>
              </a:p>
              <a:p>
                <a:pPr marL="514350" indent="-514350">
                  <a:buAutoNum type="arabicPeriod"/>
                </a:pPr>
                <a:r>
                  <a:rPr lang="en-US" dirty="0"/>
                  <a:t>Repeat #2 and #3 with the next intervention unit </a:t>
                </a:r>
                <a14:m>
                  <m:oMath xmlns:m="http://schemas.openxmlformats.org/officeDocument/2006/math">
                    <m:r>
                      <a:rPr lang="en-US" b="0" i="1" smtClean="0">
                        <a:latin typeface="Cambria Math" panose="02040503050406030204" pitchFamily="18" charset="0"/>
                      </a:rPr>
                      <m:t>𝑏</m:t>
                    </m:r>
                  </m:oMath>
                </a14:m>
                <a:r>
                  <a:rPr lang="en-US" dirty="0"/>
                  <a:t>. </a:t>
                </a:r>
              </a:p>
              <a:p>
                <a:pPr marL="514350" indent="-514350">
                  <a:buAutoNum type="arabicPeriod"/>
                </a:pPr>
                <a:r>
                  <a:rPr lang="en-US" dirty="0"/>
                  <a:t>Continue until matches for all possible intervention group units are found. </a:t>
                </a:r>
              </a:p>
              <a:p>
                <a:pPr marL="0" indent="0">
                  <a:buNone/>
                </a:pPr>
                <a:endParaRPr lang="en-US" dirty="0"/>
              </a:p>
            </p:txBody>
          </p:sp>
        </mc:Choice>
        <mc:Fallback>
          <p:sp>
            <p:nvSpPr>
              <p:cNvPr id="3" name="Content Placeholder 2">
                <a:extLst>
                  <a:ext uri="{FF2B5EF4-FFF2-40B4-BE49-F238E27FC236}">
                    <a16:creationId xmlns:a16="http://schemas.microsoft.com/office/drawing/2014/main" id="{9B8D2CD7-08E1-754E-9E7A-98B4215850D9}"/>
                  </a:ext>
                </a:extLst>
              </p:cNvPr>
              <p:cNvSpPr>
                <a:spLocks noGrp="1" noRot="1" noChangeAspect="1" noMove="1" noResize="1" noEditPoints="1" noAdjustHandles="1" noChangeArrowheads="1" noChangeShapeType="1" noTextEdit="1"/>
              </p:cNvSpPr>
              <p:nvPr>
                <p:ph idx="1"/>
              </p:nvPr>
            </p:nvSpPr>
            <p:spPr>
              <a:blipFill>
                <a:blip r:embed="rId2"/>
                <a:stretch>
                  <a:fillRect l="-1206" t="-2616" r="-241"/>
                </a:stretch>
              </a:blipFill>
            </p:spPr>
            <p:txBody>
              <a:bodyPr/>
              <a:lstStyle/>
              <a:p>
                <a:r>
                  <a:rPr lang="en-US">
                    <a:noFill/>
                  </a:rPr>
                  <a:t> </a:t>
                </a:r>
              </a:p>
            </p:txBody>
          </p:sp>
        </mc:Fallback>
      </mc:AlternateContent>
    </p:spTree>
    <p:extLst>
      <p:ext uri="{BB962C8B-B14F-4D97-AF65-F5344CB8AC3E}">
        <p14:creationId xmlns:p14="http://schemas.microsoft.com/office/powerpoint/2010/main" val="1455862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2ADF-D819-BC4A-B98B-DCB8F7660FB0}"/>
              </a:ext>
            </a:extLst>
          </p:cNvPr>
          <p:cNvSpPr>
            <a:spLocks noGrp="1"/>
          </p:cNvSpPr>
          <p:nvPr>
            <p:ph type="title"/>
          </p:nvPr>
        </p:nvSpPr>
        <p:spPr/>
        <p:txBody>
          <a:bodyPr/>
          <a:lstStyle/>
          <a:p>
            <a:r>
              <a:rPr lang="en-US" dirty="0"/>
              <a:t>Variations</a:t>
            </a:r>
          </a:p>
        </p:txBody>
      </p:sp>
      <p:sp>
        <p:nvSpPr>
          <p:cNvPr id="3" name="Content Placeholder 2">
            <a:extLst>
              <a:ext uri="{FF2B5EF4-FFF2-40B4-BE49-F238E27FC236}">
                <a16:creationId xmlns:a16="http://schemas.microsoft.com/office/drawing/2014/main" id="{B482FB2A-51E1-5541-95B7-F21A088CC75A}"/>
              </a:ext>
            </a:extLst>
          </p:cNvPr>
          <p:cNvSpPr>
            <a:spLocks noGrp="1"/>
          </p:cNvSpPr>
          <p:nvPr>
            <p:ph idx="1"/>
          </p:nvPr>
        </p:nvSpPr>
        <p:spPr/>
        <p:txBody>
          <a:bodyPr>
            <a:normAutofit fontScale="92500" lnSpcReduction="10000"/>
          </a:bodyPr>
          <a:lstStyle/>
          <a:p>
            <a:pPr marL="0" indent="0">
              <a:buNone/>
            </a:pPr>
            <a:r>
              <a:rPr lang="en-US" dirty="0"/>
              <a:t>There are *many* variations to this approach:</a:t>
            </a:r>
          </a:p>
          <a:p>
            <a:r>
              <a:rPr lang="en-US" dirty="0"/>
              <a:t>You could match each intervention unit with multiple comparison units (“k to 1 matching”)</a:t>
            </a:r>
          </a:p>
          <a:p>
            <a:r>
              <a:rPr lang="en-US" dirty="0"/>
              <a:t>You could allow the same comparison group unit to be used as a match for multiple intervention group units (“matching with replacement”).</a:t>
            </a:r>
          </a:p>
          <a:p>
            <a:r>
              <a:rPr lang="en-US" dirty="0"/>
              <a:t>You could randomize the order in which you match, then do this multiple times, looking for the matching combination with the overall smallest distances (“full matching” or “genetic matching”).</a:t>
            </a:r>
          </a:p>
          <a:p>
            <a:pPr marL="0" indent="0">
              <a:buNone/>
            </a:pPr>
            <a:endParaRPr lang="en-US" dirty="0"/>
          </a:p>
          <a:p>
            <a:pPr marL="0" indent="0">
              <a:buNone/>
            </a:pPr>
            <a:r>
              <a:rPr lang="en-US" dirty="0"/>
              <a:t>These can result in better matches and improved precision, but they require more complex analytic models. </a:t>
            </a:r>
          </a:p>
        </p:txBody>
      </p:sp>
    </p:spTree>
    <p:extLst>
      <p:ext uri="{BB962C8B-B14F-4D97-AF65-F5344CB8AC3E}">
        <p14:creationId xmlns:p14="http://schemas.microsoft.com/office/powerpoint/2010/main" val="807851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CC267-7D2D-4448-B498-440035A5B878}"/>
              </a:ext>
            </a:extLst>
          </p:cNvPr>
          <p:cNvSpPr>
            <a:spLocks noGrp="1"/>
          </p:cNvSpPr>
          <p:nvPr>
            <p:ph type="title"/>
          </p:nvPr>
        </p:nvSpPr>
        <p:spPr/>
        <p:txBody>
          <a:bodyPr/>
          <a:lstStyle/>
          <a:p>
            <a:r>
              <a:rPr lang="en-US" dirty="0"/>
              <a:t>Pay attention to common support problems</a:t>
            </a:r>
          </a:p>
        </p:txBody>
      </p:sp>
      <p:sp>
        <p:nvSpPr>
          <p:cNvPr id="3" name="Content Placeholder 2">
            <a:extLst>
              <a:ext uri="{FF2B5EF4-FFF2-40B4-BE49-F238E27FC236}">
                <a16:creationId xmlns:a16="http://schemas.microsoft.com/office/drawing/2014/main" id="{4A49C74B-B345-2042-AF6E-04214A476DA8}"/>
              </a:ext>
            </a:extLst>
          </p:cNvPr>
          <p:cNvSpPr>
            <a:spLocks noGrp="1"/>
          </p:cNvSpPr>
          <p:nvPr>
            <p:ph idx="1"/>
          </p:nvPr>
        </p:nvSpPr>
        <p:spPr/>
        <p:txBody>
          <a:bodyPr>
            <a:normAutofit lnSpcReduction="10000"/>
          </a:bodyPr>
          <a:lstStyle/>
          <a:p>
            <a:pPr marL="0" indent="0">
              <a:buNone/>
            </a:pPr>
            <a:r>
              <a:rPr lang="en-US" dirty="0"/>
              <a:t>This is a fancy way of saying that the comparison group units available for matching are *very* different than those in the intervention group.</a:t>
            </a:r>
          </a:p>
          <a:p>
            <a:pPr marL="0" indent="0">
              <a:buNone/>
            </a:pPr>
            <a:endParaRPr lang="en-US" dirty="0"/>
          </a:p>
          <a:p>
            <a:pPr marL="0" indent="0">
              <a:buNone/>
            </a:pPr>
            <a:r>
              <a:rPr lang="en-US" dirty="0"/>
              <a:t>For example, maybe our workshop includes researchers with a very high interest in research design, very high comfort with math, and many years of experience, but that the available comparison group researchers we have are much less interested, comfortable, and experienced.</a:t>
            </a:r>
          </a:p>
          <a:p>
            <a:pPr marL="0" indent="0">
              <a:buNone/>
            </a:pPr>
            <a:endParaRPr lang="en-US" dirty="0"/>
          </a:p>
          <a:p>
            <a:pPr marL="0" indent="0">
              <a:buNone/>
            </a:pPr>
            <a:r>
              <a:rPr lang="en-US" dirty="0"/>
              <a:t>We can’t match our way out of this. </a:t>
            </a:r>
          </a:p>
        </p:txBody>
      </p:sp>
    </p:spTree>
    <p:extLst>
      <p:ext uri="{BB962C8B-B14F-4D97-AF65-F5344CB8AC3E}">
        <p14:creationId xmlns:p14="http://schemas.microsoft.com/office/powerpoint/2010/main" val="3536959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A7D3-5A96-2646-B004-829D8E05A036}"/>
              </a:ext>
            </a:extLst>
          </p:cNvPr>
          <p:cNvSpPr>
            <a:spLocks noGrp="1"/>
          </p:cNvSpPr>
          <p:nvPr>
            <p:ph type="title"/>
          </p:nvPr>
        </p:nvSpPr>
        <p:spPr/>
        <p:txBody>
          <a:bodyPr/>
          <a:lstStyle/>
          <a:p>
            <a:r>
              <a:rPr lang="en-US" dirty="0"/>
              <a:t>Evaluating matching success</a:t>
            </a:r>
          </a:p>
        </p:txBody>
      </p:sp>
      <p:sp>
        <p:nvSpPr>
          <p:cNvPr id="3" name="Content Placeholder 2">
            <a:extLst>
              <a:ext uri="{FF2B5EF4-FFF2-40B4-BE49-F238E27FC236}">
                <a16:creationId xmlns:a16="http://schemas.microsoft.com/office/drawing/2014/main" id="{3864FE9B-95EF-384C-A160-8D5FE8B3B3A3}"/>
              </a:ext>
            </a:extLst>
          </p:cNvPr>
          <p:cNvSpPr>
            <a:spLocks noGrp="1"/>
          </p:cNvSpPr>
          <p:nvPr>
            <p:ph idx="1"/>
          </p:nvPr>
        </p:nvSpPr>
        <p:spPr/>
        <p:txBody>
          <a:bodyPr>
            <a:normAutofit/>
          </a:bodyPr>
          <a:lstStyle/>
          <a:p>
            <a:pPr marL="0" indent="0">
              <a:buNone/>
            </a:pPr>
            <a:r>
              <a:rPr lang="en-US" dirty="0"/>
              <a:t>Remember, at the end of the process, the goal is for the intervention and comparison groups to have similar </a:t>
            </a:r>
            <a:r>
              <a:rPr lang="en-US" i="1" dirty="0"/>
              <a:t>average covariate values</a:t>
            </a:r>
            <a:r>
              <a:rPr lang="en-US" dirty="0"/>
              <a:t>. </a:t>
            </a:r>
          </a:p>
          <a:p>
            <a:pPr marL="0" indent="0">
              <a:buNone/>
            </a:pPr>
            <a:endParaRPr lang="en-US" dirty="0"/>
          </a:p>
          <a:p>
            <a:pPr marL="0" indent="0">
              <a:buNone/>
            </a:pPr>
            <a:r>
              <a:rPr lang="en-US" dirty="0"/>
              <a:t>We need to verify this.</a:t>
            </a:r>
          </a:p>
          <a:p>
            <a:pPr marL="0" indent="0">
              <a:buNone/>
            </a:pPr>
            <a:endParaRPr lang="en-US" dirty="0"/>
          </a:p>
        </p:txBody>
      </p:sp>
    </p:spTree>
    <p:extLst>
      <p:ext uri="{BB962C8B-B14F-4D97-AF65-F5344CB8AC3E}">
        <p14:creationId xmlns:p14="http://schemas.microsoft.com/office/powerpoint/2010/main" val="4684364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7EE5-46EF-234B-B666-331D5F69D293}"/>
              </a:ext>
            </a:extLst>
          </p:cNvPr>
          <p:cNvSpPr>
            <a:spLocks noGrp="1"/>
          </p:cNvSpPr>
          <p:nvPr>
            <p:ph type="title"/>
          </p:nvPr>
        </p:nvSpPr>
        <p:spPr/>
        <p:txBody>
          <a:bodyPr/>
          <a:lstStyle/>
          <a:p>
            <a:r>
              <a:rPr lang="en-US" dirty="0"/>
              <a:t>Adequacy of matches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B512ECC-B0C6-8B4D-B29A-C0443354160F}"/>
                  </a:ext>
                </a:extLst>
              </p:cNvPr>
              <p:cNvSpPr>
                <a:spLocks noGrp="1"/>
              </p:cNvSpPr>
              <p:nvPr>
                <p:ph idx="1"/>
              </p:nvPr>
            </p:nvSpPr>
            <p:spPr/>
            <p:txBody>
              <a:bodyPr>
                <a:normAutofit fontScale="85000" lnSpcReduction="20000"/>
              </a:bodyPr>
              <a:lstStyle/>
              <a:p>
                <a:pPr marL="0" indent="0">
                  <a:buNone/>
                </a:pPr>
                <a:r>
                  <a:rPr lang="en-US" dirty="0"/>
                  <a:t>To do so, for each covariate </a:t>
                </a:r>
                <a14:m>
                  <m:oMath xmlns:m="http://schemas.openxmlformats.org/officeDocument/2006/math">
                    <m:r>
                      <a:rPr lang="en-US" b="0" i="1" smtClean="0">
                        <a:latin typeface="Cambria Math" panose="02040503050406030204" pitchFamily="18" charset="0"/>
                      </a:rPr>
                      <m:t>𝑖</m:t>
                    </m:r>
                    <m:r>
                      <a:rPr lang="en-US" b="0" i="0"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𝑘</m:t>
                    </m:r>
                  </m:oMath>
                </a14:m>
                <a:r>
                  <a:rPr lang="en-US" dirty="0"/>
                  <a:t>, we can calculate the standardized mean difference: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𝑖𝑡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𝑖𝑐</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𝑝𝑖</m:t>
                              </m:r>
                            </m:sub>
                          </m:sSub>
                        </m:den>
                      </m:f>
                    </m:oMath>
                  </m:oMathPara>
                </a14:m>
                <a:endParaRPr lang="en-US" dirty="0"/>
              </a:p>
              <a:p>
                <a:pPr marL="0" indent="0">
                  <a:buNone/>
                </a:pPr>
                <a:r>
                  <a:rPr lang="en-US" dirty="0"/>
                  <a:t>Where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𝑝𝑖</m:t>
                        </m:r>
                      </m:sub>
                      <m:sup>
                        <m:r>
                          <a:rPr lang="en-US" b="0" i="1" smtClean="0">
                            <a:latin typeface="Cambria Math" panose="02040503050406030204" pitchFamily="18" charset="0"/>
                          </a:rPr>
                          <m:t>2</m:t>
                        </m:r>
                      </m:sup>
                    </m:sSubSup>
                  </m:oMath>
                </a14:m>
                <a:r>
                  <a:rPr lang="en-US" dirty="0"/>
                  <a:t> is the pooled variance across the two groups for that covariate. </a:t>
                </a:r>
              </a:p>
              <a:p>
                <a:pPr marL="0" indent="0">
                  <a:buNone/>
                </a:pPr>
                <a:endParaRPr lang="en-US" dirty="0"/>
              </a:p>
              <a:p>
                <a:pPr marL="0" indent="0">
                  <a:buNone/>
                </a:pPr>
                <a:r>
                  <a:rPr lang="en-US" dirty="0"/>
                  <a:t>The matches are generally considered adequate if the absolute value of these differences are small, i.e.,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&lt;0.10</m:t>
                      </m:r>
                    </m:oMath>
                  </m:oMathPara>
                </a14:m>
                <a:endParaRPr lang="en-US" dirty="0"/>
              </a:p>
              <a:p>
                <a:pPr marL="0" indent="0">
                  <a:buNone/>
                </a:pPr>
                <a:endParaRPr lang="en-US" dirty="0"/>
              </a:p>
              <a:p>
                <a:pPr marL="0" indent="0">
                  <a:buNone/>
                </a:pPr>
                <a:r>
                  <a:rPr lang="en-US" dirty="0"/>
                  <a:t>If these differences are not quite this small, but </a:t>
                </a:r>
                <a14:m>
                  <m:oMath xmlns:m="http://schemas.openxmlformats.org/officeDocument/2006/math">
                    <m:r>
                      <a:rPr lang="en-US" b="0" i="0" smtClean="0">
                        <a:latin typeface="Cambria Math" panose="02040503050406030204" pitchFamily="18" charset="0"/>
                      </a:rPr>
                      <m:t>0.10&lt;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&lt;0.</m:t>
                    </m:r>
                    <m:r>
                      <a:rPr lang="en-US" b="0" i="1" smtClean="0">
                        <a:latin typeface="Cambria Math" panose="02040503050406030204" pitchFamily="18" charset="0"/>
                      </a:rPr>
                      <m:t>25</m:t>
                    </m:r>
                  </m:oMath>
                </a14:m>
                <a:r>
                  <a:rPr lang="en-US" dirty="0"/>
                  <a:t>, then statistical adjustments (e.g., regression) can be used in combination with matching.</a:t>
                </a:r>
              </a:p>
              <a:p>
                <a:pPr marL="0" indent="0">
                  <a:buNone/>
                </a:pPr>
                <a:endParaRPr lang="en-US" dirty="0"/>
              </a:p>
            </p:txBody>
          </p:sp>
        </mc:Choice>
        <mc:Fallback>
          <p:sp>
            <p:nvSpPr>
              <p:cNvPr id="3" name="Content Placeholder 2">
                <a:extLst>
                  <a:ext uri="{FF2B5EF4-FFF2-40B4-BE49-F238E27FC236}">
                    <a16:creationId xmlns:a16="http://schemas.microsoft.com/office/drawing/2014/main" id="{2B512ECC-B0C6-8B4D-B29A-C0443354160F}"/>
                  </a:ext>
                </a:extLst>
              </p:cNvPr>
              <p:cNvSpPr>
                <a:spLocks noGrp="1" noRot="1" noChangeAspect="1" noMove="1" noResize="1" noEditPoints="1" noAdjustHandles="1" noChangeArrowheads="1" noChangeShapeType="1" noTextEdit="1"/>
              </p:cNvSpPr>
              <p:nvPr>
                <p:ph idx="1"/>
              </p:nvPr>
            </p:nvSpPr>
            <p:spPr>
              <a:blipFill>
                <a:blip r:embed="rId2"/>
                <a:stretch>
                  <a:fillRect l="-965" t="-3198" r="-121"/>
                </a:stretch>
              </a:blipFill>
            </p:spPr>
            <p:txBody>
              <a:bodyPr/>
              <a:lstStyle/>
              <a:p>
                <a:r>
                  <a:rPr lang="en-US">
                    <a:noFill/>
                  </a:rPr>
                  <a:t> </a:t>
                </a:r>
              </a:p>
            </p:txBody>
          </p:sp>
        </mc:Fallback>
      </mc:AlternateContent>
    </p:spTree>
    <p:extLst>
      <p:ext uri="{BB962C8B-B14F-4D97-AF65-F5344CB8AC3E}">
        <p14:creationId xmlns:p14="http://schemas.microsoft.com/office/powerpoint/2010/main" val="1384258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4764-AC3C-1F4F-95A6-3E5EB927171D}"/>
              </a:ext>
            </a:extLst>
          </p:cNvPr>
          <p:cNvSpPr>
            <a:spLocks noGrp="1"/>
          </p:cNvSpPr>
          <p:nvPr>
            <p:ph type="title"/>
          </p:nvPr>
        </p:nvSpPr>
        <p:spPr/>
        <p:txBody>
          <a:bodyPr/>
          <a:lstStyle/>
          <a:p>
            <a:r>
              <a:rPr lang="en-US" dirty="0"/>
              <a:t>What if matches aren’t very good?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79AFD6B-CF5A-9D42-9CF9-BB4441D9740A}"/>
                  </a:ext>
                </a:extLst>
              </p:cNvPr>
              <p:cNvSpPr>
                <a:spLocks noGrp="1"/>
              </p:cNvSpPr>
              <p:nvPr>
                <p:ph idx="1"/>
              </p:nvPr>
            </p:nvSpPr>
            <p:spPr/>
            <p:txBody>
              <a:bodyPr/>
              <a:lstStyle/>
              <a:p>
                <a:pPr marL="0" indent="0">
                  <a:buNone/>
                </a:pPr>
                <a:r>
                  <a:rPr lang="en-US" dirty="0"/>
                  <a:t>What if there are some covariates with large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oMath>
                </a14:m>
                <a:r>
                  <a:rPr lang="en-US" dirty="0"/>
                  <a:t> values? </a:t>
                </a:r>
              </a:p>
              <a:p>
                <a:pPr marL="0" indent="0">
                  <a:buNone/>
                </a:pPr>
                <a:endParaRPr lang="en-US" dirty="0"/>
              </a:p>
              <a:p>
                <a:pPr marL="0" indent="0">
                  <a:buNone/>
                </a:pPr>
                <a:r>
                  <a:rPr lang="en-US" dirty="0"/>
                  <a:t>You may need to either:</a:t>
                </a:r>
              </a:p>
              <a:p>
                <a:r>
                  <a:rPr lang="en-US" dirty="0"/>
                  <a:t>Go back to your matches and attempt to find better ones (prioritizing this covariate)</a:t>
                </a:r>
              </a:p>
              <a:p>
                <a:r>
                  <a:rPr lang="en-US" dirty="0"/>
                  <a:t>Gather more potential comparison group options</a:t>
                </a:r>
              </a:p>
              <a:p>
                <a:r>
                  <a:rPr lang="en-US" dirty="0"/>
                  <a:t>Combine matching with regression adjustment – but noting that there are large baseline differences that threaten the utility of this method</a:t>
                </a:r>
              </a:p>
            </p:txBody>
          </p:sp>
        </mc:Choice>
        <mc:Fallback>
          <p:sp>
            <p:nvSpPr>
              <p:cNvPr id="3" name="Content Placeholder 2">
                <a:extLst>
                  <a:ext uri="{FF2B5EF4-FFF2-40B4-BE49-F238E27FC236}">
                    <a16:creationId xmlns:a16="http://schemas.microsoft.com/office/drawing/2014/main" id="{B79AFD6B-CF5A-9D42-9CF9-BB4441D9740A}"/>
                  </a:ext>
                </a:extLst>
              </p:cNvPr>
              <p:cNvSpPr>
                <a:spLocks noGrp="1" noRot="1" noChangeAspect="1" noMove="1" noResize="1" noEditPoints="1" noAdjustHandles="1" noChangeArrowheads="1" noChangeShapeType="1" noTextEdit="1"/>
              </p:cNvSpPr>
              <p:nvPr>
                <p:ph idx="1"/>
              </p:nvPr>
            </p:nvSpPr>
            <p:spPr>
              <a:blipFill>
                <a:blip r:embed="rId2"/>
                <a:stretch>
                  <a:fillRect l="-1206" t="-2326" r="-724"/>
                </a:stretch>
              </a:blipFill>
            </p:spPr>
            <p:txBody>
              <a:bodyPr/>
              <a:lstStyle/>
              <a:p>
                <a:r>
                  <a:rPr lang="en-US">
                    <a:noFill/>
                  </a:rPr>
                  <a:t> </a:t>
                </a:r>
              </a:p>
            </p:txBody>
          </p:sp>
        </mc:Fallback>
      </mc:AlternateContent>
    </p:spTree>
    <p:extLst>
      <p:ext uri="{BB962C8B-B14F-4D97-AF65-F5344CB8AC3E}">
        <p14:creationId xmlns:p14="http://schemas.microsoft.com/office/powerpoint/2010/main" val="1764097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9A44-2191-154E-B4F3-D7F75E755677}"/>
              </a:ext>
            </a:extLst>
          </p:cNvPr>
          <p:cNvSpPr>
            <a:spLocks noGrp="1"/>
          </p:cNvSpPr>
          <p:nvPr>
            <p:ph type="title"/>
          </p:nvPr>
        </p:nvSpPr>
        <p:spPr>
          <a:xfrm>
            <a:off x="699303" y="2766218"/>
            <a:ext cx="10515600" cy="1325563"/>
          </a:xfrm>
        </p:spPr>
        <p:txBody>
          <a:bodyPr/>
          <a:lstStyle/>
          <a:p>
            <a:pPr algn="ctr"/>
            <a:r>
              <a:rPr lang="en-US" dirty="0"/>
              <a:t>Statistical Adjustment Methods</a:t>
            </a:r>
          </a:p>
        </p:txBody>
      </p:sp>
    </p:spTree>
    <p:extLst>
      <p:ext uri="{BB962C8B-B14F-4D97-AF65-F5344CB8AC3E}">
        <p14:creationId xmlns:p14="http://schemas.microsoft.com/office/powerpoint/2010/main" val="4248620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FD4A1-A20A-E042-AA97-BD3784F65645}"/>
              </a:ext>
            </a:extLst>
          </p:cNvPr>
          <p:cNvSpPr>
            <a:spLocks noGrp="1"/>
          </p:cNvSpPr>
          <p:nvPr>
            <p:ph type="title"/>
          </p:nvPr>
        </p:nvSpPr>
        <p:spPr/>
        <p:txBody>
          <a:bodyPr/>
          <a:lstStyle/>
          <a:p>
            <a:r>
              <a:rPr lang="en-US" dirty="0"/>
              <a:t>Regression and ANCOVA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5D71CEF-5761-0142-ACA4-B0B39CD0F907}"/>
                  </a:ext>
                </a:extLst>
              </p:cNvPr>
              <p:cNvSpPr>
                <a:spLocks noGrp="1"/>
              </p:cNvSpPr>
              <p:nvPr>
                <p:ph idx="1"/>
              </p:nvPr>
            </p:nvSpPr>
            <p:spPr/>
            <p:txBody>
              <a:bodyPr>
                <a:normAutofit lnSpcReduction="10000"/>
              </a:bodyPr>
              <a:lstStyle/>
              <a:p>
                <a:pPr marL="0" indent="0">
                  <a:buNone/>
                </a:pPr>
                <a:r>
                  <a:rPr lang="en-US" dirty="0"/>
                  <a:t>Finally, you say – isn’t this the obvious approach? Shouldn’t we have skipped right to this?</a:t>
                </a:r>
              </a:p>
              <a:p>
                <a:pPr marL="0" indent="0">
                  <a:buNone/>
                </a:pPr>
                <a:endParaRPr lang="en-US" dirty="0"/>
              </a:p>
              <a:p>
                <a:pPr marL="0" indent="0">
                  <a:buNone/>
                </a:pPr>
                <a:r>
                  <a:rPr lang="en-US" dirty="0"/>
                  <a:t>We’ve saved this to later though, because:</a:t>
                </a:r>
              </a:p>
              <a:p>
                <a:r>
                  <a:rPr lang="en-US" dirty="0"/>
                  <a:t>It is obvious, and it can be useful, but it requires knowing the correct model </a:t>
                </a:r>
              </a:p>
              <a:p>
                <a:r>
                  <a:rPr lang="en-US" dirty="0"/>
                  <a:t>It works well when the two groups being compared are already similar to one another (e.g.,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&lt;0.</m:t>
                    </m:r>
                    <m:r>
                      <a:rPr lang="en-US" b="0" i="1" smtClean="0">
                        <a:latin typeface="Cambria Math" panose="02040503050406030204" pitchFamily="18" charset="0"/>
                      </a:rPr>
                      <m:t>25</m:t>
                    </m:r>
                  </m:oMath>
                </a14:m>
                <a:r>
                  <a:rPr lang="en-US" dirty="0"/>
                  <a:t> for all covariates)</a:t>
                </a:r>
              </a:p>
              <a:p>
                <a:r>
                  <a:rPr lang="en-US" dirty="0"/>
                  <a:t>It is so often used that it’s easy to think of it as hand-wavy magic, not recognizing its limitations</a:t>
                </a:r>
              </a:p>
              <a:p>
                <a:endParaRPr lang="en-US" dirty="0"/>
              </a:p>
            </p:txBody>
          </p:sp>
        </mc:Choice>
        <mc:Fallback>
          <p:sp>
            <p:nvSpPr>
              <p:cNvPr id="3" name="Content Placeholder 2">
                <a:extLst>
                  <a:ext uri="{FF2B5EF4-FFF2-40B4-BE49-F238E27FC236}">
                    <a16:creationId xmlns:a16="http://schemas.microsoft.com/office/drawing/2014/main" id="{35D71CEF-5761-0142-ACA4-B0B39CD0F907}"/>
                  </a:ext>
                </a:extLst>
              </p:cNvPr>
              <p:cNvSpPr>
                <a:spLocks noGrp="1" noRot="1" noChangeAspect="1" noMove="1" noResize="1" noEditPoints="1" noAdjustHandles="1" noChangeArrowheads="1" noChangeShapeType="1" noTextEdit="1"/>
              </p:cNvSpPr>
              <p:nvPr>
                <p:ph idx="1"/>
              </p:nvPr>
            </p:nvSpPr>
            <p:spPr>
              <a:blipFill>
                <a:blip r:embed="rId2"/>
                <a:stretch>
                  <a:fillRect l="-1206" t="-3198" r="-362"/>
                </a:stretch>
              </a:blipFill>
            </p:spPr>
            <p:txBody>
              <a:bodyPr/>
              <a:lstStyle/>
              <a:p>
                <a:r>
                  <a:rPr lang="en-US">
                    <a:noFill/>
                  </a:rPr>
                  <a:t> </a:t>
                </a:r>
              </a:p>
            </p:txBody>
          </p:sp>
        </mc:Fallback>
      </mc:AlternateContent>
    </p:spTree>
    <p:extLst>
      <p:ext uri="{BB962C8B-B14F-4D97-AF65-F5344CB8AC3E}">
        <p14:creationId xmlns:p14="http://schemas.microsoft.com/office/powerpoint/2010/main" val="4077946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9CC72-2CCA-3343-AC37-699AEE69D2E4}"/>
              </a:ext>
            </a:extLst>
          </p:cNvPr>
          <p:cNvSpPr>
            <a:spLocks noGrp="1"/>
          </p:cNvSpPr>
          <p:nvPr>
            <p:ph type="title"/>
          </p:nvPr>
        </p:nvSpPr>
        <p:spPr/>
        <p:txBody>
          <a:bodyPr/>
          <a:lstStyle/>
          <a:p>
            <a:r>
              <a:rPr lang="en-US" dirty="0"/>
              <a:t>A simple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CA6F77-520F-2947-8212-9628EF6D1EA5}"/>
                  </a:ext>
                </a:extLst>
              </p:cNvPr>
              <p:cNvSpPr>
                <a:spLocks noGrp="1"/>
              </p:cNvSpPr>
              <p:nvPr>
                <p:ph idx="1"/>
              </p:nvPr>
            </p:nvSpPr>
            <p:spPr/>
            <p:txBody>
              <a:bodyPr/>
              <a:lstStyle/>
              <a:p>
                <a:pPr marL="0" indent="0">
                  <a:buNone/>
                </a:pPr>
                <a:r>
                  <a:rPr lang="en-US" dirty="0"/>
                  <a:t>Let’s say we’ve got just two covariates – e.g., years of experience and comfort with math. </a:t>
                </a:r>
              </a:p>
              <a:p>
                <a:pPr marL="0" indent="0">
                  <a:buNone/>
                </a:pPr>
                <a:endParaRPr lang="en-US" dirty="0"/>
              </a:p>
              <a:p>
                <a:pPr marL="0" indent="0">
                  <a:buNone/>
                </a:pPr>
                <a:r>
                  <a:rPr lang="en-US" dirty="0"/>
                  <a:t>We could simply:</a:t>
                </a:r>
              </a:p>
              <a:p>
                <a:pPr marL="0" indent="0">
                  <a:buNone/>
                </a:pPr>
                <a:r>
                  <a:rPr lang="en-US" dirty="0"/>
                  <a:t>1. Include them in a regression model,</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b="0" i="1" smtClean="0">
                          <a:latin typeface="Cambria Math" panose="02040503050406030204" pitchFamily="18" charset="0"/>
                        </a:rPr>
                        <m:t>𝛽</m:t>
                      </m:r>
                      <m:sSub>
                        <m:sSubPr>
                          <m:ctrlPr>
                            <a:rPr lang="en-US" i="1"/>
                          </m:ctrlPr>
                        </m:sSubPr>
                        <m:e>
                          <m:r>
                            <a:rPr lang="en-US" b="0" i="1" smtClean="0">
                              <a:latin typeface="Cambria Math" panose="02040503050406030204" pitchFamily="18" charset="0"/>
                            </a:rPr>
                            <m:t>𝑇</m:t>
                          </m:r>
                        </m:e>
                        <m:sub>
                          <m:r>
                            <a:rPr lang="en-US" i="1"/>
                            <m:t>𝑖</m:t>
                          </m:r>
                        </m:sub>
                      </m:sSub>
                      <m:r>
                        <a:rPr lang="en-US" i="1"/>
                        <m:t>+</m:t>
                      </m:r>
                      <m:sSub>
                        <m:sSubPr>
                          <m:ctrlPr>
                            <a:rPr lang="en-US" i="1"/>
                          </m:ctrlPr>
                        </m:sSubPr>
                        <m:e>
                          <m:r>
                            <a:rPr lang="en-US" b="0" i="1" smtClean="0">
                              <a:latin typeface="Cambria Math" panose="02040503050406030204" pitchFamily="18" charset="0"/>
                            </a:rPr>
                            <m:t>𝛾</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b="0" i="1" smtClean="0">
                              <a:latin typeface="Cambria Math" panose="02040503050406030204" pitchFamily="18" charset="0"/>
                            </a:rPr>
                            <m:t>𝛾</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𝜖</m:t>
                          </m:r>
                        </m:e>
                        <m:sub>
                          <m:r>
                            <a:rPr lang="en-US" i="1"/>
                            <m:t>𝑖</m:t>
                          </m:r>
                        </m:sub>
                      </m:sSub>
                    </m:oMath>
                  </m:oMathPara>
                </a14:m>
                <a:endParaRPr lang="en-US" dirty="0"/>
              </a:p>
              <a:p>
                <a:pPr marL="0" indent="0">
                  <a:buNone/>
                </a:pPr>
                <a:r>
                  <a:rPr lang="en-US" dirty="0"/>
                  <a:t>2. Estimate </a:t>
                </a:r>
                <a14:m>
                  <m:oMath xmlns:m="http://schemas.openxmlformats.org/officeDocument/2006/math">
                    <m:r>
                      <a:rPr lang="en-US" b="0" i="1" smtClean="0">
                        <a:latin typeface="Cambria Math" panose="02040503050406030204" pitchFamily="18" charset="0"/>
                      </a:rPr>
                      <m:t>𝛽</m:t>
                    </m:r>
                  </m:oMath>
                </a14:m>
                <a:r>
                  <a:rPr lang="en-US" dirty="0"/>
                  <a:t> using this model</a:t>
                </a:r>
              </a:p>
              <a:p>
                <a:pPr marL="0" indent="0">
                  <a:buNone/>
                </a:pPr>
                <a:r>
                  <a:rPr lang="en-US" dirty="0"/>
                  <a:t>3. Assume that we’ve got the right covariates (no omitted variables), and voila – done! </a:t>
                </a:r>
              </a:p>
            </p:txBody>
          </p:sp>
        </mc:Choice>
        <mc:Fallback>
          <p:sp>
            <p:nvSpPr>
              <p:cNvPr id="3" name="Content Placeholder 2">
                <a:extLst>
                  <a:ext uri="{FF2B5EF4-FFF2-40B4-BE49-F238E27FC236}">
                    <a16:creationId xmlns:a16="http://schemas.microsoft.com/office/drawing/2014/main" id="{B4CA6F77-520F-2947-8212-9628EF6D1EA5}"/>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552752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EBD2-B03F-5F4E-95D7-2D3EDC17C7B6}"/>
              </a:ext>
            </a:extLst>
          </p:cNvPr>
          <p:cNvSpPr>
            <a:spLocks noGrp="1"/>
          </p:cNvSpPr>
          <p:nvPr>
            <p:ph type="title"/>
          </p:nvPr>
        </p:nvSpPr>
        <p:spPr/>
        <p:txBody>
          <a:bodyPr/>
          <a:lstStyle/>
          <a:p>
            <a:r>
              <a:rPr lang="en-US" dirty="0"/>
              <a:t>But there are many other possible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47C772A-8183-6448-A40A-0389AFB73203}"/>
                  </a:ext>
                </a:extLst>
              </p:cNvPr>
              <p:cNvSpPr>
                <a:spLocks noGrp="1"/>
              </p:cNvSpPr>
              <p:nvPr>
                <p:ph idx="1"/>
              </p:nvPr>
            </p:nvSpPr>
            <p:spPr/>
            <p:txBody>
              <a:bodyPr>
                <a:normAutofit lnSpcReduction="10000"/>
              </a:bodyPr>
              <a:lstStyle/>
              <a:p>
                <a:pPr marL="0" indent="0">
                  <a:buNone/>
                </a:pPr>
                <a:r>
                  <a:rPr lang="en-US" dirty="0"/>
                  <a:t>Model 2: Linear, additive covariate effects, </a:t>
                </a:r>
                <a:r>
                  <a:rPr lang="en-US" i="1" dirty="0"/>
                  <a:t>non-</a:t>
                </a:r>
                <a:r>
                  <a:rPr lang="en-US" dirty="0"/>
                  <a:t>additive treatment</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i="1"/>
                        <m:t>𝛾</m:t>
                      </m:r>
                      <m:sSub>
                        <m:sSubPr>
                          <m:ctrlPr>
                            <a:rPr lang="en-US" i="1"/>
                          </m:ctrlPr>
                        </m:sSubPr>
                        <m:e>
                          <m:r>
                            <a:rPr lang="en-US" i="1"/>
                            <m:t>𝑇</m:t>
                          </m:r>
                        </m:e>
                        <m:sub>
                          <m:r>
                            <a:rPr lang="en-US" i="1"/>
                            <m:t>𝑖</m:t>
                          </m:r>
                        </m:sub>
                      </m:sSub>
                      <m:r>
                        <a:rPr lang="en-US" i="1"/>
                        <m:t>+</m:t>
                      </m:r>
                      <m:sSub>
                        <m:sSubPr>
                          <m:ctrlPr>
                            <a:rPr lang="en-US" i="1"/>
                          </m:ctrlPr>
                        </m:sSubPr>
                        <m:e>
                          <m:r>
                            <a:rPr lang="en-US" i="1"/>
                            <m:t>𝛽</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
                        <m:sSubPr>
                          <m:ctrlPr>
                            <a:rPr lang="en-US" i="1"/>
                          </m:ctrlPr>
                        </m:sSubPr>
                        <m:e>
                          <m:r>
                            <a:rPr lang="en-US" i="1"/>
                            <m:t>𝑇</m:t>
                          </m:r>
                        </m:e>
                        <m:sub>
                          <m:r>
                            <a:rPr lang="en-US" i="1"/>
                            <m:t>𝑖</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4</m:t>
                          </m:r>
                        </m:sub>
                      </m:sSub>
                      <m:sSub>
                        <m:sSubPr>
                          <m:ctrlPr>
                            <a:rPr lang="en-US" i="1"/>
                          </m:ctrlPr>
                        </m:sSubPr>
                        <m:e>
                          <m:r>
                            <a:rPr lang="en-US" i="1"/>
                            <m:t>𝑇</m:t>
                          </m:r>
                        </m:e>
                        <m:sub>
                          <m:r>
                            <a:rPr lang="en-US" i="1"/>
                            <m:t>𝑖</m:t>
                          </m:r>
                        </m:sub>
                      </m:sSub>
                      <m:sSub>
                        <m:sSubPr>
                          <m:ctrlPr>
                            <a:rPr lang="en-US" i="1"/>
                          </m:ctrlPr>
                        </m:sSubPr>
                        <m:e>
                          <m:r>
                            <a:rPr lang="en-US" i="1"/>
                            <m:t>𝑋</m:t>
                          </m:r>
                        </m:e>
                        <m:sub>
                          <m:r>
                            <a:rPr lang="en-US" i="1"/>
                            <m:t>2</m:t>
                          </m:r>
                          <m:r>
                            <a:rPr lang="en-US" i="1"/>
                            <m:t>𝑖</m:t>
                          </m:r>
                        </m:sub>
                      </m:sSub>
                      <m:sSub>
                        <m:sSubPr>
                          <m:ctrlPr>
                            <a:rPr lang="en-US" i="1"/>
                          </m:ctrlPr>
                        </m:sSubPr>
                        <m:e>
                          <m:r>
                            <a:rPr lang="en-US" i="1"/>
                            <m:t>+ </m:t>
                          </m:r>
                          <m:r>
                            <a:rPr lang="en-US" i="1"/>
                            <m:t>𝜖</m:t>
                          </m:r>
                        </m:e>
                        <m:sub>
                          <m:r>
                            <a:rPr lang="en-US" i="1"/>
                            <m:t>𝑖</m:t>
                          </m:r>
                        </m:sub>
                      </m:sSub>
                    </m:oMath>
                  </m:oMathPara>
                </a14:m>
                <a:endParaRPr lang="en-US" dirty="0"/>
              </a:p>
              <a:p>
                <a:pPr marL="0" indent="0">
                  <a:buNone/>
                </a:pPr>
                <a:r>
                  <a:rPr lang="en-US" dirty="0"/>
                  <a:t> </a:t>
                </a:r>
              </a:p>
              <a:p>
                <a:pPr marL="0" indent="0">
                  <a:buNone/>
                </a:pPr>
                <a:r>
                  <a:rPr lang="en-US" dirty="0"/>
                  <a:t>Model 3: Quadratic effects with interaction, additive treatment</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i="1"/>
                        <m:t>𝛾</m:t>
                      </m:r>
                      <m:sSub>
                        <m:sSubPr>
                          <m:ctrlPr>
                            <a:rPr lang="en-US" i="1"/>
                          </m:ctrlPr>
                        </m:sSubPr>
                        <m:e>
                          <m:r>
                            <a:rPr lang="en-US" i="1"/>
                            <m:t>𝑇</m:t>
                          </m:r>
                        </m:e>
                        <m:sub>
                          <m:r>
                            <a:rPr lang="en-US" i="1"/>
                            <m:t>𝑖</m:t>
                          </m:r>
                        </m:sub>
                      </m:sSub>
                      <m:r>
                        <a:rPr lang="en-US" i="1"/>
                        <m:t>+</m:t>
                      </m:r>
                      <m:sSub>
                        <m:sSubPr>
                          <m:ctrlPr>
                            <a:rPr lang="en-US" i="1"/>
                          </m:ctrlPr>
                        </m:sSubPr>
                        <m:e>
                          <m:r>
                            <a:rPr lang="en-US" i="1"/>
                            <m:t>𝛽</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Sup>
                        <m:sSubSupPr>
                          <m:ctrlPr>
                            <a:rPr lang="en-US" i="1"/>
                          </m:ctrlPr>
                        </m:sSubSupPr>
                        <m:e>
                          <m:r>
                            <a:rPr lang="en-US" i="1"/>
                            <m:t>𝑋</m:t>
                          </m:r>
                        </m:e>
                        <m:sub>
                          <m:r>
                            <a:rPr lang="en-US" i="1"/>
                            <m:t>1</m:t>
                          </m:r>
                          <m:r>
                            <a:rPr lang="en-US" i="1"/>
                            <m:t>𝑖</m:t>
                          </m:r>
                        </m:sub>
                        <m:sup>
                          <m:r>
                            <a:rPr lang="en-US" i="1"/>
                            <m:t>2</m:t>
                          </m:r>
                        </m:sup>
                      </m:sSubSup>
                      <m:r>
                        <a:rPr lang="en-US" i="1"/>
                        <m:t>+</m:t>
                      </m:r>
                      <m:sSub>
                        <m:sSubPr>
                          <m:ctrlPr>
                            <a:rPr lang="en-US" i="1"/>
                          </m:ctrlPr>
                        </m:sSubPr>
                        <m:e>
                          <m:r>
                            <a:rPr lang="en-US" i="1"/>
                            <m:t>𝛽</m:t>
                          </m:r>
                        </m:e>
                        <m:sub>
                          <m:r>
                            <a:rPr lang="en-US" i="1"/>
                            <m:t>4</m:t>
                          </m:r>
                        </m:sub>
                      </m:sSub>
                      <m:sSubSup>
                        <m:sSubSupPr>
                          <m:ctrlPr>
                            <a:rPr lang="en-US" i="1"/>
                          </m:ctrlPr>
                        </m:sSubSupPr>
                        <m:e>
                          <m:r>
                            <a:rPr lang="en-US" i="1"/>
                            <m:t>𝑋</m:t>
                          </m:r>
                        </m:e>
                        <m:sub>
                          <m:r>
                            <a:rPr lang="en-US" i="1"/>
                            <m:t>2</m:t>
                          </m:r>
                          <m:r>
                            <a:rPr lang="en-US" i="1"/>
                            <m:t>𝑖</m:t>
                          </m:r>
                        </m:sub>
                        <m:sup>
                          <m:r>
                            <a:rPr lang="en-US" i="1"/>
                            <m:t>2</m:t>
                          </m:r>
                        </m:sup>
                      </m:sSubSup>
                      <m:sSub>
                        <m:sSubPr>
                          <m:ctrlPr>
                            <a:rPr lang="en-US" i="1"/>
                          </m:ctrlPr>
                        </m:sSubPr>
                        <m:e>
                          <m:r>
                            <a:rPr lang="en-US" i="1"/>
                            <m:t>+</m:t>
                          </m:r>
                          <m:sSub>
                            <m:sSubPr>
                              <m:ctrlPr>
                                <a:rPr lang="en-US" i="1"/>
                              </m:ctrlPr>
                            </m:sSubPr>
                            <m:e>
                              <m:r>
                                <a:rPr lang="en-US" i="1"/>
                                <m:t>𝛽</m:t>
                              </m:r>
                            </m:e>
                            <m:sub>
                              <m:r>
                                <a:rPr lang="en-US" i="1"/>
                                <m:t>5</m:t>
                              </m:r>
                            </m:sub>
                          </m:sSub>
                          <m:sSub>
                            <m:sSubPr>
                              <m:ctrlPr>
                                <a:rPr lang="en-US" i="1"/>
                              </m:ctrlPr>
                            </m:sSubPr>
                            <m:e>
                              <m:r>
                                <a:rPr lang="en-US" i="1"/>
                                <m:t>𝑋</m:t>
                              </m:r>
                            </m:e>
                            <m:sub>
                              <m:r>
                                <a:rPr lang="en-US" i="1"/>
                                <m:t>1</m:t>
                              </m:r>
                              <m:r>
                                <a:rPr lang="en-US" i="1"/>
                                <m:t>𝑖</m:t>
                              </m:r>
                            </m:sub>
                          </m:sSub>
                          <m:sSub>
                            <m:sSubPr>
                              <m:ctrlPr>
                                <a:rPr lang="en-US" i="1"/>
                              </m:ctrlPr>
                            </m:sSubPr>
                            <m:e>
                              <m:r>
                                <a:rPr lang="en-US" i="1"/>
                                <m:t>𝑋</m:t>
                              </m:r>
                            </m:e>
                            <m:sub>
                              <m:r>
                                <a:rPr lang="en-US" i="1"/>
                                <m:t>2</m:t>
                              </m:r>
                              <m:r>
                                <a:rPr lang="en-US" i="1"/>
                                <m:t>𝑖</m:t>
                              </m:r>
                            </m:sub>
                          </m:sSub>
                          <m:r>
                            <a:rPr lang="en-US" i="1"/>
                            <m:t>+</m:t>
                          </m:r>
                          <m:r>
                            <a:rPr lang="en-US" i="1"/>
                            <m:t>𝜖</m:t>
                          </m:r>
                        </m:e>
                        <m:sub>
                          <m:r>
                            <a:rPr lang="en-US" i="1"/>
                            <m:t>𝑖</m:t>
                          </m:r>
                        </m:sub>
                      </m:sSub>
                    </m:oMath>
                  </m:oMathPara>
                </a14:m>
                <a:endParaRPr lang="en-US" dirty="0"/>
              </a:p>
              <a:p>
                <a:pPr marL="0" indent="0">
                  <a:buNone/>
                </a:pPr>
                <a:r>
                  <a:rPr lang="en-US" dirty="0"/>
                  <a:t> </a:t>
                </a:r>
              </a:p>
              <a:p>
                <a:pPr marL="0" indent="0">
                  <a:buNone/>
                </a:pPr>
                <a:r>
                  <a:rPr lang="en-US" dirty="0"/>
                  <a:t>Model 4: Quadratic effects with interaction,</a:t>
                </a:r>
                <a:r>
                  <a:rPr lang="en-US" i="1" dirty="0"/>
                  <a:t> non-</a:t>
                </a:r>
                <a:r>
                  <a:rPr lang="en-US" dirty="0"/>
                  <a:t>additive treatment</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i="1"/>
                        <m:t>𝛾</m:t>
                      </m:r>
                      <m:sSub>
                        <m:sSubPr>
                          <m:ctrlPr>
                            <a:rPr lang="en-US" i="1"/>
                          </m:ctrlPr>
                        </m:sSubPr>
                        <m:e>
                          <m:r>
                            <a:rPr lang="en-US" i="1"/>
                            <m:t>𝑇</m:t>
                          </m:r>
                        </m:e>
                        <m:sub>
                          <m:r>
                            <a:rPr lang="en-US" i="1"/>
                            <m:t>𝑖</m:t>
                          </m:r>
                        </m:sub>
                      </m:sSub>
                      <m:r>
                        <a:rPr lang="en-US" i="1"/>
                        <m:t>+</m:t>
                      </m:r>
                      <m:sSub>
                        <m:sSubPr>
                          <m:ctrlPr>
                            <a:rPr lang="en-US" i="1"/>
                          </m:ctrlPr>
                        </m:sSubPr>
                        <m:e>
                          <m:r>
                            <a:rPr lang="en-US" i="1"/>
                            <m:t>𝛽</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Sup>
                        <m:sSubSupPr>
                          <m:ctrlPr>
                            <a:rPr lang="en-US" i="1"/>
                          </m:ctrlPr>
                        </m:sSubSupPr>
                        <m:e>
                          <m:r>
                            <a:rPr lang="en-US" i="1"/>
                            <m:t>𝑋</m:t>
                          </m:r>
                        </m:e>
                        <m:sub>
                          <m:r>
                            <a:rPr lang="en-US" i="1"/>
                            <m:t>1</m:t>
                          </m:r>
                          <m:r>
                            <a:rPr lang="en-US" i="1"/>
                            <m:t>𝑖</m:t>
                          </m:r>
                        </m:sub>
                        <m:sup>
                          <m:r>
                            <a:rPr lang="en-US" i="1"/>
                            <m:t>2</m:t>
                          </m:r>
                        </m:sup>
                      </m:sSubSup>
                      <m:r>
                        <a:rPr lang="en-US" i="1"/>
                        <m:t>+</m:t>
                      </m:r>
                      <m:sSub>
                        <m:sSubPr>
                          <m:ctrlPr>
                            <a:rPr lang="en-US" i="1"/>
                          </m:ctrlPr>
                        </m:sSubPr>
                        <m:e>
                          <m:r>
                            <a:rPr lang="en-US" i="1"/>
                            <m:t>𝛽</m:t>
                          </m:r>
                        </m:e>
                        <m:sub>
                          <m:r>
                            <a:rPr lang="en-US" i="1"/>
                            <m:t>4</m:t>
                          </m:r>
                        </m:sub>
                      </m:sSub>
                      <m:sSubSup>
                        <m:sSubSupPr>
                          <m:ctrlPr>
                            <a:rPr lang="en-US" i="1"/>
                          </m:ctrlPr>
                        </m:sSubSupPr>
                        <m:e>
                          <m:r>
                            <a:rPr lang="en-US" i="1"/>
                            <m:t>𝑋</m:t>
                          </m:r>
                        </m:e>
                        <m:sub>
                          <m:r>
                            <a:rPr lang="en-US" i="1"/>
                            <m:t>2</m:t>
                          </m:r>
                          <m:r>
                            <a:rPr lang="en-US" i="1"/>
                            <m:t>𝑖</m:t>
                          </m:r>
                        </m:sub>
                        <m:sup>
                          <m:r>
                            <a:rPr lang="en-US" i="1"/>
                            <m:t>2</m:t>
                          </m:r>
                        </m:sup>
                      </m:sSubSup>
                      <m:sSub>
                        <m:sSubPr>
                          <m:ctrlPr>
                            <a:rPr lang="en-US" i="1"/>
                          </m:ctrlPr>
                        </m:sSubPr>
                        <m:e>
                          <m:r>
                            <a:rPr lang="en-US" i="1"/>
                            <m:t>+</m:t>
                          </m:r>
                          <m:sSub>
                            <m:sSubPr>
                              <m:ctrlPr>
                                <a:rPr lang="en-US" i="1"/>
                              </m:ctrlPr>
                            </m:sSubPr>
                            <m:e>
                              <m:r>
                                <a:rPr lang="en-US" i="1"/>
                                <m:t>𝛽</m:t>
                              </m:r>
                            </m:e>
                            <m:sub>
                              <m:r>
                                <a:rPr lang="en-US" i="1"/>
                                <m:t>5</m:t>
                              </m:r>
                            </m:sub>
                          </m:sSub>
                          <m:sSub>
                            <m:sSubPr>
                              <m:ctrlPr>
                                <a:rPr lang="en-US" i="1"/>
                              </m:ctrlPr>
                            </m:sSubPr>
                            <m:e>
                              <m:r>
                                <a:rPr lang="en-US" i="1"/>
                                <m:t>𝑋</m:t>
                              </m:r>
                            </m:e>
                            <m:sub>
                              <m:r>
                                <a:rPr lang="en-US" i="1"/>
                                <m:t>1</m:t>
                              </m:r>
                              <m:r>
                                <a:rPr lang="en-US" i="1"/>
                                <m:t>𝑖</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
                            <m:sSubPr>
                              <m:ctrlPr>
                                <a:rPr lang="en-US" i="1"/>
                              </m:ctrlPr>
                            </m:sSubPr>
                            <m:e>
                              <m:r>
                                <a:rPr lang="en-US" i="1"/>
                                <m:t>𝑇</m:t>
                              </m:r>
                            </m:e>
                            <m:sub>
                              <m:r>
                                <a:rPr lang="en-US" i="1"/>
                                <m:t>𝑖</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4</m:t>
                              </m:r>
                            </m:sub>
                          </m:sSub>
                          <m:sSub>
                            <m:sSubPr>
                              <m:ctrlPr>
                                <a:rPr lang="en-US" i="1"/>
                              </m:ctrlPr>
                            </m:sSubPr>
                            <m:e>
                              <m:r>
                                <a:rPr lang="en-US" i="1"/>
                                <m:t>𝑇</m:t>
                              </m:r>
                            </m:e>
                            <m:sub>
                              <m:r>
                                <a:rPr lang="en-US" i="1"/>
                                <m:t>𝑖</m:t>
                              </m:r>
                            </m:sub>
                          </m:sSub>
                          <m:sSub>
                            <m:sSubPr>
                              <m:ctrlPr>
                                <a:rPr lang="en-US" i="1"/>
                              </m:ctrlPr>
                            </m:sSubPr>
                            <m:e>
                              <m:r>
                                <a:rPr lang="en-US" i="1"/>
                                <m:t>𝑋</m:t>
                              </m:r>
                            </m:e>
                            <m:sub>
                              <m:r>
                                <a:rPr lang="en-US" i="1"/>
                                <m:t>2</m:t>
                              </m:r>
                              <m:r>
                                <a:rPr lang="en-US" i="1"/>
                                <m:t>𝑖</m:t>
                              </m:r>
                            </m:sub>
                          </m:sSub>
                          <m:r>
                            <a:rPr lang="en-US" i="1"/>
                            <m:t>+</m:t>
                          </m:r>
                          <m:r>
                            <a:rPr lang="en-US" i="1"/>
                            <m:t>𝜖</m:t>
                          </m:r>
                        </m:e>
                        <m:sub>
                          <m:r>
                            <a:rPr lang="en-US" i="1"/>
                            <m:t>𝑖</m:t>
                          </m:r>
                        </m:sub>
                      </m:sSub>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C47C772A-8183-6448-A40A-0389AFB73203}"/>
                  </a:ext>
                </a:extLst>
              </p:cNvPr>
              <p:cNvSpPr>
                <a:spLocks noGrp="1" noRot="1" noChangeAspect="1" noMove="1" noResize="1" noEditPoints="1" noAdjustHandles="1" noChangeArrowheads="1" noChangeShapeType="1" noTextEdit="1"/>
              </p:cNvSpPr>
              <p:nvPr>
                <p:ph idx="1"/>
              </p:nvPr>
            </p:nvSpPr>
            <p:spPr>
              <a:blipFill>
                <a:blip r:embed="rId2"/>
                <a:stretch>
                  <a:fillRect l="-1206" t="-3198" b="-1163"/>
                </a:stretch>
              </a:blipFill>
            </p:spPr>
            <p:txBody>
              <a:bodyPr/>
              <a:lstStyle/>
              <a:p>
                <a:r>
                  <a:rPr lang="en-US">
                    <a:noFill/>
                  </a:rPr>
                  <a:t> </a:t>
                </a:r>
              </a:p>
            </p:txBody>
          </p:sp>
        </mc:Fallback>
      </mc:AlternateContent>
    </p:spTree>
    <p:extLst>
      <p:ext uri="{BB962C8B-B14F-4D97-AF65-F5344CB8AC3E}">
        <p14:creationId xmlns:p14="http://schemas.microsoft.com/office/powerpoint/2010/main" val="2889853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A516-E91F-8C4A-81A4-2C1AE067986A}"/>
              </a:ext>
            </a:extLst>
          </p:cNvPr>
          <p:cNvSpPr>
            <a:spLocks noGrp="1"/>
          </p:cNvSpPr>
          <p:nvPr>
            <p:ph type="title"/>
          </p:nvPr>
        </p:nvSpPr>
        <p:spPr/>
        <p:txBody>
          <a:bodyPr/>
          <a:lstStyle/>
          <a:p>
            <a:r>
              <a:rPr lang="en-US" dirty="0"/>
              <a:t>What’s going on here?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EDA47A-583D-FB4F-85CF-6E84D8F025D3}"/>
                  </a:ext>
                </a:extLst>
              </p:cNvPr>
              <p:cNvSpPr>
                <a:spLocks noGrp="1"/>
              </p:cNvSpPr>
              <p:nvPr>
                <p:ph idx="1"/>
              </p:nvPr>
            </p:nvSpPr>
            <p:spPr/>
            <p:txBody>
              <a:bodyPr>
                <a:normAutofit lnSpcReduction="10000"/>
              </a:bodyPr>
              <a:lstStyle/>
              <a:p>
                <a:pPr marL="0" indent="0">
                  <a:buNone/>
                </a:pPr>
                <a:r>
                  <a:rPr lang="en-US" dirty="0"/>
                  <a:t>Our simple model made two, hidden assumptions:</a:t>
                </a:r>
              </a:p>
              <a:p>
                <a:pPr marL="0" indent="0">
                  <a:buNone/>
                </a:pPr>
                <a:endParaRPr lang="en-US" dirty="0"/>
              </a:p>
              <a:p>
                <a:pPr marL="514350" indent="-514350">
                  <a:buAutoNum type="arabicPeriod"/>
                </a:pPr>
                <a:r>
                  <a:rPr lang="en-US" dirty="0"/>
                  <a:t>The relationship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and </a:t>
                </a:r>
                <a14:m>
                  <m:oMath xmlns:m="http://schemas.openxmlformats.org/officeDocument/2006/math">
                    <m:r>
                      <a:rPr lang="en-US" b="0" i="1" smtClean="0">
                        <a:latin typeface="Cambria Math" panose="02040503050406030204" pitchFamily="18" charset="0"/>
                      </a:rPr>
                      <m:t>𝑌</m:t>
                    </m:r>
                  </m:oMath>
                </a14:m>
                <a:r>
                  <a:rPr lang="en-US" dirty="0"/>
                  <a:t> is linear. </a:t>
                </a:r>
              </a:p>
              <a:p>
                <a:pPr marL="514350" indent="-514350">
                  <a:buAutoNum type="arabicPeriod"/>
                </a:pPr>
                <a:r>
                  <a:rPr lang="en-US" dirty="0"/>
                  <a:t>The treatment effect is </a:t>
                </a:r>
                <a:r>
                  <a:rPr lang="en-US" i="1" dirty="0"/>
                  <a:t>additive, </a:t>
                </a:r>
                <a:r>
                  <a:rPr lang="en-US" dirty="0"/>
                  <a:t>i.e., every unit gets the exact same boost (</a:t>
                </a:r>
                <a14:m>
                  <m:oMath xmlns:m="http://schemas.openxmlformats.org/officeDocument/2006/math">
                    <m:r>
                      <a:rPr lang="en-US" b="0" i="1" smtClean="0">
                        <a:latin typeface="Cambria Math" panose="02040503050406030204" pitchFamily="18" charset="0"/>
                      </a:rPr>
                      <m:t>𝛽</m:t>
                    </m:r>
                  </m:oMath>
                </a14:m>
                <a:r>
                  <a:rPr lang="en-US" dirty="0"/>
                  <a:t>) from the intervention.</a:t>
                </a:r>
              </a:p>
              <a:p>
                <a:pPr marL="514350" indent="-514350">
                  <a:buAutoNum type="arabicPeriod"/>
                </a:pPr>
                <a:endParaRPr lang="en-US" dirty="0"/>
              </a:p>
              <a:p>
                <a:pPr marL="0" indent="0">
                  <a:buNone/>
                </a:pPr>
                <a:r>
                  <a:rPr lang="en-US" dirty="0"/>
                  <a:t>If we take these assumptions away, we have to start worrying about:</a:t>
                </a:r>
              </a:p>
              <a:p>
                <a:r>
                  <a:rPr lang="en-US" dirty="0"/>
                  <a:t>Non-linearities (e.g.,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oMath>
                </a14:m>
                <a:r>
                  <a:rPr lang="en-US" dirty="0"/>
                  <a:t>) and interactions between covariates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a:p>
                <a:r>
                  <a:rPr lang="en-US" dirty="0"/>
                  <a:t>Interactions between covariates and the intervention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𝑇</m:t>
                    </m:r>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02EDA47A-583D-FB4F-85CF-6E84D8F025D3}"/>
                  </a:ext>
                </a:extLst>
              </p:cNvPr>
              <p:cNvSpPr>
                <a:spLocks noGrp="1" noRot="1" noChangeAspect="1" noMove="1" noResize="1" noEditPoints="1" noAdjustHandles="1" noChangeArrowheads="1" noChangeShapeType="1" noTextEdit="1"/>
              </p:cNvSpPr>
              <p:nvPr>
                <p:ph idx="1"/>
              </p:nvPr>
            </p:nvSpPr>
            <p:spPr>
              <a:blipFill>
                <a:blip r:embed="rId2"/>
                <a:stretch>
                  <a:fillRect l="-1206" t="-3198"/>
                </a:stretch>
              </a:blipFill>
            </p:spPr>
            <p:txBody>
              <a:bodyPr/>
              <a:lstStyle/>
              <a:p>
                <a:r>
                  <a:rPr lang="en-US">
                    <a:noFill/>
                  </a:rPr>
                  <a:t> </a:t>
                </a:r>
              </a:p>
            </p:txBody>
          </p:sp>
        </mc:Fallback>
      </mc:AlternateContent>
    </p:spTree>
    <p:extLst>
      <p:ext uri="{BB962C8B-B14F-4D97-AF65-F5344CB8AC3E}">
        <p14:creationId xmlns:p14="http://schemas.microsoft.com/office/powerpoint/2010/main" val="30120058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0121-3B7B-664E-A8F3-E35ED10034E8}"/>
              </a:ext>
            </a:extLst>
          </p:cNvPr>
          <p:cNvSpPr>
            <a:spLocks noGrp="1"/>
          </p:cNvSpPr>
          <p:nvPr>
            <p:ph type="title"/>
          </p:nvPr>
        </p:nvSpPr>
        <p:spPr/>
        <p:txBody>
          <a:bodyPr/>
          <a:lstStyle/>
          <a:p>
            <a:r>
              <a:rPr lang="en-US" dirty="0"/>
              <a:t>It’s not impossible though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342B2D-425B-AD4C-88CE-FF9C5CD89B12}"/>
                  </a:ext>
                </a:extLst>
              </p:cNvPr>
              <p:cNvSpPr>
                <a:spLocks noGrp="1"/>
              </p:cNvSpPr>
              <p:nvPr>
                <p:ph idx="1"/>
              </p:nvPr>
            </p:nvSpPr>
            <p:spPr/>
            <p:txBody>
              <a:bodyPr/>
              <a:lstStyle/>
              <a:p>
                <a:pPr marL="0" indent="0">
                  <a:buNone/>
                </a:pPr>
                <a:r>
                  <a:rPr lang="en-US" dirty="0"/>
                  <a:t>You *can* use ANCOVA or regression though. </a:t>
                </a:r>
              </a:p>
              <a:p>
                <a:pPr marL="0" indent="0">
                  <a:buNone/>
                </a:pPr>
                <a:endParaRPr lang="en-US" dirty="0"/>
              </a:p>
              <a:p>
                <a:pPr marL="0" indent="0">
                  <a:buNone/>
                </a:pPr>
                <a:r>
                  <a:rPr lang="en-US" dirty="0"/>
                  <a:t>You just need to be careful. </a:t>
                </a:r>
              </a:p>
              <a:p>
                <a:pPr marL="514350" indent="-514350">
                  <a:buAutoNum type="arabicPeriod"/>
                </a:pPr>
                <a:r>
                  <a:rPr lang="en-US" dirty="0"/>
                  <a:t>If the two groups are similar to one another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𝑗</m:t>
                            </m:r>
                          </m:sub>
                        </m:sSub>
                      </m:e>
                    </m:d>
                    <m:r>
                      <a:rPr lang="en-US" b="0" i="1" smtClean="0">
                        <a:latin typeface="Cambria Math" panose="02040503050406030204" pitchFamily="18" charset="0"/>
                      </a:rPr>
                      <m:t>&lt;0.25</m:t>
                    </m:r>
                  </m:oMath>
                </a14:m>
                <a:r>
                  <a:rPr lang="en-US" dirty="0"/>
                  <a:t>) for all covariates, then you are safe to use linear adjustments only</a:t>
                </a:r>
              </a:p>
              <a:p>
                <a:pPr marL="514350" indent="-514350">
                  <a:buAutoNum type="arabicPeriod"/>
                </a:pPr>
                <a:r>
                  <a:rPr lang="en-US" dirty="0"/>
                  <a:t>If the two groups differ (some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𝑗</m:t>
                            </m:r>
                          </m:sub>
                        </m:sSub>
                      </m:e>
                    </m:d>
                    <m:r>
                      <a:rPr lang="en-US" b="0" i="1" smtClean="0">
                        <a:latin typeface="Cambria Math" panose="02040503050406030204" pitchFamily="18" charset="0"/>
                      </a:rPr>
                      <m:t>&gt;</m:t>
                    </m:r>
                    <m:r>
                      <a:rPr lang="en-US" b="0" i="1" smtClean="0">
                        <a:latin typeface="Cambria Math" panose="02040503050406030204" pitchFamily="18" charset="0"/>
                      </a:rPr>
                      <m:t>0.25</m:t>
                    </m:r>
                    <m:r>
                      <a:rPr lang="en-US" b="0" i="0" smtClean="0">
                        <a:latin typeface="Cambria Math" panose="02040503050406030204" pitchFamily="18" charset="0"/>
                      </a:rPr>
                      <m:t>)</m:t>
                    </m:r>
                  </m:oMath>
                </a14:m>
                <a:r>
                  <a:rPr lang="en-US" dirty="0"/>
                  <a:t> then explore possible non-linearities. (Be sure to report findings from all the different specifications tested, not just the most favorable). </a:t>
                </a:r>
              </a:p>
              <a:p>
                <a:pPr marL="457200" lvl="1" indent="0">
                  <a:buNone/>
                </a:pPr>
                <a:endParaRPr lang="en-US" dirty="0"/>
              </a:p>
              <a:p>
                <a:pPr marL="514350" indent="-514350">
                  <a:buAutoNum type="arabicPeriod"/>
                </a:pPr>
                <a:endParaRPr lang="en-US" dirty="0"/>
              </a:p>
            </p:txBody>
          </p:sp>
        </mc:Choice>
        <mc:Fallback>
          <p:sp>
            <p:nvSpPr>
              <p:cNvPr id="3" name="Content Placeholder 2">
                <a:extLst>
                  <a:ext uri="{FF2B5EF4-FFF2-40B4-BE49-F238E27FC236}">
                    <a16:creationId xmlns:a16="http://schemas.microsoft.com/office/drawing/2014/main" id="{17342B2D-425B-AD4C-88CE-FF9C5CD89B12}"/>
                  </a:ext>
                </a:extLst>
              </p:cNvPr>
              <p:cNvSpPr>
                <a:spLocks noGrp="1" noRot="1" noChangeAspect="1" noMove="1" noResize="1" noEditPoints="1" noAdjustHandles="1" noChangeArrowheads="1" noChangeShapeType="1" noTextEdit="1"/>
              </p:cNvSpPr>
              <p:nvPr>
                <p:ph idx="1"/>
              </p:nvPr>
            </p:nvSpPr>
            <p:spPr>
              <a:blipFill>
                <a:blip r:embed="rId2"/>
                <a:stretch>
                  <a:fillRect l="-1206" t="-2326" r="-724"/>
                </a:stretch>
              </a:blipFill>
            </p:spPr>
            <p:txBody>
              <a:bodyPr/>
              <a:lstStyle/>
              <a:p>
                <a:r>
                  <a:rPr lang="en-US">
                    <a:noFill/>
                  </a:rPr>
                  <a:t> </a:t>
                </a:r>
              </a:p>
            </p:txBody>
          </p:sp>
        </mc:Fallback>
      </mc:AlternateContent>
    </p:spTree>
    <p:extLst>
      <p:ext uri="{BB962C8B-B14F-4D97-AF65-F5344CB8AC3E}">
        <p14:creationId xmlns:p14="http://schemas.microsoft.com/office/powerpoint/2010/main" val="35682678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F299C-8F80-BD45-AD39-CE94C531D475}"/>
              </a:ext>
            </a:extLst>
          </p:cNvPr>
          <p:cNvSpPr>
            <a:spLocks noGrp="1"/>
          </p:cNvSpPr>
          <p:nvPr>
            <p:ph type="title"/>
          </p:nvPr>
        </p:nvSpPr>
        <p:spPr/>
        <p:txBody>
          <a:bodyPr/>
          <a:lstStyle/>
          <a:p>
            <a:r>
              <a:rPr lang="en-US" dirty="0"/>
              <a:t>Weighting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C38506C-D4E3-2B48-A7EF-DD10ADCC4E17}"/>
                  </a:ext>
                </a:extLst>
              </p:cNvPr>
              <p:cNvSpPr>
                <a:spLocks noGrp="1"/>
              </p:cNvSpPr>
              <p:nvPr>
                <p:ph idx="1"/>
              </p:nvPr>
            </p:nvSpPr>
            <p:spPr/>
            <p:txBody>
              <a:bodyPr>
                <a:normAutofit fontScale="85000" lnSpcReduction="20000"/>
              </a:bodyPr>
              <a:lstStyle/>
              <a:p>
                <a:pPr marL="0" indent="0">
                  <a:buNone/>
                </a:pPr>
                <a:r>
                  <a:rPr lang="en-US" dirty="0"/>
                  <a:t>Another approach – which can again, be used alone or in combination with the others – is to adjust for differences between the two groups using weights.</a:t>
                </a:r>
              </a:p>
              <a:p>
                <a:pPr marL="0" indent="0">
                  <a:buNone/>
                </a:pPr>
                <a:endParaRPr lang="en-US" dirty="0"/>
              </a:p>
              <a:p>
                <a:pPr marL="0" indent="0">
                  <a:buNone/>
                </a:pPr>
                <a:r>
                  <a:rPr lang="en-US" dirty="0"/>
                  <a:t>The basic idea here is:</a:t>
                </a:r>
              </a:p>
              <a:p>
                <a:pPr marL="514350" indent="-514350">
                  <a:buAutoNum type="arabicPeriod"/>
                </a:pPr>
                <a:r>
                  <a:rPr lang="en-US" dirty="0"/>
                  <a:t>Use logistic regression to estimate the probability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oMath>
                </a14:m>
                <a:r>
                  <a:rPr lang="en-US" dirty="0"/>
                  <a:t>) that each unit in the intervention group and comparison groups would be in the intervention.</a:t>
                </a:r>
              </a:p>
              <a:p>
                <a:pPr marL="514350" indent="-514350">
                  <a:buAutoNum type="arabicPeriod"/>
                </a:pPr>
                <a:r>
                  <a:rPr lang="en-US" dirty="0"/>
                  <a:t>Weight each unit in the intervention group with weight </a:t>
                </a:r>
                <a14:m>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oMath>
                </a14:m>
                <a:r>
                  <a:rPr lang="en-US" dirty="0"/>
                  <a:t>.</a:t>
                </a:r>
              </a:p>
              <a:p>
                <a:pPr marL="514350" indent="-514350">
                  <a:buAutoNum type="arabicPeriod"/>
                </a:pPr>
                <a:r>
                  <a:rPr lang="en-US" dirty="0"/>
                  <a:t>Weight each unit in the comparison group with weight </a:t>
                </a:r>
                <a14:m>
                  <m:oMath xmlns:m="http://schemas.openxmlformats.org/officeDocument/2006/math">
                    <m:r>
                      <a:rPr lang="en-US" b="0" i="1" smtClean="0">
                        <a:latin typeface="Cambria Math" panose="02040503050406030204" pitchFamily="18" charset="0"/>
                      </a:rPr>
                      <m:t>1/(1−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dirty="0"/>
                  <a:t>.</a:t>
                </a:r>
              </a:p>
              <a:p>
                <a:pPr marL="514350" indent="-514350">
                  <a:buAutoNum type="arabicPeriod"/>
                </a:pPr>
                <a:r>
                  <a:rPr lang="en-US" dirty="0"/>
                  <a:t>Calculate the treatment effect using the weighted estimator,</a:t>
                </a:r>
              </a:p>
              <a:p>
                <a:pPr marL="0" indent="0">
                  <a:buNone/>
                </a:pPr>
                <a14:m>
                  <m:oMathPara xmlns:m="http://schemas.openxmlformats.org/officeDocument/2006/math">
                    <m:oMathParaPr>
                      <m:jc m:val="centerGroup"/>
                    </m:oMathParaPr>
                    <m:oMath xmlns:m="http://schemas.openxmlformats.org/officeDocument/2006/math">
                      <m:r>
                        <a:rPr lang="en-US" i="1"/>
                        <m:t>𝑇</m:t>
                      </m:r>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sSub>
                                <m:sSubPr>
                                  <m:ctrlPr>
                                    <a:rPr lang="en-US" i="1"/>
                                  </m:ctrlPr>
                                </m:sSubPr>
                                <m:e>
                                  <m:r>
                                    <a:rPr lang="en-US" i="1"/>
                                    <m:t>𝑌</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e>
                          </m:nary>
                        </m:den>
                      </m:f>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sSub>
                                <m:sSubPr>
                                  <m:ctrlPr>
                                    <a:rPr lang="en-US" i="1"/>
                                  </m:ctrlPr>
                                </m:sSubPr>
                                <m:e>
                                  <m:r>
                                    <a:rPr lang="en-US" i="1"/>
                                    <m:t>𝑌</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e>
                          </m:nary>
                        </m:den>
                      </m:f>
                    </m:oMath>
                  </m:oMathPara>
                </a14:m>
                <a:endParaRPr lang="en-US" dirty="0"/>
              </a:p>
              <a:p>
                <a:pPr marL="0" indent="0">
                  <a:buNone/>
                </a:pPr>
                <a:r>
                  <a:rPr lang="en-US" dirty="0"/>
                  <a:t>        Or, even better, using regression but with weights. </a:t>
                </a:r>
              </a:p>
              <a:p>
                <a:pPr marL="514350" indent="-514350">
                  <a:buAutoNum type="arabicPeriod"/>
                </a:pPr>
                <a:endParaRPr lang="en-US" dirty="0"/>
              </a:p>
            </p:txBody>
          </p:sp>
        </mc:Choice>
        <mc:Fallback>
          <p:sp>
            <p:nvSpPr>
              <p:cNvPr id="3" name="Content Placeholder 2">
                <a:extLst>
                  <a:ext uri="{FF2B5EF4-FFF2-40B4-BE49-F238E27FC236}">
                    <a16:creationId xmlns:a16="http://schemas.microsoft.com/office/drawing/2014/main" id="{7C38506C-D4E3-2B48-A7EF-DD10ADCC4E17}"/>
                  </a:ext>
                </a:extLst>
              </p:cNvPr>
              <p:cNvSpPr>
                <a:spLocks noGrp="1" noRot="1" noChangeAspect="1" noMove="1" noResize="1" noEditPoints="1" noAdjustHandles="1" noChangeArrowheads="1" noChangeShapeType="1" noTextEdit="1"/>
              </p:cNvSpPr>
              <p:nvPr>
                <p:ph idx="1"/>
              </p:nvPr>
            </p:nvSpPr>
            <p:spPr>
              <a:blipFill>
                <a:blip r:embed="rId2"/>
                <a:stretch>
                  <a:fillRect l="-965" t="-3198" b="-11337"/>
                </a:stretch>
              </a:blipFill>
            </p:spPr>
            <p:txBody>
              <a:bodyPr/>
              <a:lstStyle/>
              <a:p>
                <a:r>
                  <a:rPr lang="en-US">
                    <a:noFill/>
                  </a:rPr>
                  <a:t> </a:t>
                </a:r>
              </a:p>
            </p:txBody>
          </p:sp>
        </mc:Fallback>
      </mc:AlternateContent>
    </p:spTree>
    <p:extLst>
      <p:ext uri="{BB962C8B-B14F-4D97-AF65-F5344CB8AC3E}">
        <p14:creationId xmlns:p14="http://schemas.microsoft.com/office/powerpoint/2010/main" val="32945591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396B-8C1B-4940-B870-0A31A63E8744}"/>
              </a:ext>
            </a:extLst>
          </p:cNvPr>
          <p:cNvSpPr>
            <a:spLocks noGrp="1"/>
          </p:cNvSpPr>
          <p:nvPr>
            <p:ph type="title"/>
          </p:nvPr>
        </p:nvSpPr>
        <p:spPr/>
        <p:txBody>
          <a:bodyPr/>
          <a:lstStyle/>
          <a:p>
            <a:r>
              <a:rPr lang="en-US" dirty="0"/>
              <a:t>This is complicated, too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8954FE0-1451-AD41-9DE1-F4F291DC3497}"/>
                  </a:ext>
                </a:extLst>
              </p:cNvPr>
              <p:cNvSpPr>
                <a:spLocks noGrp="1"/>
              </p:cNvSpPr>
              <p:nvPr>
                <p:ph idx="1"/>
              </p:nvPr>
            </p:nvSpPr>
            <p:spPr/>
            <p:txBody>
              <a:bodyPr/>
              <a:lstStyle/>
              <a:p>
                <a:pPr marL="0" indent="0">
                  <a:buNone/>
                </a:pPr>
                <a:r>
                  <a:rPr lang="en-US" dirty="0"/>
                  <a:t>If you use this approach, you should be sure to examine if the weights actually result in more similar groups (in terms of the covariates).</a:t>
                </a:r>
              </a:p>
              <a:p>
                <a:pPr marL="0" indent="0">
                  <a:buNone/>
                </a:pPr>
                <a:endParaRPr lang="en-US" dirty="0"/>
              </a:p>
              <a:p>
                <a:pPr marL="0" indent="0">
                  <a:buNone/>
                </a:pPr>
                <a:r>
                  <a:rPr lang="en-US" dirty="0"/>
                  <a:t>To check this, calculate </a:t>
                </a:r>
              </a:p>
              <a:p>
                <a:pPr marL="0" indent="0">
                  <a:buNone/>
                </a:pPr>
                <a14:m>
                  <m:oMathPara xmlns:m="http://schemas.openxmlformats.org/officeDocument/2006/math">
                    <m:oMathParaPr>
                      <m:jc m:val="centerGroup"/>
                    </m:oMathParaPr>
                    <m:oMath xmlns:m="http://schemas.openxmlformats.org/officeDocument/2006/math">
                      <m:r>
                        <a:rPr lang="en-US" i="1"/>
                        <m:t>𝑇</m:t>
                      </m:r>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sSub>
                                <m:sSubPr>
                                  <m:ctrlPr>
                                    <a:rPr lang="en-US" i="1"/>
                                  </m:ctrlPr>
                                </m:sSubPr>
                                <m:e>
                                  <m:r>
                                    <a:rPr lang="en-US" b="0" i="1" smtClean="0">
                                      <a:latin typeface="Cambria Math" panose="02040503050406030204" pitchFamily="18" charset="0"/>
                                    </a:rPr>
                                    <m:t>𝑥</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e>
                          </m:nary>
                        </m:den>
                      </m:f>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sSub>
                                <m:sSubPr>
                                  <m:ctrlPr>
                                    <a:rPr lang="en-US" i="1"/>
                                  </m:ctrlPr>
                                </m:sSubPr>
                                <m:e>
                                  <m:r>
                                    <a:rPr lang="en-US" b="0" i="1" smtClean="0">
                                      <a:latin typeface="Cambria Math" panose="02040503050406030204" pitchFamily="18" charset="0"/>
                                    </a:rPr>
                                    <m:t>𝑥</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e>
                          </m:nary>
                        </m:den>
                      </m:f>
                      <m:r>
                        <a:rPr lang="en-US" i="1"/>
                        <m:t>.</m:t>
                      </m:r>
                    </m:oMath>
                  </m:oMathPara>
                </a14:m>
                <a:endParaRPr lang="en-US" dirty="0"/>
              </a:p>
              <a:p>
                <a:pPr marL="0" indent="0">
                  <a:buNone/>
                </a:pPr>
                <a:r>
                  <a:rPr lang="en-US" dirty="0"/>
                  <a:t>For each of the </a:t>
                </a:r>
                <a14:m>
                  <m:oMath xmlns:m="http://schemas.openxmlformats.org/officeDocument/2006/math">
                    <m:r>
                      <a:rPr lang="en-US" b="0" i="1" smtClean="0">
                        <a:latin typeface="Cambria Math" panose="02040503050406030204" pitchFamily="18" charset="0"/>
                      </a:rPr>
                      <m:t>𝑘</m:t>
                    </m:r>
                  </m:oMath>
                </a14:m>
                <a:r>
                  <a:rPr lang="en-US" dirty="0"/>
                  <a:t> covariates. Again, use this to determine if they are similar to one another; if not, you may need to use weights + regression adjustments. </a:t>
                </a:r>
              </a:p>
            </p:txBody>
          </p:sp>
        </mc:Choice>
        <mc:Fallback>
          <p:sp>
            <p:nvSpPr>
              <p:cNvPr id="3" name="Content Placeholder 2">
                <a:extLst>
                  <a:ext uri="{FF2B5EF4-FFF2-40B4-BE49-F238E27FC236}">
                    <a16:creationId xmlns:a16="http://schemas.microsoft.com/office/drawing/2014/main" id="{68954FE0-1451-AD41-9DE1-F4F291DC3497}"/>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5351062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9A44-2191-154E-B4F3-D7F75E755677}"/>
              </a:ext>
            </a:extLst>
          </p:cNvPr>
          <p:cNvSpPr>
            <a:spLocks noGrp="1"/>
          </p:cNvSpPr>
          <p:nvPr>
            <p:ph type="title"/>
          </p:nvPr>
        </p:nvSpPr>
        <p:spPr>
          <a:xfrm>
            <a:off x="699303" y="2766218"/>
            <a:ext cx="10515600" cy="1325563"/>
          </a:xfrm>
        </p:spPr>
        <p:txBody>
          <a:bodyPr/>
          <a:lstStyle/>
          <a:p>
            <a:pPr algn="ctr"/>
            <a:r>
              <a:rPr lang="en-US" dirty="0"/>
              <a:t>Reporting Guidelines</a:t>
            </a:r>
          </a:p>
        </p:txBody>
      </p:sp>
    </p:spTree>
    <p:extLst>
      <p:ext uri="{BB962C8B-B14F-4D97-AF65-F5344CB8AC3E}">
        <p14:creationId xmlns:p14="http://schemas.microsoft.com/office/powerpoint/2010/main" val="3843974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E152-5610-C245-900F-2D9890BB85E5}"/>
              </a:ext>
            </a:extLst>
          </p:cNvPr>
          <p:cNvSpPr>
            <a:spLocks noGrp="1"/>
          </p:cNvSpPr>
          <p:nvPr>
            <p:ph type="title"/>
          </p:nvPr>
        </p:nvSpPr>
        <p:spPr/>
        <p:txBody>
          <a:bodyPr/>
          <a:lstStyle/>
          <a:p>
            <a:r>
              <a:rPr lang="en-US" dirty="0"/>
              <a:t>ATOM</a:t>
            </a:r>
          </a:p>
        </p:txBody>
      </p:sp>
      <p:sp>
        <p:nvSpPr>
          <p:cNvPr id="3" name="Content Placeholder 2">
            <a:extLst>
              <a:ext uri="{FF2B5EF4-FFF2-40B4-BE49-F238E27FC236}">
                <a16:creationId xmlns:a16="http://schemas.microsoft.com/office/drawing/2014/main" id="{1B759B58-749E-0E4D-86B7-9BE4F36FF3B5}"/>
              </a:ext>
            </a:extLst>
          </p:cNvPr>
          <p:cNvSpPr>
            <a:spLocks noGrp="1"/>
          </p:cNvSpPr>
          <p:nvPr>
            <p:ph idx="1"/>
          </p:nvPr>
        </p:nvSpPr>
        <p:spPr/>
        <p:txBody>
          <a:bodyPr>
            <a:normAutofit lnSpcReduction="10000"/>
          </a:bodyPr>
          <a:lstStyle/>
          <a:p>
            <a:pPr marL="0" indent="0">
              <a:buNone/>
            </a:pPr>
            <a:r>
              <a:rPr lang="en-US" dirty="0"/>
              <a:t>The American Statistical Association recommends the following to guide reporting:</a:t>
            </a:r>
          </a:p>
          <a:p>
            <a:pPr marL="0" indent="0" algn="ctr">
              <a:buNone/>
            </a:pPr>
            <a:r>
              <a:rPr lang="en-US" b="1" dirty="0"/>
              <a:t>A</a:t>
            </a:r>
            <a:r>
              <a:rPr lang="en-US" dirty="0"/>
              <a:t>ccept uncertainty, be </a:t>
            </a:r>
            <a:r>
              <a:rPr lang="en-US" b="1" dirty="0"/>
              <a:t>T</a:t>
            </a:r>
            <a:r>
              <a:rPr lang="en-US" dirty="0"/>
              <a:t>houghtful, </a:t>
            </a:r>
            <a:r>
              <a:rPr lang="en-US" b="1" dirty="0"/>
              <a:t>O</a:t>
            </a:r>
            <a:r>
              <a:rPr lang="en-US" dirty="0"/>
              <a:t>pen, and </a:t>
            </a:r>
            <a:r>
              <a:rPr lang="en-US" b="1" dirty="0"/>
              <a:t>M</a:t>
            </a:r>
            <a:r>
              <a:rPr lang="en-US" dirty="0"/>
              <a:t>odest. </a:t>
            </a:r>
          </a:p>
          <a:p>
            <a:pPr marL="0" indent="0">
              <a:buNone/>
            </a:pPr>
            <a:endParaRPr lang="en-US" dirty="0"/>
          </a:p>
          <a:p>
            <a:pPr marL="0" indent="0">
              <a:buNone/>
            </a:pPr>
            <a:r>
              <a:rPr lang="en-US" b="1" dirty="0"/>
              <a:t>Accepting</a:t>
            </a:r>
            <a:r>
              <a:rPr lang="en-US" dirty="0"/>
              <a:t> uncertainty means planning studies that are sensitive (e.g., a large enough sample to detect a reasonable MDES).</a:t>
            </a:r>
          </a:p>
          <a:p>
            <a:pPr marL="0" indent="0">
              <a:buNone/>
            </a:pPr>
            <a:endParaRPr lang="en-US" dirty="0"/>
          </a:p>
          <a:p>
            <a:pPr marL="0" indent="0">
              <a:buNone/>
            </a:pPr>
            <a:r>
              <a:rPr lang="en-US" dirty="0"/>
              <a:t>Being </a:t>
            </a:r>
            <a:r>
              <a:rPr lang="en-US" b="1" dirty="0"/>
              <a:t>thoughtful</a:t>
            </a:r>
            <a:r>
              <a:rPr lang="en-US" dirty="0"/>
              <a:t> means carefully evaluating your results: How precise is the estimate? Is the model correctly specified? Are the assumptions reasonable and understood? Do the results hold if I change my model?</a:t>
            </a:r>
          </a:p>
        </p:txBody>
      </p:sp>
    </p:spTree>
    <p:extLst>
      <p:ext uri="{BB962C8B-B14F-4D97-AF65-F5344CB8AC3E}">
        <p14:creationId xmlns:p14="http://schemas.microsoft.com/office/powerpoint/2010/main" val="21473686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08F3-6833-FD47-87C3-F2B81B7634F5}"/>
              </a:ext>
            </a:extLst>
          </p:cNvPr>
          <p:cNvSpPr>
            <a:spLocks noGrp="1"/>
          </p:cNvSpPr>
          <p:nvPr>
            <p:ph type="title"/>
          </p:nvPr>
        </p:nvSpPr>
        <p:spPr/>
        <p:txBody>
          <a:bodyPr/>
          <a:lstStyle/>
          <a:p>
            <a:r>
              <a:rPr lang="en-US" dirty="0"/>
              <a:t>ATOM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812F531-7687-EE49-8F47-66383DF06DD3}"/>
                  </a:ext>
                </a:extLst>
              </p:cNvPr>
              <p:cNvSpPr>
                <a:spLocks noGrp="1"/>
              </p:cNvSpPr>
              <p:nvPr>
                <p:ph idx="1"/>
              </p:nvPr>
            </p:nvSpPr>
            <p:spPr/>
            <p:txBody>
              <a:bodyPr/>
              <a:lstStyle/>
              <a:p>
                <a:pPr marL="0" indent="0">
                  <a:buNone/>
                </a:pPr>
                <a:r>
                  <a:rPr lang="en-US" dirty="0"/>
                  <a:t>Being open means communicating clearly the analyses conducted and your modeling decisions. If you explore different model specifications, report the findings, not just the ‘best’ model.</a:t>
                </a:r>
              </a:p>
              <a:p>
                <a:pPr marL="0" indent="0">
                  <a:buNone/>
                </a:pPr>
                <a:endParaRPr lang="en-US" dirty="0"/>
              </a:p>
              <a:p>
                <a:pPr marL="0" indent="0">
                  <a:buNone/>
                </a:pPr>
                <a:r>
                  <a:rPr lang="en-US" dirty="0"/>
                  <a:t>Being modest means clearly conveying the limitations of your analyses and data. </a:t>
                </a:r>
              </a:p>
              <a:p>
                <a:r>
                  <a:rPr lang="en-US" dirty="0"/>
                  <a:t>Convey the assumptions required.</a:t>
                </a:r>
              </a:p>
              <a:p>
                <a:r>
                  <a:rPr lang="en-US" dirty="0"/>
                  <a:t>Provide balance tables which report all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𝑆𝑀𝐷</m:t>
                    </m:r>
                    <m:r>
                      <a:rPr lang="en-US" b="0" i="1" smtClean="0">
                        <a:latin typeface="Cambria Math" panose="02040503050406030204" pitchFamily="18" charset="0"/>
                      </a:rPr>
                      <m:t>|</m:t>
                    </m:r>
                  </m:oMath>
                </a14:m>
                <a:r>
                  <a:rPr lang="en-US" dirty="0"/>
                  <a:t> values for the analytic sample.</a:t>
                </a:r>
              </a:p>
              <a:p>
                <a:pPr marL="0" indent="0">
                  <a:buNone/>
                </a:pPr>
                <a:endParaRPr lang="en-US" dirty="0"/>
              </a:p>
            </p:txBody>
          </p:sp>
        </mc:Choice>
        <mc:Fallback>
          <p:sp>
            <p:nvSpPr>
              <p:cNvPr id="3" name="Content Placeholder 2">
                <a:extLst>
                  <a:ext uri="{FF2B5EF4-FFF2-40B4-BE49-F238E27FC236}">
                    <a16:creationId xmlns:a16="http://schemas.microsoft.com/office/drawing/2014/main" id="{1812F531-7687-EE49-8F47-66383DF06DD3}"/>
                  </a:ext>
                </a:extLst>
              </p:cNvPr>
              <p:cNvSpPr>
                <a:spLocks noGrp="1" noRot="1" noChangeAspect="1" noMove="1" noResize="1" noEditPoints="1" noAdjustHandles="1" noChangeArrowheads="1" noChangeShapeType="1" noTextEdit="1"/>
              </p:cNvSpPr>
              <p:nvPr>
                <p:ph idx="1"/>
              </p:nvPr>
            </p:nvSpPr>
            <p:spPr>
              <a:blipFill>
                <a:blip r:embed="rId2"/>
                <a:stretch>
                  <a:fillRect l="-1206" t="-2326" r="-121"/>
                </a:stretch>
              </a:blipFill>
            </p:spPr>
            <p:txBody>
              <a:bodyPr/>
              <a:lstStyle/>
              <a:p>
                <a:r>
                  <a:rPr lang="en-US">
                    <a:noFill/>
                  </a:rPr>
                  <a:t> </a:t>
                </a:r>
              </a:p>
            </p:txBody>
          </p:sp>
        </mc:Fallback>
      </mc:AlternateContent>
    </p:spTree>
    <p:extLst>
      <p:ext uri="{BB962C8B-B14F-4D97-AF65-F5344CB8AC3E}">
        <p14:creationId xmlns:p14="http://schemas.microsoft.com/office/powerpoint/2010/main" val="41361923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ECA02-0A0C-3341-8E4C-422F42751280}"/>
              </a:ext>
            </a:extLst>
          </p:cNvPr>
          <p:cNvSpPr>
            <a:spLocks noGrp="1"/>
          </p:cNvSpPr>
          <p:nvPr>
            <p:ph type="title"/>
          </p:nvPr>
        </p:nvSpPr>
        <p:spPr/>
        <p:txBody>
          <a:bodyPr/>
          <a:lstStyle/>
          <a:p>
            <a:r>
              <a:rPr lang="en-US" dirty="0"/>
              <a:t>Example balance table</a:t>
            </a:r>
          </a:p>
        </p:txBody>
      </p:sp>
      <p:sp>
        <p:nvSpPr>
          <p:cNvPr id="3" name="Content Placeholder 2">
            <a:extLst>
              <a:ext uri="{FF2B5EF4-FFF2-40B4-BE49-F238E27FC236}">
                <a16:creationId xmlns:a16="http://schemas.microsoft.com/office/drawing/2014/main" id="{338069E1-E7CD-334E-8F5A-5C27EB7C946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243318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3480</Words>
  <Application>Microsoft Macintosh PowerPoint</Application>
  <PresentationFormat>Widescreen</PresentationFormat>
  <Paragraphs>322</Paragraphs>
  <Slides>53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Calibri Light</vt:lpstr>
      <vt:lpstr>Cambria Math</vt:lpstr>
      <vt:lpstr>Office Theme</vt:lpstr>
      <vt:lpstr>Non-Equivalent Control Group Designs</vt:lpstr>
      <vt:lpstr>Quasi-experiments</vt:lpstr>
      <vt:lpstr>You should be worried</vt:lpstr>
      <vt:lpstr>You will likely need help</vt:lpstr>
      <vt:lpstr>Selection Bias</vt:lpstr>
      <vt:lpstr>Selection processes</vt:lpstr>
      <vt:lpstr>Selection  Confounding</vt:lpstr>
      <vt:lpstr>Detecting confounding</vt:lpstr>
      <vt:lpstr>An intersection</vt:lpstr>
      <vt:lpstr>What bias?</vt:lpstr>
      <vt:lpstr>To be formal</vt:lpstr>
      <vt:lpstr>Comparing them</vt:lpstr>
      <vt:lpstr>Uh oh</vt:lpstr>
      <vt:lpstr>But what about in RCTs?</vt:lpstr>
      <vt:lpstr>Selection processes</vt:lpstr>
      <vt:lpstr>What do we do about selection?</vt:lpstr>
      <vt:lpstr>Confounders (again)</vt:lpstr>
      <vt:lpstr>Begin by thinking about selection</vt:lpstr>
      <vt:lpstr>For example</vt:lpstr>
      <vt:lpstr>Importantly, keep in mind that selection is not always explicit and that a process that seems ‘random’ may still result in confounding.  </vt:lpstr>
      <vt:lpstr>Directed acyclic graphs (DAGs) can help</vt:lpstr>
      <vt:lpstr>Interpreting DAGs</vt:lpstr>
      <vt:lpstr>An example</vt:lpstr>
      <vt:lpstr>This helps you identify confounders</vt:lpstr>
      <vt:lpstr>Omitted variables</vt:lpstr>
      <vt:lpstr>Omitted variable bias, always lurking</vt:lpstr>
      <vt:lpstr>Best practice</vt:lpstr>
      <vt:lpstr>Worst practice</vt:lpstr>
      <vt:lpstr>Matching Models</vt:lpstr>
      <vt:lpstr>Single confounder (theoretical only)</vt:lpstr>
      <vt:lpstr>Coarsened matches</vt:lpstr>
      <vt:lpstr>For example</vt:lpstr>
      <vt:lpstr>Multiple confounders</vt:lpstr>
      <vt:lpstr>Mahalanobis distance</vt:lpstr>
      <vt:lpstr>Vectors? Really?</vt:lpstr>
      <vt:lpstr>General strategy</vt:lpstr>
      <vt:lpstr>Variations</vt:lpstr>
      <vt:lpstr>Pay attention to common support problems</vt:lpstr>
      <vt:lpstr>Evaluating matching success</vt:lpstr>
      <vt:lpstr>Adequacy of matches</vt:lpstr>
      <vt:lpstr>What if matches aren’t very good?</vt:lpstr>
      <vt:lpstr>Statistical Adjustment Methods</vt:lpstr>
      <vt:lpstr>Regression and ANCOVA</vt:lpstr>
      <vt:lpstr>A simple model</vt:lpstr>
      <vt:lpstr>But there are many other possible models</vt:lpstr>
      <vt:lpstr>What’s going on here?</vt:lpstr>
      <vt:lpstr>It’s not impossible though</vt:lpstr>
      <vt:lpstr>Weighting</vt:lpstr>
      <vt:lpstr>This is complicated, too</vt:lpstr>
      <vt:lpstr>Reporting Guidelines</vt:lpstr>
      <vt:lpstr>ATOM</vt:lpstr>
      <vt:lpstr>ATOM</vt:lpstr>
      <vt:lpstr>Example balance 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Non-Equivalent Control Group Designs</dc:title>
  <dc:creator>Elizabeth Tipton</dc:creator>
  <cp:lastModifiedBy>Elizabeth Tipton</cp:lastModifiedBy>
  <cp:revision>57</cp:revision>
  <dcterms:created xsi:type="dcterms:W3CDTF">2021-06-22T16:18:15Z</dcterms:created>
  <dcterms:modified xsi:type="dcterms:W3CDTF">2021-06-22T19:43:59Z</dcterms:modified>
</cp:coreProperties>
</file>